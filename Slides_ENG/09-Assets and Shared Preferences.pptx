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9"/>
  </p:notesMasterIdLst>
  <p:sldIdLst>
    <p:sldId id="256" r:id="rId3"/>
    <p:sldId id="267" r:id="rId4"/>
    <p:sldId id="281" r:id="rId5"/>
    <p:sldId id="318" r:id="rId6"/>
    <p:sldId id="322" r:id="rId7"/>
    <p:sldId id="323" r:id="rId8"/>
    <p:sldId id="319" r:id="rId9"/>
    <p:sldId id="324" r:id="rId10"/>
    <p:sldId id="325" r:id="rId11"/>
    <p:sldId id="320" r:id="rId12"/>
    <p:sldId id="321" r:id="rId13"/>
    <p:sldId id="327" r:id="rId14"/>
    <p:sldId id="326" r:id="rId15"/>
    <p:sldId id="317" r:id="rId16"/>
    <p:sldId id="308" r:id="rId17"/>
    <p:sldId id="269" r:id="rId18"/>
  </p:sldIdLst>
  <p:sldSz cx="12192000" cy="6858000"/>
  <p:notesSz cx="6858000" cy="9144000"/>
  <p:embeddedFontLst>
    <p:embeddedFont>
      <p:font typeface="Lato Black" panose="020B0604020202020204" charset="0"/>
      <p:bold r:id="rId20"/>
      <p:boldItalic r:id="rId21"/>
    </p:embeddedFont>
    <p:embeddedFont>
      <p:font typeface="Lato" panose="020B060402020202020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Georgia" panose="02040502050405020303" pitchFamily="18" charset="0"/>
      <p:regular r:id="rId34"/>
      <p:bold r:id="rId35"/>
      <p:italic r:id="rId36"/>
      <p:boldItalic r:id="rId37"/>
    </p:embeddedFont>
    <p:embeddedFont>
      <p:font typeface="Muli" panose="02000503040000090004" pitchFamily="2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25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7148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6750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17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670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2889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5450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559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3174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8301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2008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443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 and Shared Preferences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Assets as well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Read data from Assets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Read and write data by Shared Preference object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Assets in Android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retrieve data from Assets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Shared Preferences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Shared Preferences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Assets in Android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550107" y="1012300"/>
            <a:ext cx="11064138" cy="2724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 smtClean="0">
                <a:solidFill>
                  <a:sysClr val="windowText" lastClr="000000"/>
                </a:solidFill>
                <a:latin typeface="Georgia"/>
              </a:rPr>
              <a:t>assets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the folder containing input data files for the application: sounds, images, text, database files, etc. These files will not be compiled when the application is packaged.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Files in assets/ are not given resource IDs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  <a:sym typeface="Wingdings" panose="05000000000000000000" pitchFamily="2" charset="2"/>
              </a:rPr>
              <a:t>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they can only be read using </a:t>
            </a: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AssetManager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97406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Assets in Android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B25326-35DC-644E-A696-7D04E5D1594A}"/>
              </a:ext>
            </a:extLst>
          </p:cNvPr>
          <p:cNvGrpSpPr/>
          <p:nvPr/>
        </p:nvGrpSpPr>
        <p:grpSpPr>
          <a:xfrm>
            <a:off x="777922" y="742732"/>
            <a:ext cx="9067800" cy="451694"/>
            <a:chOff x="533400" y="1066618"/>
            <a:chExt cx="8382000" cy="451694"/>
          </a:xfrm>
        </p:grpSpPr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9DBE5B1-2A3E-9B47-B292-28CCE2B68729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35A93231-AB92-CB4F-8610-E927888EBC83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ED775005-A881-9A40-9CEE-B2C9C5938231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Create </a:t>
              </a:r>
              <a:r>
                <a:rPr kumimoji="0" lang="en-US" sz="260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assets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folder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414" y="1284867"/>
            <a:ext cx="6357632" cy="500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7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Assets in Android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6B25326-35DC-644E-A696-7D04E5D1594A}"/>
              </a:ext>
            </a:extLst>
          </p:cNvPr>
          <p:cNvGrpSpPr/>
          <p:nvPr/>
        </p:nvGrpSpPr>
        <p:grpSpPr>
          <a:xfrm>
            <a:off x="777922" y="742732"/>
            <a:ext cx="9067800" cy="451694"/>
            <a:chOff x="533400" y="1066618"/>
            <a:chExt cx="8382000" cy="451694"/>
          </a:xfrm>
        </p:grpSpPr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9DBE5B1-2A3E-9B47-B292-28CCE2B68729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35A93231-AB92-CB4F-8610-E927888EBC83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ED775005-A881-9A40-9CEE-B2C9C5938231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Create </a:t>
              </a:r>
              <a:r>
                <a:rPr kumimoji="0" lang="en-US" sz="260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assets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folder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18" name="Slide Number Placeholder 3"/>
          <p:cNvSpPr txBox="1">
            <a:spLocks/>
          </p:cNvSpPr>
          <p:nvPr/>
        </p:nvSpPr>
        <p:spPr>
          <a:xfrm>
            <a:off x="11176000" y="2272"/>
            <a:ext cx="7396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B6F15528-21DE-4FAA-801E-634DDDAF4B2B}" type="slidenum">
              <a:rPr lang="en-US" smtClean="0"/>
              <a:pPr/>
              <a:t>222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2349BA0-68BE-FB49-8F29-1758B6059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616" y="1890140"/>
            <a:ext cx="2846231" cy="2590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D2728A-702D-7A49-B3F8-6B61FE70A0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9269"/>
          <a:stretch/>
        </p:blipFill>
        <p:spPr>
          <a:xfrm>
            <a:off x="6895533" y="970952"/>
            <a:ext cx="2809817" cy="5184913"/>
          </a:xfrm>
          <a:prstGeom prst="rect">
            <a:avLst/>
          </a:prstGeom>
        </p:spPr>
      </p:pic>
      <p:sp>
        <p:nvSpPr>
          <p:cNvPr id="24" name="Left Arrow 23">
            <a:extLst>
              <a:ext uri="{FF2B5EF4-FFF2-40B4-BE49-F238E27FC236}">
                <a16:creationId xmlns:a16="http://schemas.microsoft.com/office/drawing/2014/main" id="{FF8177B6-E9CC-FC4A-9820-8B89AE432F7B}"/>
              </a:ext>
            </a:extLst>
          </p:cNvPr>
          <p:cNvSpPr/>
          <p:nvPr/>
        </p:nvSpPr>
        <p:spPr>
          <a:xfrm>
            <a:off x="8610032" y="2269664"/>
            <a:ext cx="381000" cy="228600"/>
          </a:xfrm>
          <a:prstGeom prst="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ACA72311-46D4-224F-A7C1-11D1E654F68A}"/>
              </a:ext>
            </a:extLst>
          </p:cNvPr>
          <p:cNvSpPr/>
          <p:nvPr/>
        </p:nvSpPr>
        <p:spPr>
          <a:xfrm>
            <a:off x="3750015" y="3185540"/>
            <a:ext cx="381000" cy="228600"/>
          </a:xfrm>
          <a:prstGeom prst="lef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5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How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retrieve data from Assets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6EC6E6-AA78-844D-A800-7FC0858E0BE3}"/>
              </a:ext>
            </a:extLst>
          </p:cNvPr>
          <p:cNvGrpSpPr/>
          <p:nvPr/>
        </p:nvGrpSpPr>
        <p:grpSpPr>
          <a:xfrm>
            <a:off x="3098799" y="1245310"/>
            <a:ext cx="2727229" cy="5032514"/>
            <a:chOff x="2987771" y="1676400"/>
            <a:chExt cx="2727229" cy="503251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95DAC07-A295-B347-A597-FDB5D0455C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9269"/>
            <a:stretch/>
          </p:blipFill>
          <p:spPr>
            <a:xfrm>
              <a:off x="2987771" y="1676400"/>
              <a:ext cx="2727229" cy="5032514"/>
            </a:xfrm>
            <a:prstGeom prst="rect">
              <a:avLst/>
            </a:prstGeom>
          </p:spPr>
        </p:pic>
        <p:sp>
          <p:nvSpPr>
            <p:cNvPr id="19" name="Left Arrow 18">
              <a:extLst>
                <a:ext uri="{FF2B5EF4-FFF2-40B4-BE49-F238E27FC236}">
                  <a16:creationId xmlns:a16="http://schemas.microsoft.com/office/drawing/2014/main" id="{5626E49E-012F-5B40-B77F-A4053E525325}"/>
                </a:ext>
              </a:extLst>
            </p:cNvPr>
            <p:cNvSpPr/>
            <p:nvPr/>
          </p:nvSpPr>
          <p:spPr>
            <a:xfrm>
              <a:off x="4686300" y="2898913"/>
              <a:ext cx="381000" cy="228600"/>
            </a:xfrm>
            <a:prstGeom prst="leftArrow">
              <a:avLst/>
            </a:prstGeom>
            <a:solidFill>
              <a:sysClr val="window" lastClr="FFFFFF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00EDA0A-9D63-874B-B8BF-7921E02850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0"/>
          <a:stretch/>
        </p:blipFill>
        <p:spPr>
          <a:xfrm>
            <a:off x="6773410" y="1088361"/>
            <a:ext cx="2616200" cy="554295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AEC91A9-56AD-E641-BC40-58A7698165E3}"/>
              </a:ext>
            </a:extLst>
          </p:cNvPr>
          <p:cNvGrpSpPr/>
          <p:nvPr/>
        </p:nvGrpSpPr>
        <p:grpSpPr>
          <a:xfrm>
            <a:off x="644428" y="767687"/>
            <a:ext cx="9067800" cy="451694"/>
            <a:chOff x="533400" y="1066618"/>
            <a:chExt cx="8382000" cy="451694"/>
          </a:xfrm>
        </p:grpSpPr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3379E3AF-E2D4-8644-9CA3-AD3023C8CEFB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07018CD8-D767-6544-8A30-6404D3F628D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E7DC5021-DE1F-244A-B31A-D642459930F7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noProof="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Example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: Access Fonts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312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How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retrieve data from Assets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EC91A9-56AD-E641-BC40-58A7698165E3}"/>
              </a:ext>
            </a:extLst>
          </p:cNvPr>
          <p:cNvGrpSpPr/>
          <p:nvPr/>
        </p:nvGrpSpPr>
        <p:grpSpPr>
          <a:xfrm>
            <a:off x="644428" y="767687"/>
            <a:ext cx="9067800" cy="451694"/>
            <a:chOff x="533400" y="1066618"/>
            <a:chExt cx="8382000" cy="451694"/>
          </a:xfrm>
        </p:grpSpPr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3379E3AF-E2D4-8644-9CA3-AD3023C8CEFB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07018CD8-D767-6544-8A30-6404D3F628D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E7DC5021-DE1F-244A-B31A-D642459930F7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noProof="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Example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: Access Fonts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1A92501-F3DE-BB40-8EAE-AFDF72417C15}"/>
              </a:ext>
            </a:extLst>
          </p:cNvPr>
          <p:cNvSpPr/>
          <p:nvPr/>
        </p:nvSpPr>
        <p:spPr>
          <a:xfrm>
            <a:off x="2360475" y="1271239"/>
            <a:ext cx="6898394" cy="371903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lvFonts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findViewById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lvFonts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fontAdapter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ArrayAdapter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&lt;String&gt;(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android.R.layout.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simple_list_item_1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lvFonts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fontAdapter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AssetManager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assetManager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getAssets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arrFonts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assetManager.list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"fonts"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fontAdapter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.addAll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arrFonts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catch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(Exception e){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Log.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"Error: 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e.toString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BE8C92-7A0B-1C4B-A686-BBF7631D8AED}"/>
              </a:ext>
            </a:extLst>
          </p:cNvPr>
          <p:cNvSpPr/>
          <p:nvPr/>
        </p:nvSpPr>
        <p:spPr>
          <a:xfrm>
            <a:off x="2360475" y="5133739"/>
            <a:ext cx="6898394" cy="92333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Typeface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typeface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Typeface.</a:t>
            </a:r>
            <a:r>
              <a:rPr kumimoji="0" lang="en-US" sz="1800" b="1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createFromAsset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getAssets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"fonts/"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fontAdapter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.getItem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textContent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.setTypeface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(typeface)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77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How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retrieve data from Assets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EC91A9-56AD-E641-BC40-58A7698165E3}"/>
              </a:ext>
            </a:extLst>
          </p:cNvPr>
          <p:cNvGrpSpPr/>
          <p:nvPr/>
        </p:nvGrpSpPr>
        <p:grpSpPr>
          <a:xfrm>
            <a:off x="644428" y="767687"/>
            <a:ext cx="9067800" cy="451694"/>
            <a:chOff x="533400" y="1066618"/>
            <a:chExt cx="8382000" cy="451694"/>
          </a:xfrm>
        </p:grpSpPr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3379E3AF-E2D4-8644-9CA3-AD3023C8CEFB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07018CD8-D767-6544-8A30-6404D3F628D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E7DC5021-DE1F-244A-B31A-D642459930F7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noProof="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Example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: Access Audio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76E11A6-783C-6A4B-B0D5-E6BD361FA419}"/>
              </a:ext>
            </a:extLst>
          </p:cNvPr>
          <p:cNvSpPr/>
          <p:nvPr/>
        </p:nvSpPr>
        <p:spPr>
          <a:xfrm>
            <a:off x="2198894" y="1406824"/>
            <a:ext cx="7669575" cy="494475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playAudio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getAssets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openFd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musics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/ting.mp3"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mediaPlayer.setDataSource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assetFileDescriptor.getFileDescriptor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assetFileDescriptor.getStartOffset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assetFileDescriptor.getLength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assetFileDescriptor.close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mediaPlayer.prepare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mediaPlayer.start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catch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(Exception e){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Log.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"Error: "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e.toString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221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Preferences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872F74-ACBA-A445-9D3D-3373EE319F7B}"/>
              </a:ext>
            </a:extLst>
          </p:cNvPr>
          <p:cNvSpPr txBox="1">
            <a:spLocks/>
          </p:cNvSpPr>
          <p:nvPr/>
        </p:nvSpPr>
        <p:spPr>
          <a:xfrm>
            <a:off x="550107" y="897468"/>
            <a:ext cx="11159672" cy="462991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b="1" dirty="0">
                <a:solidFill>
                  <a:sysClr val="windowText" lastClr="000000"/>
                </a:solidFill>
                <a:latin typeface="Georgia"/>
              </a:rPr>
              <a:t>Shared Preferences 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allows storing application data in XML files.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Data is stored and retrieved in key-value pairs with data types such as: Boolean, Float, </a:t>
            </a:r>
            <a:r>
              <a:rPr lang="en-US" altLang="en-US" sz="2400" dirty="0" err="1">
                <a:solidFill>
                  <a:sysClr val="windowText" lastClr="000000"/>
                </a:solidFill>
                <a:latin typeface="Georgia"/>
              </a:rPr>
              <a:t>Int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, Long, String.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Data is preserved even when the application is completely closed.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BC42A-F4DE-EA4D-883F-7AC87CE5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093" y="3297072"/>
            <a:ext cx="80137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0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Use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Preferences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EC91A9-56AD-E641-BC40-58A7698165E3}"/>
              </a:ext>
            </a:extLst>
          </p:cNvPr>
          <p:cNvGrpSpPr/>
          <p:nvPr/>
        </p:nvGrpSpPr>
        <p:grpSpPr>
          <a:xfrm>
            <a:off x="873456" y="778198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3379E3AF-E2D4-8644-9CA3-AD3023C8CEFB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07018CD8-D767-6544-8A30-6404D3F628D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E7DC5021-DE1F-244A-B31A-D642459930F7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Save 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B32993E-6D59-2C45-B397-9F835ADFD5D2}"/>
              </a:ext>
            </a:extLst>
          </p:cNvPr>
          <p:cNvSpPr txBox="1">
            <a:spLocks/>
          </p:cNvSpPr>
          <p:nvPr/>
        </p:nvSpPr>
        <p:spPr>
          <a:xfrm>
            <a:off x="1247615" y="1330069"/>
            <a:ext cx="8769842" cy="53057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Step 1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 Create an instance Shared Preferences object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02B9E1-FC9B-B84E-ADCE-738253F261DC}"/>
              </a:ext>
            </a:extLst>
          </p:cNvPr>
          <p:cNvSpPr/>
          <p:nvPr/>
        </p:nvSpPr>
        <p:spPr>
          <a:xfrm>
            <a:off x="2092656" y="1768981"/>
            <a:ext cx="7848600" cy="64633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SharedPreferences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preferences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getSharedPreferences(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PREFERENCES_NAME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MODE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28F813-F21A-9F4C-BF8E-A50EEEB96F37}"/>
              </a:ext>
            </a:extLst>
          </p:cNvPr>
          <p:cNvGrpSpPr/>
          <p:nvPr/>
        </p:nvGrpSpPr>
        <p:grpSpPr>
          <a:xfrm>
            <a:off x="1267813" y="2530980"/>
            <a:ext cx="8769842" cy="838200"/>
            <a:chOff x="241956" y="2743200"/>
            <a:chExt cx="8769842" cy="838200"/>
          </a:xfrm>
        </p:grpSpPr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C73EC20-0022-EE41-A3BD-45633A509A00}"/>
                </a:ext>
              </a:extLst>
            </p:cNvPr>
            <p:cNvSpPr txBox="1">
              <a:spLocks/>
            </p:cNvSpPr>
            <p:nvPr/>
          </p:nvSpPr>
          <p:spPr>
            <a:xfrm>
              <a:off x="241956" y="2743200"/>
              <a:ext cx="8769842" cy="530578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365760" indent="-256032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•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58368" indent="-246888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Font typeface="Georgia"/>
                <a:buChar char="▫"/>
                <a:defRPr kumimoji="0" sz="26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923544" indent="-219456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179576" indent="-201168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38988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20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1609344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6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202996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5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224028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400" kern="1200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3550" lvl="0" indent="-354013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Font typeface="Wingdings" pitchFamily="2" charset="2"/>
                <a:buChar char="Ø"/>
              </a:pP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Step 2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Create Editor </a:t>
              </a:r>
              <a:r>
                <a:rPr lang="en-US" altLang="en-US" sz="2000" dirty="0">
                  <a:solidFill>
                    <a:prstClr val="black"/>
                  </a:solidFill>
                  <a:latin typeface="Georgia"/>
                </a:rPr>
                <a:t>object from preferences </a:t>
              </a: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</a:t>
              </a:r>
              <a:r>
                <a:rPr lang="en-US" altLang="en-US" sz="2000" dirty="0" smtClean="0">
                  <a:solidFill>
                    <a:prstClr val="black"/>
                  </a:solidFill>
                  <a:latin typeface="Georgia"/>
                </a:rPr>
                <a:t>method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5E27D3-A3C1-C140-B80F-C90B71FEEEDA}"/>
                </a:ext>
              </a:extLst>
            </p:cNvPr>
            <p:cNvSpPr/>
            <p:nvPr/>
          </p:nvSpPr>
          <p:spPr>
            <a:xfrm>
              <a:off x="1066800" y="3212068"/>
              <a:ext cx="7848600" cy="369332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SharedPreferences.Editor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.edit()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3794E7-488D-5D47-BD26-FEAB80535D05}"/>
              </a:ext>
            </a:extLst>
          </p:cNvPr>
          <p:cNvGrpSpPr/>
          <p:nvPr/>
        </p:nvGrpSpPr>
        <p:grpSpPr>
          <a:xfrm>
            <a:off x="1267812" y="5502781"/>
            <a:ext cx="9130644" cy="838199"/>
            <a:chOff x="241956" y="5791383"/>
            <a:chExt cx="9130644" cy="838199"/>
          </a:xfrm>
        </p:grpSpPr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7D01C68C-C9DE-F94C-8639-C9B1E448C1F3}"/>
                </a:ext>
              </a:extLst>
            </p:cNvPr>
            <p:cNvSpPr txBox="1">
              <a:spLocks/>
            </p:cNvSpPr>
            <p:nvPr/>
          </p:nvSpPr>
          <p:spPr>
            <a:xfrm>
              <a:off x="241956" y="5791383"/>
              <a:ext cx="9130644" cy="595674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365760" indent="-256032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•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58368" indent="-246888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Font typeface="Georgia"/>
                <a:buChar char="▫"/>
                <a:defRPr kumimoji="0" sz="26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923544" indent="-219456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179576" indent="-201168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38988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20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1609344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6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202996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5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224028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400" kern="1200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Step 4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Save Shared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 </a:t>
              </a:r>
              <a:r>
                <a:rPr lang="en-US" altLang="en-US" sz="2000" dirty="0" smtClean="0">
                  <a:solidFill>
                    <a:prstClr val="black"/>
                  </a:solidFill>
                  <a:latin typeface="Georgia"/>
                </a:rPr>
                <a:t>via </a:t>
              </a: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apply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 </a:t>
              </a: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commit() </a:t>
              </a:r>
              <a:r>
                <a:rPr kumimoji="0" lang="en-US" altLang="en-US" sz="20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method</a:t>
              </a:r>
              <a:endPara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366D0FA-1F27-0840-82B1-5AB763C0E775}"/>
                </a:ext>
              </a:extLst>
            </p:cNvPr>
            <p:cNvSpPr/>
            <p:nvPr/>
          </p:nvSpPr>
          <p:spPr>
            <a:xfrm>
              <a:off x="1066800" y="6260250"/>
              <a:ext cx="7944996" cy="369332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.apply</a:t>
              </a:r>
              <a:r>
                <a:rPr kumimoji="0" lang="en-US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</a:t>
              </a:r>
              <a:r>
                <a:rPr kumimoji="0" lang="en-US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495512-F04E-5D47-A60B-1F39A846239A}"/>
              </a:ext>
            </a:extLst>
          </p:cNvPr>
          <p:cNvGrpSpPr/>
          <p:nvPr/>
        </p:nvGrpSpPr>
        <p:grpSpPr>
          <a:xfrm>
            <a:off x="1267811" y="3492052"/>
            <a:ext cx="9432033" cy="1934528"/>
            <a:chOff x="241954" y="3657600"/>
            <a:chExt cx="9432033" cy="1934528"/>
          </a:xfrm>
        </p:grpSpPr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0CF57219-359B-574C-B2E0-D34DFB73D749}"/>
                </a:ext>
              </a:extLst>
            </p:cNvPr>
            <p:cNvSpPr txBox="1">
              <a:spLocks/>
            </p:cNvSpPr>
            <p:nvPr/>
          </p:nvSpPr>
          <p:spPr>
            <a:xfrm>
              <a:off x="241954" y="3657600"/>
              <a:ext cx="9432033" cy="478378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365760" indent="-256032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•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58368" indent="-246888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Font typeface="Georgia"/>
                <a:buChar char="▫"/>
                <a:defRPr kumimoji="0" sz="26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923544" indent="-219456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179576" indent="-201168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38988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20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1609344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6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202996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5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224028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400" kern="1200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Step 3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Put data</a:t>
              </a:r>
              <a:r>
                <a:rPr kumimoji="0" lang="en-US" altLang="en-US" sz="2000" b="0" i="0" u="none" strike="noStrike" kern="1200" cap="none" spc="0" normalizeH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through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put&lt;Type&gt;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method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C470419-EB7F-5F48-93FB-46828C473881}"/>
                </a:ext>
              </a:extLst>
            </p:cNvPr>
            <p:cNvSpPr/>
            <p:nvPr/>
          </p:nvSpPr>
          <p:spPr>
            <a:xfrm>
              <a:off x="1070112" y="4114800"/>
              <a:ext cx="7845287" cy="1477328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.putInt(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"int"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8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.putFloat(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"float"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6.8f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.putLong(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"long"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36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.putBoolean(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"boolean"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true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editor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.putString(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"string"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“Android Sweets”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414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Use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Preferences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EC91A9-56AD-E641-BC40-58A7698165E3}"/>
              </a:ext>
            </a:extLst>
          </p:cNvPr>
          <p:cNvGrpSpPr/>
          <p:nvPr/>
        </p:nvGrpSpPr>
        <p:grpSpPr>
          <a:xfrm>
            <a:off x="728132" y="863685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3379E3AF-E2D4-8644-9CA3-AD3023C8CEFB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07018CD8-D767-6544-8A30-6404D3F628D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E7DC5021-DE1F-244A-B31A-D642459930F7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Access 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F1678DA-DB06-C14E-91ED-EB3E0C4370DD}"/>
              </a:ext>
            </a:extLst>
          </p:cNvPr>
          <p:cNvSpPr txBox="1">
            <a:spLocks/>
          </p:cNvSpPr>
          <p:nvPr/>
        </p:nvSpPr>
        <p:spPr>
          <a:xfrm>
            <a:off x="1185332" y="1473467"/>
            <a:ext cx="8783197" cy="783336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Ø"/>
            </a:pPr>
            <a:r>
              <a:rPr lang="en-US" altLang="en-US" sz="2000" dirty="0">
                <a:solidFill>
                  <a:prstClr val="black"/>
                </a:solidFill>
                <a:latin typeface="Georgia"/>
              </a:rPr>
              <a:t>The data retrieved with the get&lt;Type&gt; method depends on the data type:</a:t>
            </a:r>
            <a:endParaRPr lang="en-US" sz="2000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8DB4CB-BE30-E44E-8A40-AD33828D9AED}"/>
              </a:ext>
            </a:extLst>
          </p:cNvPr>
          <p:cNvSpPr/>
          <p:nvPr/>
        </p:nvSpPr>
        <p:spPr>
          <a:xfrm>
            <a:off x="2026845" y="2235467"/>
            <a:ext cx="7845287" cy="49597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get&lt;Type&gt;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Key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DefValue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4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C26E4CC-C1B7-1D48-BE42-5D91C3A0F34C}"/>
              </a:ext>
            </a:extLst>
          </p:cNvPr>
          <p:cNvSpPr txBox="1">
            <a:spLocks/>
          </p:cNvSpPr>
          <p:nvPr/>
        </p:nvSpPr>
        <p:spPr>
          <a:xfrm>
            <a:off x="1871132" y="2768867"/>
            <a:ext cx="8022336" cy="783336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7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95000"/>
                  <a:lumOff val="5000"/>
                </a:prstClr>
              </a:buClr>
              <a:buNone/>
            </a:pPr>
            <a:r>
              <a:rPr lang="en-US" altLang="en-US" sz="2000" b="1" dirty="0" err="1">
                <a:solidFill>
                  <a:prstClr val="black"/>
                </a:solidFill>
                <a:latin typeface="Georgia"/>
              </a:rPr>
              <a:t>DefValue</a:t>
            </a:r>
            <a:r>
              <a:rPr lang="en-US" altLang="en-US" sz="2000" dirty="0">
                <a:solidFill>
                  <a:prstClr val="black"/>
                </a:solidFill>
                <a:latin typeface="Georgia"/>
              </a:rPr>
              <a:t>: is the default value returned when </a:t>
            </a:r>
            <a:r>
              <a:rPr lang="en-US" altLang="en-US" sz="2000" b="1" dirty="0">
                <a:solidFill>
                  <a:prstClr val="black"/>
                </a:solidFill>
                <a:latin typeface="Georgia"/>
              </a:rPr>
              <a:t>get&lt;Type&gt; </a:t>
            </a:r>
            <a:r>
              <a:rPr lang="en-US" altLang="en-US" sz="2000" dirty="0">
                <a:solidFill>
                  <a:prstClr val="black"/>
                </a:solidFill>
                <a:latin typeface="Georgia"/>
              </a:rPr>
              <a:t>cannot return the value corresponding to the input </a:t>
            </a:r>
            <a:r>
              <a:rPr lang="en-US" altLang="en-US" sz="2000" b="1" dirty="0">
                <a:solidFill>
                  <a:prstClr val="black"/>
                </a:solidFill>
                <a:latin typeface="Georgia"/>
              </a:rPr>
              <a:t>key</a:t>
            </a:r>
            <a:r>
              <a:rPr lang="en-US" altLang="en-US" sz="2000" dirty="0">
                <a:solidFill>
                  <a:prstClr val="black"/>
                </a:solidFill>
                <a:latin typeface="Georgia"/>
              </a:rPr>
              <a:t>.</a:t>
            </a:r>
            <a:endParaRPr lang="en-US" sz="2000" dirty="0">
              <a:solidFill>
                <a:prstClr val="black"/>
              </a:solidFill>
              <a:latin typeface="Georgi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994292-6006-C941-A062-9521770DA3A0}"/>
              </a:ext>
            </a:extLst>
          </p:cNvPr>
          <p:cNvGrpSpPr/>
          <p:nvPr/>
        </p:nvGrpSpPr>
        <p:grpSpPr>
          <a:xfrm>
            <a:off x="1163997" y="3530867"/>
            <a:ext cx="8691572" cy="2846637"/>
            <a:chOff x="207264" y="3733800"/>
            <a:chExt cx="8691572" cy="284663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1913F2-C9CE-3848-AE0A-D8C2C629E4F7}"/>
                </a:ext>
              </a:extLst>
            </p:cNvPr>
            <p:cNvSpPr/>
            <p:nvPr/>
          </p:nvSpPr>
          <p:spPr>
            <a:xfrm>
              <a:off x="1053548" y="4191000"/>
              <a:ext cx="7845287" cy="2389437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SharedPreferences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 getSharedPreferences(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PREFERENCES_NAME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1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MODE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getInt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"int"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0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float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getFloat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"float"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0.0f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long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getLong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"long"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897BB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0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boolean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getBoolean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"boolean"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false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String s =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preferences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getString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"string"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0611C03A-B394-6B45-975E-A339DAF7D1BE}"/>
                </a:ext>
              </a:extLst>
            </p:cNvPr>
            <p:cNvSpPr txBox="1">
              <a:spLocks/>
            </p:cNvSpPr>
            <p:nvPr/>
          </p:nvSpPr>
          <p:spPr>
            <a:xfrm>
              <a:off x="207264" y="3733800"/>
              <a:ext cx="8691572" cy="457433"/>
            </a:xfrm>
            <a:prstGeom prst="rect">
              <a:avLst/>
            </a:prstGeom>
          </p:spPr>
          <p:txBody>
            <a:bodyPr vert="horz">
              <a:noAutofit/>
            </a:bodyPr>
            <a:lstStyle>
              <a:lvl1pPr marL="365760" indent="-256032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•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58368" indent="-246888" algn="l" rtl="0" eaLnBrk="1" latinLnBrk="0" hangingPunct="1">
                <a:spcBef>
                  <a:spcPts val="300"/>
                </a:spcBef>
                <a:buClr>
                  <a:schemeClr val="accent2"/>
                </a:buClr>
                <a:buFont typeface="Georgia"/>
                <a:buChar char="▫"/>
                <a:defRPr kumimoji="0" sz="2600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2pPr>
              <a:lvl3pPr marL="923544" indent="-219456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179576" indent="-201168" algn="l" rtl="0" eaLnBrk="1" latinLnBrk="0" hangingPunct="1">
                <a:spcBef>
                  <a:spcPts val="300"/>
                </a:spcBef>
                <a:buClr>
                  <a:schemeClr val="accent1"/>
                </a:buClr>
                <a:buFont typeface="Wingdings 2"/>
                <a:buChar char=""/>
                <a:defRPr kumimoji="0"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38988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20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5pPr>
              <a:lvl6pPr marL="1609344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182880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▫"/>
                <a:defRPr kumimoji="0" sz="16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7pPr>
              <a:lvl8pPr marL="2029968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5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8pPr>
              <a:lvl9pPr marL="2240280" indent="-182880" algn="l" rtl="0" eaLnBrk="1" latinLnBrk="0" hangingPunct="1">
                <a:spcBef>
                  <a:spcPts val="300"/>
                </a:spcBef>
                <a:buClr>
                  <a:schemeClr val="accent3"/>
                </a:buClr>
                <a:buFont typeface="Georgia"/>
                <a:buChar char="◦"/>
                <a:defRPr kumimoji="0" sz="1400" kern="1200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For Example: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463550" marR="0" lvl="0" indent="-354013" algn="l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prstClr val="black">
                    <a:lumMod val="95000"/>
                    <a:lumOff val="5000"/>
                  </a:prstClr>
                </a:buClr>
                <a:buSzTx/>
                <a:buFont typeface="Wingdings" pitchFamily="2" charset="2"/>
                <a:buChar char="Ø"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823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Exercise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687" y="1642573"/>
            <a:ext cx="3671395" cy="4682027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00672" y="897468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Using Shared Preference to store login information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Present the </a:t>
            </a:r>
            <a:r>
              <a:rPr lang="en-US" sz="2800" dirty="0" smtClean="0">
                <a:latin typeface="Cambria" panose="02040503050406030204" pitchFamily="18" charset="0"/>
              </a:rPr>
              <a:t>assets working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Present </a:t>
            </a:r>
            <a:r>
              <a:rPr lang="en-US" sz="2800" dirty="0" smtClean="0">
                <a:latin typeface="Cambria" panose="02040503050406030204" pitchFamily="18" charset="0"/>
              </a:rPr>
              <a:t>the shared preference working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How we save class object information by Shared Preference?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2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SQLite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Content Provider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493</Words>
  <Application>Microsoft Office PowerPoint</Application>
  <PresentationFormat>Widescreen</PresentationFormat>
  <Paragraphs>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Times New Roman</vt:lpstr>
      <vt:lpstr>Arial</vt:lpstr>
      <vt:lpstr>Lato Black</vt:lpstr>
      <vt:lpstr>Lato</vt:lpstr>
      <vt:lpstr>Calibri</vt:lpstr>
      <vt:lpstr>Wingdings</vt:lpstr>
      <vt:lpstr>Cambria</vt:lpstr>
      <vt:lpstr>Georgia</vt:lpstr>
      <vt:lpstr>Muli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466</cp:revision>
  <dcterms:created xsi:type="dcterms:W3CDTF">2022-12-02T04:21:00Z</dcterms:created>
  <dcterms:modified xsi:type="dcterms:W3CDTF">2024-02-17T11:49:35Z</dcterms:modified>
</cp:coreProperties>
</file>