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35"/>
  </p:notesMasterIdLst>
  <p:sldIdLst>
    <p:sldId id="256" r:id="rId3"/>
    <p:sldId id="267" r:id="rId4"/>
    <p:sldId id="281" r:id="rId5"/>
    <p:sldId id="360" r:id="rId6"/>
    <p:sldId id="365" r:id="rId7"/>
    <p:sldId id="363" r:id="rId8"/>
    <p:sldId id="364" r:id="rId9"/>
    <p:sldId id="362" r:id="rId10"/>
    <p:sldId id="366" r:id="rId11"/>
    <p:sldId id="367" r:id="rId12"/>
    <p:sldId id="369" r:id="rId13"/>
    <p:sldId id="371" r:id="rId14"/>
    <p:sldId id="372" r:id="rId15"/>
    <p:sldId id="379" r:id="rId16"/>
    <p:sldId id="380" r:id="rId17"/>
    <p:sldId id="381" r:id="rId18"/>
    <p:sldId id="382" r:id="rId19"/>
    <p:sldId id="383" r:id="rId20"/>
    <p:sldId id="384" r:id="rId21"/>
    <p:sldId id="368" r:id="rId22"/>
    <p:sldId id="374" r:id="rId23"/>
    <p:sldId id="373" r:id="rId24"/>
    <p:sldId id="375" r:id="rId25"/>
    <p:sldId id="376" r:id="rId26"/>
    <p:sldId id="377" r:id="rId27"/>
    <p:sldId id="385" r:id="rId28"/>
    <p:sldId id="378" r:id="rId29"/>
    <p:sldId id="386" r:id="rId30"/>
    <p:sldId id="387" r:id="rId31"/>
    <p:sldId id="359" r:id="rId32"/>
    <p:sldId id="308" r:id="rId33"/>
    <p:sldId id="269" r:id="rId34"/>
  </p:sldIdLst>
  <p:sldSz cx="12192000" cy="6858000"/>
  <p:notesSz cx="6858000" cy="9144000"/>
  <p:embeddedFontLst>
    <p:embeddedFont>
      <p:font typeface="Cambria" panose="02040503050406030204" pitchFamily="18" charset="0"/>
      <p:regular r:id="rId36"/>
      <p:bold r:id="rId37"/>
      <p:italic r:id="rId38"/>
      <p:boldItalic r:id="rId39"/>
    </p:embeddedFont>
    <p:embeddedFont>
      <p:font typeface="Calibri" panose="020F0502020204030204" pitchFamily="34" charset="0"/>
      <p:regular r:id="rId40"/>
      <p:bold r:id="rId41"/>
      <p:italic r:id="rId42"/>
      <p:boldItalic r:id="rId43"/>
    </p:embeddedFont>
    <p:embeddedFont>
      <p:font typeface="Georgia" panose="02040502050405020303" pitchFamily="18" charset="0"/>
      <p:regular r:id="rId44"/>
      <p:bold r:id="rId45"/>
      <p:italic r:id="rId46"/>
      <p:boldItalic r:id="rId47"/>
    </p:embeddedFont>
    <p:embeddedFont>
      <p:font typeface="Lato Black" panose="020B0604020202020204" charset="0"/>
      <p:bold r:id="rId48"/>
      <p:boldItalic r:id="rId49"/>
    </p:embeddedFont>
    <p:embeddedFont>
      <p:font typeface="Lato" panose="020B0604020202020204" charset="0"/>
      <p:regular r:id="rId50"/>
      <p:bold r:id="rId51"/>
      <p:italic r:id="rId52"/>
      <p:boldItalic r:id="rId53"/>
    </p:embeddedFont>
    <p:embeddedFont>
      <p:font typeface="Times" panose="02020603050405020304" pitchFamily="18" charset="0"/>
      <p:regular r:id="rId54"/>
      <p:bold r:id="rId55"/>
      <p:italic r:id="rId56"/>
      <p:boldItalic r:id="rId57"/>
    </p:embeddedFont>
    <p:embeddedFont>
      <p:font typeface="JetBrains Mono" panose="02000009000000000000" pitchFamily="49"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2"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23" autoAdjust="0"/>
    <p:restoredTop sz="89605" autoAdjust="0"/>
  </p:normalViewPr>
  <p:slideViewPr>
    <p:cSldViewPr snapToGrid="0">
      <p:cViewPr varScale="1">
        <p:scale>
          <a:sx n="112" d="100"/>
          <a:sy n="112" d="100"/>
        </p:scale>
        <p:origin x="379" y="9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font" Target="fonts/font20.fntdata"/><Relationship Id="rId7" Type="http://schemas.openxmlformats.org/officeDocument/2006/relationships/slide" Target="slides/slide5.xml"/><Relationship Id="rId92"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font" Target="fonts/font23.fntdata"/><Relationship Id="rId5" Type="http://schemas.openxmlformats.org/officeDocument/2006/relationships/slide" Target="slides/slide3.xml"/><Relationship Id="rId61" Type="http://schemas.openxmlformats.org/officeDocument/2006/relationships/font" Target="fonts/font26.fntdata"/><Relationship Id="rId95"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font" Target="fonts/font21.fntdata"/><Relationship Id="rId8" Type="http://schemas.openxmlformats.org/officeDocument/2006/relationships/slide" Target="slides/slide6.xml"/><Relationship Id="rId51" Type="http://schemas.openxmlformats.org/officeDocument/2006/relationships/font" Target="fonts/font16.fntdata"/><Relationship Id="rId93"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font" Target="fonts/font24.fntdata"/><Relationship Id="rId20" Type="http://schemas.openxmlformats.org/officeDocument/2006/relationships/slide" Target="slides/slide18.xml"/><Relationship Id="rId41" Type="http://schemas.openxmlformats.org/officeDocument/2006/relationships/font" Target="fonts/font6.fntdata"/><Relationship Id="rId54" Type="http://schemas.openxmlformats.org/officeDocument/2006/relationships/font" Target="fonts/font19.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font" Target="fonts/font2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9.fntdata"/><Relationship Id="rId52" Type="http://schemas.openxmlformats.org/officeDocument/2006/relationships/font" Target="fonts/font17.fntdata"/><Relationship Id="rId60" Type="http://schemas.openxmlformats.org/officeDocument/2006/relationships/font" Target="fonts/font25.fntdata"/><Relationship Id="rId9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8213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055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8636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7160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4820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1251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338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8255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0998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4415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8266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9884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0471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71581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3001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8072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60498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44465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0803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4572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53648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6676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1191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5592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6788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981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2808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04049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33951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83126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2814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lnSpc>
                <a:spcPct val="120000"/>
              </a:lnSpc>
              <a:spcBef>
                <a:spcPts val="0"/>
              </a:spcBef>
              <a:spcAft>
                <a:spcPts val="0"/>
              </a:spcAft>
              <a:buClr>
                <a:srgbClr val="144E8C"/>
              </a:buClr>
              <a:buSzPts val="2000"/>
              <a:buFont typeface="Lato Black"/>
              <a:buNone/>
            </a:pP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VIETNAM NATIONAL UNIVERSITY HO CHI MINH CITY</a:t>
            </a:r>
            <a:b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br>
            <a:r>
              <a:rPr lang="en-US" sz="2400" b="1" i="0" u="none" strike="noStrike" cap="none">
                <a:solidFill>
                  <a:srgbClr val="144E8C"/>
                </a:solidFill>
                <a:latin typeface="Cambria" panose="02040503050406030204" pitchFamily="18" charset="0"/>
                <a:ea typeface="Cambria" panose="02040503050406030204" pitchFamily="18" charset="0"/>
                <a:cs typeface="Lato Black"/>
                <a:sym typeface="Lato Black"/>
              </a:rPr>
              <a:t>University of Economics and Law</a:t>
            </a:r>
            <a:endParaRPr sz="1600">
              <a:latin typeface="Cambria" panose="02040503050406030204" pitchFamily="18" charset="0"/>
              <a:ea typeface="Cambria" panose="020405030504060302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6" name="Google Shape;16;p10"/>
          <p:cNvPicPr preferRelativeResize="0"/>
          <p:nvPr/>
        </p:nvPicPr>
        <p:blipFill rotWithShape="1">
          <a:blip r:embed="rId2">
            <a:alphaModFix/>
          </a:blip>
          <a:srcRect r="21016"/>
          <a:stretch/>
        </p:blipFill>
        <p:spPr>
          <a:xfrm>
            <a:off x="0" y="880629"/>
            <a:ext cx="8673353" cy="6176876"/>
          </a:xfrm>
          <a:prstGeom prst="rect">
            <a:avLst/>
          </a:prstGeom>
          <a:noFill/>
          <a:ln>
            <a:noFill/>
          </a:ln>
        </p:spPr>
      </p:pic>
      <p:pic>
        <p:nvPicPr>
          <p:cNvPr id="17" name="Google Shape;17;p10"/>
          <p:cNvPicPr preferRelativeResize="0"/>
          <p:nvPr/>
        </p:nvPicPr>
        <p:blipFill rotWithShape="1">
          <a:blip r:embed="rId3">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9" name="Google Shape;19;p10"/>
          <p:cNvPicPr preferRelativeResize="0"/>
          <p:nvPr userDrawn="1"/>
        </p:nvPicPr>
        <p:blipFill rotWithShape="1">
          <a:blip r:embed="rId4">
            <a:alphaModFix/>
          </a:blip>
          <a:srcRect/>
          <a:stretch/>
        </p:blipFill>
        <p:spPr>
          <a:xfrm>
            <a:off x="4847885" y="210692"/>
            <a:ext cx="2496230" cy="1015802"/>
          </a:xfrm>
          <a:prstGeom prst="rect">
            <a:avLst/>
          </a:prstGeom>
          <a:noFill/>
          <a:ln>
            <a:noFill/>
          </a:ln>
        </p:spPr>
      </p:pic>
      <p:sp>
        <p:nvSpPr>
          <p:cNvPr id="20" name="Google Shape;20;p10"/>
          <p:cNvSpPr txBox="1"/>
          <p:nvPr userDrawn="1"/>
        </p:nvSpPr>
        <p:spPr>
          <a:xfrm>
            <a:off x="1595350" y="1017973"/>
            <a:ext cx="9144000" cy="778583"/>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400" b="1" i="0" u="none" strike="noStrike" kern="0" cap="none" spc="0" normalizeH="0" baseline="0" noProof="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sz="16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295097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3300363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pic>
        <p:nvPicPr>
          <p:cNvPr id="72" name="Google Shape;72;p17"/>
          <p:cNvPicPr preferRelativeResize="0"/>
          <p:nvPr/>
        </p:nvPicPr>
        <p:blipFill rotWithShape="1">
          <a:blip r:embed="rId3">
            <a:alphaModFix/>
          </a:blip>
          <a:srcRect/>
          <a:stretch/>
        </p:blipFill>
        <p:spPr>
          <a:xfrm>
            <a:off x="-85306" y="-330860"/>
            <a:ext cx="12192000" cy="68580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4" name="Google Shape;74;p17"/>
          <p:cNvPicPr preferRelativeResize="0"/>
          <p:nvPr/>
        </p:nvPicPr>
        <p:blipFill rotWithShape="1">
          <a:blip r:embed="rId4">
            <a:alphaModFix/>
          </a:blip>
          <a:srcRect/>
          <a:stretch/>
        </p:blipFill>
        <p:spPr>
          <a:xfrm>
            <a:off x="4357944" y="330860"/>
            <a:ext cx="2890753" cy="1176347"/>
          </a:xfrm>
          <a:prstGeom prst="rect">
            <a:avLst/>
          </a:prstGeom>
          <a:noFill/>
          <a:ln>
            <a:noFill/>
          </a:ln>
        </p:spPr>
      </p:pic>
      <p:sp>
        <p:nvSpPr>
          <p:cNvPr id="75" name="Google Shape;75;p17"/>
          <p:cNvSpPr txBox="1"/>
          <p:nvPr/>
        </p:nvSpPr>
        <p:spPr>
          <a:xfrm>
            <a:off x="2805445" y="1354975"/>
            <a:ext cx="6410498" cy="68841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20000"/>
              </a:lnSpc>
              <a:spcBef>
                <a:spcPts val="0"/>
              </a:spcBef>
              <a:spcAft>
                <a:spcPts val="0"/>
              </a:spcAft>
              <a:buClr>
                <a:srgbClr val="144E8C"/>
              </a:buClr>
              <a:buSzPts val="2000"/>
              <a:buFont typeface="Lato Black"/>
              <a:buNone/>
              <a:tabLst/>
              <a:defRPr/>
            </a:pP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VIETNAM NATIONAL UNIVERSITY HO CHI MINH CITY</a:t>
            </a:r>
            <a:b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br>
            <a:r>
              <a:rPr kumimoji="0" lang="en-US" sz="2000" b="1" i="0" u="none" strike="noStrike" kern="0" cap="none" spc="0" normalizeH="0" baseline="0" noProof="0" smtClean="0">
                <a:ln>
                  <a:noFill/>
                </a:ln>
                <a:solidFill>
                  <a:srgbClr val="144E8C"/>
                </a:solidFill>
                <a:effectLst/>
                <a:uLnTx/>
                <a:uFillTx/>
                <a:latin typeface="Cambria" panose="02040503050406030204" pitchFamily="18" charset="0"/>
                <a:ea typeface="Cambria" panose="02040503050406030204" pitchFamily="18" charset="0"/>
                <a:cs typeface="Lato Black"/>
                <a:sym typeface="Lato Black"/>
              </a:rPr>
              <a:t>University of Economics and Law</a:t>
            </a:r>
            <a:endParaRPr kumimoji="0" lang="en-US" sz="1400" b="0" i="0" u="none" strike="noStrike" kern="0" cap="none" spc="0" normalizeH="0" baseline="0" noProof="0">
              <a:ln>
                <a:noFill/>
              </a:ln>
              <a:solidFill>
                <a:srgbClr val="000000"/>
              </a:solidFill>
              <a:effectLst/>
              <a:uLnTx/>
              <a:uFillTx/>
              <a:latin typeface="Cambria" panose="02040503050406030204" pitchFamily="18" charset="0"/>
              <a:ea typeface="Cambria" panose="02040503050406030204" pitchFamily="18" charset="0"/>
              <a:cs typeface="Arial"/>
              <a:sym typeface="Arial"/>
            </a:endParaRPr>
          </a:p>
        </p:txBody>
      </p:sp>
    </p:spTree>
    <p:extLst>
      <p:ext uri="{BB962C8B-B14F-4D97-AF65-F5344CB8AC3E}">
        <p14:creationId xmlns:p14="http://schemas.microsoft.com/office/powerpoint/2010/main" val="3681330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1" i="1" u="none" strike="noStrike" kern="0" cap="none" spc="0" normalizeH="0" baseline="0" noProof="0" smtClean="0">
                <a:ln>
                  <a:noFill/>
                </a:ln>
                <a:solidFill>
                  <a:srgbClr val="E7E6E6"/>
                </a:solidFill>
                <a:effectLst/>
                <a:uLnTx/>
                <a:uFillTx/>
                <a:latin typeface="Lato"/>
                <a:ea typeface="Lato"/>
                <a:cs typeface="Lato"/>
                <a:sym typeface="Lato"/>
              </a:rPr>
              <a:t>Faculty of Information Systems</a:t>
            </a:r>
            <a:endParaRPr kumimoji="0" lang="en-US" sz="1200" b="1" i="1" u="none" strike="noStrike" kern="0" cap="none" spc="0" normalizeH="0" baseline="0" noProof="0">
              <a:ln>
                <a:noFill/>
              </a:ln>
              <a:solidFill>
                <a:srgbClr val="E7E6E6"/>
              </a:solidFill>
              <a:effectLst/>
              <a:uLnTx/>
              <a:uFillTx/>
              <a:latin typeface="Lato"/>
              <a:ea typeface="Lato"/>
              <a:cs typeface="Lato"/>
              <a:sym typeface="Lato"/>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1" i="0" u="none" strike="noStrike" kern="0" cap="none" spc="0" normalizeH="0" baseline="0" noProof="0">
                <a:ln>
                  <a:noFill/>
                </a:ln>
                <a:solidFill>
                  <a:srgbClr val="FFFFFF"/>
                </a:solidFill>
                <a:effectLst/>
                <a:uLnTx/>
                <a:uFillTx/>
                <a:latin typeface="Lato"/>
                <a:ea typeface="Lato"/>
                <a:cs typeface="Lato"/>
                <a:sym typeface="Lato"/>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1" i="0" u="none" strike="noStrike" kern="0" cap="none" spc="0" normalizeH="0" baseline="0" noProof="0">
              <a:ln>
                <a:noFill/>
              </a:ln>
              <a:solidFill>
                <a:srgbClr val="FFFFFF"/>
              </a:solidFill>
              <a:effectLst/>
              <a:uLnTx/>
              <a:uFillTx/>
              <a:latin typeface="Lato"/>
              <a:ea typeface="Lato"/>
              <a:cs typeface="Lato"/>
              <a:sym typeface="Lato"/>
            </a:endParaRPr>
          </a:p>
        </p:txBody>
      </p:sp>
    </p:spTree>
    <p:extLst>
      <p:ext uri="{BB962C8B-B14F-4D97-AF65-F5344CB8AC3E}">
        <p14:creationId xmlns:p14="http://schemas.microsoft.com/office/powerpoint/2010/main" val="2529039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Blank" type="blank">
  <p:cSld name="1_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303219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7" r:id="rId3"/>
    <p:sldLayoutId id="2147483658"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Lato"/>
              <a:ea typeface="Lato"/>
              <a:cs typeface="Lato"/>
              <a:sym typeface="Lato"/>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819202890"/>
      </p:ext>
    </p:extLst>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hyperlink" Target="https://en.wikipedia.org/wiki/Internet" TargetMode="External"/><Relationship Id="rId7" Type="http://schemas.openxmlformats.org/officeDocument/2006/relationships/hyperlink" Target="https://en.wikipedia.org/wiki/Web_servic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en.wikipedia.org/wiki/XML" TargetMode="External"/><Relationship Id="rId5" Type="http://schemas.openxmlformats.org/officeDocument/2006/relationships/hyperlink" Target="https://en.wikipedia.org/wiki/JSON" TargetMode="External"/><Relationship Id="rId4" Type="http://schemas.openxmlformats.org/officeDocument/2006/relationships/hyperlink" Target="https://en.wikipedia.org/wiki/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ibm.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www.postman.com/downloads" TargetMode="External"/><Relationship Id="rId4" Type="http://schemas.openxmlformats.org/officeDocument/2006/relationships/hyperlink" Target="https://swagger.io/"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dongabank.com.vn/exchange/export"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jar-download.com/artifacts/com.google.code.gson/gson/2.8.2/source-code"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hyperlink" Target="https://jar-download.com/artifacts/com.google.code.gson/gson/2.8.2/source-cod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132317" y="1977662"/>
            <a:ext cx="8763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3200" kern="0" dirty="0">
                <a:solidFill>
                  <a:srgbClr val="002060"/>
                </a:solidFill>
                <a:latin typeface="Times New Roman" panose="02020603050405020304" pitchFamily="18" charset="0"/>
                <a:cs typeface="Times New Roman" panose="02020603050405020304" pitchFamily="18" charset="0"/>
              </a:rPr>
              <a:t>Mobile-Commerce </a:t>
            </a:r>
            <a:r>
              <a:rPr lang="en-US" sz="3200" kern="0" dirty="0" smtClean="0">
                <a:solidFill>
                  <a:srgbClr val="002060"/>
                </a:solidFill>
                <a:latin typeface="Times New Roman" panose="02020603050405020304" pitchFamily="18" charset="0"/>
                <a:cs typeface="Times New Roman" panose="02020603050405020304" pitchFamily="18" charset="0"/>
              </a:rPr>
              <a:t>Development</a:t>
            </a:r>
          </a:p>
          <a:p>
            <a:pPr>
              <a:defRPr/>
            </a:pPr>
            <a:r>
              <a:rPr lang="en-US" sz="3200" u="sng" dirty="0" smtClean="0">
                <a:solidFill>
                  <a:srgbClr val="002060"/>
                </a:solidFill>
                <a:latin typeface="Times New Roman" panose="02020603050405020304" pitchFamily="18" charset="0"/>
                <a:cs typeface="Times New Roman" panose="02020603050405020304" pitchFamily="18" charset="0"/>
              </a:rPr>
              <a:t>Lesson</a:t>
            </a:r>
            <a:r>
              <a:rPr lang="en-US" sz="3200" dirty="0" smtClean="0">
                <a:solidFill>
                  <a:srgbClr val="002060"/>
                </a:solidFill>
                <a:latin typeface="Times New Roman" panose="02020603050405020304" pitchFamily="18" charset="0"/>
                <a:cs typeface="Times New Roman" panose="02020603050405020304" pitchFamily="18" charset="0"/>
              </a:rPr>
              <a:t> </a:t>
            </a:r>
            <a:endParaRPr lang="en-US" sz="3200" kern="0" dirty="0" smtClean="0">
              <a:solidFill>
                <a:srgbClr val="002060"/>
              </a:solidFill>
              <a:latin typeface="Times New Roman" panose="02020603050405020304" pitchFamily="18" charset="0"/>
              <a:cs typeface="Times New Roman" panose="02020603050405020304" pitchFamily="18" charset="0"/>
            </a:endParaRPr>
          </a:p>
          <a:p>
            <a:pPr>
              <a:defRPr/>
            </a:pPr>
            <a:r>
              <a:rPr lang="en-US" sz="3200">
                <a:solidFill>
                  <a:srgbClr val="002060"/>
                </a:solidFill>
                <a:latin typeface="Times New Roman" panose="02020603050405020304" pitchFamily="18" charset="0"/>
                <a:cs typeface="Times New Roman" panose="02020603050405020304" pitchFamily="18" charset="0"/>
              </a:rPr>
              <a:t>Web </a:t>
            </a:r>
            <a:r>
              <a:rPr lang="en-US" sz="3200" smtClean="0">
                <a:solidFill>
                  <a:srgbClr val="002060"/>
                </a:solidFill>
                <a:latin typeface="Times New Roman" panose="02020603050405020304" pitchFamily="18" charset="0"/>
                <a:cs typeface="Times New Roman" panose="02020603050405020304" pitchFamily="18" charset="0"/>
              </a:rPr>
              <a:t>Services</a:t>
            </a:r>
            <a:endParaRPr lang="en-US" sz="3200" kern="0"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2F97E3A-A23C-B018-8E45-86B8BF858946}"/>
              </a:ext>
            </a:extLst>
          </p:cNvPr>
          <p:cNvSpPr txBox="1"/>
          <p:nvPr/>
        </p:nvSpPr>
        <p:spPr>
          <a:xfrm>
            <a:off x="7958878" y="4079089"/>
            <a:ext cx="3781805" cy="2123658"/>
          </a:xfrm>
          <a:prstGeom prst="rect">
            <a:avLst/>
          </a:prstGeom>
          <a:noFill/>
        </p:spPr>
        <p:txBody>
          <a:bodyPr wrap="none" rtlCol="0">
            <a:spAutoFit/>
          </a:bodyPr>
          <a:lstStyle/>
          <a:p>
            <a:pPr algn="ctr"/>
            <a:r>
              <a:rPr lang="en-US" sz="2200" u="sng" dirty="0">
                <a:latin typeface="Times New Roman" panose="02020603050405020304" pitchFamily="18" charset="0"/>
                <a:cs typeface="Times New Roman" panose="02020603050405020304" pitchFamily="18" charset="0"/>
              </a:rPr>
              <a:t>Lecturer:</a:t>
            </a:r>
          </a:p>
          <a:p>
            <a:pPr algn="ctr"/>
            <a:r>
              <a:rPr lang="en-US" sz="2200" b="1" dirty="0">
                <a:solidFill>
                  <a:srgbClr val="002060"/>
                </a:solidFill>
                <a:latin typeface="Times New Roman" panose="02020603050405020304" pitchFamily="18" charset="0"/>
                <a:cs typeface="Times New Roman" panose="02020603050405020304" pitchFamily="18" charset="0"/>
              </a:rPr>
              <a:t>Tran </a:t>
            </a:r>
            <a:r>
              <a:rPr lang="en-US" sz="2200" b="1" dirty="0" err="1">
                <a:solidFill>
                  <a:srgbClr val="002060"/>
                </a:solidFill>
                <a:latin typeface="Times New Roman" panose="02020603050405020304" pitchFamily="18" charset="0"/>
                <a:cs typeface="Times New Roman" panose="02020603050405020304" pitchFamily="18" charset="0"/>
              </a:rPr>
              <a:t>Duy</a:t>
            </a:r>
            <a:r>
              <a:rPr lang="en-US" sz="2200" b="1" dirty="0">
                <a:solidFill>
                  <a:srgbClr val="002060"/>
                </a:solidFill>
                <a:latin typeface="Times New Roman" panose="02020603050405020304" pitchFamily="18" charset="0"/>
                <a:cs typeface="Times New Roman" panose="02020603050405020304" pitchFamily="18" charset="0"/>
              </a:rPr>
              <a:t> Thanh, </a:t>
            </a:r>
            <a:r>
              <a:rPr lang="en-US" sz="2200" b="1" dirty="0" err="1" smtClean="0">
                <a:solidFill>
                  <a:srgbClr val="002060"/>
                </a:solidFill>
                <a:latin typeface="Times New Roman" panose="02020603050405020304" pitchFamily="18" charset="0"/>
                <a:cs typeface="Times New Roman" panose="02020603050405020304" pitchFamily="18" charset="0"/>
              </a:rPr>
              <a:t>Phd</a:t>
            </a:r>
            <a:endParaRPr lang="en-US" sz="2200" b="1" dirty="0" smtClean="0">
              <a:solidFill>
                <a:srgbClr val="002060"/>
              </a:solidFill>
              <a:latin typeface="Times New Roman" panose="02020603050405020304" pitchFamily="18" charset="0"/>
              <a:cs typeface="Times New Roman" panose="02020603050405020304" pitchFamily="18" charset="0"/>
            </a:endParaRPr>
          </a:p>
          <a:p>
            <a:pPr algn="ctr"/>
            <a:r>
              <a:rPr lang="en-US" sz="2200" b="1" dirty="0" smtClean="0">
                <a:solidFill>
                  <a:srgbClr val="002060"/>
                </a:solidFill>
                <a:latin typeface="Times New Roman" panose="02020603050405020304" pitchFamily="18" charset="0"/>
                <a:cs typeface="Times New Roman" panose="02020603050405020304" pitchFamily="18" charset="0"/>
              </a:rPr>
              <a:t>Nguyen </a:t>
            </a:r>
            <a:r>
              <a:rPr lang="en-US" sz="2200" b="1" dirty="0" err="1" smtClean="0">
                <a:solidFill>
                  <a:srgbClr val="002060"/>
                </a:solidFill>
                <a:latin typeface="Times New Roman" panose="02020603050405020304" pitchFamily="18" charset="0"/>
                <a:cs typeface="Times New Roman" panose="02020603050405020304" pitchFamily="18" charset="0"/>
              </a:rPr>
              <a:t>Quang</a:t>
            </a:r>
            <a:r>
              <a:rPr lang="en-US" sz="2200" b="1" dirty="0" smtClean="0">
                <a:solidFill>
                  <a:srgbClr val="002060"/>
                </a:solidFill>
                <a:latin typeface="Times New Roman" panose="02020603050405020304" pitchFamily="18" charset="0"/>
                <a:cs typeface="Times New Roman" panose="02020603050405020304" pitchFamily="18" charset="0"/>
              </a:rPr>
              <a:t> </a:t>
            </a:r>
            <a:r>
              <a:rPr lang="en-US" sz="2200" b="1" dirty="0" err="1" smtClean="0">
                <a:solidFill>
                  <a:srgbClr val="002060"/>
                </a:solidFill>
                <a:latin typeface="Times New Roman" panose="02020603050405020304" pitchFamily="18" charset="0"/>
                <a:cs typeface="Times New Roman" panose="02020603050405020304" pitchFamily="18" charset="0"/>
              </a:rPr>
              <a:t>Phuc</a:t>
            </a:r>
            <a:r>
              <a:rPr lang="en-US" sz="2200" b="1" dirty="0" smtClean="0">
                <a:solidFill>
                  <a:srgbClr val="002060"/>
                </a:solidFill>
                <a:latin typeface="Times New Roman" panose="02020603050405020304" pitchFamily="18" charset="0"/>
                <a:cs typeface="Times New Roman" panose="02020603050405020304" pitchFamily="18" charset="0"/>
              </a:rPr>
              <a:t>, </a:t>
            </a:r>
            <a:r>
              <a:rPr lang="en-US" sz="2200" b="1" dirty="0" err="1" smtClean="0">
                <a:solidFill>
                  <a:srgbClr val="002060"/>
                </a:solidFill>
                <a:latin typeface="Times New Roman" panose="02020603050405020304" pitchFamily="18" charset="0"/>
                <a:cs typeface="Times New Roman" panose="02020603050405020304" pitchFamily="18" charset="0"/>
              </a:rPr>
              <a:t>Msc</a:t>
            </a:r>
            <a:endParaRPr lang="en-US" sz="2200" b="1" dirty="0">
              <a:solidFill>
                <a:srgbClr val="002060"/>
              </a:solidFill>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Phone: 0987773061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Lesson Objective</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66738" indent="-457200" algn="just">
              <a:lnSpc>
                <a:spcPct val="110000"/>
              </a:lnSpc>
              <a:spcBef>
                <a:spcPts val="600"/>
              </a:spcBef>
              <a:spcAft>
                <a:spcPts val="600"/>
              </a:spcAft>
              <a:buClr>
                <a:schemeClr val="tx1">
                  <a:lumMod val="85000"/>
                  <a:lumOff val="15000"/>
                </a:schemeClr>
              </a:buClr>
              <a:buFontTx/>
              <a:buChar char="-"/>
            </a:pPr>
            <a:r>
              <a:rPr lang="en-US" sz="2800" dirty="0" smtClean="0">
                <a:latin typeface="Times New Roman" panose="02020603050405020304" pitchFamily="18" charset="0"/>
                <a:cs typeface="Times New Roman" panose="02020603050405020304" pitchFamily="18" charset="0"/>
              </a:rPr>
              <a:t>Students understand </a:t>
            </a:r>
            <a:r>
              <a:rPr lang="en-US" sz="2800" dirty="0" smtClean="0">
                <a:latin typeface="Times New Roman" panose="02020603050405020304" pitchFamily="18" charset="0"/>
                <a:cs typeface="Times New Roman" panose="02020603050405020304" pitchFamily="18" charset="0"/>
              </a:rPr>
              <a:t>Web Service</a:t>
            </a:r>
            <a:endParaRPr lang="en-US" sz="2800" dirty="0" smtClean="0">
              <a:latin typeface="Times New Roman" panose="02020603050405020304" pitchFamily="18" charset="0"/>
              <a:cs typeface="Times New Roman" panose="02020603050405020304" pitchFamily="18" charset="0"/>
            </a:endParaRPr>
          </a:p>
          <a:p>
            <a:pPr marL="566738" indent="-457200" algn="just">
              <a:lnSpc>
                <a:spcPct val="110000"/>
              </a:lnSpc>
              <a:spcBef>
                <a:spcPts val="600"/>
              </a:spcBef>
              <a:spcAft>
                <a:spcPts val="600"/>
              </a:spcAft>
              <a:buClr>
                <a:schemeClr val="tx1">
                  <a:lumMod val="85000"/>
                  <a:lumOff val="15000"/>
                </a:schemeClr>
              </a:buClr>
              <a:buFontTx/>
              <a:buChar char="-"/>
            </a:pPr>
            <a:r>
              <a:rPr lang="en-US" sz="2800" dirty="0" smtClean="0">
                <a:latin typeface="Times New Roman" panose="02020603050405020304" pitchFamily="18" charset="0"/>
                <a:cs typeface="Times New Roman" panose="02020603050405020304" pitchFamily="18" charset="0"/>
              </a:rPr>
              <a:t>Know some type of Web Services</a:t>
            </a:r>
            <a:endParaRPr lang="en-US" sz="2800" dirty="0" smtClean="0">
              <a:latin typeface="Times New Roman" panose="02020603050405020304" pitchFamily="18" charset="0"/>
              <a:cs typeface="Times New Roman" panose="02020603050405020304" pitchFamily="18" charset="0"/>
            </a:endParaRPr>
          </a:p>
          <a:p>
            <a:pPr marL="566738" indent="-457200" algn="just">
              <a:lnSpc>
                <a:spcPct val="110000"/>
              </a:lnSpc>
              <a:spcBef>
                <a:spcPts val="600"/>
              </a:spcBef>
              <a:spcAft>
                <a:spcPts val="600"/>
              </a:spcAft>
              <a:buClr>
                <a:schemeClr val="tx1">
                  <a:lumMod val="85000"/>
                  <a:lumOff val="15000"/>
                </a:schemeClr>
              </a:buClr>
              <a:buFontTx/>
              <a:buChar char="-"/>
            </a:pPr>
            <a:r>
              <a:rPr lang="en-US" sz="2800" dirty="0" smtClean="0">
                <a:latin typeface="Times New Roman" panose="02020603050405020304" pitchFamily="18" charset="0"/>
                <a:cs typeface="Times New Roman" panose="02020603050405020304" pitchFamily="18" charset="0"/>
              </a:rPr>
              <a:t>Do the Restful API as well</a:t>
            </a:r>
          </a:p>
          <a:p>
            <a:pPr marL="566738" indent="-457200" algn="just">
              <a:lnSpc>
                <a:spcPct val="110000"/>
              </a:lnSpc>
              <a:spcBef>
                <a:spcPts val="600"/>
              </a:spcBef>
              <a:spcAft>
                <a:spcPts val="600"/>
              </a:spcAft>
              <a:buClr>
                <a:schemeClr val="tx1">
                  <a:lumMod val="85000"/>
                  <a:lumOff val="15000"/>
                </a:schemeClr>
              </a:buClr>
              <a:buFontTx/>
              <a:buChar char="-"/>
            </a:pPr>
            <a:r>
              <a:rPr lang="en-US" sz="2800" dirty="0" smtClean="0">
                <a:latin typeface="Times New Roman" panose="02020603050405020304" pitchFamily="18" charset="0"/>
                <a:cs typeface="Times New Roman" panose="02020603050405020304" pitchFamily="18" charset="0"/>
              </a:rPr>
              <a:t>Can do Postman, Swagger, </a:t>
            </a:r>
            <a:r>
              <a:rPr lang="en-US" sz="2800" dirty="0" err="1" smtClean="0">
                <a:latin typeface="Times New Roman" panose="02020603050405020304" pitchFamily="18" charset="0"/>
                <a:cs typeface="Times New Roman" panose="02020603050405020304" pitchFamily="18" charset="0"/>
              </a:rPr>
              <a:t>GSon</a:t>
            </a:r>
            <a:endParaRPr lang="en-US" sz="2800" dirty="0" smtClean="0">
              <a:latin typeface="Times New Roman" panose="02020603050405020304" pitchFamily="18" charset="0"/>
              <a:cs typeface="Times New Roman" panose="02020603050405020304" pitchFamily="18" charset="0"/>
            </a:endParaRPr>
          </a:p>
          <a:p>
            <a:pPr marL="566738" indent="-457200" algn="just">
              <a:lnSpc>
                <a:spcPct val="110000"/>
              </a:lnSpc>
              <a:spcBef>
                <a:spcPts val="600"/>
              </a:spcBef>
              <a:spcAft>
                <a:spcPts val="600"/>
              </a:spcAft>
              <a:buClr>
                <a:schemeClr val="tx1">
                  <a:lumMod val="85000"/>
                  <a:lumOff val="15000"/>
                </a:schemeClr>
              </a:buClr>
              <a:buFontTx/>
              <a:buChar char="-"/>
            </a:pPr>
            <a:r>
              <a:rPr lang="en-US" sz="2800" dirty="0" smtClean="0">
                <a:latin typeface="Times New Roman" panose="02020603050405020304" pitchFamily="18" charset="0"/>
                <a:cs typeface="Times New Roman" panose="02020603050405020304" pitchFamily="18" charset="0"/>
              </a:rPr>
              <a:t>Using Mul</a:t>
            </a:r>
            <a:r>
              <a:rPr lang="en-US" sz="2800" dirty="0" smtClean="0">
                <a:latin typeface="Times New Roman" panose="02020603050405020304" pitchFamily="18" charset="0"/>
                <a:cs typeface="Times New Roman" panose="02020603050405020304" pitchFamily="18" charset="0"/>
              </a:rPr>
              <a:t>ti-threading with Restful API for Dong A Bank service</a:t>
            </a:r>
            <a:endParaRPr 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1455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526858" y="935452"/>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a:latin typeface="Times New Roman" panose="02020603050405020304" pitchFamily="18" charset="0"/>
                <a:cs typeface="Times New Roman" panose="02020603050405020304" pitchFamily="18" charset="0"/>
              </a:rPr>
              <a:t>Introducing </a:t>
            </a:r>
            <a:r>
              <a:rPr lang="en-US" sz="2800" b="1" dirty="0" smtClean="0">
                <a:latin typeface="Times New Roman" panose="02020603050405020304" pitchFamily="18" charset="0"/>
                <a:cs typeface="Times New Roman" panose="02020603050405020304" pitchFamily="18" charset="0"/>
              </a:rPr>
              <a:t>Web Services</a:t>
            </a:r>
            <a:endParaRPr lang="en-US" sz="2800" b="1" dirty="0">
              <a:latin typeface="Times New Roman" panose="02020603050405020304" pitchFamily="18" charset="0"/>
              <a:cs typeface="Times New Roman" panose="02020603050405020304" pitchFamily="18" charset="0"/>
            </a:endParaRP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Restful API</a:t>
            </a:r>
            <a:endParaRPr lang="en-US" sz="2800" b="1" dirty="0">
              <a:latin typeface="Times New Roman" panose="02020603050405020304" pitchFamily="18" charset="0"/>
              <a:cs typeface="Times New Roman" panose="02020603050405020304" pitchFamily="18" charset="0"/>
            </a:endParaRPr>
          </a:p>
          <a:p>
            <a:pPr marL="623888" indent="-514350">
              <a:lnSpc>
                <a:spcPct val="110000"/>
              </a:lnSpc>
              <a:spcBef>
                <a:spcPts val="600"/>
              </a:spcBef>
              <a:spcAft>
                <a:spcPts val="600"/>
              </a:spcAft>
              <a:buClr>
                <a:schemeClr val="tx1">
                  <a:lumMod val="85000"/>
                  <a:lumOff val="15000"/>
                </a:schemeClr>
              </a:buClr>
              <a:buFont typeface="+mj-lt"/>
              <a:buAutoNum type="arabicPeriod"/>
            </a:pPr>
            <a:r>
              <a:rPr lang="en-US" sz="2800" b="1" dirty="0" smtClean="0">
                <a:latin typeface="Times New Roman" panose="02020603050405020304" pitchFamily="18" charset="0"/>
                <a:cs typeface="Times New Roman" panose="02020603050405020304" pitchFamily="18" charset="0"/>
              </a:rPr>
              <a:t>Demo Multi-threading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 Web Service</a:t>
            </a:r>
            <a:endParaRPr lang="en-US" sz="2800" b="1"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Outlines</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Tree>
    <p:extLst>
      <p:ext uri="{BB962C8B-B14F-4D97-AF65-F5344CB8AC3E}">
        <p14:creationId xmlns:p14="http://schemas.microsoft.com/office/powerpoint/2010/main" val="3947944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1. Introducing </a:t>
              </a:r>
              <a:r>
                <a:rPr lang="en-US" sz="2800" b="1" dirty="0">
                  <a:latin typeface="Times New Roman" panose="02020603050405020304" pitchFamily="18" charset="0"/>
                  <a:cs typeface="Times New Roman" panose="02020603050405020304" pitchFamily="18" charset="0"/>
                </a:rPr>
                <a:t>Web Services</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 name="Rectangle 1"/>
          <p:cNvSpPr/>
          <p:nvPr/>
        </p:nvSpPr>
        <p:spPr>
          <a:xfrm>
            <a:off x="374218" y="1030532"/>
            <a:ext cx="6096000" cy="3416320"/>
          </a:xfrm>
          <a:prstGeom prst="rect">
            <a:avLst/>
          </a:prstGeom>
        </p:spPr>
        <p:txBody>
          <a:bodyPr>
            <a:spAutoFit/>
          </a:bodyPr>
          <a:lstStyle/>
          <a:p>
            <a:r>
              <a:rPr lang="en-US" sz="2400" b="1" u="sng" dirty="0" smtClean="0">
                <a:solidFill>
                  <a:srgbClr val="202122"/>
                </a:solidFill>
                <a:latin typeface="Times New Roman" panose="02020603050405020304" pitchFamily="18" charset="0"/>
                <a:cs typeface="Times New Roman" panose="02020603050405020304" pitchFamily="18" charset="0"/>
              </a:rPr>
              <a:t>Wikipedia:</a:t>
            </a:r>
            <a:endParaRPr lang="en-US" sz="2400" b="1" u="sng" dirty="0">
              <a:solidFill>
                <a:srgbClr val="202122"/>
              </a:solidFill>
              <a:latin typeface="Times New Roman" panose="02020603050405020304" pitchFamily="18" charset="0"/>
              <a:cs typeface="Times New Roman" panose="02020603050405020304" pitchFamily="18" charset="0"/>
            </a:endParaRPr>
          </a:p>
          <a:p>
            <a:r>
              <a:rPr lang="en-US" sz="2400" dirty="0" smtClean="0">
                <a:solidFill>
                  <a:srgbClr val="202122"/>
                </a:solidFill>
                <a:latin typeface="Times New Roman" panose="02020603050405020304" pitchFamily="18" charset="0"/>
                <a:cs typeface="Times New Roman" panose="02020603050405020304" pitchFamily="18" charset="0"/>
              </a:rPr>
              <a:t>A</a:t>
            </a:r>
            <a:r>
              <a:rPr lang="en-US" sz="2400" dirty="0">
                <a:solidFill>
                  <a:srgbClr val="202122"/>
                </a:solidFill>
                <a:latin typeface="Times New Roman" panose="02020603050405020304" pitchFamily="18" charset="0"/>
                <a:cs typeface="Times New Roman" panose="02020603050405020304" pitchFamily="18" charset="0"/>
              </a:rPr>
              <a:t> </a:t>
            </a:r>
            <a:r>
              <a:rPr lang="en-US" sz="2400" b="1" dirty="0">
                <a:solidFill>
                  <a:srgbClr val="202122"/>
                </a:solidFill>
                <a:latin typeface="Times New Roman" panose="02020603050405020304" pitchFamily="18" charset="0"/>
                <a:cs typeface="Times New Roman" panose="02020603050405020304" pitchFamily="18" charset="0"/>
              </a:rPr>
              <a:t>web service</a:t>
            </a:r>
            <a:r>
              <a:rPr lang="en-US" sz="2400" dirty="0">
                <a:solidFill>
                  <a:srgbClr val="202122"/>
                </a:solidFill>
                <a:latin typeface="Times New Roman" panose="02020603050405020304" pitchFamily="18" charset="0"/>
                <a:cs typeface="Times New Roman" panose="02020603050405020304" pitchFamily="18" charset="0"/>
              </a:rPr>
              <a:t> (</a:t>
            </a:r>
            <a:r>
              <a:rPr lang="en-US" sz="2400" b="1" dirty="0">
                <a:solidFill>
                  <a:srgbClr val="202122"/>
                </a:solidFill>
                <a:latin typeface="Times New Roman" panose="02020603050405020304" pitchFamily="18" charset="0"/>
                <a:cs typeface="Times New Roman" panose="02020603050405020304" pitchFamily="18" charset="0"/>
              </a:rPr>
              <a:t>WS</a:t>
            </a:r>
            <a:r>
              <a:rPr lang="en-US" sz="2400" dirty="0">
                <a:solidFill>
                  <a:srgbClr val="202122"/>
                </a:solidFill>
                <a:latin typeface="Times New Roman" panose="02020603050405020304" pitchFamily="18" charset="0"/>
                <a:cs typeface="Times New Roman" panose="02020603050405020304" pitchFamily="18" charset="0"/>
              </a:rPr>
              <a:t>) is either:</a:t>
            </a:r>
          </a:p>
          <a:p>
            <a:pPr algn="just">
              <a:buFont typeface="Arial" panose="020B0604020202020204" pitchFamily="34" charset="0"/>
              <a:buChar char="•"/>
            </a:pPr>
            <a:r>
              <a:rPr lang="en-US" sz="2400" dirty="0">
                <a:solidFill>
                  <a:srgbClr val="202122"/>
                </a:solidFill>
                <a:latin typeface="Times New Roman" panose="02020603050405020304" pitchFamily="18" charset="0"/>
                <a:cs typeface="Times New Roman" panose="02020603050405020304" pitchFamily="18" charset="0"/>
              </a:rPr>
              <a:t>a service offered by an electronic device to another electronic device, communicating with each other via the </a:t>
            </a:r>
            <a:r>
              <a:rPr lang="en-US" sz="2400" dirty="0">
                <a:solidFill>
                  <a:srgbClr val="3366CC"/>
                </a:solidFill>
                <a:latin typeface="Times New Roman" panose="02020603050405020304" pitchFamily="18" charset="0"/>
                <a:cs typeface="Times New Roman" panose="02020603050405020304" pitchFamily="18" charset="0"/>
                <a:hlinkClick r:id="rId3" tooltip="Internet"/>
              </a:rPr>
              <a:t>Internet</a:t>
            </a:r>
            <a:r>
              <a:rPr lang="en-US" sz="2400" dirty="0">
                <a:solidFill>
                  <a:srgbClr val="202122"/>
                </a:solidFill>
                <a:latin typeface="Times New Roman" panose="02020603050405020304" pitchFamily="18" charset="0"/>
                <a:cs typeface="Times New Roman" panose="02020603050405020304" pitchFamily="18" charset="0"/>
              </a:rPr>
              <a:t>, or</a:t>
            </a:r>
          </a:p>
          <a:p>
            <a:pPr algn="just">
              <a:buFont typeface="Arial" panose="020B0604020202020204" pitchFamily="34" charset="0"/>
              <a:buChar char="•"/>
            </a:pPr>
            <a:r>
              <a:rPr lang="en-US" sz="2400" dirty="0">
                <a:solidFill>
                  <a:srgbClr val="202122"/>
                </a:solidFill>
                <a:latin typeface="Times New Roman" panose="02020603050405020304" pitchFamily="18" charset="0"/>
                <a:cs typeface="Times New Roman" panose="02020603050405020304" pitchFamily="18" charset="0"/>
              </a:rPr>
              <a:t>a server running on a computer device, listening for requests at a particular port over a network, serving web documents (</a:t>
            </a:r>
            <a:r>
              <a:rPr lang="en-US" sz="2400" dirty="0">
                <a:solidFill>
                  <a:srgbClr val="3366CC"/>
                </a:solidFill>
                <a:latin typeface="Times New Roman" panose="02020603050405020304" pitchFamily="18" charset="0"/>
                <a:cs typeface="Times New Roman" panose="02020603050405020304" pitchFamily="18" charset="0"/>
                <a:hlinkClick r:id="rId4" tooltip="HTML"/>
              </a:rPr>
              <a:t>HTML</a:t>
            </a:r>
            <a:r>
              <a:rPr lang="en-US" sz="2400" dirty="0">
                <a:solidFill>
                  <a:srgbClr val="202122"/>
                </a:solidFill>
                <a:latin typeface="Times New Roman" panose="02020603050405020304" pitchFamily="18" charset="0"/>
                <a:cs typeface="Times New Roman" panose="02020603050405020304" pitchFamily="18" charset="0"/>
              </a:rPr>
              <a:t>, </a:t>
            </a:r>
            <a:r>
              <a:rPr lang="en-US" sz="2400" dirty="0">
                <a:solidFill>
                  <a:srgbClr val="3366CC"/>
                </a:solidFill>
                <a:latin typeface="Times New Roman" panose="02020603050405020304" pitchFamily="18" charset="0"/>
                <a:cs typeface="Times New Roman" panose="02020603050405020304" pitchFamily="18" charset="0"/>
                <a:hlinkClick r:id="rId5" tooltip="JSON"/>
              </a:rPr>
              <a:t>JSON</a:t>
            </a:r>
            <a:r>
              <a:rPr lang="en-US" sz="2400" dirty="0">
                <a:solidFill>
                  <a:srgbClr val="202122"/>
                </a:solidFill>
                <a:latin typeface="Times New Roman" panose="02020603050405020304" pitchFamily="18" charset="0"/>
                <a:cs typeface="Times New Roman" panose="02020603050405020304" pitchFamily="18" charset="0"/>
              </a:rPr>
              <a:t>, </a:t>
            </a:r>
            <a:r>
              <a:rPr lang="en-US" sz="2400" dirty="0">
                <a:solidFill>
                  <a:srgbClr val="3366CC"/>
                </a:solidFill>
                <a:latin typeface="Times New Roman" panose="02020603050405020304" pitchFamily="18" charset="0"/>
                <a:cs typeface="Times New Roman" panose="02020603050405020304" pitchFamily="18" charset="0"/>
                <a:hlinkClick r:id="rId6" tooltip="XML"/>
              </a:rPr>
              <a:t>XML</a:t>
            </a:r>
            <a:r>
              <a:rPr lang="en-US" sz="2400" dirty="0">
                <a:solidFill>
                  <a:srgbClr val="202122"/>
                </a:solidFill>
                <a:latin typeface="Times New Roman" panose="02020603050405020304" pitchFamily="18" charset="0"/>
                <a:cs typeface="Times New Roman" panose="02020603050405020304" pitchFamily="18" charset="0"/>
              </a:rPr>
              <a:t>, images)</a:t>
            </a:r>
          </a:p>
        </p:txBody>
      </p:sp>
      <p:sp>
        <p:nvSpPr>
          <p:cNvPr id="3" name="Rectangle 2"/>
          <p:cNvSpPr/>
          <p:nvPr/>
        </p:nvSpPr>
        <p:spPr>
          <a:xfrm>
            <a:off x="329107" y="4683853"/>
            <a:ext cx="5884944" cy="461665"/>
          </a:xfrm>
          <a:prstGeom prst="rect">
            <a:avLst/>
          </a:prstGeom>
        </p:spPr>
        <p:txBody>
          <a:bodyPr wrap="none">
            <a:spAutoFit/>
          </a:bodyPr>
          <a:lstStyle/>
          <a:p>
            <a:r>
              <a:rPr lang="en-US" sz="2400" dirty="0">
                <a:hlinkClick r:id="rId7"/>
              </a:rPr>
              <a:t>https://</a:t>
            </a:r>
            <a:r>
              <a:rPr lang="en-US" sz="2400" dirty="0" smtClean="0">
                <a:hlinkClick r:id="rId7"/>
              </a:rPr>
              <a:t>en.wikipedia.org/wiki/Web_service</a:t>
            </a:r>
            <a:r>
              <a:rPr lang="en-US" sz="2400" dirty="0" smtClean="0"/>
              <a:t> </a:t>
            </a:r>
            <a:endParaRPr lang="en-US" sz="2400" dirty="0"/>
          </a:p>
        </p:txBody>
      </p:sp>
      <p:pic>
        <p:nvPicPr>
          <p:cNvPr id="5122" name="Picture 2" descr="https://ars.els-cdn.com/content/image/1-s2.0-S1319157817300642-gr1.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2632" y="1731770"/>
            <a:ext cx="4667250" cy="3114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4040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1. Introducing </a:t>
              </a:r>
              <a:r>
                <a:rPr lang="en-US" sz="2800" b="1" dirty="0">
                  <a:latin typeface="Times New Roman" panose="02020603050405020304" pitchFamily="18" charset="0"/>
                  <a:cs typeface="Times New Roman" panose="02020603050405020304" pitchFamily="18" charset="0"/>
                </a:rPr>
                <a:t>Web Services</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 name="Rectangle 1"/>
          <p:cNvSpPr/>
          <p:nvPr/>
        </p:nvSpPr>
        <p:spPr>
          <a:xfrm>
            <a:off x="626403" y="954993"/>
            <a:ext cx="3757760" cy="477054"/>
          </a:xfrm>
          <a:prstGeom prst="rect">
            <a:avLst/>
          </a:prstGeom>
        </p:spPr>
        <p:txBody>
          <a:bodyPr wrap="none">
            <a:spAutoFit/>
          </a:bodyPr>
          <a:lstStyle/>
          <a:p>
            <a:pPr marL="342900" indent="-342900">
              <a:buFont typeface="Wingdings" panose="05000000000000000000" pitchFamily="2" charset="2"/>
              <a:buChar char="q"/>
            </a:pPr>
            <a:r>
              <a:rPr lang="en-US" sz="2500" b="1" dirty="0">
                <a:latin typeface="Times New Roman" panose="02020603050405020304" pitchFamily="18" charset="0"/>
                <a:cs typeface="Times New Roman" panose="02020603050405020304" pitchFamily="18" charset="0"/>
              </a:rPr>
              <a:t>Web services standards</a:t>
            </a:r>
          </a:p>
        </p:txBody>
      </p:sp>
      <p:pic>
        <p:nvPicPr>
          <p:cNvPr id="1026" name="Picture 2" descr="Figure 2 illustrates the relationships between SOAP, UDDI, WSIL, and WSD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2673" y="1489154"/>
            <a:ext cx="4857750" cy="45815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271588" y="5762902"/>
            <a:ext cx="2603598" cy="307777"/>
          </a:xfrm>
          <a:prstGeom prst="rect">
            <a:avLst/>
          </a:prstGeom>
        </p:spPr>
        <p:txBody>
          <a:bodyPr wrap="none">
            <a:spAutoFit/>
          </a:bodyPr>
          <a:lstStyle/>
          <a:p>
            <a:r>
              <a:rPr lang="en-US" dirty="0" smtClean="0"/>
              <a:t>Source: </a:t>
            </a:r>
            <a:r>
              <a:rPr lang="en-US" dirty="0" smtClean="0">
                <a:hlinkClick r:id="rId4"/>
              </a:rPr>
              <a:t>https</a:t>
            </a:r>
            <a:r>
              <a:rPr lang="en-US" dirty="0">
                <a:hlinkClick r:id="rId4"/>
              </a:rPr>
              <a:t>://www.ibm.com</a:t>
            </a:r>
            <a:r>
              <a:rPr lang="en-US" dirty="0" smtClean="0">
                <a:hlinkClick r:id="rId4"/>
              </a:rPr>
              <a:t>/</a:t>
            </a:r>
            <a:r>
              <a:rPr lang="en-US" dirty="0" smtClean="0"/>
              <a:t> </a:t>
            </a:r>
            <a:endParaRPr lang="en-US" dirty="0"/>
          </a:p>
        </p:txBody>
      </p:sp>
    </p:spTree>
    <p:extLst>
      <p:ext uri="{BB962C8B-B14F-4D97-AF65-F5344CB8AC3E}">
        <p14:creationId xmlns:p14="http://schemas.microsoft.com/office/powerpoint/2010/main" val="25303064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2. Restful </a:t>
              </a:r>
              <a:r>
                <a:rPr lang="en-US" sz="2800" b="1" dirty="0">
                  <a:latin typeface="Times New Roman" panose="02020603050405020304" pitchFamily="18" charset="0"/>
                  <a:cs typeface="Times New Roman" panose="02020603050405020304" pitchFamily="18" charset="0"/>
                </a:rPr>
                <a:t>API</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1" name="Content Placeholder 2">
            <a:extLst>
              <a:ext uri="{FF2B5EF4-FFF2-40B4-BE49-F238E27FC236}">
                <a16:creationId xmlns:a16="http://schemas.microsoft.com/office/drawing/2014/main" id="{85B14F51-1566-C44C-A021-1BBEB4E74CF3}"/>
              </a:ext>
            </a:extLst>
          </p:cNvPr>
          <p:cNvSpPr txBox="1">
            <a:spLocks/>
          </p:cNvSpPr>
          <p:nvPr/>
        </p:nvSpPr>
        <p:spPr>
          <a:xfrm>
            <a:off x="728132" y="972404"/>
            <a:ext cx="10515259" cy="1219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ClrTx/>
              <a:buFont typeface="Arial" pitchFamily="34" charset="0"/>
              <a:buNone/>
            </a:pPr>
            <a:r>
              <a:rPr lang="en-US" sz="2200">
                <a:solidFill>
                  <a:prstClr val="black"/>
                </a:solidFill>
                <a:latin typeface="Times" pitchFamily="2" charset="0"/>
              </a:rPr>
              <a:t>An </a:t>
            </a:r>
            <a:r>
              <a:rPr lang="en-US" sz="2200" b="1">
                <a:solidFill>
                  <a:prstClr val="black"/>
                </a:solidFill>
                <a:latin typeface="Times" pitchFamily="2" charset="0"/>
              </a:rPr>
              <a:t>API</a:t>
            </a:r>
            <a:r>
              <a:rPr lang="en-US" sz="2200">
                <a:solidFill>
                  <a:prstClr val="black"/>
                </a:solidFill>
                <a:latin typeface="Times" pitchFamily="2" charset="0"/>
              </a:rPr>
              <a:t> (</a:t>
            </a:r>
            <a:r>
              <a:rPr lang="en-US" sz="2200" b="1">
                <a:solidFill>
                  <a:prstClr val="black"/>
                </a:solidFill>
                <a:latin typeface="Times" pitchFamily="2" charset="0"/>
              </a:rPr>
              <a:t>A</a:t>
            </a:r>
            <a:r>
              <a:rPr lang="en-US" sz="2200">
                <a:solidFill>
                  <a:prstClr val="black"/>
                </a:solidFill>
                <a:latin typeface="Times" pitchFamily="2" charset="0"/>
              </a:rPr>
              <a:t>pplication </a:t>
            </a:r>
            <a:r>
              <a:rPr lang="en-US" sz="2200" b="1">
                <a:solidFill>
                  <a:prstClr val="black"/>
                </a:solidFill>
                <a:latin typeface="Times" pitchFamily="2" charset="0"/>
              </a:rPr>
              <a:t>P</a:t>
            </a:r>
            <a:r>
              <a:rPr lang="en-US" sz="2200">
                <a:solidFill>
                  <a:prstClr val="black"/>
                </a:solidFill>
                <a:latin typeface="Times" pitchFamily="2" charset="0"/>
              </a:rPr>
              <a:t>rogramming </a:t>
            </a:r>
            <a:r>
              <a:rPr lang="en-US" sz="2200" b="1">
                <a:solidFill>
                  <a:prstClr val="black"/>
                </a:solidFill>
                <a:latin typeface="Times" pitchFamily="2" charset="0"/>
              </a:rPr>
              <a:t>I</a:t>
            </a:r>
            <a:r>
              <a:rPr lang="en-US" sz="2200">
                <a:solidFill>
                  <a:prstClr val="black"/>
                </a:solidFill>
                <a:latin typeface="Times" pitchFamily="2" charset="0"/>
              </a:rPr>
              <a:t>nterface) is a set of rules and mechanisms that allow an application or component to interact with another application or component. The API can return the data needed by the application in common formats such as JSON or XML.</a:t>
            </a:r>
            <a:endParaRPr lang="vi-VN" sz="2200">
              <a:solidFill>
                <a:prstClr val="black"/>
              </a:solidFill>
              <a:latin typeface="Times" pitchFamily="2" charset="0"/>
            </a:endParaRPr>
          </a:p>
        </p:txBody>
      </p:sp>
      <p:pic>
        <p:nvPicPr>
          <p:cNvPr id="22" name="Picture 21">
            <a:extLst>
              <a:ext uri="{FF2B5EF4-FFF2-40B4-BE49-F238E27FC236}">
                <a16:creationId xmlns:a16="http://schemas.microsoft.com/office/drawing/2014/main" id="{6DA56F35-C03A-3A40-BB80-4BA9F8FC7E58}"/>
              </a:ext>
            </a:extLst>
          </p:cNvPr>
          <p:cNvPicPr>
            <a:picLocks noChangeAspect="1"/>
          </p:cNvPicPr>
          <p:nvPr/>
        </p:nvPicPr>
        <p:blipFill>
          <a:blip r:embed="rId3"/>
          <a:stretch>
            <a:fillRect/>
          </a:stretch>
        </p:blipFill>
        <p:spPr>
          <a:xfrm>
            <a:off x="1137581" y="2191604"/>
            <a:ext cx="9953751" cy="3022991"/>
          </a:xfrm>
          <a:prstGeom prst="rect">
            <a:avLst/>
          </a:prstGeom>
        </p:spPr>
      </p:pic>
    </p:spTree>
    <p:extLst>
      <p:ext uri="{BB962C8B-B14F-4D97-AF65-F5344CB8AC3E}">
        <p14:creationId xmlns:p14="http://schemas.microsoft.com/office/powerpoint/2010/main" val="937697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2. Restful </a:t>
              </a:r>
              <a:r>
                <a:rPr lang="en-US" sz="2800" b="1" dirty="0">
                  <a:latin typeface="Times New Roman" panose="02020603050405020304" pitchFamily="18" charset="0"/>
                  <a:cs typeface="Times New Roman" panose="02020603050405020304" pitchFamily="18" charset="0"/>
                </a:rPr>
                <a:t>API</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7" name="Content Placeholder 2">
            <a:extLst>
              <a:ext uri="{FF2B5EF4-FFF2-40B4-BE49-F238E27FC236}">
                <a16:creationId xmlns:a16="http://schemas.microsoft.com/office/drawing/2014/main" id="{85B14F51-1566-C44C-A021-1BBEB4E74CF3}"/>
              </a:ext>
            </a:extLst>
          </p:cNvPr>
          <p:cNvSpPr txBox="1">
            <a:spLocks/>
          </p:cNvSpPr>
          <p:nvPr/>
        </p:nvSpPr>
        <p:spPr>
          <a:xfrm>
            <a:off x="678976" y="1015600"/>
            <a:ext cx="2971799" cy="16764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ClrTx/>
              <a:buFont typeface="Arial" pitchFamily="34" charset="0"/>
              <a:buNone/>
            </a:pPr>
            <a:r>
              <a:rPr lang="en-US" sz="2200" b="1" dirty="0">
                <a:solidFill>
                  <a:prstClr val="black"/>
                </a:solidFill>
                <a:latin typeface="Times" pitchFamily="2" charset="0"/>
              </a:rPr>
              <a:t>Restful API </a:t>
            </a:r>
            <a:r>
              <a:rPr lang="en-US" sz="2200" dirty="0">
                <a:solidFill>
                  <a:prstClr val="black"/>
                </a:solidFill>
                <a:latin typeface="Times" pitchFamily="2" charset="0"/>
              </a:rPr>
              <a:t>is one of the popular standards used to design APIs for web applications to manage resources, helping different applications (web, mobile…) to communicate with each other. It usually includes preformatted resource states and is transmitted over HTTP.</a:t>
            </a:r>
          </a:p>
        </p:txBody>
      </p:sp>
      <p:pic>
        <p:nvPicPr>
          <p:cNvPr id="18" name="Picture 17">
            <a:extLst>
              <a:ext uri="{FF2B5EF4-FFF2-40B4-BE49-F238E27FC236}">
                <a16:creationId xmlns:a16="http://schemas.microsoft.com/office/drawing/2014/main" id="{C8FB607A-3C4E-5342-BC97-6CD02E94A105}"/>
              </a:ext>
            </a:extLst>
          </p:cNvPr>
          <p:cNvPicPr>
            <a:picLocks noChangeAspect="1"/>
          </p:cNvPicPr>
          <p:nvPr/>
        </p:nvPicPr>
        <p:blipFill>
          <a:blip r:embed="rId3">
            <a:clrChange>
              <a:clrFrom>
                <a:srgbClr val="FFFFFF">
                  <a:alpha val="0"/>
                </a:srgbClr>
              </a:clrFrom>
              <a:clrTo>
                <a:srgbClr val="FFFFFF">
                  <a:alpha val="0"/>
                </a:srgbClr>
              </a:clrTo>
            </a:clrChange>
            <a:extLst>
              <a:ext uri="{28A0092B-C50C-407E-A947-70E740481C1C}">
                <a14:useLocalDpi xmlns:a14="http://schemas.microsoft.com/office/drawing/2010/main" val="0"/>
              </a:ext>
            </a:extLst>
          </a:blip>
          <a:stretch>
            <a:fillRect/>
          </a:stretch>
        </p:blipFill>
        <p:spPr>
          <a:xfrm>
            <a:off x="3765795" y="930322"/>
            <a:ext cx="8038381" cy="5047356"/>
          </a:xfrm>
          <a:prstGeom prst="rect">
            <a:avLst/>
          </a:prstGeom>
        </p:spPr>
      </p:pic>
    </p:spTree>
    <p:extLst>
      <p:ext uri="{BB962C8B-B14F-4D97-AF65-F5344CB8AC3E}">
        <p14:creationId xmlns:p14="http://schemas.microsoft.com/office/powerpoint/2010/main" val="4719831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7" name="Picture 82"/>
          <p:cNvPicPr>
            <a:picLocks noChangeAspect="1" noChangeArrowheads="1"/>
          </p:cNvPicPr>
          <p:nvPr/>
        </p:nvPicPr>
        <p:blipFill>
          <a:blip r:embed="rId3">
            <a:extLst>
              <a:ext uri="{28A0092B-C50C-407E-A947-70E740481C1C}">
                <a14:useLocalDpi xmlns:a14="http://schemas.microsoft.com/office/drawing/2010/main" val="0"/>
              </a:ext>
            </a:extLst>
          </a:blip>
          <a:srcRect b="22990"/>
          <a:stretch>
            <a:fillRect/>
          </a:stretch>
        </p:blipFill>
        <p:spPr bwMode="auto">
          <a:xfrm>
            <a:off x="2713369" y="2528405"/>
            <a:ext cx="6812218" cy="320365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18698" y="964820"/>
            <a:ext cx="11336740" cy="1200329"/>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Install </a:t>
            </a:r>
            <a:r>
              <a:rPr lang="en-US" sz="2400" dirty="0" smtClean="0">
                <a:latin typeface="Times New Roman" panose="02020603050405020304" pitchFamily="18" charset="0"/>
                <a:cs typeface="Times New Roman" panose="02020603050405020304" pitchFamily="18" charset="0"/>
              </a:rPr>
              <a:t>Postman, this </a:t>
            </a:r>
            <a:r>
              <a:rPr lang="en-US" sz="2400" dirty="0">
                <a:latin typeface="Times New Roman" panose="02020603050405020304" pitchFamily="18" charset="0"/>
                <a:cs typeface="Times New Roman" panose="02020603050405020304" pitchFamily="18" charset="0"/>
              </a:rPr>
              <a:t>tool is very convenient, it helps us to test the API before using it.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is also the Swagger tool (</a:t>
            </a:r>
            <a:r>
              <a:rPr lang="en-US" sz="2400" dirty="0">
                <a:latin typeface="Times New Roman" panose="02020603050405020304" pitchFamily="18" charset="0"/>
                <a:cs typeface="Times New Roman" panose="02020603050405020304" pitchFamily="18" charset="0"/>
                <a:hlinkClick r:id="rId4"/>
              </a:rPr>
              <a:t>https://</a:t>
            </a:r>
            <a:r>
              <a:rPr lang="en-US" sz="2400" dirty="0" smtClean="0">
                <a:latin typeface="Times New Roman" panose="02020603050405020304" pitchFamily="18" charset="0"/>
                <a:cs typeface="Times New Roman" panose="02020603050405020304" pitchFamily="18" charset="0"/>
                <a:hlinkClick r:id="rId4"/>
              </a:rPr>
              <a:t>swagger.io</a:t>
            </a:r>
            <a:r>
              <a:rPr lang="en-US" sz="2400" dirty="0" smtClean="0">
                <a:latin typeface="Times New Roman" panose="02020603050405020304" pitchFamily="18" charset="0"/>
                <a:cs typeface="Times New Roman" panose="02020603050405020304" pitchFamily="18" charset="0"/>
              </a:rPr>
              <a:t> ). </a:t>
            </a:r>
          </a:p>
          <a:p>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the content of this course we will use Postman. </a:t>
            </a:r>
            <a:r>
              <a:rPr lang="en-US" sz="2400" dirty="0">
                <a:latin typeface="Times New Roman" panose="02020603050405020304" pitchFamily="18" charset="0"/>
                <a:cs typeface="Times New Roman" panose="02020603050405020304" pitchFamily="18" charset="0"/>
                <a:hlinkClick r:id="rId5"/>
              </a:rPr>
              <a:t>https://</a:t>
            </a:r>
            <a:r>
              <a:rPr lang="en-US" sz="2400" dirty="0" smtClean="0">
                <a:latin typeface="Times New Roman" panose="02020603050405020304" pitchFamily="18" charset="0"/>
                <a:cs typeface="Times New Roman" panose="02020603050405020304" pitchFamily="18" charset="0"/>
                <a:hlinkClick r:id="rId5"/>
              </a:rPr>
              <a:t>www.postman.com/downloads</a:t>
            </a: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522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8473983" y="641167"/>
            <a:ext cx="2959257" cy="5932607"/>
          </a:xfrm>
          <a:prstGeom prst="rect">
            <a:avLst/>
          </a:prstGeom>
        </p:spPr>
      </p:pic>
      <p:sp>
        <p:nvSpPr>
          <p:cNvPr id="3" name="Rectangle 2"/>
          <p:cNvSpPr/>
          <p:nvPr/>
        </p:nvSpPr>
        <p:spPr>
          <a:xfrm>
            <a:off x="662959" y="1023231"/>
            <a:ext cx="4660250" cy="369332"/>
          </a:xfrm>
          <a:prstGeom prst="rect">
            <a:avLst/>
          </a:prstGeom>
        </p:spPr>
        <p:txBody>
          <a:bodyPr wrap="none">
            <a:spAutoFit/>
          </a:bodyPr>
          <a:lstStyle/>
          <a:p>
            <a:r>
              <a:rPr lang="en-US" sz="1800" dirty="0">
                <a:hlinkClick r:id="rId4"/>
              </a:rPr>
              <a:t>https://</a:t>
            </a:r>
            <a:r>
              <a:rPr lang="en-US" sz="1800" dirty="0" smtClean="0">
                <a:hlinkClick r:id="rId4"/>
              </a:rPr>
              <a:t>dongabank.com.vn/exchange/export</a:t>
            </a:r>
            <a:r>
              <a:rPr lang="en-US" sz="1800" dirty="0" smtClean="0"/>
              <a:t> </a:t>
            </a:r>
            <a:endParaRPr lang="en-US" sz="1800" dirty="0"/>
          </a:p>
        </p:txBody>
      </p:sp>
      <p:pic>
        <p:nvPicPr>
          <p:cNvPr id="5" name="Picture 4"/>
          <p:cNvPicPr>
            <a:picLocks noChangeAspect="1"/>
          </p:cNvPicPr>
          <p:nvPr/>
        </p:nvPicPr>
        <p:blipFill>
          <a:blip r:embed="rId5"/>
          <a:stretch>
            <a:fillRect/>
          </a:stretch>
        </p:blipFill>
        <p:spPr>
          <a:xfrm>
            <a:off x="728132" y="1764000"/>
            <a:ext cx="6755357" cy="4066331"/>
          </a:xfrm>
          <a:prstGeom prst="rect">
            <a:avLst/>
          </a:prstGeom>
        </p:spPr>
      </p:pic>
      <p:sp>
        <p:nvSpPr>
          <p:cNvPr id="6" name="Right Arrow 5"/>
          <p:cNvSpPr/>
          <p:nvPr/>
        </p:nvSpPr>
        <p:spPr>
          <a:xfrm>
            <a:off x="7630718" y="3370997"/>
            <a:ext cx="696036" cy="42616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41709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4" name="Picture 3"/>
          <p:cNvPicPr>
            <a:picLocks noChangeAspect="1"/>
          </p:cNvPicPr>
          <p:nvPr/>
        </p:nvPicPr>
        <p:blipFill>
          <a:blip r:embed="rId3"/>
          <a:stretch>
            <a:fillRect/>
          </a:stretch>
        </p:blipFill>
        <p:spPr>
          <a:xfrm>
            <a:off x="4693547" y="891386"/>
            <a:ext cx="3464621" cy="5486119"/>
          </a:xfrm>
          <a:prstGeom prst="rect">
            <a:avLst/>
          </a:prstGeom>
        </p:spPr>
      </p:pic>
      <p:sp>
        <p:nvSpPr>
          <p:cNvPr id="6" name="TextBox 5"/>
          <p:cNvSpPr txBox="1"/>
          <p:nvPr/>
        </p:nvSpPr>
        <p:spPr>
          <a:xfrm>
            <a:off x="655093" y="996287"/>
            <a:ext cx="274466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Create </a:t>
            </a:r>
            <a:r>
              <a:rPr lang="en-US" sz="2000" b="1" dirty="0" err="1" smtClean="0">
                <a:latin typeface="Times New Roman" panose="02020603050405020304" pitchFamily="18" charset="0"/>
                <a:cs typeface="Times New Roman" panose="02020603050405020304" pitchFamily="18" charset="0"/>
              </a:rPr>
              <a:t>DongABankApp</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7387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3928521" y="851742"/>
            <a:ext cx="6170824" cy="5467551"/>
          </a:xfrm>
          <a:prstGeom prst="rect">
            <a:avLst/>
          </a:prstGeom>
        </p:spPr>
      </p:pic>
      <p:sp>
        <p:nvSpPr>
          <p:cNvPr id="17" name="TextBox 16"/>
          <p:cNvSpPr txBox="1"/>
          <p:nvPr/>
        </p:nvSpPr>
        <p:spPr>
          <a:xfrm>
            <a:off x="655093" y="996287"/>
            <a:ext cx="1947969" cy="400110"/>
          </a:xfrm>
          <a:prstGeom prst="rect">
            <a:avLst/>
          </a:prstGeom>
          <a:noFill/>
        </p:spPr>
        <p:txBody>
          <a:bodyPr wrap="none" rtlCol="0">
            <a:spAutoFit/>
          </a:bodyPr>
          <a:lstStyle/>
          <a:p>
            <a:r>
              <a:rPr lang="en-US" sz="2000" dirty="0" err="1" smtClean="0">
                <a:latin typeface="Times New Roman" panose="02020603050405020304" pitchFamily="18" charset="0"/>
                <a:cs typeface="Times New Roman" panose="02020603050405020304" pitchFamily="18" charset="0"/>
              </a:rPr>
              <a:t>AndroidManifest</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6946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7" name="TextBox 16"/>
          <p:cNvSpPr txBox="1"/>
          <p:nvPr/>
        </p:nvSpPr>
        <p:spPr>
          <a:xfrm>
            <a:off x="655093" y="996287"/>
            <a:ext cx="1276311"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Add </a:t>
            </a:r>
            <a:r>
              <a:rPr lang="en-US" sz="2000" dirty="0" err="1" smtClean="0">
                <a:latin typeface="Times New Roman" panose="02020603050405020304" pitchFamily="18" charset="0"/>
                <a:cs typeface="Times New Roman" panose="02020603050405020304" pitchFamily="18" charset="0"/>
              </a:rPr>
              <a:t>GSon</a:t>
            </a:r>
            <a:endParaRPr lang="en-US" sz="2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206388" y="1042453"/>
            <a:ext cx="9103056" cy="307777"/>
          </a:xfrm>
          <a:prstGeom prst="rect">
            <a:avLst/>
          </a:prstGeom>
        </p:spPr>
        <p:txBody>
          <a:bodyPr wrap="square">
            <a:spAutoFit/>
          </a:bodyPr>
          <a:lstStyle/>
          <a:p>
            <a:r>
              <a:rPr lang="en-US" dirty="0">
                <a:hlinkClick r:id="rId3"/>
              </a:rPr>
              <a:t>https://</a:t>
            </a:r>
            <a:r>
              <a:rPr lang="en-US" dirty="0" smtClean="0">
                <a:hlinkClick r:id="rId3"/>
              </a:rPr>
              <a:t>jar-download.com/artifacts/com.google.code.gson/gson/2.8.2/source-code</a:t>
            </a:r>
            <a:r>
              <a:rPr lang="en-US" dirty="0" smtClean="0"/>
              <a:t> </a:t>
            </a:r>
            <a:endParaRPr lang="en-US" dirty="0"/>
          </a:p>
        </p:txBody>
      </p:sp>
      <p:sp>
        <p:nvSpPr>
          <p:cNvPr id="18" name="TextBox 17"/>
          <p:cNvSpPr txBox="1"/>
          <p:nvPr/>
        </p:nvSpPr>
        <p:spPr>
          <a:xfrm>
            <a:off x="5838605" y="1306704"/>
            <a:ext cx="1422184"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&gt;=2.2.4 OK</a:t>
            </a:r>
            <a:endParaRPr lang="en-US" sz="2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stretch>
            <a:fillRect/>
          </a:stretch>
        </p:blipFill>
        <p:spPr>
          <a:xfrm>
            <a:off x="1054831" y="1736522"/>
            <a:ext cx="3231160" cy="4640982"/>
          </a:xfrm>
          <a:prstGeom prst="rect">
            <a:avLst/>
          </a:prstGeom>
        </p:spPr>
      </p:pic>
      <p:pic>
        <p:nvPicPr>
          <p:cNvPr id="19" name="Picture 18"/>
          <p:cNvPicPr>
            <a:picLocks noChangeAspect="1"/>
          </p:cNvPicPr>
          <p:nvPr/>
        </p:nvPicPr>
        <p:blipFill rotWithShape="1">
          <a:blip r:embed="rId5"/>
          <a:srcRect t="82974"/>
          <a:stretch/>
        </p:blipFill>
        <p:spPr>
          <a:xfrm>
            <a:off x="6731016" y="4955242"/>
            <a:ext cx="4640982" cy="1655601"/>
          </a:xfrm>
          <a:prstGeom prst="rect">
            <a:avLst/>
          </a:prstGeom>
        </p:spPr>
      </p:pic>
      <p:pic>
        <p:nvPicPr>
          <p:cNvPr id="20" name="Picture 19"/>
          <p:cNvPicPr>
            <a:picLocks noChangeAspect="1"/>
          </p:cNvPicPr>
          <p:nvPr/>
        </p:nvPicPr>
        <p:blipFill rotWithShape="1">
          <a:blip r:embed="rId5"/>
          <a:srcRect b="66594"/>
          <a:stretch/>
        </p:blipFill>
        <p:spPr>
          <a:xfrm>
            <a:off x="6731016" y="1706814"/>
            <a:ext cx="4640982" cy="3248428"/>
          </a:xfrm>
          <a:prstGeom prst="rect">
            <a:avLst/>
          </a:prstGeom>
        </p:spPr>
      </p:pic>
      <p:sp>
        <p:nvSpPr>
          <p:cNvPr id="2" name="Right Arrow 1"/>
          <p:cNvSpPr/>
          <p:nvPr/>
        </p:nvSpPr>
        <p:spPr>
          <a:xfrm>
            <a:off x="4524233" y="3923731"/>
            <a:ext cx="1897039" cy="4776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Right click</a:t>
            </a:r>
            <a:endParaRPr lang="en-US" dirty="0"/>
          </a:p>
        </p:txBody>
      </p:sp>
    </p:spTree>
    <p:extLst>
      <p:ext uri="{BB962C8B-B14F-4D97-AF65-F5344CB8AC3E}">
        <p14:creationId xmlns:p14="http://schemas.microsoft.com/office/powerpoint/2010/main" val="7185838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7" name="TextBox 16"/>
          <p:cNvSpPr txBox="1"/>
          <p:nvPr/>
        </p:nvSpPr>
        <p:spPr>
          <a:xfrm>
            <a:off x="655093" y="996287"/>
            <a:ext cx="1276311"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Add </a:t>
            </a:r>
            <a:r>
              <a:rPr lang="en-US" sz="2000" dirty="0" err="1" smtClean="0">
                <a:latin typeface="Times New Roman" panose="02020603050405020304" pitchFamily="18" charset="0"/>
                <a:cs typeface="Times New Roman" panose="02020603050405020304" pitchFamily="18" charset="0"/>
              </a:rPr>
              <a:t>GSon</a:t>
            </a:r>
            <a:endParaRPr lang="en-US" sz="2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2206388" y="1042453"/>
            <a:ext cx="9103056" cy="307777"/>
          </a:xfrm>
          <a:prstGeom prst="rect">
            <a:avLst/>
          </a:prstGeom>
        </p:spPr>
        <p:txBody>
          <a:bodyPr wrap="square">
            <a:spAutoFit/>
          </a:bodyPr>
          <a:lstStyle/>
          <a:p>
            <a:r>
              <a:rPr lang="en-US" dirty="0">
                <a:hlinkClick r:id="rId3"/>
              </a:rPr>
              <a:t>https://</a:t>
            </a:r>
            <a:r>
              <a:rPr lang="en-US" dirty="0" smtClean="0">
                <a:hlinkClick r:id="rId3"/>
              </a:rPr>
              <a:t>jar-download.com/artifacts/com.google.code.gson/gson/2.8.2/source-code</a:t>
            </a:r>
            <a:r>
              <a:rPr lang="en-US" dirty="0" smtClean="0"/>
              <a:t> </a:t>
            </a:r>
            <a:endParaRPr lang="en-US" dirty="0"/>
          </a:p>
        </p:txBody>
      </p:sp>
      <p:sp>
        <p:nvSpPr>
          <p:cNvPr id="18" name="TextBox 17"/>
          <p:cNvSpPr txBox="1"/>
          <p:nvPr/>
        </p:nvSpPr>
        <p:spPr>
          <a:xfrm>
            <a:off x="5838605" y="1306704"/>
            <a:ext cx="1422184"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&gt;=2.2.4 OK</a:t>
            </a:r>
            <a:endParaRPr lang="en-US" sz="2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4"/>
          <a:stretch>
            <a:fillRect/>
          </a:stretch>
        </p:blipFill>
        <p:spPr>
          <a:xfrm>
            <a:off x="1931404" y="1706814"/>
            <a:ext cx="8743210" cy="4538115"/>
          </a:xfrm>
          <a:prstGeom prst="rect">
            <a:avLst/>
          </a:prstGeom>
        </p:spPr>
      </p:pic>
    </p:spTree>
    <p:extLst>
      <p:ext uri="{BB962C8B-B14F-4D97-AF65-F5344CB8AC3E}">
        <p14:creationId xmlns:p14="http://schemas.microsoft.com/office/powerpoint/2010/main" val="3828037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1014179" y="1038158"/>
            <a:ext cx="10315412" cy="4871321"/>
          </a:xfrm>
          <a:prstGeom prst="rect">
            <a:avLst/>
          </a:prstGeom>
        </p:spPr>
      </p:pic>
    </p:spTree>
    <p:extLst>
      <p:ext uri="{BB962C8B-B14F-4D97-AF65-F5344CB8AC3E}">
        <p14:creationId xmlns:p14="http://schemas.microsoft.com/office/powerpoint/2010/main" val="19428101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3" name="Rectangle 2"/>
          <p:cNvSpPr/>
          <p:nvPr/>
        </p:nvSpPr>
        <p:spPr>
          <a:xfrm>
            <a:off x="2765502" y="974266"/>
            <a:ext cx="8521196" cy="5170646"/>
          </a:xfrm>
          <a:prstGeom prst="rect">
            <a:avLst/>
          </a:prstGeom>
        </p:spPr>
        <p:txBody>
          <a:bodyPr wrap="square">
            <a:spAutoFit/>
          </a:bodyPr>
          <a:lstStyle/>
          <a:p>
            <a:r>
              <a:rPr lang="en-US" sz="1100" i="1" dirty="0">
                <a:solidFill>
                  <a:srgbClr val="080808"/>
                </a:solidFill>
                <a:latin typeface="JetBrains Mono" panose="02000009000000000000" pitchFamily="49" charset="0"/>
              </a:rPr>
              <a:t>&lt;?</a:t>
            </a:r>
            <a:r>
              <a:rPr lang="en-US" sz="1100" dirty="0">
                <a:solidFill>
                  <a:srgbClr val="174AD4"/>
                </a:solidFill>
                <a:latin typeface="JetBrains Mono" panose="02000009000000000000" pitchFamily="49" charset="0"/>
              </a:rPr>
              <a:t>xml version</a:t>
            </a:r>
            <a:r>
              <a:rPr lang="en-US" sz="1100" dirty="0">
                <a:solidFill>
                  <a:srgbClr val="067D17"/>
                </a:solidFill>
                <a:latin typeface="JetBrains Mono" panose="02000009000000000000" pitchFamily="49" charset="0"/>
              </a:rPr>
              <a:t>="1.0" </a:t>
            </a:r>
            <a:r>
              <a:rPr lang="en-US" sz="1100" dirty="0">
                <a:solidFill>
                  <a:srgbClr val="174AD4"/>
                </a:solidFill>
                <a:latin typeface="JetBrains Mono" panose="02000009000000000000" pitchFamily="49" charset="0"/>
              </a:rPr>
              <a:t>encoding</a:t>
            </a:r>
            <a:r>
              <a:rPr lang="en-US" sz="1100" dirty="0">
                <a:solidFill>
                  <a:srgbClr val="067D17"/>
                </a:solidFill>
                <a:latin typeface="JetBrains Mono" panose="02000009000000000000" pitchFamily="49" charset="0"/>
              </a:rPr>
              <a:t>="utf-8"</a:t>
            </a:r>
            <a:r>
              <a:rPr lang="en-US" sz="1100" i="1" dirty="0">
                <a:solidFill>
                  <a:srgbClr val="080808"/>
                </a:solidFill>
                <a:latin typeface="JetBrains Mono" panose="02000009000000000000" pitchFamily="49" charset="0"/>
              </a:rPr>
              <a:t>?&gt;</a:t>
            </a:r>
            <a:br>
              <a:rPr lang="en-US" sz="1100" i="1"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&lt;</a:t>
            </a:r>
            <a:r>
              <a:rPr lang="en-US" sz="1100" dirty="0" err="1">
                <a:solidFill>
                  <a:srgbClr val="0033B3"/>
                </a:solidFill>
                <a:latin typeface="JetBrains Mono" panose="02000009000000000000" pitchFamily="49" charset="0"/>
              </a:rPr>
              <a:t>LinearLayout</a:t>
            </a:r>
            <a:r>
              <a:rPr lang="en-US" sz="1100" dirty="0">
                <a:solidFill>
                  <a:srgbClr val="0033B3"/>
                </a:solidFill>
                <a:latin typeface="JetBrains Mono" panose="02000009000000000000" pitchFamily="49" charset="0"/>
              </a:rPr>
              <a:t> </a:t>
            </a:r>
            <a:r>
              <a:rPr lang="en-US" sz="1100" dirty="0" err="1">
                <a:solidFill>
                  <a:srgbClr val="174AD4"/>
                </a:solidFill>
                <a:latin typeface="JetBrains Mono" panose="02000009000000000000" pitchFamily="49" charset="0"/>
              </a:rPr>
              <a:t>xmlns:</a:t>
            </a:r>
            <a:r>
              <a:rPr lang="en-US" sz="1100" dirty="0" err="1">
                <a:solidFill>
                  <a:srgbClr val="871094"/>
                </a:solidFill>
                <a:latin typeface="JetBrains Mono" panose="02000009000000000000" pitchFamily="49" charset="0"/>
              </a:rPr>
              <a:t>android</a:t>
            </a:r>
            <a:r>
              <a:rPr lang="en-US" sz="1100" dirty="0">
                <a:solidFill>
                  <a:srgbClr val="067D17"/>
                </a:solidFill>
                <a:latin typeface="JetBrains Mono" panose="02000009000000000000" pitchFamily="49" charset="0"/>
              </a:rPr>
              <a:t>="http://schemas.android.com/</a:t>
            </a:r>
            <a:r>
              <a:rPr lang="en-US" sz="1100" dirty="0" err="1">
                <a:solidFill>
                  <a:srgbClr val="067D17"/>
                </a:solidFill>
                <a:latin typeface="JetBrains Mono" panose="02000009000000000000" pitchFamily="49" charset="0"/>
              </a:rPr>
              <a:t>apk</a:t>
            </a:r>
            <a:r>
              <a:rPr lang="en-US" sz="1100" dirty="0">
                <a:solidFill>
                  <a:srgbClr val="067D17"/>
                </a:solidFill>
                <a:latin typeface="JetBrains Mono" panose="02000009000000000000" pitchFamily="49" charset="0"/>
              </a:rPr>
              <a:t>/res/android"</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:orientation</a:t>
            </a:r>
            <a:r>
              <a:rPr lang="en-US" sz="1100" dirty="0">
                <a:solidFill>
                  <a:srgbClr val="067D17"/>
                </a:solidFill>
                <a:latin typeface="JetBrains Mono" panose="02000009000000000000" pitchFamily="49" charset="0"/>
              </a:rPr>
              <a:t>="vertical"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:layout_width</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match_parent</a:t>
            </a:r>
            <a:r>
              <a:rPr lang="en-US" sz="1100" dirty="0">
                <a:solidFill>
                  <a:srgbClr val="067D17"/>
                </a:solidFill>
                <a:latin typeface="JetBrains Mono" panose="02000009000000000000" pitchFamily="49" charset="0"/>
              </a:rPr>
              <a:t>"</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:layout_height</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match_parent</a:t>
            </a:r>
            <a:r>
              <a:rPr lang="en-US" sz="1100" dirty="0">
                <a:solidFill>
                  <a:srgbClr val="067D17"/>
                </a:solidFill>
                <a:latin typeface="JetBrains Mono" panose="02000009000000000000" pitchFamily="49" charset="0"/>
              </a:rPr>
              <a:t>"</a:t>
            </a:r>
            <a:r>
              <a:rPr lang="en-US" sz="1100" dirty="0">
                <a:solidFill>
                  <a:srgbClr val="080808"/>
                </a:solidFill>
                <a:latin typeface="JetBrains Mono" panose="02000009000000000000" pitchFamily="49" charset="0"/>
              </a:rPr>
              <a:t>&gt;</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&lt;</a:t>
            </a:r>
            <a:r>
              <a:rPr lang="en-US" sz="1100" dirty="0" err="1">
                <a:solidFill>
                  <a:srgbClr val="0033B3"/>
                </a:solidFill>
                <a:latin typeface="JetBrains Mono" panose="02000009000000000000" pitchFamily="49" charset="0"/>
              </a:rPr>
              <a:t>LinearLayout</a:t>
            </a:r>
            <a:r>
              <a:rPr lang="en-US" sz="1100" dirty="0">
                <a:solidFill>
                  <a:srgbClr val="0033B3"/>
                </a:solidFill>
                <a:latin typeface="JetBrains Mono" panose="02000009000000000000" pitchFamily="49" charset="0"/>
              </a:rPr>
              <a:t/>
            </a:r>
            <a:br>
              <a:rPr lang="en-US" sz="1100" dirty="0">
                <a:solidFill>
                  <a:srgbClr val="0033B3"/>
                </a:solidFill>
                <a:latin typeface="JetBrains Mono" panose="02000009000000000000" pitchFamily="49" charset="0"/>
              </a:rPr>
            </a:br>
            <a:r>
              <a:rPr lang="en-US" sz="1100" dirty="0">
                <a:solidFill>
                  <a:srgbClr val="0033B3"/>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:orientation</a:t>
            </a:r>
            <a:r>
              <a:rPr lang="en-US" sz="1100" dirty="0">
                <a:solidFill>
                  <a:srgbClr val="067D17"/>
                </a:solidFill>
                <a:latin typeface="JetBrains Mono" panose="02000009000000000000" pitchFamily="49" charset="0"/>
              </a:rPr>
              <a:t>="horizontal"</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:layout_width</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match_parent</a:t>
            </a:r>
            <a:r>
              <a:rPr lang="en-US" sz="1100" dirty="0">
                <a:solidFill>
                  <a:srgbClr val="067D17"/>
                </a:solidFill>
                <a:latin typeface="JetBrains Mono" panose="02000009000000000000" pitchFamily="49" charset="0"/>
              </a:rPr>
              <a:t>"</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:layout_height</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wrap_content</a:t>
            </a:r>
            <a:r>
              <a:rPr lang="en-US" sz="1100" dirty="0">
                <a:solidFill>
                  <a:srgbClr val="067D17"/>
                </a:solidFill>
                <a:latin typeface="JetBrains Mono" panose="02000009000000000000" pitchFamily="49" charset="0"/>
              </a:rPr>
              <a:t>"</a:t>
            </a:r>
            <a:r>
              <a:rPr lang="en-US" sz="1100" dirty="0">
                <a:solidFill>
                  <a:srgbClr val="080808"/>
                </a:solidFill>
                <a:latin typeface="JetBrains Mono" panose="02000009000000000000" pitchFamily="49" charset="0"/>
              </a:rPr>
              <a:t>&gt;</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&lt;</a:t>
            </a:r>
            <a:r>
              <a:rPr lang="en-US" sz="1100" dirty="0" err="1">
                <a:solidFill>
                  <a:srgbClr val="0033B3"/>
                </a:solidFill>
                <a:latin typeface="JetBrains Mono" panose="02000009000000000000" pitchFamily="49" charset="0"/>
              </a:rPr>
              <a:t>LinearLayout</a:t>
            </a:r>
            <a:r>
              <a:rPr lang="en-US" sz="1100" dirty="0">
                <a:solidFill>
                  <a:srgbClr val="0033B3"/>
                </a:solidFill>
                <a:latin typeface="JetBrains Mono" panose="02000009000000000000" pitchFamily="49" charset="0"/>
              </a:rPr>
              <a:t/>
            </a:r>
            <a:br>
              <a:rPr lang="en-US" sz="1100" dirty="0">
                <a:solidFill>
                  <a:srgbClr val="0033B3"/>
                </a:solidFill>
                <a:latin typeface="JetBrains Mono" panose="02000009000000000000" pitchFamily="49" charset="0"/>
              </a:rPr>
            </a:br>
            <a:r>
              <a:rPr lang="en-US" sz="1100" dirty="0">
                <a:solidFill>
                  <a:srgbClr val="0033B3"/>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:orientation</a:t>
            </a:r>
            <a:r>
              <a:rPr lang="en-US" sz="1100" dirty="0">
                <a:solidFill>
                  <a:srgbClr val="067D17"/>
                </a:solidFill>
                <a:latin typeface="JetBrains Mono" panose="02000009000000000000" pitchFamily="49" charset="0"/>
              </a:rPr>
              <a:t>="vertical"</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:layout_width</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wrap_content</a:t>
            </a:r>
            <a:r>
              <a:rPr lang="en-US" sz="1100" dirty="0">
                <a:solidFill>
                  <a:srgbClr val="067D17"/>
                </a:solidFill>
                <a:latin typeface="JetBrains Mono" panose="02000009000000000000" pitchFamily="49" charset="0"/>
              </a:rPr>
              <a:t>"</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:layout_height</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match_parent</a:t>
            </a:r>
            <a:r>
              <a:rPr lang="en-US" sz="1100" dirty="0">
                <a:solidFill>
                  <a:srgbClr val="067D17"/>
                </a:solidFill>
                <a:latin typeface="JetBrains Mono" panose="02000009000000000000" pitchFamily="49" charset="0"/>
              </a:rPr>
              <a:t>"</a:t>
            </a:r>
            <a:r>
              <a:rPr lang="en-US" sz="1100" dirty="0">
                <a:solidFill>
                  <a:srgbClr val="080808"/>
                </a:solidFill>
                <a:latin typeface="JetBrains Mono" panose="02000009000000000000" pitchFamily="49" charset="0"/>
              </a:rPr>
              <a:t>&gt;</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&lt;</a:t>
            </a:r>
            <a:r>
              <a:rPr lang="en-US" sz="1100" dirty="0" err="1">
                <a:solidFill>
                  <a:srgbClr val="0033B3"/>
                </a:solidFill>
                <a:latin typeface="JetBrains Mono" panose="02000009000000000000" pitchFamily="49" charset="0"/>
              </a:rPr>
              <a:t>ImageView</a:t>
            </a:r>
            <a:r>
              <a:rPr lang="en-US" sz="1100" dirty="0">
                <a:solidFill>
                  <a:srgbClr val="0033B3"/>
                </a:solidFill>
                <a:latin typeface="JetBrains Mono" panose="02000009000000000000" pitchFamily="49" charset="0"/>
              </a:rPr>
              <a:t/>
            </a:r>
            <a:br>
              <a:rPr lang="en-US" sz="1100" dirty="0">
                <a:solidFill>
                  <a:srgbClr val="0033B3"/>
                </a:solidFill>
                <a:latin typeface="JetBrains Mono" panose="02000009000000000000" pitchFamily="49" charset="0"/>
              </a:rPr>
            </a:br>
            <a:r>
              <a:rPr lang="en-US" sz="1100" dirty="0">
                <a:solidFill>
                  <a:srgbClr val="0033B3"/>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:layout_width</a:t>
            </a:r>
            <a:r>
              <a:rPr lang="en-US" sz="1100" dirty="0">
                <a:solidFill>
                  <a:srgbClr val="067D17"/>
                </a:solidFill>
                <a:latin typeface="JetBrains Mono" panose="02000009000000000000" pitchFamily="49" charset="0"/>
              </a:rPr>
              <a:t>="64dp"</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:layout_height</a:t>
            </a:r>
            <a:r>
              <a:rPr lang="en-US" sz="1100" dirty="0">
                <a:solidFill>
                  <a:srgbClr val="067D17"/>
                </a:solidFill>
                <a:latin typeface="JetBrains Mono" panose="02000009000000000000" pitchFamily="49" charset="0"/>
              </a:rPr>
              <a:t>="64dp"</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:id</a:t>
            </a:r>
            <a:r>
              <a:rPr lang="en-US" sz="1100" dirty="0">
                <a:solidFill>
                  <a:srgbClr val="067D17"/>
                </a:solidFill>
                <a:latin typeface="JetBrains Mono" panose="02000009000000000000" pitchFamily="49" charset="0"/>
              </a:rPr>
              <a:t>="@+id/</a:t>
            </a:r>
            <a:r>
              <a:rPr lang="en-US" sz="1100" dirty="0" err="1">
                <a:solidFill>
                  <a:srgbClr val="067D17"/>
                </a:solidFill>
                <a:latin typeface="JetBrains Mono" panose="02000009000000000000" pitchFamily="49" charset="0"/>
              </a:rPr>
              <a:t>imgHinh</a:t>
            </a:r>
            <a:r>
              <a:rPr lang="en-US" sz="1100" dirty="0">
                <a:solidFill>
                  <a:srgbClr val="067D17"/>
                </a:solidFill>
                <a:latin typeface="JetBrains Mono" panose="02000009000000000000" pitchFamily="49" charset="0"/>
              </a:rPr>
              <a:t>" </a:t>
            </a:r>
            <a:r>
              <a:rPr lang="en-US" sz="1100" dirty="0">
                <a:solidFill>
                  <a:srgbClr val="080808"/>
                </a:solidFill>
                <a:latin typeface="JetBrains Mono" panose="02000009000000000000" pitchFamily="49" charset="0"/>
              </a:rPr>
              <a:t>/&gt;</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&lt;</a:t>
            </a:r>
            <a:r>
              <a:rPr lang="en-US" sz="1100" dirty="0" err="1">
                <a:solidFill>
                  <a:srgbClr val="0033B3"/>
                </a:solidFill>
                <a:latin typeface="JetBrains Mono" panose="02000009000000000000" pitchFamily="49" charset="0"/>
              </a:rPr>
              <a:t>TextView</a:t>
            </a:r>
            <a:r>
              <a:rPr lang="en-US" sz="1100" dirty="0">
                <a:solidFill>
                  <a:srgbClr val="0033B3"/>
                </a:solidFill>
                <a:latin typeface="JetBrains Mono" panose="02000009000000000000" pitchFamily="49" charset="0"/>
              </a:rPr>
              <a:t/>
            </a:r>
            <a:br>
              <a:rPr lang="en-US" sz="1100" dirty="0">
                <a:solidFill>
                  <a:srgbClr val="0033B3"/>
                </a:solidFill>
                <a:latin typeface="JetBrains Mono" panose="02000009000000000000" pitchFamily="49" charset="0"/>
              </a:rPr>
            </a:br>
            <a:r>
              <a:rPr lang="en-US" sz="1100" dirty="0">
                <a:solidFill>
                  <a:srgbClr val="0033B3"/>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:layout_width</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wrap_content</a:t>
            </a:r>
            <a:r>
              <a:rPr lang="en-US" sz="1100" dirty="0">
                <a:solidFill>
                  <a:srgbClr val="067D17"/>
                </a:solidFill>
                <a:latin typeface="JetBrains Mono" panose="02000009000000000000" pitchFamily="49" charset="0"/>
              </a:rPr>
              <a:t>"</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:layout_height</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wrap_content</a:t>
            </a:r>
            <a:r>
              <a:rPr lang="en-US" sz="1100" dirty="0">
                <a:solidFill>
                  <a:srgbClr val="067D17"/>
                </a:solidFill>
                <a:latin typeface="JetBrains Mono" panose="02000009000000000000" pitchFamily="49" charset="0"/>
              </a:rPr>
              <a:t>"</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:textAppearance</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android:attr</a:t>
            </a:r>
            <a:r>
              <a:rPr lang="en-US" sz="1100" dirty="0">
                <a:solidFill>
                  <a:srgbClr val="067D17"/>
                </a:solidFill>
                <a:latin typeface="JetBrains Mono" panose="02000009000000000000" pitchFamily="49" charset="0"/>
              </a:rPr>
              <a:t>/</a:t>
            </a:r>
            <a:r>
              <a:rPr lang="en-US" sz="1100" dirty="0" err="1">
                <a:solidFill>
                  <a:srgbClr val="067D17"/>
                </a:solidFill>
                <a:latin typeface="JetBrains Mono" panose="02000009000000000000" pitchFamily="49" charset="0"/>
              </a:rPr>
              <a:t>textAppearanceMedium</a:t>
            </a:r>
            <a:r>
              <a:rPr lang="en-US" sz="1100" dirty="0">
                <a:solidFill>
                  <a:srgbClr val="067D17"/>
                </a:solidFill>
                <a:latin typeface="JetBrains Mono" panose="02000009000000000000" pitchFamily="49" charset="0"/>
              </a:rPr>
              <a:t>"</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:text</a:t>
            </a:r>
            <a:r>
              <a:rPr lang="en-US" sz="1100" dirty="0">
                <a:solidFill>
                  <a:srgbClr val="067D17"/>
                </a:solidFill>
                <a:latin typeface="JetBrains Mono" panose="02000009000000000000" pitchFamily="49" charset="0"/>
              </a:rPr>
              <a:t>="UAD"</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:id</a:t>
            </a:r>
            <a:r>
              <a:rPr lang="en-US" sz="1100" dirty="0">
                <a:solidFill>
                  <a:srgbClr val="067D17"/>
                </a:solidFill>
                <a:latin typeface="JetBrains Mono" panose="02000009000000000000" pitchFamily="49" charset="0"/>
              </a:rPr>
              <a:t>="@+id/</a:t>
            </a:r>
            <a:r>
              <a:rPr lang="en-US" sz="1100" dirty="0" err="1">
                <a:solidFill>
                  <a:srgbClr val="067D17"/>
                </a:solidFill>
                <a:latin typeface="JetBrains Mono" panose="02000009000000000000" pitchFamily="49" charset="0"/>
              </a:rPr>
              <a:t>txtType</a:t>
            </a:r>
            <a:r>
              <a:rPr lang="en-US" sz="1100" dirty="0">
                <a:solidFill>
                  <a:srgbClr val="067D17"/>
                </a:solidFill>
                <a:latin typeface="JetBrains Mono" panose="02000009000000000000" pitchFamily="49" charset="0"/>
              </a:rPr>
              <a:t>"</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:layout_gravity</a:t>
            </a:r>
            <a:r>
              <a:rPr lang="en-US" sz="1100" dirty="0">
                <a:solidFill>
                  <a:srgbClr val="067D17"/>
                </a:solidFill>
                <a:latin typeface="JetBrains Mono" panose="02000009000000000000" pitchFamily="49" charset="0"/>
              </a:rPr>
              <a:t>="center"</a:t>
            </a:r>
            <a:br>
              <a:rPr lang="en-US" sz="1100" dirty="0">
                <a:solidFill>
                  <a:srgbClr val="067D17"/>
                </a:solidFill>
                <a:latin typeface="JetBrains Mono" panose="02000009000000000000" pitchFamily="49" charset="0"/>
              </a:rPr>
            </a:br>
            <a:r>
              <a:rPr lang="en-US" sz="1100" dirty="0">
                <a:solidFill>
                  <a:srgbClr val="067D17"/>
                </a:solidFill>
                <a:latin typeface="JetBrains Mono" panose="02000009000000000000" pitchFamily="49" charset="0"/>
              </a:rPr>
              <a:t>                </a:t>
            </a:r>
            <a:r>
              <a:rPr lang="en-US" sz="1100" dirty="0" err="1">
                <a:solidFill>
                  <a:srgbClr val="871094"/>
                </a:solidFill>
                <a:latin typeface="JetBrains Mono" panose="02000009000000000000" pitchFamily="49" charset="0"/>
              </a:rPr>
              <a:t>android</a:t>
            </a:r>
            <a:r>
              <a:rPr lang="en-US" sz="1100" dirty="0" err="1">
                <a:solidFill>
                  <a:srgbClr val="174AD4"/>
                </a:solidFill>
                <a:latin typeface="JetBrains Mono" panose="02000009000000000000" pitchFamily="49" charset="0"/>
              </a:rPr>
              <a:t>:textColor</a:t>
            </a:r>
            <a:r>
              <a:rPr lang="en-US" sz="1100" dirty="0">
                <a:solidFill>
                  <a:srgbClr val="067D17"/>
                </a:solidFill>
                <a:latin typeface="JetBrains Mono" panose="02000009000000000000" pitchFamily="49" charset="0"/>
              </a:rPr>
              <a:t>="#cf3838" </a:t>
            </a:r>
            <a:r>
              <a:rPr lang="en-US" sz="1100" dirty="0">
                <a:solidFill>
                  <a:srgbClr val="080808"/>
                </a:solidFill>
                <a:latin typeface="JetBrains Mono" panose="02000009000000000000" pitchFamily="49" charset="0"/>
              </a:rPr>
              <a:t>/&gt;</a:t>
            </a:r>
            <a:br>
              <a:rPr lang="en-US" sz="1100" dirty="0">
                <a:solidFill>
                  <a:srgbClr val="080808"/>
                </a:solidFill>
                <a:latin typeface="JetBrains Mono" panose="02000009000000000000" pitchFamily="49" charset="0"/>
              </a:rPr>
            </a:br>
            <a:r>
              <a:rPr lang="en-US" sz="1100" dirty="0">
                <a:solidFill>
                  <a:srgbClr val="080808"/>
                </a:solidFill>
                <a:latin typeface="JetBrains Mono" panose="02000009000000000000" pitchFamily="49" charset="0"/>
              </a:rPr>
              <a:t>        &lt;/</a:t>
            </a:r>
            <a:r>
              <a:rPr lang="en-US" sz="1100" dirty="0" err="1">
                <a:solidFill>
                  <a:srgbClr val="0033B3"/>
                </a:solidFill>
                <a:latin typeface="JetBrains Mono" panose="02000009000000000000" pitchFamily="49" charset="0"/>
              </a:rPr>
              <a:t>LinearLayout</a:t>
            </a:r>
            <a:r>
              <a:rPr lang="en-US" sz="1100" dirty="0" smtClean="0">
                <a:solidFill>
                  <a:srgbClr val="080808"/>
                </a:solidFill>
                <a:latin typeface="JetBrains Mono" panose="02000009000000000000" pitchFamily="49" charset="0"/>
              </a:rPr>
              <a:t>&gt;</a:t>
            </a:r>
            <a:endParaRPr lang="en-US" sz="1100" dirty="0">
              <a:solidFill>
                <a:srgbClr val="080808"/>
              </a:solidFill>
              <a:latin typeface="JetBrains Mono" panose="02000009000000000000" pitchFamily="49" charset="0"/>
            </a:endParaRPr>
          </a:p>
        </p:txBody>
      </p:sp>
      <p:sp>
        <p:nvSpPr>
          <p:cNvPr id="17" name="TextBox 16"/>
          <p:cNvSpPr txBox="1"/>
          <p:nvPr/>
        </p:nvSpPr>
        <p:spPr>
          <a:xfrm>
            <a:off x="655093" y="996287"/>
            <a:ext cx="1284326"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item.xml</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70218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3" name="Rectangle 2"/>
          <p:cNvSpPr/>
          <p:nvPr/>
        </p:nvSpPr>
        <p:spPr>
          <a:xfrm>
            <a:off x="3098799" y="845389"/>
            <a:ext cx="6096000" cy="5632311"/>
          </a:xfrm>
          <a:prstGeom prst="rect">
            <a:avLst/>
          </a:prstGeom>
        </p:spPr>
        <p:txBody>
          <a:bodyPr>
            <a:spAutoFit/>
          </a:bodyPr>
          <a:lstStyle/>
          <a:p>
            <a:r>
              <a:rPr lang="en-US" sz="900" dirty="0" smtClean="0">
                <a:solidFill>
                  <a:srgbClr val="080808"/>
                </a:solidFill>
                <a:latin typeface="JetBrains Mono" panose="02000009000000000000" pitchFamily="49" charset="0"/>
              </a:rPr>
              <a:t>        </a:t>
            </a:r>
            <a:r>
              <a:rPr lang="en-US" sz="900" dirty="0">
                <a:solidFill>
                  <a:srgbClr val="080808"/>
                </a:solidFill>
                <a:latin typeface="JetBrains Mono" panose="02000009000000000000" pitchFamily="49" charset="0"/>
              </a:rPr>
              <a:t>&lt;</a:t>
            </a:r>
            <a:r>
              <a:rPr lang="en-US" sz="900" dirty="0" err="1">
                <a:solidFill>
                  <a:srgbClr val="0033B3"/>
                </a:solidFill>
                <a:latin typeface="JetBrains Mono" panose="02000009000000000000" pitchFamily="49" charset="0"/>
              </a:rPr>
              <a:t>LinearLayout</a:t>
            </a:r>
            <a:r>
              <a:rPr lang="en-US" sz="900" dirty="0">
                <a:solidFill>
                  <a:srgbClr val="0033B3"/>
                </a:solidFill>
                <a:latin typeface="JetBrains Mono" panose="02000009000000000000" pitchFamily="49" charset="0"/>
              </a:rPr>
              <a:t/>
            </a:r>
            <a:br>
              <a:rPr lang="en-US" sz="900" dirty="0">
                <a:solidFill>
                  <a:srgbClr val="0033B3"/>
                </a:solidFill>
                <a:latin typeface="JetBrains Mono" panose="02000009000000000000" pitchFamily="49" charset="0"/>
              </a:rPr>
            </a:br>
            <a:r>
              <a:rPr lang="en-US" sz="900" dirty="0">
                <a:solidFill>
                  <a:srgbClr val="0033B3"/>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:orientation</a:t>
            </a:r>
            <a:r>
              <a:rPr lang="en-US" sz="900" dirty="0">
                <a:solidFill>
                  <a:srgbClr val="067D17"/>
                </a:solidFill>
                <a:latin typeface="JetBrains Mono" panose="02000009000000000000" pitchFamily="49" charset="0"/>
              </a:rPr>
              <a:t>="vertical"</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:layout_width</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match_parent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:layout_height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match_parent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:gravity</a:t>
            </a:r>
            <a:r>
              <a:rPr lang="en-US" sz="900" dirty="0">
                <a:solidFill>
                  <a:srgbClr val="067D17"/>
                </a:solidFill>
                <a:latin typeface="JetBrains Mono" panose="02000009000000000000" pitchFamily="49" charset="0"/>
              </a:rPr>
              <a:t>="center</a:t>
            </a:r>
            <a:r>
              <a:rPr lang="en-US" sz="900" dirty="0" smtClean="0">
                <a:solidFill>
                  <a:srgbClr val="067D17"/>
                </a:solidFill>
                <a:latin typeface="JetBrains Mono" panose="02000009000000000000" pitchFamily="49" charset="0"/>
              </a:rPr>
              <a:t>"</a:t>
            </a:r>
            <a:r>
              <a:rPr lang="en-US" sz="900" dirty="0" smtClean="0">
                <a:solidFill>
                  <a:srgbClr val="080808"/>
                </a:solidFill>
                <a:latin typeface="JetBrains Mono" panose="02000009000000000000" pitchFamily="49" charset="0"/>
              </a:rPr>
              <a:t>&gt;</a:t>
            </a:r>
            <a:r>
              <a:rPr lang="en-US" sz="900" dirty="0">
                <a:solidFill>
                  <a:srgbClr val="080808"/>
                </a:solidFill>
                <a:latin typeface="JetBrains Mono" panose="02000009000000000000" pitchFamily="49" charset="0"/>
              </a:rPr>
              <a:t/>
            </a:r>
            <a:br>
              <a:rPr lang="en-US" sz="900" dirty="0">
                <a:solidFill>
                  <a:srgbClr val="080808"/>
                </a:solidFill>
                <a:latin typeface="JetBrains Mono" panose="02000009000000000000" pitchFamily="49" charset="0"/>
              </a:rPr>
            </a:br>
            <a:r>
              <a:rPr lang="en-US" sz="900" dirty="0">
                <a:solidFill>
                  <a:srgbClr val="080808"/>
                </a:solidFill>
                <a:latin typeface="JetBrains Mono" panose="02000009000000000000" pitchFamily="49" charset="0"/>
              </a:rPr>
              <a:t>            &lt;</a:t>
            </a:r>
            <a:r>
              <a:rPr lang="en-US" sz="900" dirty="0" err="1">
                <a:solidFill>
                  <a:srgbClr val="0033B3"/>
                </a:solidFill>
                <a:latin typeface="JetBrains Mono" panose="02000009000000000000" pitchFamily="49" charset="0"/>
              </a:rPr>
              <a:t>LinearLayout</a:t>
            </a:r>
            <a:r>
              <a:rPr lang="en-US" sz="900" dirty="0">
                <a:solidFill>
                  <a:srgbClr val="0033B3"/>
                </a:solidFill>
                <a:latin typeface="JetBrains Mono" panose="02000009000000000000" pitchFamily="49" charset="0"/>
              </a:rPr>
              <a:t/>
            </a:r>
            <a:br>
              <a:rPr lang="en-US" sz="900" dirty="0">
                <a:solidFill>
                  <a:srgbClr val="0033B3"/>
                </a:solidFill>
                <a:latin typeface="JetBrains Mono" panose="02000009000000000000" pitchFamily="49" charset="0"/>
              </a:rPr>
            </a:br>
            <a:r>
              <a:rPr lang="en-US" sz="900" dirty="0">
                <a:solidFill>
                  <a:srgbClr val="0033B3"/>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:orientation</a:t>
            </a:r>
            <a:r>
              <a:rPr lang="en-US" sz="900" dirty="0">
                <a:solidFill>
                  <a:srgbClr val="067D17"/>
                </a:solidFill>
                <a:latin typeface="JetBrains Mono" panose="02000009000000000000" pitchFamily="49" charset="0"/>
              </a:rPr>
              <a:t>="horizontal"</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:layout_width</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match_parent</a:t>
            </a:r>
            <a:r>
              <a:rPr lang="en-US" sz="900" dirty="0" smtClean="0">
                <a:solidFill>
                  <a:srgbClr val="067D17"/>
                </a:solidFill>
                <a:latin typeface="JetBrains Mono" panose="02000009000000000000" pitchFamily="49" charset="0"/>
              </a:rPr>
              <a:t>"</a:t>
            </a:r>
            <a:br>
              <a:rPr lang="en-US" sz="900" dirty="0" smtClean="0">
                <a:solidFill>
                  <a:srgbClr val="067D17"/>
                </a:solidFill>
                <a:latin typeface="JetBrains Mono" panose="02000009000000000000" pitchFamily="49" charset="0"/>
              </a:rPr>
            </a:br>
            <a:r>
              <a:rPr lang="en-US" sz="900" dirty="0" smtClean="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:layout_height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wrap_content</a:t>
            </a:r>
            <a:r>
              <a:rPr lang="en-US" sz="900" dirty="0" smtClean="0">
                <a:solidFill>
                  <a:srgbClr val="067D17"/>
                </a:solidFill>
                <a:latin typeface="JetBrains Mono" panose="02000009000000000000" pitchFamily="49" charset="0"/>
              </a:rPr>
              <a:t>"</a:t>
            </a:r>
            <a:r>
              <a:rPr lang="en-US" sz="900" dirty="0" smtClean="0">
                <a:solidFill>
                  <a:srgbClr val="080808"/>
                </a:solidFill>
                <a:latin typeface="JetBrains Mono" panose="02000009000000000000" pitchFamily="49" charset="0"/>
              </a:rPr>
              <a:t>&gt;</a:t>
            </a:r>
            <a:r>
              <a:rPr lang="en-US" sz="900" dirty="0">
                <a:solidFill>
                  <a:srgbClr val="080808"/>
                </a:solidFill>
                <a:latin typeface="JetBrains Mono" panose="02000009000000000000" pitchFamily="49" charset="0"/>
              </a:rPr>
              <a:t/>
            </a:r>
            <a:br>
              <a:rPr lang="en-US" sz="900" dirty="0">
                <a:solidFill>
                  <a:srgbClr val="080808"/>
                </a:solidFill>
                <a:latin typeface="JetBrains Mono" panose="02000009000000000000" pitchFamily="49" charset="0"/>
              </a:rPr>
            </a:br>
            <a:r>
              <a:rPr lang="en-US" sz="900" dirty="0">
                <a:solidFill>
                  <a:srgbClr val="080808"/>
                </a:solidFill>
                <a:latin typeface="JetBrains Mono" panose="02000009000000000000" pitchFamily="49" charset="0"/>
              </a:rPr>
              <a:t>                &lt;</a:t>
            </a:r>
            <a:r>
              <a:rPr lang="en-US" sz="900" dirty="0" err="1">
                <a:solidFill>
                  <a:srgbClr val="0033B3"/>
                </a:solidFill>
                <a:latin typeface="JetBrains Mono" panose="02000009000000000000" pitchFamily="49" charset="0"/>
              </a:rPr>
              <a:t>TextView</a:t>
            </a:r>
            <a:r>
              <a:rPr lang="en-US" sz="900" dirty="0">
                <a:solidFill>
                  <a:srgbClr val="0033B3"/>
                </a:solidFill>
                <a:latin typeface="JetBrains Mono" panose="02000009000000000000" pitchFamily="49" charset="0"/>
              </a:rPr>
              <a:t/>
            </a:r>
            <a:br>
              <a:rPr lang="en-US" sz="900" dirty="0">
                <a:solidFill>
                  <a:srgbClr val="0033B3"/>
                </a:solidFill>
                <a:latin typeface="JetBrains Mono" panose="02000009000000000000" pitchFamily="49" charset="0"/>
              </a:rPr>
            </a:br>
            <a:r>
              <a:rPr lang="en-US" sz="900" dirty="0">
                <a:solidFill>
                  <a:srgbClr val="0033B3"/>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:layout_weight</a:t>
            </a:r>
            <a:r>
              <a:rPr lang="en-US" sz="900" dirty="0">
                <a:solidFill>
                  <a:srgbClr val="067D17"/>
                </a:solidFill>
                <a:latin typeface="JetBrains Mono" panose="02000009000000000000" pitchFamily="49" charset="0"/>
              </a:rPr>
              <a:t>="1"</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:layout_width</a:t>
            </a:r>
            <a:r>
              <a:rPr lang="en-US" sz="900" dirty="0">
                <a:solidFill>
                  <a:srgbClr val="067D17"/>
                </a:solidFill>
                <a:latin typeface="JetBrains Mono" panose="02000009000000000000" pitchFamily="49" charset="0"/>
              </a:rPr>
              <a:t>="50dp"</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:layout_height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wrap_content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:textAppearance</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android:attr</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textAppearanceSmall</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Mua</a:t>
            </a:r>
            <a:r>
              <a:rPr lang="en-US" sz="900" dirty="0">
                <a:solidFill>
                  <a:srgbClr val="067D17"/>
                </a:solidFill>
                <a:latin typeface="JetBrains Mono" panose="02000009000000000000" pitchFamily="49" charset="0"/>
              </a:rPr>
              <a:t> TM:"</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:id</a:t>
            </a:r>
            <a:r>
              <a:rPr lang="en-US" sz="900" dirty="0">
                <a:solidFill>
                  <a:srgbClr val="067D17"/>
                </a:solidFill>
                <a:latin typeface="JetBrains Mono" panose="02000009000000000000" pitchFamily="49" charset="0"/>
              </a:rPr>
              <a:t>="@+id/</a:t>
            </a:r>
            <a:r>
              <a:rPr lang="en-US" sz="900" dirty="0" err="1">
                <a:solidFill>
                  <a:srgbClr val="067D17"/>
                </a:solidFill>
                <a:latin typeface="JetBrains Mono" panose="02000009000000000000" pitchFamily="49" charset="0"/>
              </a:rPr>
              <a:t>textView</a:t>
            </a:r>
            <a:r>
              <a:rPr lang="en-US" sz="900" dirty="0">
                <a:solidFill>
                  <a:srgbClr val="067D17"/>
                </a:solidFill>
                <a:latin typeface="JetBrains Mono" panose="02000009000000000000" pitchFamily="49" charset="0"/>
              </a:rPr>
              <a:t>" </a:t>
            </a:r>
            <a:r>
              <a:rPr lang="en-US" sz="900" dirty="0" smtClean="0">
                <a:solidFill>
                  <a:srgbClr val="080808"/>
                </a:solidFill>
                <a:latin typeface="JetBrains Mono" panose="02000009000000000000" pitchFamily="49" charset="0"/>
              </a:rPr>
              <a:t>/&gt;</a:t>
            </a:r>
            <a:r>
              <a:rPr lang="en-US" sz="900" dirty="0">
                <a:solidFill>
                  <a:srgbClr val="080808"/>
                </a:solidFill>
                <a:latin typeface="JetBrains Mono" panose="02000009000000000000" pitchFamily="49" charset="0"/>
              </a:rPr>
              <a:t/>
            </a:r>
            <a:br>
              <a:rPr lang="en-US" sz="900" dirty="0">
                <a:solidFill>
                  <a:srgbClr val="080808"/>
                </a:solidFill>
                <a:latin typeface="JetBrains Mono" panose="02000009000000000000" pitchFamily="49" charset="0"/>
              </a:rPr>
            </a:br>
            <a:r>
              <a:rPr lang="en-US" sz="900" dirty="0">
                <a:solidFill>
                  <a:srgbClr val="080808"/>
                </a:solidFill>
                <a:latin typeface="JetBrains Mono" panose="02000009000000000000" pitchFamily="49" charset="0"/>
              </a:rPr>
              <a:t>                &lt;</a:t>
            </a:r>
            <a:r>
              <a:rPr lang="en-US" sz="900" dirty="0" err="1">
                <a:solidFill>
                  <a:srgbClr val="0033B3"/>
                </a:solidFill>
                <a:latin typeface="JetBrains Mono" panose="02000009000000000000" pitchFamily="49" charset="0"/>
              </a:rPr>
              <a:t>TextView</a:t>
            </a:r>
            <a:r>
              <a:rPr lang="en-US" sz="900" dirty="0">
                <a:solidFill>
                  <a:srgbClr val="0033B3"/>
                </a:solidFill>
                <a:latin typeface="JetBrains Mono" panose="02000009000000000000" pitchFamily="49" charset="0"/>
              </a:rPr>
              <a:t/>
            </a:r>
            <a:br>
              <a:rPr lang="en-US" sz="900" dirty="0">
                <a:solidFill>
                  <a:srgbClr val="0033B3"/>
                </a:solidFill>
                <a:latin typeface="JetBrains Mono" panose="02000009000000000000" pitchFamily="49" charset="0"/>
              </a:rPr>
            </a:br>
            <a:r>
              <a:rPr lang="en-US" sz="900" dirty="0">
                <a:solidFill>
                  <a:srgbClr val="0033B3"/>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:layout_weight</a:t>
            </a:r>
            <a:r>
              <a:rPr lang="en-US" sz="900" dirty="0">
                <a:solidFill>
                  <a:srgbClr val="067D17"/>
                </a:solidFill>
                <a:latin typeface="JetBrains Mono" panose="02000009000000000000" pitchFamily="49" charset="0"/>
              </a:rPr>
              <a:t>="1"</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:layout_width</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wrap_content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:layout_height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wrap_content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:textAppearance</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android:attr</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textAppearanceSmall</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t>
            </a:r>
            <a:r>
              <a:rPr lang="en-US" sz="900" dirty="0">
                <a:solidFill>
                  <a:srgbClr val="067D17"/>
                </a:solidFill>
                <a:latin typeface="JetBrains Mono" panose="02000009000000000000" pitchFamily="49" charset="0"/>
              </a:rPr>
              <a:t>="Small Text"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:id</a:t>
            </a:r>
            <a:r>
              <a:rPr lang="en-US" sz="900" dirty="0">
                <a:solidFill>
                  <a:srgbClr val="067D17"/>
                </a:solidFill>
                <a:latin typeface="JetBrains Mono" panose="02000009000000000000" pitchFamily="49" charset="0"/>
              </a:rPr>
              <a:t>="@+id/</a:t>
            </a:r>
            <a:r>
              <a:rPr lang="en-US" sz="900" dirty="0" err="1">
                <a:solidFill>
                  <a:srgbClr val="067D17"/>
                </a:solidFill>
                <a:latin typeface="JetBrains Mono" panose="02000009000000000000" pitchFamily="49" charset="0"/>
              </a:rPr>
              <a:t>txtMuaTM</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:textColor</a:t>
            </a:r>
            <a:r>
              <a:rPr lang="en-US" sz="900" dirty="0">
                <a:solidFill>
                  <a:srgbClr val="067D17"/>
                </a:solidFill>
                <a:latin typeface="JetBrains Mono" panose="02000009000000000000" pitchFamily="49" charset="0"/>
              </a:rPr>
              <a:t>="#0b1c9c" </a:t>
            </a:r>
            <a:r>
              <a:rPr lang="en-US" sz="900" dirty="0" smtClean="0">
                <a:solidFill>
                  <a:srgbClr val="080808"/>
                </a:solidFill>
                <a:latin typeface="JetBrains Mono" panose="02000009000000000000" pitchFamily="49" charset="0"/>
              </a:rPr>
              <a:t>/&gt;</a:t>
            </a:r>
            <a:r>
              <a:rPr lang="en-US" sz="900" dirty="0">
                <a:solidFill>
                  <a:srgbClr val="080808"/>
                </a:solidFill>
                <a:latin typeface="JetBrains Mono" panose="02000009000000000000" pitchFamily="49" charset="0"/>
              </a:rPr>
              <a:t/>
            </a:r>
            <a:br>
              <a:rPr lang="en-US" sz="900" dirty="0">
                <a:solidFill>
                  <a:srgbClr val="080808"/>
                </a:solidFill>
                <a:latin typeface="JetBrains Mono" panose="02000009000000000000" pitchFamily="49" charset="0"/>
              </a:rPr>
            </a:br>
            <a:r>
              <a:rPr lang="en-US" sz="900" dirty="0">
                <a:solidFill>
                  <a:srgbClr val="080808"/>
                </a:solidFill>
                <a:latin typeface="JetBrains Mono" panose="02000009000000000000" pitchFamily="49" charset="0"/>
              </a:rPr>
              <a:t>                &lt;</a:t>
            </a:r>
            <a:r>
              <a:rPr lang="en-US" sz="900" dirty="0" err="1">
                <a:solidFill>
                  <a:srgbClr val="0033B3"/>
                </a:solidFill>
                <a:latin typeface="JetBrains Mono" panose="02000009000000000000" pitchFamily="49" charset="0"/>
              </a:rPr>
              <a:t>TextView</a:t>
            </a:r>
            <a:r>
              <a:rPr lang="en-US" sz="900" dirty="0">
                <a:solidFill>
                  <a:srgbClr val="0033B3"/>
                </a:solidFill>
                <a:latin typeface="JetBrains Mono" panose="02000009000000000000" pitchFamily="49" charset="0"/>
              </a:rPr>
              <a:t/>
            </a:r>
            <a:br>
              <a:rPr lang="en-US" sz="900" dirty="0">
                <a:solidFill>
                  <a:srgbClr val="0033B3"/>
                </a:solidFill>
                <a:latin typeface="JetBrains Mono" panose="02000009000000000000" pitchFamily="49" charset="0"/>
              </a:rPr>
            </a:br>
            <a:r>
              <a:rPr lang="en-US" sz="900" dirty="0">
                <a:solidFill>
                  <a:srgbClr val="0033B3"/>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:layout_weight</a:t>
            </a:r>
            <a:r>
              <a:rPr lang="en-US" sz="900" dirty="0">
                <a:solidFill>
                  <a:srgbClr val="067D17"/>
                </a:solidFill>
                <a:latin typeface="JetBrains Mono" panose="02000009000000000000" pitchFamily="49" charset="0"/>
              </a:rPr>
              <a:t>="1"</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:layout_width</a:t>
            </a:r>
            <a:r>
              <a:rPr lang="en-US" sz="900" dirty="0">
                <a:solidFill>
                  <a:srgbClr val="067D17"/>
                </a:solidFill>
                <a:latin typeface="JetBrains Mono" panose="02000009000000000000" pitchFamily="49" charset="0"/>
              </a:rPr>
              <a:t>="50dp"</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:layout_height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wrap_content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:textAppearance</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android:attr</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textAppearanceSmall</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Bán</a:t>
            </a:r>
            <a:r>
              <a:rPr lang="en-US" sz="900" dirty="0">
                <a:solidFill>
                  <a:srgbClr val="067D17"/>
                </a:solidFill>
                <a:latin typeface="JetBrains Mono" panose="02000009000000000000" pitchFamily="49" charset="0"/>
              </a:rPr>
              <a:t> TM:"</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:id</a:t>
            </a:r>
            <a:r>
              <a:rPr lang="en-US" sz="900" dirty="0">
                <a:solidFill>
                  <a:srgbClr val="067D17"/>
                </a:solidFill>
                <a:latin typeface="JetBrains Mono" panose="02000009000000000000" pitchFamily="49" charset="0"/>
              </a:rPr>
              <a:t>="@+id/textView3" </a:t>
            </a:r>
            <a:r>
              <a:rPr lang="en-US" sz="900" dirty="0" smtClean="0">
                <a:solidFill>
                  <a:srgbClr val="080808"/>
                </a:solidFill>
                <a:latin typeface="JetBrains Mono" panose="02000009000000000000" pitchFamily="49" charset="0"/>
              </a:rPr>
              <a:t>/&gt;</a:t>
            </a:r>
            <a:r>
              <a:rPr lang="en-US" sz="900" dirty="0">
                <a:solidFill>
                  <a:srgbClr val="080808"/>
                </a:solidFill>
                <a:latin typeface="JetBrains Mono" panose="02000009000000000000" pitchFamily="49" charset="0"/>
              </a:rPr>
              <a:t/>
            </a:r>
            <a:br>
              <a:rPr lang="en-US" sz="900" dirty="0">
                <a:solidFill>
                  <a:srgbClr val="080808"/>
                </a:solidFill>
                <a:latin typeface="JetBrains Mono" panose="02000009000000000000" pitchFamily="49" charset="0"/>
              </a:rPr>
            </a:br>
            <a:r>
              <a:rPr lang="en-US" sz="900" dirty="0">
                <a:solidFill>
                  <a:srgbClr val="080808"/>
                </a:solidFill>
                <a:latin typeface="JetBrains Mono" panose="02000009000000000000" pitchFamily="49" charset="0"/>
              </a:rPr>
              <a:t>                &lt;</a:t>
            </a:r>
            <a:r>
              <a:rPr lang="en-US" sz="900" dirty="0" err="1">
                <a:solidFill>
                  <a:srgbClr val="0033B3"/>
                </a:solidFill>
                <a:latin typeface="JetBrains Mono" panose="02000009000000000000" pitchFamily="49" charset="0"/>
              </a:rPr>
              <a:t>TextView</a:t>
            </a:r>
            <a:r>
              <a:rPr lang="en-US" sz="900" dirty="0">
                <a:solidFill>
                  <a:srgbClr val="0033B3"/>
                </a:solidFill>
                <a:latin typeface="JetBrains Mono" panose="02000009000000000000" pitchFamily="49" charset="0"/>
              </a:rPr>
              <a:t/>
            </a:r>
            <a:br>
              <a:rPr lang="en-US" sz="900" dirty="0">
                <a:solidFill>
                  <a:srgbClr val="0033B3"/>
                </a:solidFill>
                <a:latin typeface="JetBrains Mono" panose="02000009000000000000" pitchFamily="49" charset="0"/>
              </a:rPr>
            </a:br>
            <a:r>
              <a:rPr lang="en-US" sz="900" dirty="0">
                <a:solidFill>
                  <a:srgbClr val="0033B3"/>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:layout_weight</a:t>
            </a:r>
            <a:r>
              <a:rPr lang="en-US" sz="900" dirty="0">
                <a:solidFill>
                  <a:srgbClr val="067D17"/>
                </a:solidFill>
                <a:latin typeface="JetBrains Mono" panose="02000009000000000000" pitchFamily="49" charset="0"/>
              </a:rPr>
              <a:t>="1"</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:layout_width</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wrap_content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:layout_height</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wrap_content</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:textAppearance</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android:attr</a:t>
            </a:r>
            <a:r>
              <a:rPr lang="en-US" sz="900" dirty="0">
                <a:solidFill>
                  <a:srgbClr val="067D17"/>
                </a:solidFill>
                <a:latin typeface="JetBrains Mono" panose="02000009000000000000" pitchFamily="49" charset="0"/>
              </a:rPr>
              <a:t>/</a:t>
            </a:r>
            <a:r>
              <a:rPr lang="en-US" sz="900" dirty="0" err="1">
                <a:solidFill>
                  <a:srgbClr val="067D17"/>
                </a:solidFill>
                <a:latin typeface="JetBrains Mono" panose="02000009000000000000" pitchFamily="49" charset="0"/>
              </a:rPr>
              <a:t>textAppearanceSmall</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a:t>
            </a:r>
            <a:r>
              <a:rPr lang="en-US" sz="900" dirty="0">
                <a:solidFill>
                  <a:srgbClr val="067D17"/>
                </a:solidFill>
                <a:latin typeface="JetBrains Mono" panose="02000009000000000000" pitchFamily="49" charset="0"/>
              </a:rPr>
              <a:t>="Small Text"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:id</a:t>
            </a:r>
            <a:r>
              <a:rPr lang="en-US" sz="900" dirty="0">
                <a:solidFill>
                  <a:srgbClr val="067D17"/>
                </a:solidFill>
                <a:latin typeface="JetBrains Mono" panose="02000009000000000000" pitchFamily="49" charset="0"/>
              </a:rPr>
              <a:t>="@+id/</a:t>
            </a:r>
            <a:r>
              <a:rPr lang="en-US" sz="900" dirty="0" err="1">
                <a:solidFill>
                  <a:srgbClr val="067D17"/>
                </a:solidFill>
                <a:latin typeface="JetBrains Mono" panose="02000009000000000000" pitchFamily="49" charset="0"/>
              </a:rPr>
              <a:t>txtBanTM</a:t>
            </a:r>
            <a:r>
              <a:rPr lang="en-US" sz="900" dirty="0">
                <a:solidFill>
                  <a:srgbClr val="067D17"/>
                </a:solidFill>
                <a:latin typeface="JetBrains Mono" panose="02000009000000000000" pitchFamily="49" charset="0"/>
              </a:rPr>
              <a:t>"</a:t>
            </a:r>
            <a:br>
              <a:rPr lang="en-US" sz="900" dirty="0">
                <a:solidFill>
                  <a:srgbClr val="067D17"/>
                </a:solidFill>
                <a:latin typeface="JetBrains Mono" panose="02000009000000000000" pitchFamily="49" charset="0"/>
              </a:rPr>
            </a:br>
            <a:r>
              <a:rPr lang="en-US" sz="900" dirty="0">
                <a:solidFill>
                  <a:srgbClr val="067D17"/>
                </a:solidFill>
                <a:latin typeface="JetBrains Mono" panose="02000009000000000000" pitchFamily="49" charset="0"/>
              </a:rPr>
              <a:t>                    </a:t>
            </a:r>
            <a:r>
              <a:rPr lang="en-US" sz="900" dirty="0" err="1">
                <a:solidFill>
                  <a:srgbClr val="871094"/>
                </a:solidFill>
                <a:latin typeface="JetBrains Mono" panose="02000009000000000000" pitchFamily="49" charset="0"/>
              </a:rPr>
              <a:t>android</a:t>
            </a:r>
            <a:r>
              <a:rPr lang="en-US" sz="900" dirty="0" err="1">
                <a:solidFill>
                  <a:srgbClr val="174AD4"/>
                </a:solidFill>
                <a:latin typeface="JetBrains Mono" panose="02000009000000000000" pitchFamily="49" charset="0"/>
              </a:rPr>
              <a:t>:textColor</a:t>
            </a:r>
            <a:r>
              <a:rPr lang="en-US" sz="900" dirty="0">
                <a:solidFill>
                  <a:srgbClr val="067D17"/>
                </a:solidFill>
                <a:latin typeface="JetBrains Mono" panose="02000009000000000000" pitchFamily="49" charset="0"/>
              </a:rPr>
              <a:t>="#0b1c9c" </a:t>
            </a:r>
            <a:r>
              <a:rPr lang="en-US" sz="900" dirty="0">
                <a:solidFill>
                  <a:srgbClr val="080808"/>
                </a:solidFill>
                <a:latin typeface="JetBrains Mono" panose="02000009000000000000" pitchFamily="49" charset="0"/>
              </a:rPr>
              <a:t>/&gt;</a:t>
            </a:r>
            <a:br>
              <a:rPr lang="en-US" sz="900" dirty="0">
                <a:solidFill>
                  <a:srgbClr val="080808"/>
                </a:solidFill>
                <a:latin typeface="JetBrains Mono" panose="02000009000000000000" pitchFamily="49" charset="0"/>
              </a:rPr>
            </a:br>
            <a:r>
              <a:rPr lang="en-US" sz="900" dirty="0">
                <a:solidFill>
                  <a:srgbClr val="080808"/>
                </a:solidFill>
                <a:latin typeface="JetBrains Mono" panose="02000009000000000000" pitchFamily="49" charset="0"/>
              </a:rPr>
              <a:t>            &lt;/</a:t>
            </a:r>
            <a:r>
              <a:rPr lang="en-US" sz="900" dirty="0" err="1">
                <a:solidFill>
                  <a:srgbClr val="0033B3"/>
                </a:solidFill>
                <a:latin typeface="JetBrains Mono" panose="02000009000000000000" pitchFamily="49" charset="0"/>
              </a:rPr>
              <a:t>LinearLayout</a:t>
            </a:r>
            <a:r>
              <a:rPr lang="en-US" sz="900" dirty="0" smtClean="0">
                <a:solidFill>
                  <a:srgbClr val="080808"/>
                </a:solidFill>
                <a:latin typeface="JetBrains Mono" panose="02000009000000000000" pitchFamily="49" charset="0"/>
              </a:rPr>
              <a:t>&gt;</a:t>
            </a:r>
            <a:endParaRPr lang="en-US" sz="900" dirty="0">
              <a:solidFill>
                <a:srgbClr val="080808"/>
              </a:solidFill>
              <a:latin typeface="JetBrains Mono" panose="02000009000000000000" pitchFamily="49" charset="0"/>
            </a:endParaRPr>
          </a:p>
        </p:txBody>
      </p:sp>
      <p:sp>
        <p:nvSpPr>
          <p:cNvPr id="17" name="TextBox 16"/>
          <p:cNvSpPr txBox="1"/>
          <p:nvPr/>
        </p:nvSpPr>
        <p:spPr>
          <a:xfrm>
            <a:off x="655093" y="996287"/>
            <a:ext cx="1284326"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item.xml</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6713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3" name="Rectangle 2"/>
          <p:cNvSpPr/>
          <p:nvPr/>
        </p:nvSpPr>
        <p:spPr>
          <a:xfrm>
            <a:off x="3501697" y="852616"/>
            <a:ext cx="6096000" cy="5632311"/>
          </a:xfrm>
          <a:prstGeom prst="rect">
            <a:avLst/>
          </a:prstGeom>
        </p:spPr>
        <p:txBody>
          <a:bodyPr>
            <a:spAutoFit/>
          </a:bodyPr>
          <a:lstStyle/>
          <a:p>
            <a:r>
              <a:rPr lang="en-US" sz="800" dirty="0" smtClean="0">
                <a:solidFill>
                  <a:srgbClr val="080808"/>
                </a:solidFill>
                <a:latin typeface="JetBrains Mono" panose="02000009000000000000" pitchFamily="49" charset="0"/>
              </a:rPr>
              <a:t>            </a:t>
            </a:r>
            <a:r>
              <a:rPr lang="en-US" sz="800" dirty="0">
                <a:solidFill>
                  <a:srgbClr val="080808"/>
                </a:solidFill>
                <a:latin typeface="JetBrains Mono" panose="02000009000000000000" pitchFamily="49" charset="0"/>
              </a:rPr>
              <a:t>&lt;</a:t>
            </a:r>
            <a:r>
              <a:rPr lang="en-US" sz="800" dirty="0" err="1">
                <a:solidFill>
                  <a:srgbClr val="0033B3"/>
                </a:solidFill>
                <a:latin typeface="JetBrains Mono" panose="02000009000000000000" pitchFamily="49" charset="0"/>
              </a:rPr>
              <a:t>LinearLayout</a:t>
            </a:r>
            <a:r>
              <a:rPr lang="en-US" sz="800" dirty="0">
                <a:solidFill>
                  <a:srgbClr val="0033B3"/>
                </a:solidFill>
                <a:latin typeface="JetBrains Mono" panose="02000009000000000000" pitchFamily="49" charset="0"/>
              </a:rPr>
              <a:t/>
            </a:r>
            <a:br>
              <a:rPr lang="en-US" sz="800" dirty="0">
                <a:solidFill>
                  <a:srgbClr val="0033B3"/>
                </a:solidFill>
                <a:latin typeface="JetBrains Mono" panose="02000009000000000000" pitchFamily="49" charset="0"/>
              </a:rPr>
            </a:br>
            <a:r>
              <a:rPr lang="en-US" sz="800" dirty="0">
                <a:solidFill>
                  <a:srgbClr val="0033B3"/>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:orientation</a:t>
            </a:r>
            <a:r>
              <a:rPr lang="en-US" sz="800" dirty="0">
                <a:solidFill>
                  <a:srgbClr val="067D17"/>
                </a:solidFill>
                <a:latin typeface="JetBrains Mono" panose="02000009000000000000" pitchFamily="49" charset="0"/>
              </a:rPr>
              <a:t>="horizontal"</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:layout_width</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match_parent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:layout_height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smtClean="0">
                <a:solidFill>
                  <a:srgbClr val="067D17"/>
                </a:solidFill>
                <a:latin typeface="JetBrains Mono" panose="02000009000000000000" pitchFamily="49" charset="0"/>
              </a:rPr>
              <a:t>"</a:t>
            </a:r>
            <a:r>
              <a:rPr lang="en-US" sz="800" dirty="0" smtClean="0">
                <a:solidFill>
                  <a:srgbClr val="080808"/>
                </a:solidFill>
                <a:latin typeface="JetBrains Mono" panose="02000009000000000000" pitchFamily="49" charset="0"/>
              </a:rPr>
              <a:t>&gt;</a:t>
            </a:r>
            <a:r>
              <a:rPr lang="en-US" sz="800" dirty="0">
                <a:solidFill>
                  <a:srgbClr val="080808"/>
                </a:solidFill>
                <a:latin typeface="JetBrains Mono" panose="02000009000000000000" pitchFamily="49" charset="0"/>
              </a:rPr>
              <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TextView</a:t>
            </a:r>
            <a:r>
              <a:rPr lang="en-US" sz="800" dirty="0">
                <a:solidFill>
                  <a:srgbClr val="0033B3"/>
                </a:solidFill>
                <a:latin typeface="JetBrains Mono" panose="02000009000000000000" pitchFamily="49" charset="0"/>
              </a:rPr>
              <a:t/>
            </a:r>
            <a:br>
              <a:rPr lang="en-US" sz="800" dirty="0">
                <a:solidFill>
                  <a:srgbClr val="0033B3"/>
                </a:solidFill>
                <a:latin typeface="JetBrains Mono" panose="02000009000000000000" pitchFamily="49" charset="0"/>
              </a:rPr>
            </a:br>
            <a:r>
              <a:rPr lang="en-US" sz="800" dirty="0">
                <a:solidFill>
                  <a:srgbClr val="0033B3"/>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:layout_weight</a:t>
            </a:r>
            <a:r>
              <a:rPr lang="en-US" sz="800" dirty="0">
                <a:solidFill>
                  <a:srgbClr val="067D17"/>
                </a:solidFill>
                <a:latin typeface="JetBrains Mono" panose="02000009000000000000" pitchFamily="49" charset="0"/>
              </a:rPr>
              <a:t>="1"</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:layout_width</a:t>
            </a:r>
            <a:r>
              <a:rPr lang="en-US" sz="800" dirty="0">
                <a:solidFill>
                  <a:srgbClr val="067D17"/>
                </a:solidFill>
                <a:latin typeface="JetBrains Mono" panose="02000009000000000000" pitchFamily="49" charset="0"/>
              </a:rPr>
              <a:t>="50dp"</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:layout_height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:textAppearance</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android:attr</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textAppearanceSmall</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Mua</a:t>
            </a:r>
            <a:r>
              <a:rPr lang="en-US" sz="800" dirty="0">
                <a:solidFill>
                  <a:srgbClr val="067D17"/>
                </a:solidFill>
                <a:latin typeface="JetBrains Mono" panose="02000009000000000000" pitchFamily="49" charset="0"/>
              </a:rPr>
              <a:t> CK:"</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:id</a:t>
            </a:r>
            <a:r>
              <a:rPr lang="en-US" sz="800" dirty="0">
                <a:solidFill>
                  <a:srgbClr val="067D17"/>
                </a:solidFill>
                <a:latin typeface="JetBrains Mono" panose="02000009000000000000" pitchFamily="49" charset="0"/>
              </a:rPr>
              <a:t>="@+id/textView2" </a:t>
            </a:r>
            <a:r>
              <a:rPr lang="en-US" sz="800" dirty="0" smtClean="0">
                <a:solidFill>
                  <a:srgbClr val="080808"/>
                </a:solidFill>
                <a:latin typeface="JetBrains Mono" panose="02000009000000000000" pitchFamily="49" charset="0"/>
              </a:rPr>
              <a:t>/&gt;</a:t>
            </a:r>
            <a:r>
              <a:rPr lang="en-US" sz="800" dirty="0">
                <a:solidFill>
                  <a:srgbClr val="080808"/>
                </a:solidFill>
                <a:latin typeface="JetBrains Mono" panose="02000009000000000000" pitchFamily="49" charset="0"/>
              </a:rPr>
              <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TextView</a:t>
            </a:r>
            <a:r>
              <a:rPr lang="en-US" sz="800" dirty="0">
                <a:solidFill>
                  <a:srgbClr val="0033B3"/>
                </a:solidFill>
                <a:latin typeface="JetBrains Mono" panose="02000009000000000000" pitchFamily="49" charset="0"/>
              </a:rPr>
              <a:t/>
            </a:r>
            <a:br>
              <a:rPr lang="en-US" sz="800" dirty="0">
                <a:solidFill>
                  <a:srgbClr val="0033B3"/>
                </a:solidFill>
                <a:latin typeface="JetBrains Mono" panose="02000009000000000000" pitchFamily="49" charset="0"/>
              </a:rPr>
            </a:br>
            <a:r>
              <a:rPr lang="en-US" sz="800" dirty="0">
                <a:solidFill>
                  <a:srgbClr val="0033B3"/>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:layout_weight</a:t>
            </a:r>
            <a:r>
              <a:rPr lang="en-US" sz="800" dirty="0">
                <a:solidFill>
                  <a:srgbClr val="067D17"/>
                </a:solidFill>
                <a:latin typeface="JetBrains Mono" panose="02000009000000000000" pitchFamily="49" charset="0"/>
              </a:rPr>
              <a:t>="1"</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:layout_width</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:layout_height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:textAppearance</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android:attr</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textAppearanceSmall</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t>
            </a:r>
            <a:r>
              <a:rPr lang="en-US" sz="800" dirty="0">
                <a:solidFill>
                  <a:srgbClr val="067D17"/>
                </a:solidFill>
                <a:latin typeface="JetBrains Mono" panose="02000009000000000000" pitchFamily="49" charset="0"/>
              </a:rPr>
              <a:t>="Small Text"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:id</a:t>
            </a:r>
            <a:r>
              <a:rPr lang="en-US" sz="800" dirty="0">
                <a:solidFill>
                  <a:srgbClr val="067D17"/>
                </a:solidFill>
                <a:latin typeface="JetBrains Mono" panose="02000009000000000000" pitchFamily="49" charset="0"/>
              </a:rPr>
              <a:t>="@+id/</a:t>
            </a:r>
            <a:r>
              <a:rPr lang="en-US" sz="800" dirty="0" err="1">
                <a:solidFill>
                  <a:srgbClr val="067D17"/>
                </a:solidFill>
                <a:latin typeface="JetBrains Mono" panose="02000009000000000000" pitchFamily="49" charset="0"/>
              </a:rPr>
              <a:t>txtMuaCK</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:textColor</a:t>
            </a:r>
            <a:r>
              <a:rPr lang="en-US" sz="800" dirty="0">
                <a:solidFill>
                  <a:srgbClr val="067D17"/>
                </a:solidFill>
                <a:latin typeface="JetBrains Mono" panose="02000009000000000000" pitchFamily="49" charset="0"/>
              </a:rPr>
              <a:t>="#0b1c9c" </a:t>
            </a:r>
            <a:r>
              <a:rPr lang="en-US" sz="800" dirty="0" smtClean="0">
                <a:solidFill>
                  <a:srgbClr val="080808"/>
                </a:solidFill>
                <a:latin typeface="JetBrains Mono" panose="02000009000000000000" pitchFamily="49" charset="0"/>
              </a:rPr>
              <a:t>/&gt;</a:t>
            </a:r>
            <a:r>
              <a:rPr lang="en-US" sz="800" dirty="0">
                <a:solidFill>
                  <a:srgbClr val="080808"/>
                </a:solidFill>
                <a:latin typeface="JetBrains Mono" panose="02000009000000000000" pitchFamily="49" charset="0"/>
              </a:rPr>
              <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TextView</a:t>
            </a:r>
            <a:r>
              <a:rPr lang="en-US" sz="800" dirty="0">
                <a:solidFill>
                  <a:srgbClr val="0033B3"/>
                </a:solidFill>
                <a:latin typeface="JetBrains Mono" panose="02000009000000000000" pitchFamily="49" charset="0"/>
              </a:rPr>
              <a:t/>
            </a:r>
            <a:br>
              <a:rPr lang="en-US" sz="800" dirty="0">
                <a:solidFill>
                  <a:srgbClr val="0033B3"/>
                </a:solidFill>
                <a:latin typeface="JetBrains Mono" panose="02000009000000000000" pitchFamily="49" charset="0"/>
              </a:rPr>
            </a:br>
            <a:r>
              <a:rPr lang="en-US" sz="800" dirty="0">
                <a:solidFill>
                  <a:srgbClr val="0033B3"/>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:layout_weight</a:t>
            </a:r>
            <a:r>
              <a:rPr lang="en-US" sz="800" dirty="0">
                <a:solidFill>
                  <a:srgbClr val="067D17"/>
                </a:solidFill>
                <a:latin typeface="JetBrains Mono" panose="02000009000000000000" pitchFamily="49" charset="0"/>
              </a:rPr>
              <a:t>="1"</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:layout_width</a:t>
            </a:r>
            <a:r>
              <a:rPr lang="en-US" sz="800" dirty="0">
                <a:solidFill>
                  <a:srgbClr val="067D17"/>
                </a:solidFill>
                <a:latin typeface="JetBrains Mono" panose="02000009000000000000" pitchFamily="49" charset="0"/>
              </a:rPr>
              <a:t>="50dp"</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:layout_height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:textAppearance</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android:attr</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textAppearanceSmall</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Bán</a:t>
            </a:r>
            <a:r>
              <a:rPr lang="en-US" sz="800" dirty="0">
                <a:solidFill>
                  <a:srgbClr val="067D17"/>
                </a:solidFill>
                <a:latin typeface="JetBrains Mono" panose="02000009000000000000" pitchFamily="49" charset="0"/>
              </a:rPr>
              <a:t> CK:"</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:id</a:t>
            </a:r>
            <a:r>
              <a:rPr lang="en-US" sz="800" dirty="0">
                <a:solidFill>
                  <a:srgbClr val="067D17"/>
                </a:solidFill>
                <a:latin typeface="JetBrains Mono" panose="02000009000000000000" pitchFamily="49" charset="0"/>
              </a:rPr>
              <a:t>="@+id/textView5" </a:t>
            </a:r>
            <a:r>
              <a:rPr lang="en-US" sz="800" dirty="0" smtClean="0">
                <a:solidFill>
                  <a:srgbClr val="080808"/>
                </a:solidFill>
                <a:latin typeface="JetBrains Mono" panose="02000009000000000000" pitchFamily="49" charset="0"/>
              </a:rPr>
              <a:t>/&gt;</a:t>
            </a:r>
            <a:r>
              <a:rPr lang="en-US" sz="800" dirty="0">
                <a:solidFill>
                  <a:srgbClr val="080808"/>
                </a:solidFill>
                <a:latin typeface="JetBrains Mono" panose="02000009000000000000" pitchFamily="49" charset="0"/>
              </a:rPr>
              <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TextView</a:t>
            </a:r>
            <a:r>
              <a:rPr lang="en-US" sz="800" dirty="0">
                <a:solidFill>
                  <a:srgbClr val="0033B3"/>
                </a:solidFill>
                <a:latin typeface="JetBrains Mono" panose="02000009000000000000" pitchFamily="49" charset="0"/>
              </a:rPr>
              <a:t/>
            </a:r>
            <a:br>
              <a:rPr lang="en-US" sz="800" dirty="0">
                <a:solidFill>
                  <a:srgbClr val="0033B3"/>
                </a:solidFill>
                <a:latin typeface="JetBrains Mono" panose="02000009000000000000" pitchFamily="49" charset="0"/>
              </a:rPr>
            </a:br>
            <a:r>
              <a:rPr lang="en-US" sz="800" dirty="0">
                <a:solidFill>
                  <a:srgbClr val="0033B3"/>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:layout_weight</a:t>
            </a:r>
            <a:r>
              <a:rPr lang="en-US" sz="800" dirty="0">
                <a:solidFill>
                  <a:srgbClr val="067D17"/>
                </a:solidFill>
                <a:latin typeface="JetBrains Mono" panose="02000009000000000000" pitchFamily="49" charset="0"/>
              </a:rPr>
              <a:t>="1"</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:layout_width</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:layout_height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:textAppearance</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android:attr</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textAppearanceSmall</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t>
            </a:r>
            <a:r>
              <a:rPr lang="en-US" sz="800" dirty="0">
                <a:solidFill>
                  <a:srgbClr val="067D17"/>
                </a:solidFill>
                <a:latin typeface="JetBrains Mono" panose="02000009000000000000" pitchFamily="49" charset="0"/>
              </a:rPr>
              <a:t>="Small Text"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:id</a:t>
            </a:r>
            <a:r>
              <a:rPr lang="en-US" sz="800" dirty="0">
                <a:solidFill>
                  <a:srgbClr val="067D17"/>
                </a:solidFill>
                <a:latin typeface="JetBrains Mono" panose="02000009000000000000" pitchFamily="49" charset="0"/>
              </a:rPr>
              <a:t>="@+id/</a:t>
            </a:r>
            <a:r>
              <a:rPr lang="en-US" sz="800" dirty="0" err="1">
                <a:solidFill>
                  <a:srgbClr val="067D17"/>
                </a:solidFill>
                <a:latin typeface="JetBrains Mono" panose="02000009000000000000" pitchFamily="49" charset="0"/>
              </a:rPr>
              <a:t>txtBanCK</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:textColor</a:t>
            </a:r>
            <a:r>
              <a:rPr lang="en-US" sz="800" dirty="0">
                <a:solidFill>
                  <a:srgbClr val="067D17"/>
                </a:solidFill>
                <a:latin typeface="JetBrains Mono" panose="02000009000000000000" pitchFamily="49" charset="0"/>
              </a:rPr>
              <a:t>="#0b1c9c" </a:t>
            </a:r>
            <a:r>
              <a:rPr lang="en-US" sz="800" dirty="0">
                <a:solidFill>
                  <a:srgbClr val="080808"/>
                </a:solidFill>
                <a:latin typeface="JetBrains Mono" panose="02000009000000000000" pitchFamily="49" charset="0"/>
              </a:rPr>
              <a:t>/&gt;</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LinearLayout</a:t>
            </a:r>
            <a:r>
              <a:rPr lang="en-US" sz="800" dirty="0">
                <a:solidFill>
                  <a:srgbClr val="080808"/>
                </a:solidFill>
                <a:latin typeface="JetBrains Mono" panose="02000009000000000000" pitchFamily="49" charset="0"/>
              </a:rPr>
              <a:t>&gt;</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LinearLayout</a:t>
            </a:r>
            <a:r>
              <a:rPr lang="en-US" sz="800" dirty="0">
                <a:solidFill>
                  <a:srgbClr val="080808"/>
                </a:solidFill>
                <a:latin typeface="JetBrains Mono" panose="02000009000000000000" pitchFamily="49" charset="0"/>
              </a:rPr>
              <a:t>&gt;</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LinearLayout</a:t>
            </a:r>
            <a:r>
              <a:rPr lang="en-US" sz="800" dirty="0" smtClean="0">
                <a:solidFill>
                  <a:srgbClr val="080808"/>
                </a:solidFill>
                <a:latin typeface="JetBrains Mono" panose="02000009000000000000" pitchFamily="49" charset="0"/>
              </a:rPr>
              <a:t>&gt;</a:t>
            </a:r>
            <a:r>
              <a:rPr lang="en-US" sz="800" dirty="0">
                <a:solidFill>
                  <a:srgbClr val="080808"/>
                </a:solidFill>
                <a:latin typeface="JetBrains Mono" panose="02000009000000000000" pitchFamily="49" charset="0"/>
              </a:rPr>
              <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    &lt;</a:t>
            </a:r>
            <a:r>
              <a:rPr lang="en-US" sz="800" dirty="0" err="1">
                <a:solidFill>
                  <a:srgbClr val="0033B3"/>
                </a:solidFill>
                <a:latin typeface="JetBrains Mono" panose="02000009000000000000" pitchFamily="49" charset="0"/>
              </a:rPr>
              <a:t>TextView</a:t>
            </a:r>
            <a:r>
              <a:rPr lang="en-US" sz="800" dirty="0">
                <a:solidFill>
                  <a:srgbClr val="0033B3"/>
                </a:solidFill>
                <a:latin typeface="JetBrains Mono" panose="02000009000000000000" pitchFamily="49" charset="0"/>
              </a:rPr>
              <a:t/>
            </a:r>
            <a:br>
              <a:rPr lang="en-US" sz="800" dirty="0">
                <a:solidFill>
                  <a:srgbClr val="0033B3"/>
                </a:solidFill>
                <a:latin typeface="JetBrains Mono" panose="02000009000000000000" pitchFamily="49" charset="0"/>
              </a:rPr>
            </a:br>
            <a:r>
              <a:rPr lang="en-US" sz="800" dirty="0">
                <a:solidFill>
                  <a:srgbClr val="0033B3"/>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:layout_width</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match_parent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:layout_height</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wrap_content</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:textAppearance</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android:attr</a:t>
            </a:r>
            <a:r>
              <a:rPr lang="en-US" sz="800" dirty="0">
                <a:solidFill>
                  <a:srgbClr val="067D17"/>
                </a:solidFill>
                <a:latin typeface="JetBrains Mono" panose="02000009000000000000" pitchFamily="49" charset="0"/>
              </a:rPr>
              <a:t>/</a:t>
            </a:r>
            <a:r>
              <a:rPr lang="en-US" sz="800" dirty="0" err="1">
                <a:solidFill>
                  <a:srgbClr val="067D17"/>
                </a:solidFill>
                <a:latin typeface="JetBrains Mono" panose="02000009000000000000" pitchFamily="49" charset="0"/>
              </a:rPr>
              <a:t>textAppearanceLarge</a:t>
            </a:r>
            <a:r>
              <a:rPr lang="en-US" sz="800" dirty="0">
                <a:solidFill>
                  <a:srgbClr val="067D17"/>
                </a:solidFill>
                <a:latin typeface="JetBrains Mono" panose="02000009000000000000" pitchFamily="49" charset="0"/>
              </a:rPr>
              <a:t>"</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:id</a:t>
            </a:r>
            <a:r>
              <a:rPr lang="en-US" sz="800" dirty="0">
                <a:solidFill>
                  <a:srgbClr val="067D17"/>
                </a:solidFill>
                <a:latin typeface="JetBrains Mono" panose="02000009000000000000" pitchFamily="49" charset="0"/>
              </a:rPr>
              <a:t>="@+id/textView4"</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:background</a:t>
            </a:r>
            <a:r>
              <a:rPr lang="en-US" sz="800" dirty="0">
                <a:solidFill>
                  <a:srgbClr val="067D17"/>
                </a:solidFill>
                <a:latin typeface="JetBrains Mono" panose="02000009000000000000" pitchFamily="49" charset="0"/>
              </a:rPr>
              <a:t>="#070755"</a:t>
            </a:r>
            <a:br>
              <a:rPr lang="en-US" sz="800" dirty="0">
                <a:solidFill>
                  <a:srgbClr val="067D17"/>
                </a:solidFill>
                <a:latin typeface="JetBrains Mono" panose="02000009000000000000" pitchFamily="49" charset="0"/>
              </a:rPr>
            </a:br>
            <a:r>
              <a:rPr lang="en-US" sz="800" dirty="0">
                <a:solidFill>
                  <a:srgbClr val="067D17"/>
                </a:solidFill>
                <a:latin typeface="JetBrains Mono" panose="02000009000000000000" pitchFamily="49" charset="0"/>
              </a:rPr>
              <a:t>        </a:t>
            </a:r>
            <a:r>
              <a:rPr lang="en-US" sz="800" dirty="0" err="1">
                <a:solidFill>
                  <a:srgbClr val="871094"/>
                </a:solidFill>
                <a:latin typeface="JetBrains Mono" panose="02000009000000000000" pitchFamily="49" charset="0"/>
              </a:rPr>
              <a:t>android</a:t>
            </a:r>
            <a:r>
              <a:rPr lang="en-US" sz="800" dirty="0" err="1">
                <a:solidFill>
                  <a:srgbClr val="174AD4"/>
                </a:solidFill>
                <a:latin typeface="JetBrains Mono" panose="02000009000000000000" pitchFamily="49" charset="0"/>
              </a:rPr>
              <a:t>:height</a:t>
            </a:r>
            <a:r>
              <a:rPr lang="en-US" sz="800" dirty="0">
                <a:solidFill>
                  <a:srgbClr val="067D17"/>
                </a:solidFill>
                <a:latin typeface="JetBrains Mono" panose="02000009000000000000" pitchFamily="49" charset="0"/>
              </a:rPr>
              <a:t>="1dp" </a:t>
            </a:r>
            <a:r>
              <a:rPr lang="en-US" sz="800" dirty="0">
                <a:solidFill>
                  <a:srgbClr val="080808"/>
                </a:solidFill>
                <a:latin typeface="JetBrains Mono" panose="02000009000000000000" pitchFamily="49" charset="0"/>
              </a:rPr>
              <a:t>/&gt;</a:t>
            </a:r>
            <a:br>
              <a:rPr lang="en-US" sz="800" dirty="0">
                <a:solidFill>
                  <a:srgbClr val="080808"/>
                </a:solidFill>
                <a:latin typeface="JetBrains Mono" panose="02000009000000000000" pitchFamily="49" charset="0"/>
              </a:rPr>
            </a:br>
            <a:r>
              <a:rPr lang="en-US" sz="800" dirty="0">
                <a:solidFill>
                  <a:srgbClr val="080808"/>
                </a:solidFill>
                <a:latin typeface="JetBrains Mono" panose="02000009000000000000" pitchFamily="49" charset="0"/>
              </a:rPr>
              <a:t>&lt;/</a:t>
            </a:r>
            <a:r>
              <a:rPr lang="en-US" sz="800" dirty="0" err="1">
                <a:solidFill>
                  <a:srgbClr val="0033B3"/>
                </a:solidFill>
                <a:latin typeface="JetBrains Mono" panose="02000009000000000000" pitchFamily="49" charset="0"/>
              </a:rPr>
              <a:t>LinearLayout</a:t>
            </a:r>
            <a:r>
              <a:rPr lang="en-US" sz="800" dirty="0">
                <a:solidFill>
                  <a:srgbClr val="080808"/>
                </a:solidFill>
                <a:latin typeface="JetBrains Mono" panose="02000009000000000000" pitchFamily="49" charset="0"/>
              </a:rPr>
              <a:t>&gt;</a:t>
            </a:r>
          </a:p>
        </p:txBody>
      </p:sp>
      <p:sp>
        <p:nvSpPr>
          <p:cNvPr id="17" name="TextBox 16"/>
          <p:cNvSpPr txBox="1"/>
          <p:nvPr/>
        </p:nvSpPr>
        <p:spPr>
          <a:xfrm>
            <a:off x="629139" y="907576"/>
            <a:ext cx="1284326"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item.xml</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7111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7" name="TextBox 16"/>
          <p:cNvSpPr txBox="1"/>
          <p:nvPr/>
        </p:nvSpPr>
        <p:spPr>
          <a:xfrm>
            <a:off x="629139" y="907576"/>
            <a:ext cx="2427268"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activity_main.xml</a:t>
            </a:r>
            <a:endParaRPr lang="en-US" sz="24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775602" y="1483286"/>
            <a:ext cx="9548189" cy="4413630"/>
          </a:xfrm>
          <a:prstGeom prst="rect">
            <a:avLst/>
          </a:prstGeom>
        </p:spPr>
      </p:pic>
    </p:spTree>
    <p:extLst>
      <p:ext uri="{BB962C8B-B14F-4D97-AF65-F5344CB8AC3E}">
        <p14:creationId xmlns:p14="http://schemas.microsoft.com/office/powerpoint/2010/main" val="2449588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7" name="TextBox 16"/>
          <p:cNvSpPr txBox="1"/>
          <p:nvPr/>
        </p:nvSpPr>
        <p:spPr>
          <a:xfrm>
            <a:off x="629139" y="907576"/>
            <a:ext cx="2427268" cy="461665"/>
          </a:xfrm>
          <a:prstGeom prst="rect">
            <a:avLst/>
          </a:prstGeom>
          <a:noFill/>
        </p:spPr>
        <p:txBody>
          <a:bodyPr wrap="none" rtlCol="0">
            <a:spAutoFit/>
          </a:bodyPr>
          <a:lstStyle/>
          <a:p>
            <a:r>
              <a:rPr lang="en-US" sz="2400" dirty="0" smtClean="0">
                <a:latin typeface="Times New Roman" panose="02020603050405020304" pitchFamily="18" charset="0"/>
                <a:cs typeface="Times New Roman" panose="02020603050405020304" pitchFamily="18" charset="0"/>
              </a:rPr>
              <a:t>activity_main.xml</a:t>
            </a:r>
            <a:endParaRPr lang="en-US" sz="2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503218" y="1483286"/>
            <a:ext cx="8104909" cy="3108543"/>
          </a:xfrm>
          <a:prstGeom prst="rect">
            <a:avLst/>
          </a:prstGeom>
        </p:spPr>
        <p:txBody>
          <a:bodyPr wrap="square">
            <a:spAutoFit/>
          </a:bodyPr>
          <a:lstStyle/>
          <a:p>
            <a:r>
              <a:rPr lang="en-US" i="1" dirty="0">
                <a:solidFill>
                  <a:srgbClr val="080808"/>
                </a:solidFill>
                <a:latin typeface="JetBrains Mono" panose="02000009000000000000" pitchFamily="49" charset="0"/>
              </a:rPr>
              <a:t>&lt;?</a:t>
            </a:r>
            <a:r>
              <a:rPr lang="en-US" dirty="0">
                <a:solidFill>
                  <a:srgbClr val="174AD4"/>
                </a:solidFill>
                <a:latin typeface="JetBrains Mono" panose="02000009000000000000" pitchFamily="49" charset="0"/>
              </a:rPr>
              <a:t>xml version</a:t>
            </a:r>
            <a:r>
              <a:rPr lang="en-US" dirty="0">
                <a:solidFill>
                  <a:srgbClr val="067D17"/>
                </a:solidFill>
                <a:latin typeface="JetBrains Mono" panose="02000009000000000000" pitchFamily="49" charset="0"/>
              </a:rPr>
              <a:t>="1.0" </a:t>
            </a:r>
            <a:r>
              <a:rPr lang="en-US" dirty="0">
                <a:solidFill>
                  <a:srgbClr val="174AD4"/>
                </a:solidFill>
                <a:latin typeface="JetBrains Mono" panose="02000009000000000000" pitchFamily="49" charset="0"/>
              </a:rPr>
              <a:t>encoding</a:t>
            </a:r>
            <a:r>
              <a:rPr lang="en-US" dirty="0">
                <a:solidFill>
                  <a:srgbClr val="067D17"/>
                </a:solidFill>
                <a:latin typeface="JetBrains Mono" panose="02000009000000000000" pitchFamily="49" charset="0"/>
              </a:rPr>
              <a:t>="utf-8"</a:t>
            </a:r>
            <a:r>
              <a:rPr lang="en-US" i="1" dirty="0">
                <a:solidFill>
                  <a:srgbClr val="080808"/>
                </a:solidFill>
                <a:latin typeface="JetBrains Mono" panose="02000009000000000000" pitchFamily="49" charset="0"/>
              </a:rPr>
              <a:t>?&gt;</a:t>
            </a:r>
            <a:br>
              <a:rPr lang="en-US" i="1"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&lt;</a:t>
            </a:r>
            <a:r>
              <a:rPr lang="en-US" dirty="0" err="1">
                <a:solidFill>
                  <a:srgbClr val="0033B3"/>
                </a:solidFill>
                <a:latin typeface="JetBrains Mono" panose="02000009000000000000" pitchFamily="49" charset="0"/>
              </a:rPr>
              <a:t>LinearLayout</a:t>
            </a:r>
            <a:r>
              <a:rPr lang="en-US" dirty="0">
                <a:solidFill>
                  <a:srgbClr val="0033B3"/>
                </a:solidFill>
                <a:latin typeface="JetBrains Mono" panose="02000009000000000000" pitchFamily="49" charset="0"/>
              </a:rPr>
              <a:t> </a:t>
            </a:r>
            <a:r>
              <a:rPr lang="en-US" dirty="0" err="1">
                <a:solidFill>
                  <a:srgbClr val="174AD4"/>
                </a:solidFill>
                <a:latin typeface="JetBrains Mono" panose="02000009000000000000" pitchFamily="49" charset="0"/>
              </a:rPr>
              <a:t>xmlns:</a:t>
            </a:r>
            <a:r>
              <a:rPr lang="en-US" dirty="0" err="1">
                <a:solidFill>
                  <a:srgbClr val="871094"/>
                </a:solidFill>
                <a:latin typeface="JetBrains Mono" panose="02000009000000000000" pitchFamily="49" charset="0"/>
              </a:rPr>
              <a:t>android</a:t>
            </a:r>
            <a:r>
              <a:rPr lang="en-US" dirty="0">
                <a:solidFill>
                  <a:srgbClr val="067D17"/>
                </a:solidFill>
                <a:latin typeface="JetBrains Mono" panose="02000009000000000000" pitchFamily="49" charset="0"/>
              </a:rPr>
              <a:t>="http://schemas.android.com/</a:t>
            </a:r>
            <a:r>
              <a:rPr lang="en-US" dirty="0" err="1">
                <a:solidFill>
                  <a:srgbClr val="067D17"/>
                </a:solidFill>
                <a:latin typeface="JetBrains Mono" panose="02000009000000000000" pitchFamily="49" charset="0"/>
              </a:rPr>
              <a:t>apk</a:t>
            </a:r>
            <a:r>
              <a:rPr lang="en-US" dirty="0">
                <a:solidFill>
                  <a:srgbClr val="067D17"/>
                </a:solidFill>
                <a:latin typeface="JetBrains Mono" panose="02000009000000000000" pitchFamily="49" charset="0"/>
              </a:rPr>
              <a:t>/res/android"</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174AD4"/>
                </a:solidFill>
                <a:latin typeface="JetBrains Mono" panose="02000009000000000000" pitchFamily="49" charset="0"/>
              </a:rPr>
              <a:t>xmlns:</a:t>
            </a:r>
            <a:r>
              <a:rPr lang="en-US" dirty="0" err="1">
                <a:solidFill>
                  <a:srgbClr val="871094"/>
                </a:solidFill>
                <a:latin typeface="JetBrains Mono" panose="02000009000000000000" pitchFamily="49" charset="0"/>
              </a:rPr>
              <a:t>app</a:t>
            </a:r>
            <a:r>
              <a:rPr lang="en-US" dirty="0">
                <a:solidFill>
                  <a:srgbClr val="067D17"/>
                </a:solidFill>
                <a:latin typeface="JetBrains Mono" panose="02000009000000000000" pitchFamily="49" charset="0"/>
              </a:rPr>
              <a:t>="http://schemas.android.com/</a:t>
            </a:r>
            <a:r>
              <a:rPr lang="en-US" dirty="0" err="1">
                <a:solidFill>
                  <a:srgbClr val="067D17"/>
                </a:solidFill>
                <a:latin typeface="JetBrains Mono" panose="02000009000000000000" pitchFamily="49" charset="0"/>
              </a:rPr>
              <a:t>apk</a:t>
            </a:r>
            <a:r>
              <a:rPr lang="en-US" dirty="0">
                <a:solidFill>
                  <a:srgbClr val="067D17"/>
                </a:solidFill>
                <a:latin typeface="JetBrains Mono" panose="02000009000000000000" pitchFamily="49" charset="0"/>
              </a:rPr>
              <a:t>/res-auto"</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174AD4"/>
                </a:solidFill>
                <a:latin typeface="JetBrains Mono" panose="02000009000000000000" pitchFamily="49" charset="0"/>
              </a:rPr>
              <a:t>xmlns:</a:t>
            </a:r>
            <a:r>
              <a:rPr lang="en-US" dirty="0" err="1">
                <a:solidFill>
                  <a:srgbClr val="871094"/>
                </a:solidFill>
                <a:latin typeface="JetBrains Mono" panose="02000009000000000000" pitchFamily="49" charset="0"/>
              </a:rPr>
              <a:t>tools</a:t>
            </a:r>
            <a:r>
              <a:rPr lang="en-US" dirty="0">
                <a:solidFill>
                  <a:srgbClr val="067D17"/>
                </a:solidFill>
                <a:latin typeface="JetBrains Mono" panose="02000009000000000000" pitchFamily="49" charset="0"/>
              </a:rPr>
              <a:t>="http://schemas.android.com/tools"</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:layout_width</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:layout_height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:orientation</a:t>
            </a:r>
            <a:r>
              <a:rPr lang="en-US" dirty="0">
                <a:solidFill>
                  <a:srgbClr val="067D17"/>
                </a:solidFill>
                <a:latin typeface="JetBrains Mono" panose="02000009000000000000" pitchFamily="49" charset="0"/>
              </a:rPr>
              <a:t>="vertical"</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tools</a:t>
            </a:r>
            <a:r>
              <a:rPr lang="en-US" dirty="0" err="1">
                <a:solidFill>
                  <a:srgbClr val="174AD4"/>
                </a:solidFill>
                <a:latin typeface="JetBrains Mono" panose="02000009000000000000" pitchFamily="49" charset="0"/>
              </a:rPr>
              <a:t>:context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MainActivity</a:t>
            </a:r>
            <a:r>
              <a:rPr lang="en-US" dirty="0">
                <a:solidFill>
                  <a:srgbClr val="067D17"/>
                </a:solidFill>
                <a:latin typeface="JetBrains Mono" panose="02000009000000000000" pitchFamily="49" charset="0"/>
              </a:rPr>
              <a:t>"</a:t>
            </a:r>
            <a:r>
              <a:rPr lang="en-US" dirty="0">
                <a:solidFill>
                  <a:srgbClr val="080808"/>
                </a:solidFill>
                <a:latin typeface="JetBrains Mono" panose="02000009000000000000" pitchFamily="49" charset="0"/>
              </a:rPr>
              <a:t>&gt;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&lt;</a:t>
            </a:r>
            <a:r>
              <a:rPr lang="en-US" dirty="0" err="1">
                <a:solidFill>
                  <a:srgbClr val="0033B3"/>
                </a:solidFill>
                <a:latin typeface="JetBrains Mono" panose="02000009000000000000" pitchFamily="49" charset="0"/>
              </a:rPr>
              <a:t>ListView</a:t>
            </a:r>
            <a:r>
              <a:rPr lang="en-US" dirty="0">
                <a:solidFill>
                  <a:srgbClr val="0033B3"/>
                </a:solidFill>
                <a:latin typeface="JetBrains Mono" panose="02000009000000000000" pitchFamily="49" charset="0"/>
              </a:rPr>
              <a:t/>
            </a:r>
            <a:br>
              <a:rPr lang="en-US" dirty="0">
                <a:solidFill>
                  <a:srgbClr val="0033B3"/>
                </a:solidFill>
                <a:latin typeface="JetBrains Mono" panose="02000009000000000000" pitchFamily="49" charset="0"/>
              </a:rPr>
            </a:br>
            <a:r>
              <a:rPr lang="en-US" dirty="0">
                <a:solidFill>
                  <a:srgbClr val="0033B3"/>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:layout_width</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match_parent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:layout_height</a:t>
            </a:r>
            <a:r>
              <a:rPr lang="en-US" dirty="0">
                <a:solidFill>
                  <a:srgbClr val="067D17"/>
                </a:solidFill>
                <a:latin typeface="JetBrains Mono" panose="02000009000000000000" pitchFamily="49" charset="0"/>
              </a:rPr>
              <a:t>="</a:t>
            </a:r>
            <a:r>
              <a:rPr lang="en-US" dirty="0" err="1">
                <a:solidFill>
                  <a:srgbClr val="067D17"/>
                </a:solidFill>
                <a:latin typeface="JetBrains Mono" panose="02000009000000000000" pitchFamily="49" charset="0"/>
              </a:rPr>
              <a:t>wrap_content</a:t>
            </a:r>
            <a:r>
              <a:rPr lang="en-US" dirty="0">
                <a:solidFill>
                  <a:srgbClr val="067D17"/>
                </a:solidFill>
                <a:latin typeface="JetBrains Mono" panose="02000009000000000000" pitchFamily="49" charset="0"/>
              </a:rPr>
              <a:t>"</a:t>
            </a:r>
            <a:br>
              <a:rPr lang="en-US" dirty="0">
                <a:solidFill>
                  <a:srgbClr val="067D17"/>
                </a:solidFill>
                <a:latin typeface="JetBrains Mono" panose="02000009000000000000" pitchFamily="49" charset="0"/>
              </a:rPr>
            </a:br>
            <a:r>
              <a:rPr lang="en-US" dirty="0">
                <a:solidFill>
                  <a:srgbClr val="067D17"/>
                </a:solidFill>
                <a:latin typeface="JetBrains Mono" panose="02000009000000000000" pitchFamily="49" charset="0"/>
              </a:rPr>
              <a:t>        </a:t>
            </a:r>
            <a:r>
              <a:rPr lang="en-US" dirty="0" err="1">
                <a:solidFill>
                  <a:srgbClr val="871094"/>
                </a:solidFill>
                <a:latin typeface="JetBrains Mono" panose="02000009000000000000" pitchFamily="49" charset="0"/>
              </a:rPr>
              <a:t>android</a:t>
            </a:r>
            <a:r>
              <a:rPr lang="en-US" dirty="0" err="1">
                <a:solidFill>
                  <a:srgbClr val="174AD4"/>
                </a:solidFill>
                <a:latin typeface="JetBrains Mono" panose="02000009000000000000" pitchFamily="49" charset="0"/>
              </a:rPr>
              <a:t>:id</a:t>
            </a:r>
            <a:r>
              <a:rPr lang="en-US" dirty="0">
                <a:solidFill>
                  <a:srgbClr val="067D17"/>
                </a:solidFill>
                <a:latin typeface="JetBrains Mono" panose="02000009000000000000" pitchFamily="49" charset="0"/>
              </a:rPr>
              <a:t>="@+id/</a:t>
            </a:r>
            <a:r>
              <a:rPr lang="en-US" dirty="0" err="1">
                <a:solidFill>
                  <a:srgbClr val="067D17"/>
                </a:solidFill>
                <a:latin typeface="JetBrains Mono" panose="02000009000000000000" pitchFamily="49" charset="0"/>
              </a:rPr>
              <a:t>lvTiGia</a:t>
            </a:r>
            <a:r>
              <a:rPr lang="en-US" dirty="0">
                <a:solidFill>
                  <a:srgbClr val="067D17"/>
                </a:solidFill>
                <a:latin typeface="JetBrains Mono" panose="02000009000000000000" pitchFamily="49" charset="0"/>
              </a:rPr>
              <a:t>" </a:t>
            </a:r>
            <a:r>
              <a:rPr lang="en-US" dirty="0">
                <a:solidFill>
                  <a:srgbClr val="080808"/>
                </a:solidFill>
                <a:latin typeface="JetBrains Mono" panose="02000009000000000000" pitchFamily="49" charset="0"/>
              </a:rPr>
              <a:t>/&gt;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&lt;/</a:t>
            </a:r>
            <a:r>
              <a:rPr lang="en-US" dirty="0" err="1">
                <a:solidFill>
                  <a:srgbClr val="0033B3"/>
                </a:solidFill>
                <a:latin typeface="JetBrains Mono" panose="02000009000000000000" pitchFamily="49" charset="0"/>
              </a:rPr>
              <a:t>LinearLayout</a:t>
            </a:r>
            <a:r>
              <a:rPr lang="en-US" dirty="0">
                <a:solidFill>
                  <a:srgbClr val="080808"/>
                </a:solidFill>
                <a:latin typeface="JetBrains Mono" panose="02000009000000000000" pitchFamily="49" charset="0"/>
              </a:rPr>
              <a:t>&gt;</a:t>
            </a:r>
          </a:p>
        </p:txBody>
      </p:sp>
    </p:spTree>
    <p:extLst>
      <p:ext uri="{BB962C8B-B14F-4D97-AF65-F5344CB8AC3E}">
        <p14:creationId xmlns:p14="http://schemas.microsoft.com/office/powerpoint/2010/main" val="7788277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550107" y="1205951"/>
            <a:ext cx="3863675" cy="3886537"/>
          </a:xfrm>
          <a:prstGeom prst="rect">
            <a:avLst/>
          </a:prstGeom>
        </p:spPr>
      </p:pic>
      <p:sp>
        <p:nvSpPr>
          <p:cNvPr id="3" name="Rectangle 2"/>
          <p:cNvSpPr/>
          <p:nvPr/>
        </p:nvSpPr>
        <p:spPr>
          <a:xfrm>
            <a:off x="5061044" y="827627"/>
            <a:ext cx="6096000" cy="5909310"/>
          </a:xfrm>
          <a:prstGeom prst="rect">
            <a:avLst/>
          </a:prstGeom>
          <a:ln>
            <a:solidFill>
              <a:srgbClr val="002060"/>
            </a:solidFill>
          </a:ln>
        </p:spPr>
        <p:txBody>
          <a:bodyPr>
            <a:spAutoFit/>
          </a:bodyPr>
          <a:lstStyle/>
          <a:p>
            <a:r>
              <a:rPr lang="en-US" dirty="0">
                <a:solidFill>
                  <a:srgbClr val="0033B3"/>
                </a:solidFill>
                <a:latin typeface="JetBrains Mono" panose="02000009000000000000" pitchFamily="49" charset="0"/>
              </a:rPr>
              <a:t>public class </a:t>
            </a:r>
            <a:r>
              <a:rPr lang="en-US" dirty="0">
                <a:latin typeface="JetBrains Mono" panose="02000009000000000000" pitchFamily="49" charset="0"/>
              </a:rPr>
              <a:t>Item </a:t>
            </a:r>
            <a:r>
              <a:rPr lang="en-US" dirty="0">
                <a:solidFill>
                  <a:srgbClr val="0033B3"/>
                </a:solidFill>
                <a:latin typeface="JetBrains Mono" panose="02000009000000000000" pitchFamily="49" charset="0"/>
              </a:rPr>
              <a:t>implements </a:t>
            </a:r>
            <a:r>
              <a:rPr lang="en-US" dirty="0">
                <a:latin typeface="JetBrains Mono" panose="02000009000000000000" pitchFamily="49" charset="0"/>
              </a:rPr>
              <a:t>Serializable</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private </a:t>
            </a:r>
            <a:r>
              <a:rPr lang="en-US" dirty="0">
                <a:latin typeface="JetBrains Mono" panose="02000009000000000000" pitchFamily="49" charset="0"/>
              </a:rPr>
              <a:t>String </a:t>
            </a:r>
            <a:r>
              <a:rPr lang="en-US" dirty="0">
                <a:solidFill>
                  <a:srgbClr val="871094"/>
                </a:solidFill>
                <a:latin typeface="JetBrains Mono" panose="02000009000000000000" pitchFamily="49" charset="0"/>
              </a:rPr>
              <a:t>type</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private </a:t>
            </a:r>
            <a:r>
              <a:rPr lang="en-US" dirty="0">
                <a:latin typeface="JetBrains Mono" panose="02000009000000000000" pitchFamily="49" charset="0"/>
              </a:rPr>
              <a:t>String </a:t>
            </a:r>
            <a:r>
              <a:rPr lang="en-US" dirty="0" err="1">
                <a:solidFill>
                  <a:srgbClr val="871094"/>
                </a:solidFill>
                <a:latin typeface="JetBrains Mono" panose="02000009000000000000" pitchFamily="49" charset="0"/>
              </a:rPr>
              <a:t>imageurl</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private </a:t>
            </a:r>
            <a:r>
              <a:rPr lang="en-US" dirty="0">
                <a:latin typeface="JetBrains Mono" panose="02000009000000000000" pitchFamily="49" charset="0"/>
              </a:rPr>
              <a:t>Bitmap </a:t>
            </a:r>
            <a:r>
              <a:rPr lang="en-US" dirty="0" err="1">
                <a:solidFill>
                  <a:srgbClr val="871094"/>
                </a:solidFill>
                <a:latin typeface="JetBrains Mono" panose="02000009000000000000" pitchFamily="49" charset="0"/>
              </a:rPr>
              <a:t>hinh</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private </a:t>
            </a:r>
            <a:r>
              <a:rPr lang="en-US" dirty="0">
                <a:latin typeface="JetBrains Mono" panose="02000009000000000000" pitchFamily="49" charset="0"/>
              </a:rPr>
              <a:t>String </a:t>
            </a:r>
            <a:r>
              <a:rPr lang="en-US" dirty="0" err="1">
                <a:solidFill>
                  <a:srgbClr val="871094"/>
                </a:solidFill>
                <a:latin typeface="JetBrains Mono" panose="02000009000000000000" pitchFamily="49" charset="0"/>
              </a:rPr>
              <a:t>muatienmat</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private </a:t>
            </a:r>
            <a:r>
              <a:rPr lang="en-US" dirty="0">
                <a:latin typeface="JetBrains Mono" panose="02000009000000000000" pitchFamily="49" charset="0"/>
              </a:rPr>
              <a:t>String </a:t>
            </a:r>
            <a:r>
              <a:rPr lang="en-US" dirty="0" err="1">
                <a:solidFill>
                  <a:srgbClr val="871094"/>
                </a:solidFill>
                <a:latin typeface="JetBrains Mono" panose="02000009000000000000" pitchFamily="49" charset="0"/>
              </a:rPr>
              <a:t>muack</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private </a:t>
            </a:r>
            <a:r>
              <a:rPr lang="en-US" dirty="0">
                <a:latin typeface="JetBrains Mono" panose="02000009000000000000" pitchFamily="49" charset="0"/>
              </a:rPr>
              <a:t>String </a:t>
            </a:r>
            <a:r>
              <a:rPr lang="en-US" dirty="0" err="1">
                <a:solidFill>
                  <a:srgbClr val="871094"/>
                </a:solidFill>
                <a:latin typeface="JetBrains Mono" panose="02000009000000000000" pitchFamily="49" charset="0"/>
              </a:rPr>
              <a:t>bantienmat</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private </a:t>
            </a:r>
            <a:r>
              <a:rPr lang="en-US" dirty="0">
                <a:latin typeface="JetBrains Mono" panose="02000009000000000000" pitchFamily="49" charset="0"/>
              </a:rPr>
              <a:t>String </a:t>
            </a:r>
            <a:r>
              <a:rPr lang="en-US" dirty="0" err="1">
                <a:solidFill>
                  <a:srgbClr val="871094"/>
                </a:solidFill>
                <a:latin typeface="JetBrains Mono" panose="02000009000000000000" pitchFamily="49" charset="0"/>
              </a:rPr>
              <a:t>banck</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a:t>
            </a:r>
            <a:r>
              <a:rPr lang="en-US" dirty="0">
                <a:latin typeface="JetBrains Mono" panose="02000009000000000000" pitchFamily="49" charset="0"/>
              </a:rPr>
              <a:t>String </a:t>
            </a:r>
            <a:r>
              <a:rPr lang="en-US" dirty="0" err="1">
                <a:solidFill>
                  <a:srgbClr val="00627A"/>
                </a:solidFill>
                <a:latin typeface="JetBrains Mono" panose="02000009000000000000" pitchFamily="49" charset="0"/>
              </a:rPr>
              <a:t>getType</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return </a:t>
            </a:r>
            <a:r>
              <a:rPr lang="en-US" dirty="0">
                <a:solidFill>
                  <a:srgbClr val="871094"/>
                </a:solidFill>
                <a:latin typeface="JetBrains Mono" panose="02000009000000000000" pitchFamily="49" charset="0"/>
              </a:rPr>
              <a:t>type</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void </a:t>
            </a:r>
            <a:r>
              <a:rPr lang="en-US" dirty="0" err="1">
                <a:solidFill>
                  <a:srgbClr val="00627A"/>
                </a:solidFill>
                <a:latin typeface="JetBrains Mono" panose="02000009000000000000" pitchFamily="49" charset="0"/>
              </a:rPr>
              <a:t>setType</a:t>
            </a:r>
            <a:r>
              <a:rPr lang="en-US" dirty="0">
                <a:solidFill>
                  <a:srgbClr val="080808"/>
                </a:solidFill>
                <a:latin typeface="JetBrains Mono" panose="02000009000000000000" pitchFamily="49" charset="0"/>
              </a:rPr>
              <a:t>(</a:t>
            </a:r>
            <a:r>
              <a:rPr lang="en-US" dirty="0">
                <a:latin typeface="JetBrains Mono" panose="02000009000000000000" pitchFamily="49" charset="0"/>
              </a:rPr>
              <a:t>String </a:t>
            </a:r>
            <a:r>
              <a:rPr lang="en-US" dirty="0">
                <a:solidFill>
                  <a:srgbClr val="080808"/>
                </a:solidFill>
                <a:latin typeface="JetBrains Mono" panose="02000009000000000000" pitchFamily="49" charset="0"/>
              </a:rPr>
              <a:t>type)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err="1">
                <a:solidFill>
                  <a:srgbClr val="0033B3"/>
                </a:solidFill>
                <a:latin typeface="JetBrains Mono" panose="02000009000000000000" pitchFamily="49" charset="0"/>
              </a:rPr>
              <a:t>this</a:t>
            </a:r>
            <a:r>
              <a:rPr lang="en-US" dirty="0" err="1">
                <a:solidFill>
                  <a:srgbClr val="080808"/>
                </a:solidFill>
                <a:latin typeface="JetBrains Mono" panose="02000009000000000000" pitchFamily="49" charset="0"/>
              </a:rPr>
              <a:t>.</a:t>
            </a:r>
            <a:r>
              <a:rPr lang="en-US" dirty="0" err="1">
                <a:solidFill>
                  <a:srgbClr val="871094"/>
                </a:solidFill>
                <a:latin typeface="JetBrains Mono" panose="02000009000000000000" pitchFamily="49" charset="0"/>
              </a:rPr>
              <a:t>type</a:t>
            </a:r>
            <a:r>
              <a:rPr lang="en-US" dirty="0">
                <a:solidFill>
                  <a:srgbClr val="871094"/>
                </a:solidFill>
                <a:latin typeface="JetBrains Mono" panose="02000009000000000000" pitchFamily="49" charset="0"/>
              </a:rPr>
              <a:t> </a:t>
            </a:r>
            <a:r>
              <a:rPr lang="en-US" dirty="0">
                <a:solidFill>
                  <a:srgbClr val="080808"/>
                </a:solidFill>
                <a:latin typeface="JetBrains Mono" panose="02000009000000000000" pitchFamily="49" charset="0"/>
              </a:rPr>
              <a:t>= type;</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a:t>
            </a:r>
            <a:r>
              <a:rPr lang="en-US" dirty="0">
                <a:latin typeface="JetBrains Mono" panose="02000009000000000000" pitchFamily="49" charset="0"/>
              </a:rPr>
              <a:t>String </a:t>
            </a:r>
            <a:r>
              <a:rPr lang="en-US" dirty="0" err="1">
                <a:solidFill>
                  <a:srgbClr val="00627A"/>
                </a:solidFill>
                <a:latin typeface="JetBrains Mono" panose="02000009000000000000" pitchFamily="49" charset="0"/>
              </a:rPr>
              <a:t>getImageurl</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return </a:t>
            </a:r>
            <a:r>
              <a:rPr lang="en-US" dirty="0" err="1">
                <a:solidFill>
                  <a:srgbClr val="871094"/>
                </a:solidFill>
                <a:latin typeface="JetBrains Mono" panose="02000009000000000000" pitchFamily="49" charset="0"/>
              </a:rPr>
              <a:t>imageurl</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void </a:t>
            </a:r>
            <a:r>
              <a:rPr lang="en-US" dirty="0" err="1">
                <a:solidFill>
                  <a:srgbClr val="00627A"/>
                </a:solidFill>
                <a:latin typeface="JetBrains Mono" panose="02000009000000000000" pitchFamily="49" charset="0"/>
              </a:rPr>
              <a:t>setImageurl</a:t>
            </a:r>
            <a:r>
              <a:rPr lang="en-US" dirty="0">
                <a:solidFill>
                  <a:srgbClr val="080808"/>
                </a:solidFill>
                <a:latin typeface="JetBrains Mono" panose="02000009000000000000" pitchFamily="49" charset="0"/>
              </a:rPr>
              <a:t>(</a:t>
            </a:r>
            <a:r>
              <a:rPr lang="en-US" dirty="0">
                <a:latin typeface="JetBrains Mono" panose="02000009000000000000" pitchFamily="49" charset="0"/>
              </a:rPr>
              <a:t>String </a:t>
            </a:r>
            <a:r>
              <a:rPr lang="en-US" dirty="0" err="1">
                <a:solidFill>
                  <a:srgbClr val="080808"/>
                </a:solidFill>
                <a:latin typeface="JetBrains Mono" panose="02000009000000000000" pitchFamily="49" charset="0"/>
              </a:rPr>
              <a:t>imageurl</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err="1">
                <a:solidFill>
                  <a:srgbClr val="0033B3"/>
                </a:solidFill>
                <a:latin typeface="JetBrains Mono" panose="02000009000000000000" pitchFamily="49" charset="0"/>
              </a:rPr>
              <a:t>this</a:t>
            </a:r>
            <a:r>
              <a:rPr lang="en-US" dirty="0" err="1">
                <a:solidFill>
                  <a:srgbClr val="080808"/>
                </a:solidFill>
                <a:latin typeface="JetBrains Mono" panose="02000009000000000000" pitchFamily="49" charset="0"/>
              </a:rPr>
              <a:t>.</a:t>
            </a:r>
            <a:r>
              <a:rPr lang="en-US" dirty="0" err="1">
                <a:solidFill>
                  <a:srgbClr val="871094"/>
                </a:solidFill>
                <a:latin typeface="JetBrains Mono" panose="02000009000000000000" pitchFamily="49" charset="0"/>
              </a:rPr>
              <a:t>imageurl</a:t>
            </a:r>
            <a:r>
              <a:rPr lang="en-US" dirty="0">
                <a:solidFill>
                  <a:srgbClr val="871094"/>
                </a:solidFill>
                <a:latin typeface="JetBrains Mono" panose="02000009000000000000" pitchFamily="49" charset="0"/>
              </a:rPr>
              <a:t> </a:t>
            </a:r>
            <a:r>
              <a:rPr lang="en-US" dirty="0">
                <a:solidFill>
                  <a:srgbClr val="080808"/>
                </a:solidFill>
                <a:latin typeface="JetBrains Mono" panose="02000009000000000000" pitchFamily="49" charset="0"/>
              </a:rPr>
              <a:t>= </a:t>
            </a:r>
            <a:r>
              <a:rPr lang="en-US" dirty="0" err="1">
                <a:solidFill>
                  <a:srgbClr val="080808"/>
                </a:solidFill>
                <a:latin typeface="JetBrains Mono" panose="02000009000000000000" pitchFamily="49" charset="0"/>
              </a:rPr>
              <a:t>imageurl</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a:t>
            </a:r>
            <a:r>
              <a:rPr lang="en-US" dirty="0">
                <a:latin typeface="JetBrains Mono" panose="02000009000000000000" pitchFamily="49" charset="0"/>
              </a:rPr>
              <a:t>Bitmap </a:t>
            </a:r>
            <a:r>
              <a:rPr lang="en-US" dirty="0" err="1">
                <a:solidFill>
                  <a:srgbClr val="00627A"/>
                </a:solidFill>
                <a:latin typeface="JetBrains Mono" panose="02000009000000000000" pitchFamily="49" charset="0"/>
              </a:rPr>
              <a:t>getHinh</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return </a:t>
            </a:r>
            <a:r>
              <a:rPr lang="en-US" dirty="0" err="1">
                <a:solidFill>
                  <a:srgbClr val="871094"/>
                </a:solidFill>
                <a:latin typeface="JetBrains Mono" panose="02000009000000000000" pitchFamily="49" charset="0"/>
              </a:rPr>
              <a:t>hinh</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void </a:t>
            </a:r>
            <a:r>
              <a:rPr lang="en-US" dirty="0" err="1">
                <a:solidFill>
                  <a:srgbClr val="00627A"/>
                </a:solidFill>
                <a:latin typeface="JetBrains Mono" panose="02000009000000000000" pitchFamily="49" charset="0"/>
              </a:rPr>
              <a:t>setHinh</a:t>
            </a:r>
            <a:r>
              <a:rPr lang="en-US" dirty="0">
                <a:solidFill>
                  <a:srgbClr val="080808"/>
                </a:solidFill>
                <a:latin typeface="JetBrains Mono" panose="02000009000000000000" pitchFamily="49" charset="0"/>
              </a:rPr>
              <a:t>(</a:t>
            </a:r>
            <a:r>
              <a:rPr lang="en-US" dirty="0">
                <a:latin typeface="JetBrains Mono" panose="02000009000000000000" pitchFamily="49" charset="0"/>
              </a:rPr>
              <a:t>Bitmap </a:t>
            </a:r>
            <a:r>
              <a:rPr lang="en-US" dirty="0" err="1">
                <a:solidFill>
                  <a:srgbClr val="080808"/>
                </a:solidFill>
                <a:latin typeface="JetBrains Mono" panose="02000009000000000000" pitchFamily="49" charset="0"/>
              </a:rPr>
              <a:t>hinh</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err="1">
                <a:solidFill>
                  <a:srgbClr val="0033B3"/>
                </a:solidFill>
                <a:latin typeface="JetBrains Mono" panose="02000009000000000000" pitchFamily="49" charset="0"/>
              </a:rPr>
              <a:t>this</a:t>
            </a:r>
            <a:r>
              <a:rPr lang="en-US" dirty="0" err="1">
                <a:solidFill>
                  <a:srgbClr val="080808"/>
                </a:solidFill>
                <a:latin typeface="JetBrains Mono" panose="02000009000000000000" pitchFamily="49" charset="0"/>
              </a:rPr>
              <a:t>.</a:t>
            </a:r>
            <a:r>
              <a:rPr lang="en-US" dirty="0" err="1">
                <a:solidFill>
                  <a:srgbClr val="871094"/>
                </a:solidFill>
                <a:latin typeface="JetBrains Mono" panose="02000009000000000000" pitchFamily="49" charset="0"/>
              </a:rPr>
              <a:t>hinh</a:t>
            </a:r>
            <a:r>
              <a:rPr lang="en-US" dirty="0">
                <a:solidFill>
                  <a:srgbClr val="871094"/>
                </a:solidFill>
                <a:latin typeface="JetBrains Mono" panose="02000009000000000000" pitchFamily="49" charset="0"/>
              </a:rPr>
              <a:t> </a:t>
            </a:r>
            <a:r>
              <a:rPr lang="en-US" dirty="0">
                <a:solidFill>
                  <a:srgbClr val="080808"/>
                </a:solidFill>
                <a:latin typeface="JetBrains Mono" panose="02000009000000000000" pitchFamily="49" charset="0"/>
              </a:rPr>
              <a:t>= </a:t>
            </a:r>
            <a:r>
              <a:rPr lang="en-US" dirty="0" err="1">
                <a:solidFill>
                  <a:srgbClr val="080808"/>
                </a:solidFill>
                <a:latin typeface="JetBrains Mono" panose="02000009000000000000" pitchFamily="49" charset="0"/>
              </a:rPr>
              <a:t>hinh</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endParaRPr lang="en-US" dirty="0">
              <a:solidFill>
                <a:srgbClr val="080808"/>
              </a:solidFill>
              <a:latin typeface="JetBrains Mono" panose="02000009000000000000" pitchFamily="49" charset="0"/>
            </a:endParaRPr>
          </a:p>
        </p:txBody>
      </p:sp>
    </p:spTree>
    <p:extLst>
      <p:ext uri="{BB962C8B-B14F-4D97-AF65-F5344CB8AC3E}">
        <p14:creationId xmlns:p14="http://schemas.microsoft.com/office/powerpoint/2010/main" val="35098863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550107" y="1205951"/>
            <a:ext cx="3863675" cy="3886537"/>
          </a:xfrm>
          <a:prstGeom prst="rect">
            <a:avLst/>
          </a:prstGeom>
        </p:spPr>
      </p:pic>
      <p:sp>
        <p:nvSpPr>
          <p:cNvPr id="3" name="Rectangle 2"/>
          <p:cNvSpPr/>
          <p:nvPr/>
        </p:nvSpPr>
        <p:spPr>
          <a:xfrm>
            <a:off x="5074692" y="950940"/>
            <a:ext cx="6096000" cy="5478423"/>
          </a:xfrm>
          <a:prstGeom prst="rect">
            <a:avLst/>
          </a:prstGeom>
          <a:ln>
            <a:solidFill>
              <a:srgbClr val="002060"/>
            </a:solidFill>
          </a:ln>
        </p:spPr>
        <p:txBody>
          <a:bodyPr>
            <a:spAutoFit/>
          </a:bodyPr>
          <a:lstStyle/>
          <a:p>
            <a:r>
              <a:rPr lang="en-US" dirty="0" smtClean="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a:t>
            </a:r>
            <a:r>
              <a:rPr lang="en-US" dirty="0">
                <a:latin typeface="JetBrains Mono" panose="02000009000000000000" pitchFamily="49" charset="0"/>
              </a:rPr>
              <a:t>String </a:t>
            </a:r>
            <a:r>
              <a:rPr lang="en-US" dirty="0" err="1">
                <a:solidFill>
                  <a:srgbClr val="00627A"/>
                </a:solidFill>
                <a:latin typeface="JetBrains Mono" panose="02000009000000000000" pitchFamily="49" charset="0"/>
              </a:rPr>
              <a:t>getMuatienmat</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return </a:t>
            </a:r>
            <a:r>
              <a:rPr lang="en-US" dirty="0" err="1">
                <a:solidFill>
                  <a:srgbClr val="871094"/>
                </a:solidFill>
                <a:latin typeface="JetBrains Mono" panose="02000009000000000000" pitchFamily="49" charset="0"/>
              </a:rPr>
              <a:t>muatienmat</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void </a:t>
            </a:r>
            <a:r>
              <a:rPr lang="en-US" dirty="0" err="1">
                <a:solidFill>
                  <a:srgbClr val="00627A"/>
                </a:solidFill>
                <a:latin typeface="JetBrains Mono" panose="02000009000000000000" pitchFamily="49" charset="0"/>
              </a:rPr>
              <a:t>setMuatienmat</a:t>
            </a:r>
            <a:r>
              <a:rPr lang="en-US" dirty="0">
                <a:solidFill>
                  <a:srgbClr val="080808"/>
                </a:solidFill>
                <a:latin typeface="JetBrains Mono" panose="02000009000000000000" pitchFamily="49" charset="0"/>
              </a:rPr>
              <a:t>(</a:t>
            </a:r>
            <a:r>
              <a:rPr lang="en-US" dirty="0">
                <a:latin typeface="JetBrains Mono" panose="02000009000000000000" pitchFamily="49" charset="0"/>
              </a:rPr>
              <a:t>String </a:t>
            </a:r>
            <a:r>
              <a:rPr lang="en-US" dirty="0" err="1">
                <a:solidFill>
                  <a:srgbClr val="080808"/>
                </a:solidFill>
                <a:latin typeface="JetBrains Mono" panose="02000009000000000000" pitchFamily="49" charset="0"/>
              </a:rPr>
              <a:t>muatienmat</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err="1">
                <a:solidFill>
                  <a:srgbClr val="0033B3"/>
                </a:solidFill>
                <a:latin typeface="JetBrains Mono" panose="02000009000000000000" pitchFamily="49" charset="0"/>
              </a:rPr>
              <a:t>this</a:t>
            </a:r>
            <a:r>
              <a:rPr lang="en-US" dirty="0" err="1">
                <a:solidFill>
                  <a:srgbClr val="080808"/>
                </a:solidFill>
                <a:latin typeface="JetBrains Mono" panose="02000009000000000000" pitchFamily="49" charset="0"/>
              </a:rPr>
              <a:t>.</a:t>
            </a:r>
            <a:r>
              <a:rPr lang="en-US" dirty="0" err="1">
                <a:solidFill>
                  <a:srgbClr val="871094"/>
                </a:solidFill>
                <a:latin typeface="JetBrains Mono" panose="02000009000000000000" pitchFamily="49" charset="0"/>
              </a:rPr>
              <a:t>muatienmat</a:t>
            </a:r>
            <a:r>
              <a:rPr lang="en-US" dirty="0">
                <a:solidFill>
                  <a:srgbClr val="871094"/>
                </a:solidFill>
                <a:latin typeface="JetBrains Mono" panose="02000009000000000000" pitchFamily="49" charset="0"/>
              </a:rPr>
              <a:t> </a:t>
            </a:r>
            <a:r>
              <a:rPr lang="en-US" dirty="0">
                <a:solidFill>
                  <a:srgbClr val="080808"/>
                </a:solidFill>
                <a:latin typeface="JetBrains Mono" panose="02000009000000000000" pitchFamily="49" charset="0"/>
              </a:rPr>
              <a:t>= </a:t>
            </a:r>
            <a:r>
              <a:rPr lang="en-US" dirty="0" err="1">
                <a:solidFill>
                  <a:srgbClr val="080808"/>
                </a:solidFill>
                <a:latin typeface="JetBrains Mono" panose="02000009000000000000" pitchFamily="49" charset="0"/>
              </a:rPr>
              <a:t>muatienmat</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a:t>
            </a:r>
            <a:r>
              <a:rPr lang="en-US" dirty="0">
                <a:latin typeface="JetBrains Mono" panose="02000009000000000000" pitchFamily="49" charset="0"/>
              </a:rPr>
              <a:t>String </a:t>
            </a:r>
            <a:r>
              <a:rPr lang="en-US" dirty="0" err="1">
                <a:solidFill>
                  <a:srgbClr val="00627A"/>
                </a:solidFill>
                <a:latin typeface="JetBrains Mono" panose="02000009000000000000" pitchFamily="49" charset="0"/>
              </a:rPr>
              <a:t>getMuack</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return </a:t>
            </a:r>
            <a:r>
              <a:rPr lang="en-US" dirty="0" err="1">
                <a:solidFill>
                  <a:srgbClr val="871094"/>
                </a:solidFill>
                <a:latin typeface="JetBrains Mono" panose="02000009000000000000" pitchFamily="49" charset="0"/>
              </a:rPr>
              <a:t>muack</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void </a:t>
            </a:r>
            <a:r>
              <a:rPr lang="en-US" dirty="0" err="1">
                <a:solidFill>
                  <a:srgbClr val="00627A"/>
                </a:solidFill>
                <a:latin typeface="JetBrains Mono" panose="02000009000000000000" pitchFamily="49" charset="0"/>
              </a:rPr>
              <a:t>setMuack</a:t>
            </a:r>
            <a:r>
              <a:rPr lang="en-US" dirty="0">
                <a:solidFill>
                  <a:srgbClr val="080808"/>
                </a:solidFill>
                <a:latin typeface="JetBrains Mono" panose="02000009000000000000" pitchFamily="49" charset="0"/>
              </a:rPr>
              <a:t>(</a:t>
            </a:r>
            <a:r>
              <a:rPr lang="en-US" dirty="0">
                <a:latin typeface="JetBrains Mono" panose="02000009000000000000" pitchFamily="49" charset="0"/>
              </a:rPr>
              <a:t>String </a:t>
            </a:r>
            <a:r>
              <a:rPr lang="en-US" dirty="0" err="1">
                <a:solidFill>
                  <a:srgbClr val="080808"/>
                </a:solidFill>
                <a:latin typeface="JetBrains Mono" panose="02000009000000000000" pitchFamily="49" charset="0"/>
              </a:rPr>
              <a:t>muack</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err="1">
                <a:solidFill>
                  <a:srgbClr val="0033B3"/>
                </a:solidFill>
                <a:latin typeface="JetBrains Mono" panose="02000009000000000000" pitchFamily="49" charset="0"/>
              </a:rPr>
              <a:t>this</a:t>
            </a:r>
            <a:r>
              <a:rPr lang="en-US" dirty="0" err="1">
                <a:solidFill>
                  <a:srgbClr val="080808"/>
                </a:solidFill>
                <a:latin typeface="JetBrains Mono" panose="02000009000000000000" pitchFamily="49" charset="0"/>
              </a:rPr>
              <a:t>.</a:t>
            </a:r>
            <a:r>
              <a:rPr lang="en-US" dirty="0" err="1">
                <a:solidFill>
                  <a:srgbClr val="871094"/>
                </a:solidFill>
                <a:latin typeface="JetBrains Mono" panose="02000009000000000000" pitchFamily="49" charset="0"/>
              </a:rPr>
              <a:t>muack</a:t>
            </a:r>
            <a:r>
              <a:rPr lang="en-US" dirty="0">
                <a:solidFill>
                  <a:srgbClr val="871094"/>
                </a:solidFill>
                <a:latin typeface="JetBrains Mono" panose="02000009000000000000" pitchFamily="49" charset="0"/>
              </a:rPr>
              <a:t> </a:t>
            </a:r>
            <a:r>
              <a:rPr lang="en-US" dirty="0">
                <a:solidFill>
                  <a:srgbClr val="080808"/>
                </a:solidFill>
                <a:latin typeface="JetBrains Mono" panose="02000009000000000000" pitchFamily="49" charset="0"/>
              </a:rPr>
              <a:t>= </a:t>
            </a:r>
            <a:r>
              <a:rPr lang="en-US" dirty="0" err="1">
                <a:solidFill>
                  <a:srgbClr val="080808"/>
                </a:solidFill>
                <a:latin typeface="JetBrains Mono" panose="02000009000000000000" pitchFamily="49" charset="0"/>
              </a:rPr>
              <a:t>muack</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a:t>
            </a:r>
            <a:r>
              <a:rPr lang="en-US" dirty="0">
                <a:latin typeface="JetBrains Mono" panose="02000009000000000000" pitchFamily="49" charset="0"/>
              </a:rPr>
              <a:t>String </a:t>
            </a:r>
            <a:r>
              <a:rPr lang="en-US" dirty="0" err="1">
                <a:solidFill>
                  <a:srgbClr val="00627A"/>
                </a:solidFill>
                <a:latin typeface="JetBrains Mono" panose="02000009000000000000" pitchFamily="49" charset="0"/>
              </a:rPr>
              <a:t>getBantienmat</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return </a:t>
            </a:r>
            <a:r>
              <a:rPr lang="en-US" dirty="0" err="1">
                <a:solidFill>
                  <a:srgbClr val="871094"/>
                </a:solidFill>
                <a:latin typeface="JetBrains Mono" panose="02000009000000000000" pitchFamily="49" charset="0"/>
              </a:rPr>
              <a:t>bantienmat</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void </a:t>
            </a:r>
            <a:r>
              <a:rPr lang="en-US" dirty="0" err="1">
                <a:solidFill>
                  <a:srgbClr val="00627A"/>
                </a:solidFill>
                <a:latin typeface="JetBrains Mono" panose="02000009000000000000" pitchFamily="49" charset="0"/>
              </a:rPr>
              <a:t>setBantienmat</a:t>
            </a:r>
            <a:r>
              <a:rPr lang="en-US" dirty="0">
                <a:solidFill>
                  <a:srgbClr val="080808"/>
                </a:solidFill>
                <a:latin typeface="JetBrains Mono" panose="02000009000000000000" pitchFamily="49" charset="0"/>
              </a:rPr>
              <a:t>(</a:t>
            </a:r>
            <a:r>
              <a:rPr lang="en-US" dirty="0">
                <a:latin typeface="JetBrains Mono" panose="02000009000000000000" pitchFamily="49" charset="0"/>
              </a:rPr>
              <a:t>String </a:t>
            </a:r>
            <a:r>
              <a:rPr lang="en-US" dirty="0" err="1">
                <a:solidFill>
                  <a:srgbClr val="080808"/>
                </a:solidFill>
                <a:latin typeface="JetBrains Mono" panose="02000009000000000000" pitchFamily="49" charset="0"/>
              </a:rPr>
              <a:t>bantienmat</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err="1">
                <a:solidFill>
                  <a:srgbClr val="0033B3"/>
                </a:solidFill>
                <a:latin typeface="JetBrains Mono" panose="02000009000000000000" pitchFamily="49" charset="0"/>
              </a:rPr>
              <a:t>this</a:t>
            </a:r>
            <a:r>
              <a:rPr lang="en-US" dirty="0" err="1">
                <a:solidFill>
                  <a:srgbClr val="080808"/>
                </a:solidFill>
                <a:latin typeface="JetBrains Mono" panose="02000009000000000000" pitchFamily="49" charset="0"/>
              </a:rPr>
              <a:t>.</a:t>
            </a:r>
            <a:r>
              <a:rPr lang="en-US" dirty="0" err="1">
                <a:solidFill>
                  <a:srgbClr val="871094"/>
                </a:solidFill>
                <a:latin typeface="JetBrains Mono" panose="02000009000000000000" pitchFamily="49" charset="0"/>
              </a:rPr>
              <a:t>bantienmat</a:t>
            </a:r>
            <a:r>
              <a:rPr lang="en-US" dirty="0">
                <a:solidFill>
                  <a:srgbClr val="871094"/>
                </a:solidFill>
                <a:latin typeface="JetBrains Mono" panose="02000009000000000000" pitchFamily="49" charset="0"/>
              </a:rPr>
              <a:t> </a:t>
            </a:r>
            <a:r>
              <a:rPr lang="en-US" dirty="0">
                <a:solidFill>
                  <a:srgbClr val="080808"/>
                </a:solidFill>
                <a:latin typeface="JetBrains Mono" panose="02000009000000000000" pitchFamily="49" charset="0"/>
              </a:rPr>
              <a:t>= </a:t>
            </a:r>
            <a:r>
              <a:rPr lang="en-US" dirty="0" err="1">
                <a:solidFill>
                  <a:srgbClr val="080808"/>
                </a:solidFill>
                <a:latin typeface="JetBrains Mono" panose="02000009000000000000" pitchFamily="49" charset="0"/>
              </a:rPr>
              <a:t>bantienmat</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a:t>
            </a:r>
            <a:r>
              <a:rPr lang="en-US" dirty="0">
                <a:latin typeface="JetBrains Mono" panose="02000009000000000000" pitchFamily="49" charset="0"/>
              </a:rPr>
              <a:t>String </a:t>
            </a:r>
            <a:r>
              <a:rPr lang="en-US" dirty="0" err="1">
                <a:solidFill>
                  <a:srgbClr val="00627A"/>
                </a:solidFill>
                <a:latin typeface="JetBrains Mono" panose="02000009000000000000" pitchFamily="49" charset="0"/>
              </a:rPr>
              <a:t>getBanck</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return </a:t>
            </a:r>
            <a:r>
              <a:rPr lang="en-US" dirty="0" err="1">
                <a:solidFill>
                  <a:srgbClr val="871094"/>
                </a:solidFill>
                <a:latin typeface="JetBrains Mono" panose="02000009000000000000" pitchFamily="49" charset="0"/>
              </a:rPr>
              <a:t>banck</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smtClean="0">
                <a:solidFill>
                  <a:srgbClr val="080808"/>
                </a:solidFill>
                <a:latin typeface="JetBrains Mono" panose="02000009000000000000" pitchFamily="49" charset="0"/>
              </a:rPr>
              <a:t>}</a:t>
            </a:r>
            <a:r>
              <a:rPr lang="en-US" dirty="0">
                <a:solidFill>
                  <a:srgbClr val="080808"/>
                </a:solidFill>
                <a:latin typeface="JetBrains Mono" panose="02000009000000000000" pitchFamily="49" charset="0"/>
              </a:rPr>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a:solidFill>
                  <a:srgbClr val="0033B3"/>
                </a:solidFill>
                <a:latin typeface="JetBrains Mono" panose="02000009000000000000" pitchFamily="49" charset="0"/>
              </a:rPr>
              <a:t>public void </a:t>
            </a:r>
            <a:r>
              <a:rPr lang="en-US" dirty="0" err="1">
                <a:solidFill>
                  <a:srgbClr val="00627A"/>
                </a:solidFill>
                <a:latin typeface="JetBrains Mono" panose="02000009000000000000" pitchFamily="49" charset="0"/>
              </a:rPr>
              <a:t>setBanck</a:t>
            </a:r>
            <a:r>
              <a:rPr lang="en-US" dirty="0">
                <a:solidFill>
                  <a:srgbClr val="080808"/>
                </a:solidFill>
                <a:latin typeface="JetBrains Mono" panose="02000009000000000000" pitchFamily="49" charset="0"/>
              </a:rPr>
              <a:t>(</a:t>
            </a:r>
            <a:r>
              <a:rPr lang="en-US" dirty="0">
                <a:latin typeface="JetBrains Mono" panose="02000009000000000000" pitchFamily="49" charset="0"/>
              </a:rPr>
              <a:t>String </a:t>
            </a:r>
            <a:r>
              <a:rPr lang="en-US" dirty="0" err="1">
                <a:solidFill>
                  <a:srgbClr val="080808"/>
                </a:solidFill>
                <a:latin typeface="JetBrains Mono" panose="02000009000000000000" pitchFamily="49" charset="0"/>
              </a:rPr>
              <a:t>banck</a:t>
            </a: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r>
              <a:rPr lang="en-US" dirty="0" err="1">
                <a:solidFill>
                  <a:srgbClr val="0033B3"/>
                </a:solidFill>
                <a:latin typeface="JetBrains Mono" panose="02000009000000000000" pitchFamily="49" charset="0"/>
              </a:rPr>
              <a:t>this</a:t>
            </a:r>
            <a:r>
              <a:rPr lang="en-US" dirty="0" err="1">
                <a:solidFill>
                  <a:srgbClr val="080808"/>
                </a:solidFill>
                <a:latin typeface="JetBrains Mono" panose="02000009000000000000" pitchFamily="49" charset="0"/>
              </a:rPr>
              <a:t>.</a:t>
            </a:r>
            <a:r>
              <a:rPr lang="en-US" dirty="0" err="1">
                <a:solidFill>
                  <a:srgbClr val="871094"/>
                </a:solidFill>
                <a:latin typeface="JetBrains Mono" panose="02000009000000000000" pitchFamily="49" charset="0"/>
              </a:rPr>
              <a:t>banck</a:t>
            </a:r>
            <a:r>
              <a:rPr lang="en-US" dirty="0">
                <a:solidFill>
                  <a:srgbClr val="871094"/>
                </a:solidFill>
                <a:latin typeface="JetBrains Mono" panose="02000009000000000000" pitchFamily="49" charset="0"/>
              </a:rPr>
              <a:t> </a:t>
            </a:r>
            <a:r>
              <a:rPr lang="en-US" dirty="0">
                <a:solidFill>
                  <a:srgbClr val="080808"/>
                </a:solidFill>
                <a:latin typeface="JetBrains Mono" panose="02000009000000000000" pitchFamily="49" charset="0"/>
              </a:rPr>
              <a:t>= </a:t>
            </a:r>
            <a:r>
              <a:rPr lang="en-US" dirty="0" err="1">
                <a:solidFill>
                  <a:srgbClr val="080808"/>
                </a:solidFill>
                <a:latin typeface="JetBrains Mono" panose="02000009000000000000" pitchFamily="49" charset="0"/>
              </a:rPr>
              <a:t>banck</a:t>
            </a:r>
            <a:r>
              <a:rPr lang="en-US" dirty="0">
                <a:solidFill>
                  <a:srgbClr val="080808"/>
                </a:solidFill>
                <a:latin typeface="JetBrains Mono" panose="02000009000000000000" pitchFamily="49" charset="0"/>
              </a:rPr>
              <a:t>;</a:t>
            </a:r>
            <a:br>
              <a:rPr lang="en-US" dirty="0">
                <a:solidFill>
                  <a:srgbClr val="080808"/>
                </a:solidFill>
                <a:latin typeface="JetBrains Mono" panose="02000009000000000000" pitchFamily="49" charset="0"/>
              </a:rPr>
            </a:br>
            <a:r>
              <a:rPr lang="en-US" dirty="0">
                <a:solidFill>
                  <a:srgbClr val="080808"/>
                </a:solidFill>
                <a:latin typeface="JetBrains Mono" panose="02000009000000000000" pitchFamily="49" charset="0"/>
              </a:rPr>
              <a:t>    }</a:t>
            </a:r>
            <a:br>
              <a:rPr lang="en-US" dirty="0">
                <a:solidFill>
                  <a:srgbClr val="080808"/>
                </a:solidFill>
                <a:latin typeface="JetBrains Mono" panose="02000009000000000000" pitchFamily="49" charset="0"/>
              </a:rPr>
            </a:br>
            <a:r>
              <a:rPr lang="en-US" dirty="0" smtClean="0">
                <a:solidFill>
                  <a:srgbClr val="080808"/>
                </a:solidFill>
                <a:latin typeface="JetBrains Mono" panose="02000009000000000000" pitchFamily="49" charset="0"/>
              </a:rPr>
              <a:t>}</a:t>
            </a:r>
            <a:endParaRPr lang="en-US" dirty="0">
              <a:solidFill>
                <a:srgbClr val="080808"/>
              </a:solidFill>
              <a:latin typeface="JetBrains Mono" panose="02000009000000000000" pitchFamily="49" charset="0"/>
            </a:endParaRPr>
          </a:p>
        </p:txBody>
      </p:sp>
    </p:spTree>
    <p:extLst>
      <p:ext uri="{BB962C8B-B14F-4D97-AF65-F5344CB8AC3E}">
        <p14:creationId xmlns:p14="http://schemas.microsoft.com/office/powerpoint/2010/main" val="31473868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1003111" y="960000"/>
            <a:ext cx="10152846" cy="5302894"/>
          </a:xfrm>
          <a:prstGeom prst="rect">
            <a:avLst/>
          </a:prstGeom>
        </p:spPr>
      </p:pic>
    </p:spTree>
    <p:extLst>
      <p:ext uri="{BB962C8B-B14F-4D97-AF65-F5344CB8AC3E}">
        <p14:creationId xmlns:p14="http://schemas.microsoft.com/office/powerpoint/2010/main" val="42792164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rotWithShape="1">
          <a:blip r:embed="rId3"/>
          <a:srcRect b="19524"/>
          <a:stretch/>
        </p:blipFill>
        <p:spPr>
          <a:xfrm>
            <a:off x="1153235" y="956957"/>
            <a:ext cx="8758767" cy="5205265"/>
          </a:xfrm>
          <a:prstGeom prst="rect">
            <a:avLst/>
          </a:prstGeom>
        </p:spPr>
      </p:pic>
    </p:spTree>
    <p:extLst>
      <p:ext uri="{BB962C8B-B14F-4D97-AF65-F5344CB8AC3E}">
        <p14:creationId xmlns:p14="http://schemas.microsoft.com/office/powerpoint/2010/main" val="4840635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1235122" y="940948"/>
            <a:ext cx="8619751" cy="5384698"/>
          </a:xfrm>
          <a:prstGeom prst="rect">
            <a:avLst/>
          </a:prstGeom>
        </p:spPr>
      </p:pic>
    </p:spTree>
    <p:extLst>
      <p:ext uri="{BB962C8B-B14F-4D97-AF65-F5344CB8AC3E}">
        <p14:creationId xmlns:p14="http://schemas.microsoft.com/office/powerpoint/2010/main" val="29979960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831273" y="872281"/>
            <a:ext cx="8375072" cy="5483678"/>
          </a:xfrm>
          <a:prstGeom prst="rect">
            <a:avLst/>
          </a:prstGeom>
        </p:spPr>
      </p:pic>
    </p:spTree>
    <p:extLst>
      <p:ext uri="{BB962C8B-B14F-4D97-AF65-F5344CB8AC3E}">
        <p14:creationId xmlns:p14="http://schemas.microsoft.com/office/powerpoint/2010/main" val="24001302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782780" y="942834"/>
            <a:ext cx="8726158" cy="5056185"/>
          </a:xfrm>
          <a:prstGeom prst="rect">
            <a:avLst/>
          </a:prstGeom>
        </p:spPr>
      </p:pic>
    </p:spTree>
    <p:extLst>
      <p:ext uri="{BB962C8B-B14F-4D97-AF65-F5344CB8AC3E}">
        <p14:creationId xmlns:p14="http://schemas.microsoft.com/office/powerpoint/2010/main" val="21593547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644236" y="839220"/>
            <a:ext cx="10280797" cy="5472610"/>
          </a:xfrm>
          <a:prstGeom prst="rect">
            <a:avLst/>
          </a:prstGeom>
        </p:spPr>
      </p:pic>
    </p:spTree>
    <p:extLst>
      <p:ext uri="{BB962C8B-B14F-4D97-AF65-F5344CB8AC3E}">
        <p14:creationId xmlns:p14="http://schemas.microsoft.com/office/powerpoint/2010/main" val="12728107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880281" y="860421"/>
            <a:ext cx="7914015" cy="5568942"/>
          </a:xfrm>
          <a:prstGeom prst="rect">
            <a:avLst/>
          </a:prstGeom>
        </p:spPr>
      </p:pic>
    </p:spTree>
    <p:extLst>
      <p:ext uri="{BB962C8B-B14F-4D97-AF65-F5344CB8AC3E}">
        <p14:creationId xmlns:p14="http://schemas.microsoft.com/office/powerpoint/2010/main" val="12503296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11" name="Group 10">
            <a:extLst>
              <a:ext uri="{FF2B5EF4-FFF2-40B4-BE49-F238E27FC236}">
                <a16:creationId xmlns:a16="http://schemas.microsoft.com/office/drawing/2014/main" id="{064DE7AC-7E06-0676-5ECD-FC6C1493BAE0}"/>
              </a:ext>
            </a:extLst>
          </p:cNvPr>
          <p:cNvGrpSpPr/>
          <p:nvPr/>
        </p:nvGrpSpPr>
        <p:grpSpPr>
          <a:xfrm>
            <a:off x="199697" y="285531"/>
            <a:ext cx="6350000" cy="508000"/>
            <a:chOff x="789624" y="1191463"/>
            <a:chExt cx="6350000" cy="508000"/>
          </a:xfrm>
        </p:grpSpPr>
        <p:sp>
          <p:nvSpPr>
            <p:cNvPr id="12"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marL="109538">
                <a:lnSpc>
                  <a:spcPct val="110000"/>
                </a:lnSpc>
                <a:spcBef>
                  <a:spcPts val="600"/>
                </a:spcBef>
                <a:spcAft>
                  <a:spcPts val="600"/>
                </a:spcAft>
                <a:buClr>
                  <a:schemeClr val="tx1">
                    <a:lumMod val="85000"/>
                    <a:lumOff val="15000"/>
                  </a:schemeClr>
                </a:buClr>
              </a:pPr>
              <a:r>
                <a:rPr lang="en-US" sz="2800" b="1" dirty="0" smtClean="0">
                  <a:latin typeface="Times New Roman" panose="02020603050405020304" pitchFamily="18" charset="0"/>
                  <a:cs typeface="Times New Roman" panose="02020603050405020304" pitchFamily="18" charset="0"/>
                </a:rPr>
                <a:t>3. Integrating with </a:t>
              </a:r>
              <a:r>
                <a:rPr lang="en-US" sz="2800" b="1" dirty="0" err="1" smtClean="0">
                  <a:latin typeface="Times New Roman" panose="02020603050405020304" pitchFamily="18" charset="0"/>
                  <a:cs typeface="Times New Roman" panose="02020603050405020304" pitchFamily="18" charset="0"/>
                </a:rPr>
                <a:t>DongA</a:t>
              </a:r>
              <a:r>
                <a:rPr lang="en-US" sz="2800" b="1" dirty="0" smtClean="0">
                  <a:latin typeface="Times New Roman" panose="02020603050405020304" pitchFamily="18" charset="0"/>
                  <a:cs typeface="Times New Roman" panose="02020603050405020304" pitchFamily="18" charset="0"/>
                </a:rPr>
                <a:t> Bank</a:t>
              </a:r>
              <a:endParaRPr lang="en-US" sz="2800" b="1" dirty="0">
                <a:latin typeface="Times New Roman" panose="02020603050405020304" pitchFamily="18" charset="0"/>
                <a:cs typeface="Times New Roman" panose="02020603050405020304" pitchFamily="18" charset="0"/>
              </a:endParaRPr>
            </a:p>
          </p:txBody>
        </p:sp>
        <p:grpSp>
          <p:nvGrpSpPr>
            <p:cNvPr id="13"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14"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5"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6"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2" name="Picture 1"/>
          <p:cNvPicPr>
            <a:picLocks noChangeAspect="1"/>
          </p:cNvPicPr>
          <p:nvPr/>
        </p:nvPicPr>
        <p:blipFill>
          <a:blip r:embed="rId3"/>
          <a:stretch>
            <a:fillRect/>
          </a:stretch>
        </p:blipFill>
        <p:spPr>
          <a:xfrm>
            <a:off x="4699226" y="878595"/>
            <a:ext cx="3121717" cy="5812176"/>
          </a:xfrm>
          <a:prstGeom prst="rect">
            <a:avLst/>
          </a:prstGeom>
        </p:spPr>
      </p:pic>
    </p:spTree>
    <p:extLst>
      <p:ext uri="{BB962C8B-B14F-4D97-AF65-F5344CB8AC3E}">
        <p14:creationId xmlns:p14="http://schemas.microsoft.com/office/powerpoint/2010/main" val="29317001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52400" y="482600"/>
            <a:ext cx="6350000" cy="508000"/>
            <a:chOff x="789624" y="1191463"/>
            <a:chExt cx="6350000"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14902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smtClean="0">
                  <a:latin typeface="Cambria" panose="02040503050406030204" pitchFamily="18" charset="0"/>
                </a:rPr>
                <a:t>Discussions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en-US" sz="2800" dirty="0">
                <a:latin typeface="Cambria" panose="02040503050406030204" pitchFamily="18" charset="0"/>
              </a:rPr>
              <a:t>Q1: </a:t>
            </a:r>
            <a:r>
              <a:rPr lang="en-US" sz="2800" dirty="0" smtClean="0">
                <a:latin typeface="Cambria" panose="02040503050406030204" pitchFamily="18" charset="0"/>
              </a:rPr>
              <a:t>What are advantages of </a:t>
            </a:r>
            <a:r>
              <a:rPr lang="en-US" sz="2800" dirty="0" smtClean="0">
                <a:latin typeface="Cambria" panose="02040503050406030204" pitchFamily="18" charset="0"/>
              </a:rPr>
              <a:t>Web Services?</a:t>
            </a:r>
            <a:endParaRPr lang="en-US" sz="2800" dirty="0">
              <a:latin typeface="Cambria" panose="02040503050406030204" pitchFamily="18" charset="0"/>
            </a:endParaRPr>
          </a:p>
          <a:p>
            <a:pPr algn="just">
              <a:buFont typeface="Wingdings" panose="05000000000000000000" pitchFamily="2" charset="2"/>
              <a:buChar char="ü"/>
            </a:pPr>
            <a:r>
              <a:rPr lang="en-US" sz="2800" dirty="0">
                <a:latin typeface="Cambria" panose="02040503050406030204" pitchFamily="18" charset="0"/>
              </a:rPr>
              <a:t>Q2: </a:t>
            </a:r>
            <a:r>
              <a:rPr lang="en-US" sz="2800" dirty="0" smtClean="0">
                <a:latin typeface="Cambria" panose="02040503050406030204" pitchFamily="18" charset="0"/>
              </a:rPr>
              <a:t>What is RESTful API?</a:t>
            </a:r>
            <a:endParaRPr lang="en-US" sz="2800" dirty="0">
              <a:latin typeface="Cambria" panose="02040503050406030204" pitchFamily="18" charset="0"/>
            </a:endParaRPr>
          </a:p>
          <a:p>
            <a:pPr algn="just">
              <a:buFont typeface="Wingdings" panose="05000000000000000000" pitchFamily="2" charset="2"/>
              <a:buChar char="ü"/>
            </a:pPr>
            <a:r>
              <a:rPr lang="en-US" sz="2800" dirty="0" smtClean="0">
                <a:latin typeface="Cambria" panose="02040503050406030204" pitchFamily="18" charset="0"/>
              </a:rPr>
              <a:t>Q3: </a:t>
            </a:r>
            <a:r>
              <a:rPr lang="en-US" sz="2800" dirty="0" smtClean="0">
                <a:latin typeface="Cambria" panose="02040503050406030204" pitchFamily="18" charset="0"/>
              </a:rPr>
              <a:t>How to call a Web Service?</a:t>
            </a:r>
            <a:endParaRPr lang="en-US" sz="2800" dirty="0" smtClean="0">
              <a:latin typeface="Cambria" panose="02040503050406030204" pitchFamily="18" charset="0"/>
            </a:endParaRPr>
          </a:p>
          <a:p>
            <a:pPr algn="just">
              <a:buFont typeface="Wingdings" panose="05000000000000000000" pitchFamily="2" charset="2"/>
              <a:buChar char="ü"/>
            </a:pPr>
            <a:r>
              <a:rPr lang="en-US" sz="2800" dirty="0" smtClean="0">
                <a:latin typeface="Cambria" panose="02040503050406030204" pitchFamily="18" charset="0"/>
              </a:rPr>
              <a:t>Q4: </a:t>
            </a:r>
            <a:r>
              <a:rPr lang="en-US" sz="2800" dirty="0" smtClean="0">
                <a:latin typeface="Cambria" panose="02040503050406030204" pitchFamily="18" charset="0"/>
              </a:rPr>
              <a:t>What are settings in Android Manifest for Web service connection?</a:t>
            </a:r>
            <a:endParaRPr lang="en-US" sz="2800" dirty="0" smtClean="0">
              <a:latin typeface="Cambria" panose="02040503050406030204" pitchFamily="18" charset="0"/>
            </a:endParaRPr>
          </a:p>
          <a:p>
            <a:pPr algn="just">
              <a:buFont typeface="Wingdings" panose="05000000000000000000" pitchFamily="2" charset="2"/>
              <a:buChar char="ü"/>
            </a:pPr>
            <a:r>
              <a:rPr lang="en-US" sz="2800" dirty="0" smtClean="0">
                <a:latin typeface="Cambria" panose="02040503050406030204" pitchFamily="18" charset="0"/>
              </a:rPr>
              <a:t>Q5: </a:t>
            </a:r>
            <a:r>
              <a:rPr lang="en-US" sz="2800" dirty="0" smtClean="0">
                <a:latin typeface="Cambria" panose="02040503050406030204" pitchFamily="18" charset="0"/>
              </a:rPr>
              <a:t>How to use Multi-Threading for accessing </a:t>
            </a:r>
            <a:r>
              <a:rPr lang="en-US" sz="2800" smtClean="0">
                <a:latin typeface="Cambria" panose="02040503050406030204" pitchFamily="18" charset="0"/>
              </a:rPr>
              <a:t>Web Service?</a:t>
            </a:r>
            <a:endParaRPr lang="en-US" sz="2800" dirty="0">
              <a:latin typeface="Cambria" panose="02040503050406030204" pitchFamily="18" charset="0"/>
            </a:endParaRPr>
          </a:p>
        </p:txBody>
      </p:sp>
    </p:spTree>
    <p:extLst>
      <p:ext uri="{BB962C8B-B14F-4D97-AF65-F5344CB8AC3E}">
        <p14:creationId xmlns:p14="http://schemas.microsoft.com/office/powerpoint/2010/main" val="16820623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lvl="0"/>
            <a:r>
              <a:rPr lang="en-US"/>
              <a:t>Faculty of Information Systems</a:t>
            </a: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83931" y="30539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smtClean="0">
                  <a:latin typeface="Cambria" panose="02040503050406030204" pitchFamily="18" charset="0"/>
                </a:rPr>
                <a:t>Next Lesson</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Content Placeholder 2">
            <a:extLst>
              <a:ext uri="{FF2B5EF4-FFF2-40B4-BE49-F238E27FC236}">
                <a16:creationId xmlns:a16="http://schemas.microsoft.com/office/drawing/2014/main" id="{8E6E6F45-0E21-2332-E20D-00463EF17E7E}"/>
              </a:ext>
            </a:extLst>
          </p:cNvPr>
          <p:cNvSpPr txBox="1">
            <a:spLocks/>
          </p:cNvSpPr>
          <p:nvPr/>
        </p:nvSpPr>
        <p:spPr>
          <a:xfrm>
            <a:off x="457200" y="1026709"/>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23888" indent="-514350">
              <a:lnSpc>
                <a:spcPct val="110000"/>
              </a:lnSpc>
              <a:spcBef>
                <a:spcPts val="600"/>
              </a:spcBef>
              <a:spcAft>
                <a:spcPts val="600"/>
              </a:spcAft>
              <a:buClr>
                <a:prstClr val="black">
                  <a:lumMod val="85000"/>
                  <a:lumOff val="15000"/>
                </a:prstClr>
              </a:buClr>
              <a:buFont typeface="Wingdings" charset="2"/>
              <a:buChar char="§"/>
            </a:pPr>
            <a:r>
              <a:rPr lang="en-US" sz="2800" i="1" smtClean="0">
                <a:solidFill>
                  <a:prstClr val="black"/>
                </a:solidFill>
                <a:latin typeface="Georgia"/>
              </a:rPr>
              <a:t>Google </a:t>
            </a:r>
            <a:r>
              <a:rPr lang="en-US" sz="2800" i="1" dirty="0" smtClean="0">
                <a:solidFill>
                  <a:prstClr val="black"/>
                </a:solidFill>
                <a:latin typeface="Georgia"/>
              </a:rPr>
              <a:t>Services</a:t>
            </a:r>
            <a:endParaRPr lang="en-US" sz="2800" i="1" dirty="0">
              <a:solidFill>
                <a:prstClr val="black"/>
              </a:solidFill>
              <a:latin typeface="Georgia"/>
            </a:endParaRPr>
          </a:p>
        </p:txBody>
      </p:sp>
    </p:spTree>
    <p:extLst>
      <p:ext uri="{BB962C8B-B14F-4D97-AF65-F5344CB8AC3E}">
        <p14:creationId xmlns:p14="http://schemas.microsoft.com/office/powerpoint/2010/main" val="21319595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a:t>THANK YOU!</a:t>
            </a:r>
            <a:endParaRPr/>
          </a:p>
        </p:txBody>
      </p:sp>
    </p:spTree>
    <p:extLst>
      <p:ext uri="{BB962C8B-B14F-4D97-AF65-F5344CB8AC3E}">
        <p14:creationId xmlns:p14="http://schemas.microsoft.com/office/powerpoint/2010/main" val="9389686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1462</TotalTime>
  <Words>609</Words>
  <Application>Microsoft Office PowerPoint</Application>
  <PresentationFormat>Widescreen</PresentationFormat>
  <Paragraphs>147</Paragraphs>
  <Slides>32</Slides>
  <Notes>32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32</vt:i4>
      </vt:variant>
    </vt:vector>
  </HeadingPairs>
  <TitlesOfParts>
    <vt:vector size="44" baseType="lpstr">
      <vt:lpstr>Cambria</vt:lpstr>
      <vt:lpstr>Calibri</vt:lpstr>
      <vt:lpstr>Wingdings</vt:lpstr>
      <vt:lpstr>Georgia</vt:lpstr>
      <vt:lpstr>Lato Black</vt:lpstr>
      <vt:lpstr>Lato</vt:lpstr>
      <vt:lpstr>Times</vt:lpstr>
      <vt:lpstr>Times New Roman</vt:lpstr>
      <vt:lpstr>Arial</vt:lpstr>
      <vt:lpstr>JetBrains Mono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thanhtd</cp:lastModifiedBy>
  <cp:revision>596</cp:revision>
  <dcterms:created xsi:type="dcterms:W3CDTF">2022-12-02T04:21:00Z</dcterms:created>
  <dcterms:modified xsi:type="dcterms:W3CDTF">2024-02-18T12:29:02Z</dcterms:modified>
</cp:coreProperties>
</file>