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63"/>
  </p:notesMasterIdLst>
  <p:sldIdLst>
    <p:sldId id="256" r:id="rId3"/>
    <p:sldId id="267" r:id="rId4"/>
    <p:sldId id="281" r:id="rId5"/>
    <p:sldId id="309" r:id="rId6"/>
    <p:sldId id="316" r:id="rId7"/>
    <p:sldId id="317" r:id="rId8"/>
    <p:sldId id="318" r:id="rId9"/>
    <p:sldId id="319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9" r:id="rId18"/>
    <p:sldId id="328" r:id="rId19"/>
    <p:sldId id="330" r:id="rId20"/>
    <p:sldId id="310" r:id="rId21"/>
    <p:sldId id="331" r:id="rId22"/>
    <p:sldId id="332" r:id="rId23"/>
    <p:sldId id="311" r:id="rId24"/>
    <p:sldId id="333" r:id="rId25"/>
    <p:sldId id="334" r:id="rId26"/>
    <p:sldId id="335" r:id="rId27"/>
    <p:sldId id="312" r:id="rId28"/>
    <p:sldId id="336" r:id="rId29"/>
    <p:sldId id="337" r:id="rId30"/>
    <p:sldId id="313" r:id="rId31"/>
    <p:sldId id="339" r:id="rId32"/>
    <p:sldId id="338" r:id="rId33"/>
    <p:sldId id="314" r:id="rId34"/>
    <p:sldId id="340" r:id="rId35"/>
    <p:sldId id="341" r:id="rId36"/>
    <p:sldId id="315" r:id="rId37"/>
    <p:sldId id="342" r:id="rId38"/>
    <p:sldId id="343" r:id="rId39"/>
    <p:sldId id="344" r:id="rId40"/>
    <p:sldId id="345" r:id="rId41"/>
    <p:sldId id="346" r:id="rId42"/>
    <p:sldId id="353" r:id="rId43"/>
    <p:sldId id="352" r:id="rId44"/>
    <p:sldId id="350" r:id="rId45"/>
    <p:sldId id="351" r:id="rId46"/>
    <p:sldId id="354" r:id="rId47"/>
    <p:sldId id="355" r:id="rId48"/>
    <p:sldId id="356" r:id="rId49"/>
    <p:sldId id="357" r:id="rId50"/>
    <p:sldId id="347" r:id="rId51"/>
    <p:sldId id="358" r:id="rId52"/>
    <p:sldId id="359" r:id="rId53"/>
    <p:sldId id="360" r:id="rId54"/>
    <p:sldId id="361" r:id="rId55"/>
    <p:sldId id="362" r:id="rId56"/>
    <p:sldId id="348" r:id="rId57"/>
    <p:sldId id="363" r:id="rId58"/>
    <p:sldId id="364" r:id="rId59"/>
    <p:sldId id="275" r:id="rId60"/>
    <p:sldId id="308" r:id="rId61"/>
    <p:sldId id="269" r:id="rId62"/>
  </p:sldIdLst>
  <p:sldSz cx="12192000" cy="6858000"/>
  <p:notesSz cx="6858000" cy="9144000"/>
  <p:embeddedFontLst>
    <p:embeddedFont>
      <p:font typeface="Georgia" panose="02040502050405020303" pitchFamily="18" charset="0"/>
      <p:regular r:id="rId64"/>
      <p:bold r:id="rId65"/>
      <p:italic r:id="rId66"/>
      <p:boldItalic r:id="rId67"/>
    </p:embeddedFont>
    <p:embeddedFont>
      <p:font typeface="Lato" panose="020B0604020202020204" charset="0"/>
      <p:regular r:id="rId68"/>
      <p:bold r:id="rId69"/>
      <p:italic r:id="rId70"/>
      <p:boldItalic r:id="rId71"/>
    </p:embeddedFont>
    <p:embeddedFont>
      <p:font typeface="Lato Black" panose="020B0604020202020204" charset="0"/>
      <p:bold r:id="rId72"/>
      <p:boldItalic r:id="rId73"/>
    </p:embeddedFont>
    <p:embeddedFont>
      <p:font typeface="JetBrains Mono" panose="02000009000000000000" pitchFamily="49" charset="0"/>
      <p:regular r:id="rId74"/>
      <p:bold r:id="rId75"/>
      <p:italic r:id="rId76"/>
      <p:boldItalic r:id="rId77"/>
    </p:embeddedFont>
    <p:embeddedFont>
      <p:font typeface="Cambria" panose="02040503050406030204" pitchFamily="18" charset="0"/>
      <p:regular r:id="rId78"/>
      <p:bold r:id="rId79"/>
      <p:italic r:id="rId80"/>
      <p:boldItalic r:id="rId81"/>
    </p:embeddedFont>
    <p:embeddedFont>
      <p:font typeface="Calibri" panose="020F0502020204030204" pitchFamily="34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11" autoAdjust="0"/>
    <p:restoredTop sz="85825" autoAdjust="0"/>
  </p:normalViewPr>
  <p:slideViewPr>
    <p:cSldViewPr snapToGrid="0">
      <p:cViewPr varScale="1">
        <p:scale>
          <a:sx n="108" d="100"/>
          <a:sy n="108" d="100"/>
        </p:scale>
        <p:origin x="45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84" Type="http://schemas.openxmlformats.org/officeDocument/2006/relationships/font" Target="fonts/font21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1.fntdata"/><Relationship Id="rId79" Type="http://schemas.openxmlformats.org/officeDocument/2006/relationships/font" Target="fonts/font16.fntdata"/><Relationship Id="rId5" Type="http://schemas.openxmlformats.org/officeDocument/2006/relationships/slide" Target="slides/slide3.xml"/><Relationship Id="rId95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font" Target="fonts/font14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9.fntdata"/><Relationship Id="rId80" Type="http://schemas.openxmlformats.org/officeDocument/2006/relationships/font" Target="fonts/font17.fntdata"/><Relationship Id="rId85" Type="http://schemas.openxmlformats.org/officeDocument/2006/relationships/font" Target="fonts/font22.fntdata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83" Type="http://schemas.openxmlformats.org/officeDocument/2006/relationships/font" Target="fonts/font20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font" Target="fonts/font15.fntdata"/><Relationship Id="rId81" Type="http://schemas.openxmlformats.org/officeDocument/2006/relationships/font" Target="fonts/font18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3.fntdata"/><Relationship Id="rId7" Type="http://schemas.openxmlformats.org/officeDocument/2006/relationships/slide" Target="slides/slide5.xml"/><Relationship Id="rId71" Type="http://schemas.openxmlformats.org/officeDocument/2006/relationships/font" Target="fonts/font8.fntdata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3.fntdata"/><Relationship Id="rId61" Type="http://schemas.openxmlformats.org/officeDocument/2006/relationships/slide" Target="slides/slide59.xml"/><Relationship Id="rId82" Type="http://schemas.openxmlformats.org/officeDocument/2006/relationships/font" Target="fonts/font19.fntdata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028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221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596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547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602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820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009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9644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1164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5789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818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7834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1912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5194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150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8184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9305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44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80448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371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1222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4307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3121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85336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9607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29638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73471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27634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89483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2804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0280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75472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2501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99358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05357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65512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9307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3596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2640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34830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6202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7482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06480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5516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01459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7303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24678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0022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50758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79557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55889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72539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15898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2834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3483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Views in Android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Duy Thanh, </a:t>
            </a:r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  <a:p>
            <a:pPr algn="ctr"/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Quang Phuc, Msc</a:t>
            </a:r>
            <a:endParaRPr lang="en-US" sz="2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-Students can use Basic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Spinner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-Students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running mechanism Custom Adapter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-Students can present Product with Advanced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GridView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-Applied Data for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DatePicker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TimePicker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-Separate screen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Tabhost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-Do the menu (Option Menu, Context Menu, Menu Search View) as well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GridView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Spinner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AutoCompleteTextView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Picker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TabHost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i="1" dirty="0" err="1">
                <a:latin typeface="Cambria" panose="02040503050406030204" pitchFamily="18" charset="0"/>
              </a:rPr>
              <a:t>ListView</a:t>
            </a:r>
            <a:r>
              <a:rPr lang="en-US" sz="2800" b="1" i="1" dirty="0">
                <a:latin typeface="Cambria" panose="02040503050406030204" pitchFamily="18" charset="0"/>
              </a:rPr>
              <a:t> </a:t>
            </a:r>
            <a:r>
              <a:rPr lang="en-US" sz="2800" i="1" dirty="0">
                <a:latin typeface="Cambria" panose="02040503050406030204" pitchFamily="18" charset="0"/>
              </a:rPr>
              <a:t>is a </a:t>
            </a:r>
            <a:r>
              <a:rPr lang="en-US" sz="2800" i="1" dirty="0" smtClean="0">
                <a:latin typeface="Cambria" panose="02040503050406030204" pitchFamily="18" charset="0"/>
              </a:rPr>
              <a:t>View </a:t>
            </a:r>
            <a:r>
              <a:rPr lang="en-US" sz="2800" i="1" dirty="0">
                <a:latin typeface="Cambria" panose="02040503050406030204" pitchFamily="18" charset="0"/>
              </a:rPr>
              <a:t>that allows displaying data in lines.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F5D6FFE-B34C-2848-AF9A-79914CA3A1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1636535"/>
            <a:ext cx="2693621" cy="47886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64F2CB-838E-6A46-99D5-7EE1C1DB74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642" y="1619070"/>
            <a:ext cx="2676620" cy="47584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934FCF-F1D9-F745-826B-E7BAFC0D8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2735" y="1644998"/>
            <a:ext cx="2626117" cy="47584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5130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latin typeface="Cambria" panose="02040503050406030204" pitchFamily="18" charset="0"/>
              </a:rPr>
              <a:t>Steps to use </a:t>
            </a:r>
            <a:r>
              <a:rPr lang="en-US" sz="2800" b="1" i="1" dirty="0" smtClean="0">
                <a:latin typeface="Cambria" panose="02040503050406030204" pitchFamily="18" charset="0"/>
              </a:rPr>
              <a:t>basic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ListView</a:t>
            </a:r>
            <a:r>
              <a:rPr lang="en-US" sz="2800" b="1" i="1" dirty="0" smtClean="0">
                <a:latin typeface="Cambria" panose="02040503050406030204" pitchFamily="18" charset="0"/>
              </a:rPr>
              <a:t>:</a:t>
            </a:r>
          </a:p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Create a data source displayed 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regular array, object array, ...</a:t>
            </a:r>
          </a:p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Create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 user interface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Create 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ArrayAdapter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to link between the source data (array or list) and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Assign Adapter object to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291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Steps to use basic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ListView</a:t>
            </a:r>
            <a:r>
              <a:rPr lang="en-US" sz="2800" b="1" i="1" dirty="0" smtClean="0">
                <a:latin typeface="Cambria" panose="02040503050406030204" pitchFamily="18" charset="0"/>
              </a:rPr>
              <a:t>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98D78-7CA8-C94E-B7A4-EF20A48AFF3C}"/>
              </a:ext>
            </a:extLst>
          </p:cNvPr>
          <p:cNvSpPr/>
          <p:nvPr/>
        </p:nvSpPr>
        <p:spPr>
          <a:xfrm>
            <a:off x="816015" y="1480448"/>
            <a:ext cx="10538750" cy="4893647"/>
          </a:xfrm>
          <a:prstGeom prst="rect">
            <a:avLst/>
          </a:prstGeom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//Step 1. Create Data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source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[]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drinks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{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"Coca-Cola"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"Pepsi"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Olong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Tea"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"Sting"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RedBull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"Coffee"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"Milk"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"Lemon Tea"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"Milk Tea"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"C2"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"Soda"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//Step 2. </a:t>
            </a:r>
            <a:r>
              <a:rPr lang="en-US" sz="2400" kern="1200" noProof="0" dirty="0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Create </a:t>
            </a:r>
            <a:r>
              <a:rPr lang="en-US" sz="2400" kern="1200" noProof="0" dirty="0" err="1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ListView</a:t>
            </a:r>
            <a:r>
              <a:rPr lang="en-US" sz="2400" kern="1200" noProof="0" dirty="0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 instance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lvDrinks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lvDrinks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//Step 3. Create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object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&lt;String&gt;(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android.R.layout.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simple_list_item_1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drinks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//Step 4. </a:t>
            </a:r>
            <a:r>
              <a:rPr lang="en-US" sz="2400" kern="1200" dirty="0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Assign adapter to </a:t>
            </a:r>
            <a:r>
              <a:rPr lang="en-US" sz="2400" kern="1200" dirty="0" err="1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Listview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lvDrinks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5750A0E-72C2-FD44-82EF-33EE0BEC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927" y="2738715"/>
            <a:ext cx="2006318" cy="36353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5940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Steps to use basic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ListView</a:t>
            </a:r>
            <a:r>
              <a:rPr lang="en-US" sz="2800" b="1" i="1" dirty="0" smtClean="0">
                <a:latin typeface="Cambria" panose="02040503050406030204" pitchFamily="18" charset="0"/>
              </a:rPr>
              <a:t>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1010856" y="1512875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string-array </a:t>
            </a:r>
            <a:r>
              <a:rPr lang="vi-VN" sz="2000" dirty="0">
                <a:solidFill>
                  <a:srgbClr val="174AD4"/>
                </a:solidFill>
                <a:latin typeface="JetBrains Mono" panose="02000009000000000000" pitchFamily="49" charset="0"/>
              </a:rPr>
              <a:t>name</a:t>
            </a:r>
            <a:r>
              <a:rPr lang="vi-VN" sz="2000" dirty="0">
                <a:solidFill>
                  <a:srgbClr val="067D17"/>
                </a:solidFill>
                <a:latin typeface="JetBrains Mono" panose="02000009000000000000" pitchFamily="49" charset="0"/>
              </a:rPr>
              <a:t>="myFoods"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&gt;Mỳ cay&lt;/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&gt;Phở&lt;/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&gt;Bún thịt nướng&lt;/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&gt;Đậu hũ mắm tôm&lt;/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&gt;Bún măng vịt&lt;/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&gt;Lẩu bò&lt;/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&gt;Miến&lt;/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&gt;Cháo gà&lt;/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&gt;Bánh canh&lt;/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&gt;Cơm gà xối mỡ&lt;/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string-array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277E22-E646-004E-8DEC-834B4237A07B}"/>
              </a:ext>
            </a:extLst>
          </p:cNvPr>
          <p:cNvSpPr/>
          <p:nvPr/>
        </p:nvSpPr>
        <p:spPr>
          <a:xfrm>
            <a:off x="728132" y="5627421"/>
            <a:ext cx="7277100" cy="369332"/>
          </a:xfrm>
          <a:prstGeom prst="rect">
            <a:avLst/>
          </a:prstGeom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[]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foods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getResources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getStringArray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R.array.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myFoods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C9CC3C-7857-C54B-859F-BBEE20118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826" y="935453"/>
            <a:ext cx="2750399" cy="47584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2703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3492249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Data source is List Object Model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5649432" y="935453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class </a:t>
            </a:r>
            <a:r>
              <a:rPr lang="en-US" dirty="0">
                <a:latin typeface="JetBrains Mono" panose="02000009000000000000" pitchFamily="49" charset="0"/>
              </a:rPr>
              <a:t>Product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implements </a:t>
            </a:r>
            <a:r>
              <a:rPr lang="en-US" dirty="0">
                <a:latin typeface="JetBrains Mono" panose="02000009000000000000" pitchFamily="49" charset="0"/>
              </a:rPr>
              <a:t>Serializable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private 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name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private 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color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dirty="0">
                <a:solidFill>
                  <a:srgbClr val="00627A"/>
                </a:solidFill>
                <a:latin typeface="JetBrains Mono" panose="02000009000000000000" pitchFamily="49" charset="0"/>
              </a:rPr>
              <a:t>Product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() 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{    }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dirty="0">
                <a:solidFill>
                  <a:srgbClr val="00627A"/>
                </a:solidFill>
                <a:latin typeface="JetBrains Mono" panose="02000009000000000000" pitchFamily="49" charset="0"/>
              </a:rPr>
              <a:t>Product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name, 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color) 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name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= name;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color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= color;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getName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return 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name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void </a:t>
            </a:r>
            <a:r>
              <a:rPr lang="en-US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setName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name) 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name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= name;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getColor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return 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color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void </a:t>
            </a:r>
            <a:r>
              <a:rPr lang="en-US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setColor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color) 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color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 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= color;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9E880D"/>
                </a:solidFill>
                <a:latin typeface="JetBrains Mono" panose="02000009000000000000" pitchFamily="49" charset="0"/>
              </a:rPr>
              <a:t>@</a:t>
            </a:r>
            <a:r>
              <a:rPr lang="en-US" dirty="0" err="1">
                <a:solidFill>
                  <a:srgbClr val="9E880D"/>
                </a:solidFill>
                <a:latin typeface="JetBrains Mono" panose="02000009000000000000" pitchFamily="49" charset="0"/>
              </a:rPr>
              <a:t>NonNull</a:t>
            </a:r>
            <a:r>
              <a:rPr lang="en-US" dirty="0">
                <a:solidFill>
                  <a:srgbClr val="9E880D"/>
                </a:solidFill>
                <a:latin typeface="JetBrains Mono" panose="02000009000000000000" pitchFamily="49" charset="0"/>
              </a:rPr>
              <a:t/>
            </a:r>
            <a:br>
              <a:rPr lang="en-US" dirty="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9E880D"/>
                </a:solidFill>
                <a:latin typeface="JetBrains Mono" panose="02000009000000000000" pitchFamily="49" charset="0"/>
              </a:rPr>
              <a:t>    @Override</a:t>
            </a:r>
            <a:br>
              <a:rPr lang="en-US" dirty="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9E880D"/>
                </a:solidFill>
                <a:latin typeface="JetBrains Mono" panose="02000009000000000000" pitchFamily="49" charset="0"/>
              </a:rPr>
              <a:t>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dirty="0">
                <a:latin typeface="JetBrains Mono" panose="02000009000000000000" pitchFamily="49" charset="0"/>
              </a:rPr>
              <a:t>String </a:t>
            </a:r>
            <a:r>
              <a:rPr lang="en-US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toString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033B3"/>
                </a:solidFill>
                <a:latin typeface="JetBrains Mono" panose="02000009000000000000" pitchFamily="49" charset="0"/>
              </a:rPr>
              <a:t>return this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dirty="0">
                <a:solidFill>
                  <a:srgbClr val="871094"/>
                </a:solidFill>
                <a:latin typeface="JetBrains Mono" panose="02000009000000000000" pitchFamily="49" charset="0"/>
              </a:rPr>
              <a:t>name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+</a:t>
            </a:r>
            <a:r>
              <a:rPr lang="en-US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0037A6"/>
                </a:solidFill>
                <a:latin typeface="JetBrains Mono" panose="02000009000000000000" pitchFamily="49" charset="0"/>
              </a:rPr>
              <a:t>\n</a:t>
            </a:r>
            <a:r>
              <a:rPr lang="en-US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+</a:t>
            </a:r>
            <a:r>
              <a:rPr lang="en-US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color</a:t>
            </a: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br>
              <a:rPr lang="en-US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endParaRPr lang="en-US" dirty="0">
              <a:solidFill>
                <a:srgbClr val="080808"/>
              </a:solidFill>
              <a:latin typeface="JetBrains Mono" panose="02000009000000000000" pitchFamily="49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39" y="1989503"/>
            <a:ext cx="2018582" cy="43880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721" y="2981822"/>
            <a:ext cx="2027096" cy="2057578"/>
          </a:xfrm>
          <a:prstGeom prst="rect">
            <a:avLst/>
          </a:prstGeom>
        </p:spPr>
      </p:pic>
      <p:cxnSp>
        <p:nvCxnSpPr>
          <p:cNvPr id="6" name="Straight Arrow Connector 5"/>
          <p:cNvCxnSpPr>
            <a:stCxn id="4" idx="1"/>
          </p:cNvCxnSpPr>
          <p:nvPr/>
        </p:nvCxnSpPr>
        <p:spPr>
          <a:xfrm flipH="1">
            <a:off x="3135421" y="4010611"/>
            <a:ext cx="685300" cy="140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79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Data source is List Object Model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>
          <a:xfrm>
            <a:off x="928576" y="1602939"/>
            <a:ext cx="1080267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private void </a:t>
            </a:r>
            <a:r>
              <a:rPr lang="en-US" sz="18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addViews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edtName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findViewById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latin typeface="JetBrains Mono" panose="02000009000000000000" pitchFamily="49" charset="0"/>
              </a:rPr>
              <a:t>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dirty="0" err="1">
                <a:latin typeface="JetBrains Mono" panose="02000009000000000000" pitchFamily="49" charset="0"/>
              </a:rPr>
              <a:t>id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edtName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edtColor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findViewById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latin typeface="JetBrains Mono" panose="02000009000000000000" pitchFamily="49" charset="0"/>
              </a:rPr>
              <a:t>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dirty="0" err="1">
                <a:latin typeface="JetBrains Mono" panose="02000009000000000000" pitchFamily="49" charset="0"/>
              </a:rPr>
              <a:t>id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edtColor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lvProduct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findViewById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latin typeface="JetBrains Mono" panose="02000009000000000000" pitchFamily="49" charset="0"/>
              </a:rPr>
              <a:t>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dirty="0" err="1">
                <a:latin typeface="JetBrains Mono" panose="02000009000000000000" pitchFamily="49" charset="0"/>
              </a:rPr>
              <a:t>id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lvProduct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ArrayAdapter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&lt;&gt;(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sz="1800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sz="1800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 					</a:t>
            </a:r>
            <a:r>
              <a:rPr lang="en-US" sz="1800" dirty="0" smtClean="0">
                <a:latin typeface="JetBrains Mono" panose="02000009000000000000" pitchFamily="49" charset="0"/>
              </a:rPr>
              <a:t>android.R</a:t>
            </a:r>
            <a:r>
              <a:rPr lang="en-US" sz="1800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dirty="0" smtClean="0">
                <a:latin typeface="JetBrains Mono" panose="02000009000000000000" pitchFamily="49" charset="0"/>
              </a:rPr>
              <a:t>layout</a:t>
            </a:r>
            <a:r>
              <a:rPr lang="en-US" sz="1800" dirty="0" smtClean="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 dirty="0" smtClean="0">
                <a:solidFill>
                  <a:srgbClr val="871094"/>
                </a:solidFill>
                <a:latin typeface="JetBrains Mono" panose="02000009000000000000" pitchFamily="49" charset="0"/>
              </a:rPr>
              <a:t>simple_list_item_1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lvProduct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.setAdapter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.add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Product(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"T-</a:t>
            </a:r>
            <a:r>
              <a:rPr lang="en-US" sz="1800" dirty="0" err="1">
                <a:solidFill>
                  <a:srgbClr val="067D17"/>
                </a:solidFill>
                <a:latin typeface="JetBrains Mono" panose="02000009000000000000" pitchFamily="49" charset="0"/>
              </a:rPr>
              <a:t>Shirt"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 dirty="0" err="1">
                <a:solidFill>
                  <a:srgbClr val="067D17"/>
                </a:solidFill>
                <a:latin typeface="JetBrains Mono" panose="02000009000000000000" pitchFamily="49" charset="0"/>
              </a:rPr>
              <a:t>"Red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.add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Product(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sz="1800" dirty="0" err="1">
                <a:solidFill>
                  <a:srgbClr val="067D17"/>
                </a:solidFill>
                <a:latin typeface="JetBrains Mono" panose="02000009000000000000" pitchFamily="49" charset="0"/>
              </a:rPr>
              <a:t>Hat"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 dirty="0" err="1">
                <a:solidFill>
                  <a:srgbClr val="067D17"/>
                </a:solidFill>
                <a:latin typeface="JetBrains Mono" panose="02000009000000000000" pitchFamily="49" charset="0"/>
              </a:rPr>
              <a:t>"Blue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.add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Product(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sz="1800" dirty="0" err="1">
                <a:solidFill>
                  <a:srgbClr val="067D17"/>
                </a:solidFill>
                <a:latin typeface="JetBrains Mono" panose="02000009000000000000" pitchFamily="49" charset="0"/>
              </a:rPr>
              <a:t>Shoes"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 dirty="0" err="1">
                <a:solidFill>
                  <a:srgbClr val="067D17"/>
                </a:solidFill>
                <a:latin typeface="JetBrains Mono" panose="02000009000000000000" pitchFamily="49" charset="0"/>
              </a:rPr>
              <a:t>"Black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574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Data source is List Object Model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928577" y="1666266"/>
            <a:ext cx="75491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buyProduct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latin typeface="JetBrains Mono" panose="02000009000000000000" pitchFamily="49" charset="0"/>
              </a:rPr>
              <a:t>View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view) {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>
                <a:latin typeface="JetBrains Mono" panose="02000009000000000000" pitchFamily="49" charset="0"/>
              </a:rPr>
              <a:t>Product 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Product();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latin typeface="JetBrains Mono" panose="02000009000000000000" pitchFamily="49" charset="0"/>
              </a:rPr>
              <a:t>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.setName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edtName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.getText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().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toString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latin typeface="JetBrains Mono" panose="02000009000000000000" pitchFamily="49" charset="0"/>
              </a:rPr>
              <a:t>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.setColor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edtColor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.getText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().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toString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.add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latin typeface="JetBrains Mono" panose="02000009000000000000" pitchFamily="49" charset="0"/>
              </a:rPr>
              <a:t>product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edtName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.setText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""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edtColor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.setText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JetBrains Mono" panose="02000009000000000000" pitchFamily="49" charset="0"/>
              </a:rPr>
              <a:t>""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edtName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.requestFocus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897" y="1041925"/>
            <a:ext cx="2018582" cy="438800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8364279" y="2225749"/>
            <a:ext cx="94984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2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3033824" y="920163"/>
            <a:ext cx="898805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private void </a:t>
            </a:r>
            <a:r>
              <a:rPr lang="en-US" sz="16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addEvents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lvProduct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.setOnItemClickListener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600" dirty="0" err="1">
                <a:latin typeface="JetBrains Mono" panose="02000009000000000000" pitchFamily="49" charset="0"/>
              </a:rPr>
              <a:t>AdapterView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 dirty="0" err="1">
                <a:latin typeface="JetBrains Mono" panose="02000009000000000000" pitchFamily="49" charset="0"/>
              </a:rPr>
              <a:t>OnItemClickListener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 dirty="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600" dirty="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9E880D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public void </a:t>
            </a:r>
            <a:r>
              <a:rPr lang="en-US" sz="16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onItemClick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 err="1">
                <a:latin typeface="JetBrains Mono" panose="02000009000000000000" pitchFamily="49" charset="0"/>
              </a:rPr>
              <a:t>AdapterView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&lt;?&gt; 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adapterView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, </a:t>
            </a:r>
            <a:r>
              <a:rPr lang="en-US" sz="1600" dirty="0">
                <a:latin typeface="JetBrains Mono" panose="02000009000000000000" pitchFamily="49" charset="0"/>
              </a:rPr>
              <a:t>View 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view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, </a:t>
            </a:r>
            <a:r>
              <a:rPr lang="en-US" sz="1600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int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 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i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, 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long 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l) {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dirty="0">
                <a:latin typeface="JetBrains Mono" panose="02000009000000000000" pitchFamily="49" charset="0"/>
              </a:rPr>
              <a:t>Product product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.getItem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i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edtName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.setText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 err="1">
                <a:latin typeface="JetBrains Mono" panose="02000009000000000000" pitchFamily="49" charset="0"/>
              </a:rPr>
              <a:t>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.getName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());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edtColor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.setText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 err="1">
                <a:latin typeface="JetBrains Mono" panose="02000009000000000000" pitchFamily="49" charset="0"/>
              </a:rPr>
              <a:t>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.getColor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());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}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});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lvProduct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.setOnItemLongClickListener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600" dirty="0" err="1">
                <a:latin typeface="JetBrains Mono" panose="02000009000000000000" pitchFamily="49" charset="0"/>
              </a:rPr>
              <a:t>AdapterView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 dirty="0" err="1">
                <a:latin typeface="JetBrains Mono" panose="02000009000000000000" pitchFamily="49" charset="0"/>
              </a:rPr>
              <a:t>OnItemLongClickListener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 dirty="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600" dirty="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9E880D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sz="1600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boolean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 </a:t>
            </a:r>
            <a:r>
              <a:rPr lang="en-US" sz="16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onItemLongClick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 err="1">
                <a:latin typeface="JetBrains Mono" panose="02000009000000000000" pitchFamily="49" charset="0"/>
              </a:rPr>
              <a:t>AdapterView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&lt;?&gt; 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adapterView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, </a:t>
            </a:r>
            <a:r>
              <a:rPr lang="en-US" sz="1600" dirty="0">
                <a:latin typeface="JetBrains Mono" panose="02000009000000000000" pitchFamily="49" charset="0"/>
              </a:rPr>
              <a:t>View 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view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, </a:t>
            </a:r>
            <a:r>
              <a:rPr lang="en-US" sz="1600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int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 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i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, 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long 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l) {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dirty="0">
                <a:latin typeface="JetBrains Mono" panose="02000009000000000000" pitchFamily="49" charset="0"/>
              </a:rPr>
              <a:t>Product product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=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.getItem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i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adapterProduct</a:t>
            </a:r>
            <a:r>
              <a:rPr lang="en-US" sz="16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.remove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 dirty="0">
                <a:latin typeface="JetBrains Mono" panose="02000009000000000000" pitchFamily="49" charset="0"/>
              </a:rPr>
              <a:t>product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latin typeface="JetBrains Mono" panose="02000009000000000000" pitchFamily="49" charset="0"/>
              </a:rPr>
              <a:t>return false</a:t>
            </a: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}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    });</a:t>
            </a:r>
            <a:b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 dirty="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07" y="1346726"/>
            <a:ext cx="2018582" cy="4388001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2261191" y="1942214"/>
            <a:ext cx="723014" cy="10278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261191" y="3021886"/>
            <a:ext cx="787989" cy="6946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84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Complex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ListView</a:t>
            </a:r>
            <a:endParaRPr lang="en-US" sz="2800" b="1" i="1" dirty="0" smtClean="0">
              <a:latin typeface="Cambria" panose="020405030504060302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D304EF5-0BBE-A04B-97D9-908EA71224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493" y="1344353"/>
            <a:ext cx="2738700" cy="48381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4E038B-74F0-684E-9B56-5C41D481FA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676" y="1461017"/>
            <a:ext cx="2590212" cy="46048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9335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latin typeface="Cambria" panose="02040503050406030204" pitchFamily="18" charset="0"/>
              </a:rPr>
              <a:t>Design the layout for an item of </a:t>
            </a:r>
            <a:r>
              <a:rPr lang="en-US" sz="2800" b="1" i="1" dirty="0" err="1">
                <a:latin typeface="Cambria" panose="02040503050406030204" pitchFamily="18" charset="0"/>
              </a:rPr>
              <a:t>ListView</a:t>
            </a:r>
            <a:endParaRPr lang="en-US" sz="2800" b="1" i="1" dirty="0" smtClean="0">
              <a:latin typeface="Cambria" panose="020405030504060302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616D02-F61E-644C-9ACE-C1B836960BE8}"/>
              </a:ext>
            </a:extLst>
          </p:cNvPr>
          <p:cNvGrpSpPr/>
          <p:nvPr/>
        </p:nvGrpSpPr>
        <p:grpSpPr>
          <a:xfrm>
            <a:off x="3098799" y="1540582"/>
            <a:ext cx="3657408" cy="4705501"/>
            <a:chOff x="838392" y="2076299"/>
            <a:chExt cx="3657408" cy="470550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DD32E3B-C82C-3D41-A961-8ADF407EB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392" y="2076299"/>
              <a:ext cx="3657408" cy="4705501"/>
            </a:xfrm>
            <a:prstGeom prst="rect">
              <a:avLst/>
            </a:prstGeom>
          </p:spPr>
        </p:pic>
        <p:sp>
          <p:nvSpPr>
            <p:cNvPr id="21" name="Left Arrow 20">
              <a:extLst>
                <a:ext uri="{FF2B5EF4-FFF2-40B4-BE49-F238E27FC236}">
                  <a16:creationId xmlns:a16="http://schemas.microsoft.com/office/drawing/2014/main" id="{7F2B4EE8-6266-9345-92D6-FAA1702154B9}"/>
                </a:ext>
              </a:extLst>
            </p:cNvPr>
            <p:cNvSpPr/>
            <p:nvPr/>
          </p:nvSpPr>
          <p:spPr>
            <a:xfrm rot="1394030">
              <a:off x="3018806" y="5489134"/>
              <a:ext cx="457200" cy="277296"/>
            </a:xfrm>
            <a:prstGeom prst="left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3E49C7C-C3FE-D345-BA1C-EC5032A4E3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91" t="701" r="3833" b="3426"/>
          <a:stretch/>
        </p:blipFill>
        <p:spPr>
          <a:xfrm>
            <a:off x="6984807" y="2576394"/>
            <a:ext cx="3429000" cy="2374289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4569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Design a Class Object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01016AA-7FC7-9B4F-BD03-30B891FE72C2}"/>
              </a:ext>
            </a:extLst>
          </p:cNvPr>
          <p:cNvSpPr/>
          <p:nvPr/>
        </p:nvSpPr>
        <p:spPr>
          <a:xfrm>
            <a:off x="1121735" y="1550262"/>
            <a:ext cx="7086600" cy="480131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implements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Serializable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private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private double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public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double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setImageId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setTen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(String ten) {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double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setGia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double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1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Design a Custom Adapter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316181C-0A5F-3147-85F6-1A54ABFE4143}"/>
              </a:ext>
            </a:extLst>
          </p:cNvPr>
          <p:cNvSpPr/>
          <p:nvPr/>
        </p:nvSpPr>
        <p:spPr>
          <a:xfrm>
            <a:off x="946297" y="1602939"/>
            <a:ext cx="7924800" cy="258532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&gt;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Activity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public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NonNull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 context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resource)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(context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resource)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context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resource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…</a:t>
            </a:r>
          </a:p>
        </p:txBody>
      </p:sp>
    </p:spTree>
    <p:extLst>
      <p:ext uri="{BB962C8B-B14F-4D97-AF65-F5344CB8AC3E}">
        <p14:creationId xmlns:p14="http://schemas.microsoft.com/office/powerpoint/2010/main" val="335083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Design a Custom Adapter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316181C-0A5F-3147-85F6-1A54ABFE4143}"/>
              </a:ext>
            </a:extLst>
          </p:cNvPr>
          <p:cNvSpPr/>
          <p:nvPr/>
        </p:nvSpPr>
        <p:spPr>
          <a:xfrm>
            <a:off x="988827" y="1602939"/>
            <a:ext cx="10614837" cy="4524315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position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Nullable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convertView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NonNull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ViewGroup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parent)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LayoutInflater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inflater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.getLayoutInflater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inflater.inflate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null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imgHinh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customView.findViewById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imgHinh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TextView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customView.findViewById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TextView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customView.findViewById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getItem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(position)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imgHinh.setImageResource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sp.getImageId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txtTen.setText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sp.getTen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txtGia.setText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"%.0f"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sp.getGia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 +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VND"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return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306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In Activity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E6E5210-303F-124E-A165-6EEDB642E51E}"/>
              </a:ext>
            </a:extLst>
          </p:cNvPr>
          <p:cNvSpPr/>
          <p:nvPr/>
        </p:nvSpPr>
        <p:spPr>
          <a:xfrm>
            <a:off x="1072117" y="1386676"/>
            <a:ext cx="10531548" cy="501675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ListView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9876A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R.layout.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item_list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9876A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tiger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"Tiger"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14000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heiniken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"Heineken"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18000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saigon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Sài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Gòn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15000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larue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"Larue"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12000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sapporo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"Sapporo"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17000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hanoi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Hà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Nội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16000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(R.drawable.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beer333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"Bia 333"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15000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lvSanPham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.setAdapter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4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In Activity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AC04FD8-1207-664F-9EF8-626AC965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967" y="1115089"/>
            <a:ext cx="2581530" cy="51140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DDB213-BD59-4E41-AC6C-5ECA63DDA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0" y="1029243"/>
            <a:ext cx="2638621" cy="519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0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allows displaying data in tabular form (rows and columns).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way to create and use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completely similar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number of columns displayed on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numColumns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GridView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D3B4FC6-9B15-8340-8C08-0889FD446F92}"/>
              </a:ext>
            </a:extLst>
          </p:cNvPr>
          <p:cNvSpPr/>
          <p:nvPr/>
        </p:nvSpPr>
        <p:spPr>
          <a:xfrm>
            <a:off x="1982971" y="3691269"/>
            <a:ext cx="9471837" cy="2308324"/>
          </a:xfrm>
          <a:prstGeom prst="rect">
            <a:avLst/>
          </a:prstGeom>
          <a:solidFill>
            <a:sysClr val="windowText" lastClr="000000"/>
          </a:solidFill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GridView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:id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="@+id/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gvSanPham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:layout_width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match_parent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:layout_height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match_parent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:listSelector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="@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android:color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holo_blue_bright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:numColumns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="3"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76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GridView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E669E42-2D8C-5E41-AD22-EAF10B278AC9}"/>
              </a:ext>
            </a:extLst>
          </p:cNvPr>
          <p:cNvSpPr/>
          <p:nvPr/>
        </p:nvSpPr>
        <p:spPr>
          <a:xfrm>
            <a:off x="2078667" y="1602939"/>
            <a:ext cx="7086600" cy="4524315"/>
          </a:xfrm>
          <a:prstGeom prst="rect">
            <a:avLst/>
          </a:prstGeom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lvl="0">
              <a:buClrTx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//1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Create data source for </a:t>
            </a:r>
            <a:r>
              <a:rPr lang="en-US" sz="18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GridView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ArrayList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&lt;String&gt;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ArrayList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&lt;&gt;()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dsSP.add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Máy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ảnh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dsSP.add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"Laptop"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dsSP.add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Điện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thoại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dsSP.add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Sạc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dự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phòng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dsSP.add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"Ổ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cứng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di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động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lvl="0">
              <a:buClrTx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//2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Refer to the </a:t>
            </a:r>
            <a:r>
              <a:rPr lang="en-US" sz="18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GridView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 on the interface via Id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gvSanPham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gvSanPham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lvl="0">
              <a:buClrTx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//3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Assign the data source to the </a:t>
            </a:r>
            <a:r>
              <a:rPr lang="en-US" sz="18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ArrayAdapter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 object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&lt;String&gt;(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android.R.layout.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simple_list_item_1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.addAll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lvl="0">
              <a:buClrTx/>
            </a:pPr>
            <a:r>
              <a:rPr lang="en-US" sz="1800" kern="1200" dirty="0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//4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Display data on a smart </a:t>
            </a:r>
            <a:r>
              <a:rPr lang="en-US" sz="18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GridView</a:t>
            </a:r>
            <a:endParaRPr lang="en-US" sz="1800" kern="1200" dirty="0">
              <a:solidFill>
                <a:srgbClr val="808080"/>
              </a:solidFill>
              <a:latin typeface="Georgia"/>
              <a:ea typeface="+mn-ea"/>
              <a:cs typeface="+mn-cs"/>
            </a:endParaRPr>
          </a:p>
          <a:p>
            <a:pPr lvl="0">
              <a:buClrTx/>
            </a:pP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// via </a:t>
            </a:r>
            <a:r>
              <a:rPr lang="en-US" sz="18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ArrayAdapter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 object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gvSanPham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6D3F35-D465-7E48-B78D-3B2516CC7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109" y="4497037"/>
            <a:ext cx="3733800" cy="1725110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Basic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GridView</a:t>
            </a:r>
            <a:endParaRPr lang="en-US" sz="2800" b="1" i="1" dirty="0" smtClean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0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GridView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7" y="935453"/>
            <a:ext cx="7532622" cy="5255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latin typeface="Cambria" panose="02040503050406030204" pitchFamily="18" charset="0"/>
              </a:rPr>
              <a:t>Complex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GridView</a:t>
            </a:r>
            <a:endParaRPr lang="en-US" sz="2800" b="1" i="1" dirty="0" smtClean="0">
              <a:latin typeface="Cambria" panose="020405030504060302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971160-E563-B541-B54E-316898A1B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676400"/>
            <a:ext cx="3812540" cy="4343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3EAAA6-2903-2544-8C5C-85B86055B7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888" y="827532"/>
            <a:ext cx="3279913" cy="579424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A851F12-CCD9-EE46-9C5A-E404493F7CBE}"/>
              </a:ext>
            </a:extLst>
          </p:cNvPr>
          <p:cNvGrpSpPr/>
          <p:nvPr/>
        </p:nvGrpSpPr>
        <p:grpSpPr>
          <a:xfrm>
            <a:off x="5334000" y="2278376"/>
            <a:ext cx="1981200" cy="1988824"/>
            <a:chOff x="3810000" y="2278376"/>
            <a:chExt cx="1981200" cy="198882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6F1EBA-7FEF-564D-A628-1E061C662754}"/>
                </a:ext>
              </a:extLst>
            </p:cNvPr>
            <p:cNvCxnSpPr/>
            <p:nvPr/>
          </p:nvCxnSpPr>
          <p:spPr>
            <a:xfrm flipH="1">
              <a:off x="5105400" y="2278376"/>
              <a:ext cx="685800" cy="0"/>
            </a:xfrm>
            <a:prstGeom prst="lin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CE6B942-C4C2-FE47-BFE5-38D657CB1AAD}"/>
                </a:ext>
              </a:extLst>
            </p:cNvPr>
            <p:cNvCxnSpPr/>
            <p:nvPr/>
          </p:nvCxnSpPr>
          <p:spPr>
            <a:xfrm>
              <a:off x="5105400" y="2286000"/>
              <a:ext cx="0" cy="1981200"/>
            </a:xfrm>
            <a:prstGeom prst="lin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FDDAACD-E99B-AC45-A0C2-FD2B12CECA83}"/>
                </a:ext>
              </a:extLst>
            </p:cNvPr>
            <p:cNvCxnSpPr/>
            <p:nvPr/>
          </p:nvCxnSpPr>
          <p:spPr>
            <a:xfrm flipH="1">
              <a:off x="3810000" y="4267200"/>
              <a:ext cx="129540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92907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allows displaying list data similar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allows programmers to deeply customize the interface and display method.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RecyclerView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76BC9A3-49DB-8A4A-B885-A6597C442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425" y="2679405"/>
            <a:ext cx="3032942" cy="30905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CFB73A-C71F-B14C-95AD-DD36CAE224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752" y="2116812"/>
            <a:ext cx="2441180" cy="431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RecyclerView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E7257-94E5-704B-81DC-DFA12219CA25}"/>
              </a:ext>
            </a:extLst>
          </p:cNvPr>
          <p:cNvSpPr/>
          <p:nvPr/>
        </p:nvSpPr>
        <p:spPr>
          <a:xfrm>
            <a:off x="971106" y="979957"/>
            <a:ext cx="8470605" cy="5262979"/>
          </a:xfrm>
          <a:prstGeom prst="rect">
            <a:avLst/>
          </a:prstGeom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lvl="0">
              <a:buClrTx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//1</a:t>
            </a:r>
            <a:r>
              <a:rPr lang="en-US" sz="16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</a:t>
            </a:r>
            <a:r>
              <a:rPr lang="en-US" sz="1600" kern="1200" dirty="0" smtClean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Create </a:t>
            </a:r>
            <a:r>
              <a:rPr lang="en-US" sz="16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CustomAdapter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RecyclerView.Adapter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SanPhamAdapter.ViewHolder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&gt;{ … }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lvl="0">
              <a:buClrTx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//2</a:t>
            </a:r>
            <a:r>
              <a:rPr lang="en-US" sz="16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Create a </a:t>
            </a:r>
            <a:r>
              <a:rPr lang="en-US" sz="16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ViewHolder</a:t>
            </a:r>
            <a:r>
              <a:rPr lang="en-US" sz="16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 that references views on the interface for an item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ViewHolder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RecyclerView.ViewHolder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ImageView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TextView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public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ViewHolder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NonNull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itemView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itemView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itemView.findViewById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itemView.findViewById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itemView.setOnClickListener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View.OnClickListener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onClick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(View view)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RemoveItem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getAdapterPosition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makeText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"Remove "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txtInfo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LENGTH_SHORT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).show()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})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815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RecyclerView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8E7257-94E5-704B-81DC-DFA12219CA25}"/>
              </a:ext>
            </a:extLst>
          </p:cNvPr>
          <p:cNvSpPr/>
          <p:nvPr/>
        </p:nvSpPr>
        <p:spPr>
          <a:xfrm>
            <a:off x="919518" y="1003004"/>
            <a:ext cx="8153400" cy="3477875"/>
          </a:xfrm>
          <a:prstGeom prst="rect">
            <a:avLst/>
          </a:prstGeom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lvl="0">
              <a:buClrTx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//3</a:t>
            </a:r>
            <a:r>
              <a:rPr lang="en-US" sz="20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Load item layout to </a:t>
            </a:r>
            <a:r>
              <a:rPr lang="en-US" sz="20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ViewHolder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NonNull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ViewHolder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onCreateViewHolder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NonNull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ViewGroup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parent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viewType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LayoutInflater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layoutInflater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LayoutInflater.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from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parent.getContext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customItemView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layoutInflater.inflate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R.layout.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custom_item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parent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false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return new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ViewHolder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customItemView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976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RecyclerView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E7257-94E5-704B-81DC-DFA12219CA25}"/>
              </a:ext>
            </a:extLst>
          </p:cNvPr>
          <p:cNvSpPr/>
          <p:nvPr/>
        </p:nvSpPr>
        <p:spPr>
          <a:xfrm>
            <a:off x="923261" y="1026042"/>
            <a:ext cx="10113334" cy="2031325"/>
          </a:xfrm>
          <a:prstGeom prst="rect">
            <a:avLst/>
          </a:prstGeom>
          <a:ln>
            <a:solidFill>
              <a:srgbClr val="0F6FC6"/>
            </a:solidFill>
          </a:ln>
        </p:spPr>
        <p:txBody>
          <a:bodyPr wrap="square">
            <a:spAutoFit/>
          </a:bodyPr>
          <a:lstStyle/>
          <a:p>
            <a:pPr lvl="0">
              <a:buClrTx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//4</a:t>
            </a:r>
            <a:r>
              <a:rPr lang="en-US" sz="1800" kern="1200" dirty="0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. Binding data to </a:t>
            </a:r>
            <a:r>
              <a:rPr lang="en-US" sz="1800" kern="1200" dirty="0" err="1">
                <a:solidFill>
                  <a:srgbClr val="808080"/>
                </a:solidFill>
                <a:latin typeface="Georgia"/>
                <a:ea typeface="+mn-ea"/>
                <a:cs typeface="+mn-cs"/>
              </a:rPr>
              <a:t>ViewHolder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onBindViewHolder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NonNull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ViewHolder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holder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position) {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holder.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.setImageResource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dsSanPham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(position).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getHinh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holder.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txtInfo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dsSanPham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(position).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getTen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+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- "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"%.0f"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dsSanPham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(position).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getGia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 +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VNĐ"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9760E4-3487-EB49-8F06-5CD69A598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106" y="3179535"/>
            <a:ext cx="26920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7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Spinner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(C#),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JComboBox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(Java)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Spinner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35A54C0-1982-8442-B205-AEAE42BF90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750" y="1532598"/>
            <a:ext cx="2632837" cy="4651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6F1DE8-BEE5-9640-8FE5-B9C23CD4B2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038" y="1478240"/>
            <a:ext cx="2694376" cy="475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3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Spinner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0F52C-CA8A-354F-A5A9-E35897EC0354}"/>
              </a:ext>
            </a:extLst>
          </p:cNvPr>
          <p:cNvSpPr/>
          <p:nvPr/>
        </p:nvSpPr>
        <p:spPr>
          <a:xfrm>
            <a:off x="728131" y="1005889"/>
            <a:ext cx="9762659" cy="4524315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spinnerProvince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spinnerProvince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adapter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&lt;&gt;(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android.R.layout.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spinner_item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adapter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.setDropDownViewResource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android.R.layout.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spinner_list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spinnerProvince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adapter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88807B-D020-8742-8E6F-178112A4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460" y="3342514"/>
            <a:ext cx="3429789" cy="14682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BB8EFC-B4B0-7D42-8D0B-02606BAF1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268" y="2278970"/>
            <a:ext cx="3429789" cy="3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7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Spinner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016B5BE-91E6-C743-B51E-F4DFA0B819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85"/>
          <a:stretch/>
        </p:blipFill>
        <p:spPr>
          <a:xfrm>
            <a:off x="2146004" y="895084"/>
            <a:ext cx="2514600" cy="53770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ABCDA4-D2DD-4848-A564-D8670B6AD1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49"/>
          <a:stretch/>
        </p:blipFill>
        <p:spPr>
          <a:xfrm>
            <a:off x="4965404" y="913221"/>
            <a:ext cx="2514600" cy="53423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638632-23C0-C94C-A5ED-62960422F96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91"/>
          <a:stretch/>
        </p:blipFill>
        <p:spPr>
          <a:xfrm>
            <a:off x="7784804" y="845389"/>
            <a:ext cx="2514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5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AutoCompleteTextView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supports user input suggestions.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AutoCompleteTextView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A8BE0E6-6BAB-3745-B0AE-313C8DD0C7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28"/>
          <a:stretch/>
        </p:blipFill>
        <p:spPr>
          <a:xfrm>
            <a:off x="2884735" y="1529393"/>
            <a:ext cx="2262149" cy="47252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1B18A4-5557-CE40-BDF1-73D7663216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28"/>
          <a:stretch/>
        </p:blipFill>
        <p:spPr>
          <a:xfrm>
            <a:off x="7341729" y="1458433"/>
            <a:ext cx="2262150" cy="472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1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AutoCompleteTextView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649246" y="924339"/>
            <a:ext cx="1826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strings.xml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28132" y="1560462"/>
            <a:ext cx="842807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resources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string </a:t>
            </a:r>
            <a:r>
              <a:rPr lang="vi-VN" sz="2000" dirty="0">
                <a:solidFill>
                  <a:srgbClr val="174AD4"/>
                </a:solidFill>
                <a:latin typeface="JetBrains Mono" panose="02000009000000000000" pitchFamily="49" charset="0"/>
              </a:rPr>
              <a:t>name</a:t>
            </a:r>
            <a:r>
              <a:rPr lang="vi-VN" sz="2000" dirty="0">
                <a:solidFill>
                  <a:srgbClr val="067D17"/>
                </a:solidFill>
                <a:latin typeface="JetBrains Mono" panose="02000009000000000000" pitchFamily="49" charset="0"/>
              </a:rPr>
              <a:t>="app_name"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&gt;BookStore&lt;/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string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string-array </a:t>
            </a:r>
            <a:r>
              <a:rPr lang="vi-VN" sz="2000" dirty="0">
                <a:solidFill>
                  <a:srgbClr val="174AD4"/>
                </a:solidFill>
                <a:latin typeface="JetBrains Mono" panose="02000009000000000000" pitchFamily="49" charset="0"/>
              </a:rPr>
              <a:t>name</a:t>
            </a:r>
            <a:r>
              <a:rPr lang="vi-VN" sz="2000" dirty="0">
                <a:solidFill>
                  <a:srgbClr val="067D17"/>
                </a:solidFill>
                <a:latin typeface="JetBrains Mono" panose="02000009000000000000" pitchFamily="49" charset="0"/>
              </a:rPr>
              <a:t>="provinces_name"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&gt;Hà Nội&lt;/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&gt;Hồ Chí Minh&lt;/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&lt;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&gt;Cần Thơ&lt;/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item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    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string-array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  <a:b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&lt;/</a:t>
            </a:r>
            <a:r>
              <a:rPr lang="vi-VN" sz="2000" dirty="0">
                <a:solidFill>
                  <a:srgbClr val="0033B3"/>
                </a:solidFill>
                <a:latin typeface="JetBrains Mono" panose="02000009000000000000" pitchFamily="49" charset="0"/>
              </a:rPr>
              <a:t>resources</a:t>
            </a:r>
            <a:r>
              <a:rPr lang="vi-VN" sz="2000" dirty="0">
                <a:solidFill>
                  <a:srgbClr val="080808"/>
                </a:solidFill>
                <a:latin typeface="JetBrains Mono" panose="02000009000000000000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9059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AutoCompleteTextView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25DD7C2-638C-D349-9749-1F72C414A786}"/>
              </a:ext>
            </a:extLst>
          </p:cNvPr>
          <p:cNvSpPr/>
          <p:nvPr/>
        </p:nvSpPr>
        <p:spPr>
          <a:xfrm>
            <a:off x="2142460" y="3164958"/>
            <a:ext cx="7924800" cy="230832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completeTextViewProvince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autoCompleteTextView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adapter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&lt;&gt;(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android.R.layout.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simple_list_item_1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adapter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.addAll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getResources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getStringArray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R.array.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provinces_name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completeTextViewProvince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5AD4BB-ACF6-934B-B47D-52D9F204A29D}"/>
              </a:ext>
            </a:extLst>
          </p:cNvPr>
          <p:cNvSpPr/>
          <p:nvPr/>
        </p:nvSpPr>
        <p:spPr>
          <a:xfrm>
            <a:off x="2142460" y="981234"/>
            <a:ext cx="5181600" cy="2031325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&lt;AutoCompleteTextView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="@+id/autoCompleteTextView"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:layout_width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="match_parent"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:layout_height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="wrap_content"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:textSize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="24sp"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:layout_margin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="5dp"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:completionThreshold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="1"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79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DatePicker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helps users select dates.</a:t>
            </a:r>
          </a:p>
          <a:p>
            <a:pPr marL="566738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TimePicker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helps users select hours and minutes.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6. Date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Time Picker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2BB7D97-D7A1-0748-8C29-62AED2D7B9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33"/>
          <a:stretch/>
        </p:blipFill>
        <p:spPr>
          <a:xfrm>
            <a:off x="3627475" y="2057401"/>
            <a:ext cx="2006814" cy="4187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DC20D6-6CFF-A942-9FBC-72463726A7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33"/>
          <a:stretch/>
        </p:blipFill>
        <p:spPr>
          <a:xfrm>
            <a:off x="7504816" y="2057401"/>
            <a:ext cx="1986513" cy="414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0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6. Date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Time Picker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A12202C-1011-E241-AC0D-7BDB9FE527B0}"/>
              </a:ext>
            </a:extLst>
          </p:cNvPr>
          <p:cNvSpPr/>
          <p:nvPr/>
        </p:nvSpPr>
        <p:spPr>
          <a:xfrm>
            <a:off x="728132" y="1028127"/>
            <a:ext cx="8458398" cy="5355312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getInstance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SimpleDateFormat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SimpleDateFormat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/MM/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yyyy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DatePickerDialog.OnDateSetListener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callBack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                                                              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DatePickerDialog.OnDateSetListener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onDateSet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i1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i2)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YEAR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MONTH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i1)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DAY_OF_MONTH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i2)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dateFormat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.getTime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DatePickerDialog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datePickerDialog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DatePickerDialog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callBack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YEAR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MONTH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calendarDate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DAY_OF_MONTH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datePickerDialog.show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BB7D97-D7A1-0748-8C29-62AED2D7B9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33"/>
          <a:stretch/>
        </p:blipFill>
        <p:spPr>
          <a:xfrm>
            <a:off x="9590165" y="2023862"/>
            <a:ext cx="2006814" cy="4187216"/>
          </a:xfrm>
          <a:prstGeom prst="rect">
            <a:avLst/>
          </a:prstGeom>
        </p:spPr>
      </p:pic>
      <p:sp>
        <p:nvSpPr>
          <p:cNvPr id="22" name="Content Placeholder 2"/>
          <p:cNvSpPr txBox="1">
            <a:spLocks/>
          </p:cNvSpPr>
          <p:nvPr/>
        </p:nvSpPr>
        <p:spPr>
          <a:xfrm>
            <a:off x="9299944" y="1565457"/>
            <a:ext cx="2587256" cy="51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63550" indent="-3540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Ø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DatePicker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46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6. Date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Time Picker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91EBA63-1F7E-ED48-882F-C5B7CD5C1195}"/>
              </a:ext>
            </a:extLst>
          </p:cNvPr>
          <p:cNvSpPr/>
          <p:nvPr/>
        </p:nvSpPr>
        <p:spPr>
          <a:xfrm>
            <a:off x="797442" y="958803"/>
            <a:ext cx="8174736" cy="507831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calendarTime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getInstance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SimpleDateFormat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SimpleDateFormat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HH:mm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TimePickerDialog.OnTimeSetListener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callBack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TimePickerDialog.OnTimeSetListener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onTimeSet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i1)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calendarTime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HOUR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calendarTime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MINUTE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i1)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txtTime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timeFormat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.format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calendarTime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.getTime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TimePickerDialog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timePickerDialog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TimePickerDialog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callBack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calendarTime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HOUR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calendarTime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Calendar.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MINUTE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true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timePickerDialog.show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DC20D6-6CFF-A942-9FBC-72463726A7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33"/>
          <a:stretch/>
        </p:blipFill>
        <p:spPr>
          <a:xfrm>
            <a:off x="9468295" y="1697797"/>
            <a:ext cx="1986513" cy="4144858"/>
          </a:xfrm>
          <a:prstGeom prst="rect">
            <a:avLst/>
          </a:prstGeom>
        </p:spPr>
      </p:pic>
      <p:sp>
        <p:nvSpPr>
          <p:cNvPr id="21" name="Content Placeholder 2"/>
          <p:cNvSpPr txBox="1">
            <a:spLocks/>
          </p:cNvSpPr>
          <p:nvPr/>
        </p:nvSpPr>
        <p:spPr>
          <a:xfrm>
            <a:off x="9335386" y="1182685"/>
            <a:ext cx="2587256" cy="51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63550" indent="-3540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Ø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TimePicker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5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TabHost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similar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Tab control in C# and Java.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TabHost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Different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in a certain area of the screen.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TabHost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9597C19-7130-9446-8D1E-6C22F36435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29"/>
          <a:stretch/>
        </p:blipFill>
        <p:spPr>
          <a:xfrm>
            <a:off x="3624084" y="2169227"/>
            <a:ext cx="2026526" cy="42082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BAC8D0-51A2-F247-A79C-0BF2517FB37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29"/>
          <a:stretch/>
        </p:blipFill>
        <p:spPr>
          <a:xfrm>
            <a:off x="7359503" y="2134217"/>
            <a:ext cx="2018413" cy="419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1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00672" y="900392"/>
            <a:ext cx="11430000" cy="6087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TabHost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TabHost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C68586-1C66-2542-8068-D8006FAE427C}"/>
              </a:ext>
            </a:extLst>
          </p:cNvPr>
          <p:cNvGrpSpPr/>
          <p:nvPr/>
        </p:nvGrpSpPr>
        <p:grpSpPr>
          <a:xfrm>
            <a:off x="2872410" y="1493881"/>
            <a:ext cx="6804991" cy="2154411"/>
            <a:chOff x="1348409" y="1600200"/>
            <a:chExt cx="6804991" cy="215441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9934B9-197F-8643-A93C-C9FF49280353}"/>
                </a:ext>
              </a:extLst>
            </p:cNvPr>
            <p:cNvSpPr/>
            <p:nvPr/>
          </p:nvSpPr>
          <p:spPr>
            <a:xfrm>
              <a:off x="1348409" y="1600200"/>
              <a:ext cx="4790661" cy="2154411"/>
            </a:xfrm>
            <a:prstGeom prst="rect">
              <a:avLst/>
            </a:prstGeom>
            <a:solidFill>
              <a:srgbClr val="009DD9">
                <a:lumMod val="50000"/>
              </a:srgbClr>
            </a:solidFill>
            <a:ln w="1905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5E3F50A-61E7-6547-8051-473C9CCCB218}"/>
                </a:ext>
              </a:extLst>
            </p:cNvPr>
            <p:cNvSpPr/>
            <p:nvPr/>
          </p:nvSpPr>
          <p:spPr>
            <a:xfrm>
              <a:off x="1348409" y="1600200"/>
              <a:ext cx="1524000" cy="381000"/>
            </a:xfrm>
            <a:prstGeom prst="round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9DD9">
                      <a:lumMod val="50000"/>
                    </a:srgb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Tab 1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FF52A53-4D94-9A48-9689-C6B8C3A77A06}"/>
                </a:ext>
              </a:extLst>
            </p:cNvPr>
            <p:cNvSpPr/>
            <p:nvPr/>
          </p:nvSpPr>
          <p:spPr>
            <a:xfrm>
              <a:off x="2981740" y="1600200"/>
              <a:ext cx="1524000" cy="38100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9DD9">
                      <a:lumMod val="50000"/>
                    </a:srgb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Tab 2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121FE28-F6B2-D047-BD28-B91C146028E7}"/>
                </a:ext>
              </a:extLst>
            </p:cNvPr>
            <p:cNvSpPr/>
            <p:nvPr/>
          </p:nvSpPr>
          <p:spPr>
            <a:xfrm>
              <a:off x="4615070" y="1613452"/>
              <a:ext cx="1524000" cy="38100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905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9DD9">
                      <a:lumMod val="50000"/>
                    </a:srgb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Tab 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08727DC-9393-5D4C-B6B4-49CF6ECD0457}"/>
                </a:ext>
              </a:extLst>
            </p:cNvPr>
            <p:cNvSpPr/>
            <p:nvPr/>
          </p:nvSpPr>
          <p:spPr>
            <a:xfrm>
              <a:off x="1348409" y="2014330"/>
              <a:ext cx="4790661" cy="1719470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12700" marR="0" lvl="2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9DD9">
                      <a:lumMod val="50000"/>
                    </a:srgb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FrameLayout</a:t>
              </a:r>
              <a:endPara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9DD9">
                    <a:lumMod val="50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49C4C182-A777-9142-88FF-C49DCEB4F30F}"/>
                </a:ext>
              </a:extLst>
            </p:cNvPr>
            <p:cNvSpPr/>
            <p:nvPr/>
          </p:nvSpPr>
          <p:spPr>
            <a:xfrm>
              <a:off x="6248400" y="1613452"/>
              <a:ext cx="152400" cy="414130"/>
            </a:xfrm>
            <a:prstGeom prst="rightBrac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CBA206CD-1277-3341-8B96-BF71D695C8C8}"/>
                </a:ext>
              </a:extLst>
            </p:cNvPr>
            <p:cNvSpPr/>
            <p:nvPr/>
          </p:nvSpPr>
          <p:spPr>
            <a:xfrm>
              <a:off x="6248400" y="2093843"/>
              <a:ext cx="152400" cy="1660768"/>
            </a:xfrm>
            <a:prstGeom prst="rightBrac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F7F1FE-1050-CC43-A81B-BDCBCD4B93A8}"/>
                </a:ext>
              </a:extLst>
            </p:cNvPr>
            <p:cNvSpPr txBox="1"/>
            <p:nvPr/>
          </p:nvSpPr>
          <p:spPr>
            <a:xfrm>
              <a:off x="6324600" y="1635851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Tab Widget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F0172E-15D1-DF48-81FA-64194ADAFE10}"/>
                </a:ext>
              </a:extLst>
            </p:cNvPr>
            <p:cNvSpPr txBox="1"/>
            <p:nvPr/>
          </p:nvSpPr>
          <p:spPr>
            <a:xfrm>
              <a:off x="6324600" y="2743200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FrameLayout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534A074-4716-AE4B-8F0F-04B28D04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047" y="3779880"/>
            <a:ext cx="3727384" cy="257573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9E46003-0B7D-4E45-8941-BBF374E52E82}"/>
              </a:ext>
            </a:extLst>
          </p:cNvPr>
          <p:cNvGrpSpPr/>
          <p:nvPr/>
        </p:nvGrpSpPr>
        <p:grpSpPr>
          <a:xfrm>
            <a:off x="7260734" y="1722480"/>
            <a:ext cx="2797666" cy="3200400"/>
            <a:chOff x="5736734" y="1828800"/>
            <a:chExt cx="2797666" cy="320040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700A2A3-74D4-684A-9475-C4B10095ACD3}"/>
                </a:ext>
              </a:extLst>
            </p:cNvPr>
            <p:cNvCxnSpPr/>
            <p:nvPr/>
          </p:nvCxnSpPr>
          <p:spPr>
            <a:xfrm>
              <a:off x="7979664" y="1828800"/>
              <a:ext cx="554736" cy="0"/>
            </a:xfrm>
            <a:prstGeom prst="lin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7C07150-18F0-EE4E-B244-6E1B88A0D4B3}"/>
                </a:ext>
              </a:extLst>
            </p:cNvPr>
            <p:cNvCxnSpPr/>
            <p:nvPr/>
          </p:nvCxnSpPr>
          <p:spPr>
            <a:xfrm>
              <a:off x="8534400" y="1828800"/>
              <a:ext cx="0" cy="3200400"/>
            </a:xfrm>
            <a:prstGeom prst="lin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BC1C953-BE6C-8547-9CEE-6D8F392D6B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6734" y="5029200"/>
              <a:ext cx="2797666" cy="0"/>
            </a:xfrm>
            <a:prstGeom prst="line">
              <a:avLst/>
            </a:prstGeom>
            <a:noFill/>
            <a:ln w="38100" cap="flat" cmpd="sng" algn="ctr">
              <a:solidFill>
                <a:srgbClr val="009DD9">
                  <a:lumMod val="50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53D708-B61A-2045-B3C4-7CBD577918E2}"/>
              </a:ext>
            </a:extLst>
          </p:cNvPr>
          <p:cNvGrpSpPr/>
          <p:nvPr/>
        </p:nvGrpSpPr>
        <p:grpSpPr>
          <a:xfrm>
            <a:off x="7258772" y="2865480"/>
            <a:ext cx="2967527" cy="2362200"/>
            <a:chOff x="5734771" y="2971800"/>
            <a:chExt cx="2967527" cy="236220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93BD4DD-38DC-9148-864F-444A62FEBCD5}"/>
                </a:ext>
              </a:extLst>
            </p:cNvPr>
            <p:cNvCxnSpPr/>
            <p:nvPr/>
          </p:nvCxnSpPr>
          <p:spPr>
            <a:xfrm>
              <a:off x="8147562" y="2971800"/>
              <a:ext cx="554736" cy="0"/>
            </a:xfrm>
            <a:prstGeom prst="lin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42943F4-296F-BF4D-9B54-74BD717539B0}"/>
                </a:ext>
              </a:extLst>
            </p:cNvPr>
            <p:cNvCxnSpPr>
              <a:cxnSpLocks/>
            </p:cNvCxnSpPr>
            <p:nvPr/>
          </p:nvCxnSpPr>
          <p:spPr>
            <a:xfrm>
              <a:off x="8697132" y="2971800"/>
              <a:ext cx="0" cy="2362200"/>
            </a:xfrm>
            <a:prstGeom prst="lin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5F10022-D8C4-5545-85A0-E00FC4F8F0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71" y="5334000"/>
              <a:ext cx="2962361" cy="0"/>
            </a:xfrm>
            <a:prstGeom prst="line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37554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TabHost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43882F7-D57D-C647-9D1A-3A01F6CC40F2}"/>
              </a:ext>
            </a:extLst>
          </p:cNvPr>
          <p:cNvSpPr/>
          <p:nvPr/>
        </p:nvSpPr>
        <p:spPr>
          <a:xfrm>
            <a:off x="728132" y="943627"/>
            <a:ext cx="8153400" cy="489364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22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.setup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Tạo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tab 1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TabHost.TabSpec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tab1 =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.newTabSpec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"tab1"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tab1.setContent(R.id.</a:t>
            </a:r>
            <a:r>
              <a:rPr kumimoji="0" lang="en-US" sz="2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tab1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tab1.setIndicator(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"Foods"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.addTab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(tab1)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Tạo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tab 2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TabHost.TabSpec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tab2 =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.newTabSpec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"tab2"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tab2.setContent(R.id.</a:t>
            </a:r>
            <a:r>
              <a:rPr kumimoji="0" lang="en-US" sz="2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tab2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tab2.setIndicator(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"Drinks"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.addTab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(tab2)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41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7. </a:t>
              </a:r>
              <a:r>
                <a:rPr lang="en-US" sz="28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TabHost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43882F7-D57D-C647-9D1A-3A01F6CC40F2}"/>
              </a:ext>
            </a:extLst>
          </p:cNvPr>
          <p:cNvSpPr/>
          <p:nvPr/>
        </p:nvSpPr>
        <p:spPr>
          <a:xfrm>
            <a:off x="816935" y="1017258"/>
            <a:ext cx="8153400" cy="292387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.setOnTabChangedListener(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TabHost.OnTabChangeListener() {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onTabChanged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(String s)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Toast.</a:t>
            </a:r>
            <a:r>
              <a:rPr kumimoji="0" lang="en-US" sz="2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makeText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(MainActivity.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this,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"Tab "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s +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selected, index: "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tabHost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getCurrentTab()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20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LENGTH_LONG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).show()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32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8. Menu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8.1. Option Menu</a:t>
            </a:r>
          </a:p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8.2. Context Menu</a:t>
            </a:r>
          </a:p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8.3. Menu Search 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36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170" y="897468"/>
            <a:ext cx="2383125" cy="496707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184442" y="1462665"/>
            <a:ext cx="2665228" cy="2693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1" idx="1"/>
          </p:cNvCxnSpPr>
          <p:nvPr/>
        </p:nvCxnSpPr>
        <p:spPr>
          <a:xfrm>
            <a:off x="1737875" y="1597345"/>
            <a:ext cx="44656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9697" y="1366511"/>
            <a:ext cx="165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ActionBar</a:t>
            </a:r>
            <a:endParaRPr lang="en-US" sz="2400"/>
          </a:p>
        </p:txBody>
      </p:sp>
      <p:sp>
        <p:nvSpPr>
          <p:cNvPr id="30" name="Rectangle 29"/>
          <p:cNvSpPr/>
          <p:nvPr/>
        </p:nvSpPr>
        <p:spPr>
          <a:xfrm>
            <a:off x="3772087" y="1476842"/>
            <a:ext cx="779872" cy="26935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551959" y="805117"/>
            <a:ext cx="2337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Option Menu</a:t>
            </a:r>
            <a:endParaRPr lang="en-US" sz="2400"/>
          </a:p>
        </p:txBody>
      </p:sp>
      <p:cxnSp>
        <p:nvCxnSpPr>
          <p:cNvPr id="33" name="Straight Arrow Connector 32"/>
          <p:cNvCxnSpPr/>
          <p:nvPr/>
        </p:nvCxnSpPr>
        <p:spPr>
          <a:xfrm flipH="1" flipV="1">
            <a:off x="4551959" y="1675317"/>
            <a:ext cx="590348" cy="5032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380" y="1366511"/>
            <a:ext cx="2205339" cy="470218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871" y="1366511"/>
            <a:ext cx="2247231" cy="4702188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056335" y="1828176"/>
            <a:ext cx="400384" cy="4039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8456719" y="2021974"/>
            <a:ext cx="185364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682083" y="5906996"/>
            <a:ext cx="1500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Type 1</a:t>
            </a:r>
            <a:endParaRPr lang="en-US" sz="2400"/>
          </a:p>
        </p:txBody>
      </p:sp>
      <p:sp>
        <p:nvSpPr>
          <p:cNvPr id="41" name="TextBox 40"/>
          <p:cNvSpPr txBox="1"/>
          <p:nvPr/>
        </p:nvSpPr>
        <p:spPr>
          <a:xfrm>
            <a:off x="8256527" y="6110549"/>
            <a:ext cx="1500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Type 2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4786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89" y="1666207"/>
            <a:ext cx="11780754" cy="3890479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new theme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49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302" y="1499915"/>
            <a:ext cx="6140616" cy="19778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268" y="2388311"/>
            <a:ext cx="3421677" cy="77730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811388" y="2686493"/>
            <a:ext cx="815161" cy="1842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t="3150"/>
          <a:stretch/>
        </p:blipFill>
        <p:spPr>
          <a:xfrm>
            <a:off x="4159561" y="4058026"/>
            <a:ext cx="7666384" cy="2502041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>
            <a:off x="6741042" y="3177754"/>
            <a:ext cx="1892597" cy="8802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811388" y="4198102"/>
            <a:ext cx="1424761" cy="2894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77563" y="5309046"/>
            <a:ext cx="666307" cy="3403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menu resource xml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13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359" y="1516839"/>
            <a:ext cx="7945558" cy="477041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823054" y="1949158"/>
            <a:ext cx="1304260" cy="3403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menu resource xml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36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11" y="1513483"/>
            <a:ext cx="8827761" cy="289115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b="64883"/>
          <a:stretch/>
        </p:blipFill>
        <p:spPr>
          <a:xfrm>
            <a:off x="6315456" y="3792584"/>
            <a:ext cx="2205339" cy="16512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510" y="1959622"/>
            <a:ext cx="2247231" cy="4702188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006997" y="4213211"/>
            <a:ext cx="400384" cy="4039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8407381" y="2707758"/>
            <a:ext cx="2080182" cy="16968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8207" y="845389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menu resource xml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94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54" y="1543255"/>
            <a:ext cx="8153621" cy="471068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483" y="1925797"/>
            <a:ext cx="2286160" cy="47649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997475" y="2455037"/>
            <a:ext cx="2665228" cy="2693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menu resource xml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6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Assign option menu for Activity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2753" y="1666207"/>
            <a:ext cx="102001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public boolean </a:t>
            </a:r>
            <a:r>
              <a:rPr lang="en-US" sz="1800">
                <a:solidFill>
                  <a:srgbClr val="00627A"/>
                </a:solidFill>
                <a:latin typeface="JetBrains Mono" panose="02000009000000000000" pitchFamily="49" charset="0"/>
              </a:rPr>
              <a:t>onCreateOptionsMenu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latin typeface="JetBrains Mono" panose="02000009000000000000" pitchFamily="49" charset="0"/>
              </a:rPr>
              <a:t>Menu 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menu)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latin typeface="JetBrains Mono" panose="02000009000000000000" pitchFamily="49" charset="0"/>
              </a:rPr>
              <a:t>MenuInflater inflater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=getMenuInflater();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latin typeface="JetBrains Mono" panose="02000009000000000000" pitchFamily="49" charset="0"/>
              </a:rPr>
              <a:t>inflater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.inflate(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main_menu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 menu);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return true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260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events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84520" y="1756271"/>
            <a:ext cx="920070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public boolean </a:t>
            </a:r>
            <a:r>
              <a:rPr lang="en-US" sz="1800">
                <a:solidFill>
                  <a:srgbClr val="00627A"/>
                </a:solidFill>
                <a:latin typeface="JetBrains Mono" panose="02000009000000000000" pitchFamily="49" charset="0"/>
              </a:rPr>
              <a:t>onOptionsItemSelected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latin typeface="JetBrains Mono" panose="02000009000000000000" pitchFamily="49" charset="0"/>
              </a:rPr>
              <a:t>MenuItem 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item)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if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(item.getItemId()==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id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mnuHelp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080808"/>
                </a:solidFill>
                <a:latin typeface="JetBrains Mono" panose="02000009000000000000" pitchFamily="49" charset="0"/>
              </a:rPr>
              <a:t>makeText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solidFill>
                  <a:srgbClr val="067D17"/>
                </a:solidFill>
                <a:latin typeface="JetBrains Mono" panose="02000009000000000000" pitchFamily="49" charset="0"/>
              </a:rPr>
              <a:t>"Do Help"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LENGTH_LONG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).show();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else if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(item.getItemId()==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id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mnuAbout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080808"/>
                </a:solidFill>
                <a:latin typeface="JetBrains Mono" panose="02000009000000000000" pitchFamily="49" charset="0"/>
              </a:rPr>
              <a:t>makeText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solidFill>
                  <a:srgbClr val="067D17"/>
                </a:solidFill>
                <a:latin typeface="JetBrains Mono" panose="02000009000000000000" pitchFamily="49" charset="0"/>
              </a:rPr>
              <a:t>"Do About"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LENGTH_LONG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).show();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return super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.onOptionsItemSelected(item);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470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8.1. Option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45" y="900138"/>
            <a:ext cx="10044104" cy="547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0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8.2. Context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574" y="918775"/>
            <a:ext cx="2553993" cy="538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5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8.2. Context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958" y="1453755"/>
            <a:ext cx="6967872" cy="4871891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context menu resource xml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48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8.2. Context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Assign context menu resource file for Activity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8131" y="1666207"/>
            <a:ext cx="99540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public void </a:t>
            </a:r>
            <a:r>
              <a:rPr lang="en-US" sz="1800">
                <a:solidFill>
                  <a:srgbClr val="00627A"/>
                </a:solidFill>
                <a:latin typeface="JetBrains Mono" panose="02000009000000000000" pitchFamily="49" charset="0"/>
              </a:rPr>
              <a:t>onCreateContextMenu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latin typeface="JetBrains Mono" panose="02000009000000000000" pitchFamily="49" charset="0"/>
              </a:rPr>
              <a:t>ContextMenu 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menu, </a:t>
            </a:r>
            <a:r>
              <a:rPr lang="en-US" sz="1800">
                <a:latin typeface="JetBrains Mono" panose="02000009000000000000" pitchFamily="49" charset="0"/>
              </a:rPr>
              <a:t>View 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v, </a:t>
            </a:r>
            <a:r>
              <a:rPr lang="en-US" sz="1800">
                <a:latin typeface="JetBrains Mono" panose="02000009000000000000" pitchFamily="49" charset="0"/>
              </a:rPr>
              <a:t>ContextMenu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ContextMenuInfo 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menuInfo)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super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.onCreateContextMenu(menu, v, menuInfo);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latin typeface="JetBrains Mono" panose="02000009000000000000" pitchFamily="49" charset="0"/>
              </a:rPr>
              <a:t>MenuInflater inflater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=getMenuInflater();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latin typeface="JetBrains Mono" panose="02000009000000000000" pitchFamily="49" charset="0"/>
              </a:rPr>
              <a:t>inflater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.inflate(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context_menu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 menu);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525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8.2. Context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Context Menu for 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25360" y="1821996"/>
            <a:ext cx="51090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80808"/>
                </a:solidFill>
                <a:latin typeface="JetBrains Mono" panose="02000009000000000000" pitchFamily="49" charset="0"/>
              </a:rPr>
              <a:t>registerForContextMenu(</a:t>
            </a:r>
            <a:r>
              <a:rPr lang="en-US" sz="2000">
                <a:solidFill>
                  <a:srgbClr val="871094"/>
                </a:solidFill>
                <a:latin typeface="JetBrains Mono" panose="02000009000000000000" pitchFamily="49" charset="0"/>
              </a:rPr>
              <a:t>lvTiGia</a:t>
            </a:r>
            <a:r>
              <a:rPr lang="en-US" sz="200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448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8.2. Context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3"/>
            <a:ext cx="11430000" cy="6788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events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8195" y="1524814"/>
            <a:ext cx="95976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80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public boolean </a:t>
            </a:r>
            <a:r>
              <a:rPr lang="en-US" sz="1800">
                <a:solidFill>
                  <a:srgbClr val="00627A"/>
                </a:solidFill>
                <a:latin typeface="JetBrains Mono" panose="02000009000000000000" pitchFamily="49" charset="0"/>
              </a:rPr>
              <a:t>onContextItemSelected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latin typeface="JetBrains Mono" panose="02000009000000000000" pitchFamily="49" charset="0"/>
              </a:rPr>
              <a:t>MenuItem 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item)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if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(item.getItemId()==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id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mnuEdit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080808"/>
                </a:solidFill>
                <a:latin typeface="JetBrains Mono" panose="02000009000000000000" pitchFamily="49" charset="0"/>
              </a:rPr>
              <a:t>makeText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solidFill>
                  <a:srgbClr val="067D17"/>
                </a:solidFill>
                <a:latin typeface="JetBrains Mono" panose="02000009000000000000" pitchFamily="49" charset="0"/>
              </a:rPr>
              <a:t>"Do Edit"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LENGTH_LONG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).show();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else if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(item.getItemId()==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id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mnuShare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080808"/>
                </a:solidFill>
                <a:latin typeface="JetBrains Mono" panose="02000009000000000000" pitchFamily="49" charset="0"/>
              </a:rPr>
              <a:t>makeText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solidFill>
                  <a:srgbClr val="067D17"/>
                </a:solidFill>
                <a:latin typeface="JetBrains Mono" panose="02000009000000000000" pitchFamily="49" charset="0"/>
              </a:rPr>
              <a:t>"Do Share"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LENGTH_LONG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).show();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else if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(item.getItemId()==</a:t>
            </a:r>
            <a:r>
              <a:rPr lang="en-US" sz="1800">
                <a:latin typeface="JetBrains Mono" panose="02000009000000000000" pitchFamily="49" charset="0"/>
              </a:rPr>
              <a:t>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>
                <a:latin typeface="JetBrains Mono" panose="02000009000000000000" pitchFamily="49" charset="0"/>
              </a:rPr>
              <a:t>id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mnuDelete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{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080808"/>
                </a:solidFill>
                <a:latin typeface="JetBrains Mono" panose="02000009000000000000" pitchFamily="49" charset="0"/>
              </a:rPr>
              <a:t>makeText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this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solidFill>
                  <a:srgbClr val="067D17"/>
                </a:solidFill>
                <a:latin typeface="JetBrains Mono" panose="02000009000000000000" pitchFamily="49" charset="0"/>
              </a:rPr>
              <a:t>"Do Delete"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,</a:t>
            </a:r>
            <a:r>
              <a:rPr lang="en-US" sz="1800">
                <a:latin typeface="JetBrains Mono" panose="02000009000000000000" pitchFamily="49" charset="0"/>
              </a:rPr>
              <a:t>Toast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>
                <a:solidFill>
                  <a:srgbClr val="871094"/>
                </a:solidFill>
                <a:latin typeface="JetBrains Mono" panose="02000009000000000000" pitchFamily="49" charset="0"/>
              </a:rPr>
              <a:t>LENGTH_LONG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).show();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>
                <a:solidFill>
                  <a:srgbClr val="0033B3"/>
                </a:solidFill>
                <a:latin typeface="JetBrains Mono" panose="02000009000000000000" pitchFamily="49" charset="0"/>
              </a:rPr>
              <a:t>return super</a:t>
            </a: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.onContextItemSelected(item);</a:t>
            </a:r>
            <a:b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537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8.2. Context Menu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0" y="1003735"/>
            <a:ext cx="10023877" cy="511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9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8.3. Menu Search View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598" y="900561"/>
            <a:ext cx="2514259" cy="53802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767" y="890191"/>
            <a:ext cx="2502598" cy="5390654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5061098" y="1647263"/>
            <a:ext cx="1899683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07981" y="1495647"/>
            <a:ext cx="446568" cy="29062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4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8.3. Menu Search View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65" y="936518"/>
            <a:ext cx="7152843" cy="53891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5656" y="2154865"/>
            <a:ext cx="3466214" cy="23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4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 inden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  <a:buNone/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8.3. Menu Search View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728131" y="968920"/>
            <a:ext cx="10825915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public boolean </a:t>
            </a:r>
            <a:r>
              <a:rPr lang="en-US" sz="1600">
                <a:solidFill>
                  <a:srgbClr val="00627A"/>
                </a:solidFill>
                <a:latin typeface="JetBrains Mono" panose="02000009000000000000" pitchFamily="49" charset="0"/>
              </a:rPr>
              <a:t>onCreateOptionsMenu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>
                <a:latin typeface="JetBrains Mono" panose="02000009000000000000" pitchFamily="49" charset="0"/>
              </a:rPr>
              <a:t>Menu 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menu) {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>
                <a:latin typeface="JetBrains Mono" panose="02000009000000000000" pitchFamily="49" charset="0"/>
              </a:rPr>
              <a:t>MenuInflater inflater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=getMenuInflater();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>
                <a:latin typeface="JetBrains Mono" panose="02000009000000000000" pitchFamily="49" charset="0"/>
              </a:rPr>
              <a:t>inflater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.inflate(</a:t>
            </a:r>
            <a:r>
              <a:rPr lang="en-US" sz="1600">
                <a:latin typeface="JetBrains Mono" panose="02000009000000000000" pitchFamily="49" charset="0"/>
              </a:rPr>
              <a:t>R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>
                <a:latin typeface="JetBrains Mono" panose="02000009000000000000" pitchFamily="49" charset="0"/>
              </a:rPr>
              <a:t>menu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 i="1">
                <a:solidFill>
                  <a:srgbClr val="871094"/>
                </a:solidFill>
                <a:latin typeface="JetBrains Mono" panose="02000009000000000000" pitchFamily="49" charset="0"/>
              </a:rPr>
              <a:t>main_menu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, menu);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>
                <a:latin typeface="JetBrains Mono" panose="02000009000000000000" pitchFamily="49" charset="0"/>
              </a:rPr>
              <a:t>MenuItem mnuSearch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=menu.findItem(</a:t>
            </a:r>
            <a:r>
              <a:rPr lang="en-US" sz="1600">
                <a:latin typeface="JetBrains Mono" panose="02000009000000000000" pitchFamily="49" charset="0"/>
              </a:rPr>
              <a:t>R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>
                <a:latin typeface="JetBrains Mono" panose="02000009000000000000" pitchFamily="49" charset="0"/>
              </a:rPr>
              <a:t>id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 i="1">
                <a:solidFill>
                  <a:srgbClr val="871094"/>
                </a:solidFill>
                <a:latin typeface="JetBrains Mono" panose="02000009000000000000" pitchFamily="49" charset="0"/>
              </a:rPr>
              <a:t>mnuSearch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>
                <a:latin typeface="JetBrains Mono" panose="02000009000000000000" pitchFamily="49" charset="0"/>
              </a:rPr>
              <a:t>SearchView searchView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= (</a:t>
            </a:r>
            <a:r>
              <a:rPr lang="en-US" sz="1600">
                <a:latin typeface="JetBrains Mono" panose="02000009000000000000" pitchFamily="49" charset="0"/>
              </a:rPr>
              <a:t>SearchView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) </a:t>
            </a:r>
            <a:r>
              <a:rPr lang="en-US" sz="1600">
                <a:latin typeface="JetBrains Mono" panose="02000009000000000000" pitchFamily="49" charset="0"/>
              </a:rPr>
              <a:t>MenuItemCompat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 i="1">
                <a:solidFill>
                  <a:srgbClr val="080808"/>
                </a:solidFill>
                <a:latin typeface="JetBrains Mono" panose="02000009000000000000" pitchFamily="49" charset="0"/>
              </a:rPr>
              <a:t>getActionView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>
                <a:latin typeface="JetBrains Mono" panose="02000009000000000000" pitchFamily="49" charset="0"/>
              </a:rPr>
              <a:t>mnuSearch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>
                <a:latin typeface="JetBrains Mono" panose="02000009000000000000" pitchFamily="49" charset="0"/>
              </a:rPr>
              <a:t>searchView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.setOnQueryTextListener(</a:t>
            </a:r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600">
                <a:latin typeface="JetBrains Mono" panose="02000009000000000000" pitchFamily="49" charset="0"/>
              </a:rPr>
              <a:t>SearchView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600">
                <a:latin typeface="JetBrains Mono" panose="02000009000000000000" pitchFamily="49" charset="0"/>
              </a:rPr>
              <a:t>OnQueryTextListener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60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9E880D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public boolean </a:t>
            </a:r>
            <a:r>
              <a:rPr lang="en-US" sz="1600">
                <a:solidFill>
                  <a:srgbClr val="00627A"/>
                </a:solidFill>
                <a:latin typeface="JetBrains Mono" panose="02000009000000000000" pitchFamily="49" charset="0"/>
              </a:rPr>
              <a:t>onQueryTextSubmit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>
                <a:latin typeface="JetBrains Mono" panose="02000009000000000000" pitchFamily="49" charset="0"/>
              </a:rPr>
              <a:t>String 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s) {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return false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    }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60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9E880D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public boolean </a:t>
            </a:r>
            <a:r>
              <a:rPr lang="en-US" sz="1600">
                <a:solidFill>
                  <a:srgbClr val="00627A"/>
                </a:solidFill>
                <a:latin typeface="JetBrains Mono" panose="02000009000000000000" pitchFamily="49" charset="0"/>
              </a:rPr>
              <a:t>onQueryTextChange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600">
                <a:latin typeface="JetBrains Mono" panose="02000009000000000000" pitchFamily="49" charset="0"/>
              </a:rPr>
              <a:t>String 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s) {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 i="1">
                <a:solidFill>
                  <a:srgbClr val="8C8C8C"/>
                </a:solidFill>
                <a:latin typeface="JetBrains Mono" panose="02000009000000000000" pitchFamily="49" charset="0"/>
              </a:rPr>
              <a:t>//process s</a:t>
            </a:r>
            <a:br>
              <a:rPr lang="en-US" sz="1600" i="1">
                <a:solidFill>
                  <a:srgbClr val="8C8C8C"/>
                </a:solidFill>
                <a:latin typeface="JetBrains Mono" panose="02000009000000000000" pitchFamily="49" charset="0"/>
              </a:rPr>
            </a:br>
            <a:r>
              <a:rPr lang="en-US" sz="1600" i="1">
                <a:solidFill>
                  <a:srgbClr val="8C8C8C"/>
                </a:solidFill>
                <a:latin typeface="JetBrains Mono" panose="02000009000000000000" pitchFamily="49" charset="0"/>
              </a:rPr>
              <a:t>            </a:t>
            </a:r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return false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    }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});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600">
                <a:solidFill>
                  <a:srgbClr val="0033B3"/>
                </a:solidFill>
                <a:latin typeface="JetBrains Mono" panose="02000009000000000000" pitchFamily="49" charset="0"/>
              </a:rPr>
              <a:t>return true</a:t>
            </a: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600">
                <a:solidFill>
                  <a:srgbClr val="080808"/>
                </a:solidFill>
                <a:latin typeface="JetBrains Mono" panose="02000009000000000000" pitchFamily="49" charset="0"/>
              </a:rPr>
              <a:t>}</a:t>
            </a:r>
            <a:endParaRPr lang="en-US" sz="1600">
              <a:solidFill>
                <a:srgbClr val="080808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2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Present the basic </a:t>
            </a:r>
            <a:r>
              <a:rPr lang="en-US" sz="2800" dirty="0" err="1">
                <a:latin typeface="Cambria" panose="02040503050406030204" pitchFamily="18" charset="0"/>
              </a:rPr>
              <a:t>Listview</a:t>
            </a:r>
            <a:r>
              <a:rPr lang="en-US" sz="2800" dirty="0">
                <a:latin typeface="Cambria" panose="02040503050406030204" pitchFamily="18" charset="0"/>
              </a:rPr>
              <a:t> programming steps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Present advanced </a:t>
            </a:r>
            <a:r>
              <a:rPr lang="en-US" sz="2800" dirty="0" err="1">
                <a:latin typeface="Cambria" panose="02040503050406030204" pitchFamily="18" charset="0"/>
              </a:rPr>
              <a:t>Listview</a:t>
            </a:r>
            <a:r>
              <a:rPr lang="en-US" sz="2800" dirty="0">
                <a:latin typeface="Cambria" panose="02040503050406030204" pitchFamily="18" charset="0"/>
              </a:rPr>
              <a:t> programming steps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Q3: Present the steps to program </a:t>
            </a:r>
            <a:r>
              <a:rPr lang="en-US" sz="2800" dirty="0" err="1">
                <a:latin typeface="Cambria" panose="02040503050406030204" pitchFamily="18" charset="0"/>
              </a:rPr>
              <a:t>RecyclerView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Q4: Present the steps of </a:t>
            </a:r>
            <a:r>
              <a:rPr lang="en-US" sz="2800" dirty="0" err="1">
                <a:latin typeface="Cambria" panose="02040503050406030204" pitchFamily="18" charset="0"/>
              </a:rPr>
              <a:t>Gridview</a:t>
            </a:r>
            <a:r>
              <a:rPr lang="en-US" sz="2800" dirty="0">
                <a:latin typeface="Cambria" panose="02040503050406030204" pitchFamily="18" charset="0"/>
              </a:rPr>
              <a:t> programming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Q5: Demonstrate how to interact with data on </a:t>
            </a:r>
            <a:r>
              <a:rPr lang="en-US" sz="2800" dirty="0" err="1">
                <a:latin typeface="Cambria" panose="02040503050406030204" pitchFamily="18" charset="0"/>
              </a:rPr>
              <a:t>DatePicker</a:t>
            </a:r>
            <a:r>
              <a:rPr lang="en-US" sz="2800" dirty="0">
                <a:latin typeface="Cambria" panose="02040503050406030204" pitchFamily="18" charset="0"/>
              </a:rPr>
              <a:t> and </a:t>
            </a:r>
            <a:r>
              <a:rPr lang="en-US" sz="2800" dirty="0" err="1">
                <a:latin typeface="Cambria" panose="02040503050406030204" pitchFamily="18" charset="0"/>
              </a:rPr>
              <a:t>TimePicker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Q6: Demonstrate how Spinner and </a:t>
            </a:r>
            <a:r>
              <a:rPr lang="en-US" sz="2800" dirty="0" err="1">
                <a:latin typeface="Cambria" panose="02040503050406030204" pitchFamily="18" charset="0"/>
              </a:rPr>
              <a:t>ListView</a:t>
            </a:r>
            <a:r>
              <a:rPr lang="en-US" sz="2800" dirty="0">
                <a:latin typeface="Cambria" panose="02040503050406030204" pitchFamily="18" charset="0"/>
              </a:rPr>
              <a:t> interact, for example we have Categories and Products.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Q7: Present the working mechanism of </a:t>
            </a:r>
            <a:r>
              <a:rPr lang="en-US" sz="2800" dirty="0" err="1">
                <a:latin typeface="Cambria" panose="02040503050406030204" pitchFamily="18" charset="0"/>
              </a:rPr>
              <a:t>AutocompleteTextView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Q8: Demonstrate how to use </a:t>
            </a:r>
            <a:r>
              <a:rPr lang="en-US" sz="2800" dirty="0" err="1">
                <a:latin typeface="Cambria" panose="02040503050406030204" pitchFamily="18" charset="0"/>
              </a:rPr>
              <a:t>Tabhost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66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Activity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Intent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Implicit Intent &amp; Explicit Intent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>
                <a:solidFill>
                  <a:prstClr val="black"/>
                </a:solidFill>
                <a:latin typeface="Georgia"/>
              </a:rPr>
              <a:t>Transfer data between Activities</a:t>
            </a: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1266</Words>
  <Application>Microsoft Office PowerPoint</Application>
  <PresentationFormat>Widescreen</PresentationFormat>
  <Paragraphs>356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Georgia</vt:lpstr>
      <vt:lpstr>Lato</vt:lpstr>
      <vt:lpstr>Times New Roman</vt:lpstr>
      <vt:lpstr>Lato Black</vt:lpstr>
      <vt:lpstr>JetBrains Mono</vt:lpstr>
      <vt:lpstr>Arial</vt:lpstr>
      <vt:lpstr>Cambria</vt:lpstr>
      <vt:lpstr>Calibri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415</cp:revision>
  <dcterms:created xsi:type="dcterms:W3CDTF">2022-12-02T04:21:00Z</dcterms:created>
  <dcterms:modified xsi:type="dcterms:W3CDTF">2024-02-19T16:00:33Z</dcterms:modified>
</cp:coreProperties>
</file>