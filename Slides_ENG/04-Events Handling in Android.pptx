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15"/>
  </p:notesMasterIdLst>
  <p:sldIdLst>
    <p:sldId id="256" r:id="rId3"/>
    <p:sldId id="267" r:id="rId4"/>
    <p:sldId id="281" r:id="rId5"/>
    <p:sldId id="270" r:id="rId6"/>
    <p:sldId id="276" r:id="rId7"/>
    <p:sldId id="277" r:id="rId8"/>
    <p:sldId id="278" r:id="rId9"/>
    <p:sldId id="279" r:id="rId10"/>
    <p:sldId id="280" r:id="rId11"/>
    <p:sldId id="275" r:id="rId12"/>
    <p:sldId id="282" r:id="rId13"/>
    <p:sldId id="269" r:id="rId14"/>
  </p:sldIdLst>
  <p:sldSz cx="12192000" cy="6858000"/>
  <p:notesSz cx="6858000" cy="9144000"/>
  <p:embeddedFontLst>
    <p:embeddedFont>
      <p:font typeface="Georgia" panose="02040502050405020303" pitchFamily="18" charset="0"/>
      <p:regular r:id="rId16"/>
      <p:bold r:id="rId17"/>
      <p:italic r:id="rId18"/>
      <p:boldItalic r:id="rId19"/>
    </p:embeddedFont>
    <p:embeddedFont>
      <p:font typeface="Lato Black" panose="020B0604020202020204" charset="0"/>
      <p:bold r:id="rId20"/>
      <p:boldItalic r:id="rId21"/>
    </p:embeddedFont>
    <p:embeddedFont>
      <p:font typeface="Lato" panose="020B0604020202020204" charset="0"/>
      <p:regular r:id="rId22"/>
      <p:bold r:id="rId23"/>
      <p:italic r:id="rId24"/>
      <p:boldItalic r:id="rId25"/>
    </p:embeddedFont>
    <p:embeddedFont>
      <p:font typeface="JetBrains Mono" panose="02000009000000000000" pitchFamily="49" charset="0"/>
      <p:regular r:id="rId26"/>
      <p:bold r:id="rId27"/>
      <p:italic r:id="rId28"/>
      <p:boldItalic r:id="rId29"/>
    </p:embeddedFont>
    <p:embeddedFont>
      <p:font typeface="Cambria" panose="02040503050406030204" pitchFamily="18" charset="0"/>
      <p:regular r:id="rId30"/>
      <p:bold r:id="rId31"/>
      <p:italic r:id="rId32"/>
      <p:boldItalic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2" roundtripDataSignature="AMtx7mh4VrLQLvjXUsQeVJWWu9hsLYoG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547" autoAdjust="0"/>
    <p:restoredTop sz="77148" autoAdjust="0"/>
  </p:normalViewPr>
  <p:slideViewPr>
    <p:cSldViewPr snapToGrid="0">
      <p:cViewPr varScale="1">
        <p:scale>
          <a:sx n="97" d="100"/>
          <a:sy n="97" d="100"/>
        </p:scale>
        <p:origin x="739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5.xml"/><Relationship Id="rId92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95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9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8" Type="http://schemas.openxmlformats.org/officeDocument/2006/relationships/slide" Target="slides/slide6.xml"/><Relationship Id="rId93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8213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2055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8366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7599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6519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1642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56963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0645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43483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542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2814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</a:pP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097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0036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5306" y="-33086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  <a:defRPr sz="96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7944" y="330860"/>
            <a:ext cx="2890753" cy="117634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2805445" y="1354975"/>
            <a:ext cx="6410498" cy="68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133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2903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032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7" r:id="rId3"/>
    <p:sldLayoutId id="214748365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92028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hanhtd@uel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randuythanh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F9BAC58-9AA6-A91A-085E-F1421DCCF43A}"/>
              </a:ext>
            </a:extLst>
          </p:cNvPr>
          <p:cNvSpPr txBox="1">
            <a:spLocks/>
          </p:cNvSpPr>
          <p:nvPr/>
        </p:nvSpPr>
        <p:spPr bwMode="auto">
          <a:xfrm>
            <a:off x="2132317" y="1977662"/>
            <a:ext cx="8763000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ker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Mobile-Commerce </a:t>
            </a:r>
            <a:r>
              <a:rPr lang="en-US" sz="3200" kern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  <a:p>
            <a:pPr>
              <a:defRPr/>
            </a:pPr>
            <a:r>
              <a:rPr lang="en-US" sz="3200" u="sng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</a:t>
            </a:r>
            <a:r>
              <a:rPr lang="en-US" sz="320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kern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320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Events Handling in Android</a:t>
            </a:r>
            <a:endParaRPr lang="en-US" sz="3200" ker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97E3A-A23C-B018-8E45-86B8BF858946}"/>
              </a:ext>
            </a:extLst>
          </p:cNvPr>
          <p:cNvSpPr txBox="1"/>
          <p:nvPr/>
        </p:nvSpPr>
        <p:spPr>
          <a:xfrm>
            <a:off x="7958878" y="4079089"/>
            <a:ext cx="378180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u="sng">
                <a:latin typeface="Times New Roman" panose="02020603050405020304" pitchFamily="18" charset="0"/>
                <a:cs typeface="Times New Roman" panose="02020603050405020304" pitchFamily="18" charset="0"/>
              </a:rPr>
              <a:t>Lecturer:</a:t>
            </a:r>
          </a:p>
          <a:p>
            <a:pPr algn="ctr"/>
            <a:r>
              <a:rPr lang="en-US" sz="2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 Duy Thanh, </a:t>
            </a:r>
            <a:r>
              <a:rPr lang="en-US" sz="22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</a:p>
          <a:p>
            <a:pPr algn="ctr"/>
            <a:r>
              <a:rPr lang="en-US" sz="22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Nguyen Quang Phuc, Msc</a:t>
            </a:r>
            <a:endParaRPr lang="en-US" sz="22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thanhtd@uel.edu.vn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Blog: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https://tranduythanh.com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Phone: 0987773061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60282" y="287873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Lesson Objective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361258" y="936623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-Students understand and implement events handling, such as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XML, Anonymous Listener, Variable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Listener, Activity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Listener, Explicit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Listener, and View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Subclassing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Apply the events handling to views as well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14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83931" y="30539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Outlines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XML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Anonymous Listener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as Listener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as Listener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 class Listener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Subclassing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9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Onclick XML</a:t>
              </a: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Rectangle 7"/>
          <p:cNvSpPr/>
          <p:nvPr/>
        </p:nvSpPr>
        <p:spPr>
          <a:xfrm>
            <a:off x="728133" y="1432343"/>
            <a:ext cx="10772812" cy="2031325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80808"/>
                </a:solidFill>
                <a:latin typeface="JetBrains Mono"/>
              </a:rPr>
              <a:t>&lt;</a:t>
            </a:r>
            <a:r>
              <a:rPr lang="en-US" sz="1800" dirty="0" err="1">
                <a:solidFill>
                  <a:srgbClr val="0033B3"/>
                </a:solidFill>
                <a:latin typeface="JetBrains Mono"/>
              </a:rPr>
              <a:t>ImageButton</a:t>
            </a:r>
            <a:r>
              <a:rPr lang="en-US" sz="1800" dirty="0">
                <a:solidFill>
                  <a:srgbClr val="0033B3"/>
                </a:solidFill>
                <a:latin typeface="JetBrains Mono"/>
              </a:rPr>
              <a:t/>
            </a:r>
            <a:br>
              <a:rPr lang="en-US" sz="1800" dirty="0">
                <a:solidFill>
                  <a:srgbClr val="0033B3"/>
                </a:solidFill>
                <a:latin typeface="JetBrains Mono"/>
              </a:rPr>
            </a:br>
            <a:r>
              <a:rPr lang="en-US" sz="1800" dirty="0">
                <a:solidFill>
                  <a:srgbClr val="0033B3"/>
                </a:solidFill>
                <a:latin typeface="JetBrains Mono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latin typeface="JetBrains Mono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latin typeface="JetBrains Mono"/>
              </a:rPr>
              <a:t>:id</a:t>
            </a:r>
            <a:r>
              <a:rPr lang="en-US" sz="1800" dirty="0">
                <a:solidFill>
                  <a:srgbClr val="067D17"/>
                </a:solidFill>
                <a:latin typeface="JetBrains Mono"/>
              </a:rPr>
              <a:t>="@+id/</a:t>
            </a:r>
            <a:r>
              <a:rPr lang="en-US" sz="1800" dirty="0" err="1">
                <a:solidFill>
                  <a:srgbClr val="067D17"/>
                </a:solidFill>
                <a:latin typeface="JetBrains Mono"/>
              </a:rPr>
              <a:t>imgChangeImage</a:t>
            </a:r>
            <a:r>
              <a:rPr lang="en-US" sz="1800" dirty="0">
                <a:solidFill>
                  <a:srgbClr val="067D17"/>
                </a:solidFill>
                <a:latin typeface="JetBrains Mono"/>
              </a:rPr>
              <a:t>"</a:t>
            </a:r>
            <a:br>
              <a:rPr lang="en-US" sz="1800" dirty="0">
                <a:solidFill>
                  <a:srgbClr val="067D17"/>
                </a:solidFill>
                <a:latin typeface="JetBrains Mono"/>
              </a:rPr>
            </a:br>
            <a:r>
              <a:rPr lang="en-US" sz="1800" dirty="0">
                <a:solidFill>
                  <a:srgbClr val="067D17"/>
                </a:solidFill>
                <a:latin typeface="JetBrains Mono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latin typeface="JetBrains Mono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latin typeface="JetBrains Mono"/>
              </a:rPr>
              <a:t>:layout_width</a:t>
            </a:r>
            <a:r>
              <a:rPr lang="en-US" sz="1800" dirty="0">
                <a:solidFill>
                  <a:srgbClr val="067D17"/>
                </a:solidFill>
                <a:latin typeface="JetBrains Mono"/>
              </a:rPr>
              <a:t>="80dp"</a:t>
            </a:r>
            <a:br>
              <a:rPr lang="en-US" sz="1800" dirty="0">
                <a:solidFill>
                  <a:srgbClr val="067D17"/>
                </a:solidFill>
                <a:latin typeface="JetBrains Mono"/>
              </a:rPr>
            </a:br>
            <a:r>
              <a:rPr lang="en-US" sz="1800" dirty="0">
                <a:solidFill>
                  <a:srgbClr val="067D17"/>
                </a:solidFill>
                <a:latin typeface="JetBrains Mono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latin typeface="JetBrains Mono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latin typeface="JetBrains Mono"/>
              </a:rPr>
              <a:t>:layout_height</a:t>
            </a:r>
            <a:r>
              <a:rPr lang="en-US" sz="1800" dirty="0">
                <a:solidFill>
                  <a:srgbClr val="067D17"/>
                </a:solidFill>
                <a:latin typeface="JetBrains Mono"/>
              </a:rPr>
              <a:t>="50dp"</a:t>
            </a:r>
            <a:br>
              <a:rPr lang="en-US" sz="1800" dirty="0">
                <a:solidFill>
                  <a:srgbClr val="067D17"/>
                </a:solidFill>
                <a:latin typeface="JetBrains Mono"/>
              </a:rPr>
            </a:br>
            <a:r>
              <a:rPr lang="en-US" sz="1800" dirty="0">
                <a:solidFill>
                  <a:srgbClr val="067D17"/>
                </a:solidFill>
                <a:latin typeface="JetBrains Mono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latin typeface="JetBrains Mono"/>
              </a:rPr>
              <a:t>app</a:t>
            </a:r>
            <a:r>
              <a:rPr lang="en-US" sz="1800" dirty="0" err="1">
                <a:solidFill>
                  <a:srgbClr val="174AD4"/>
                </a:solidFill>
                <a:latin typeface="JetBrains Mono"/>
              </a:rPr>
              <a:t>:srcCompat</a:t>
            </a:r>
            <a:r>
              <a:rPr lang="en-US" sz="1800" dirty="0">
                <a:solidFill>
                  <a:srgbClr val="067D17"/>
                </a:solidFill>
                <a:latin typeface="JetBrains Mono"/>
              </a:rPr>
              <a:t>="@</a:t>
            </a:r>
            <a:r>
              <a:rPr lang="en-US" sz="1800" dirty="0" err="1">
                <a:solidFill>
                  <a:srgbClr val="067D17"/>
                </a:solidFill>
                <a:latin typeface="JetBrains Mono"/>
              </a:rPr>
              <a:t>android:drawable</a:t>
            </a:r>
            <a:r>
              <a:rPr lang="en-US" sz="1800" dirty="0">
                <a:solidFill>
                  <a:srgbClr val="067D17"/>
                </a:solidFill>
                <a:latin typeface="JetBrains Mono"/>
              </a:rPr>
              <a:t>/</a:t>
            </a:r>
            <a:r>
              <a:rPr lang="en-US" sz="1800" dirty="0" err="1">
                <a:solidFill>
                  <a:srgbClr val="067D17"/>
                </a:solidFill>
                <a:latin typeface="JetBrains Mono"/>
              </a:rPr>
              <a:t>button_onoff_indicator_on</a:t>
            </a:r>
            <a:r>
              <a:rPr lang="en-US" sz="1800" dirty="0">
                <a:solidFill>
                  <a:srgbClr val="067D17"/>
                </a:solidFill>
                <a:latin typeface="JetBrains Mono"/>
              </a:rPr>
              <a:t>"</a:t>
            </a:r>
            <a:br>
              <a:rPr lang="en-US" sz="1800" dirty="0">
                <a:solidFill>
                  <a:srgbClr val="067D17"/>
                </a:solidFill>
                <a:latin typeface="JetBrains Mono"/>
              </a:rPr>
            </a:br>
            <a:r>
              <a:rPr lang="en-US" sz="1800" dirty="0">
                <a:solidFill>
                  <a:srgbClr val="067D17"/>
                </a:solidFill>
                <a:latin typeface="JetBrains Mono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latin typeface="JetBrains Mono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latin typeface="JetBrains Mono"/>
              </a:rPr>
              <a:t>:onClick</a:t>
            </a:r>
            <a:r>
              <a:rPr lang="en-US" sz="1800" dirty="0" smtClean="0">
                <a:solidFill>
                  <a:srgbClr val="067D17"/>
                </a:solidFill>
                <a:latin typeface="JetBrains Mono"/>
              </a:rPr>
              <a:t>="</a:t>
            </a:r>
            <a:r>
              <a:rPr lang="en-US" sz="1800" dirty="0" err="1" smtClean="0">
                <a:solidFill>
                  <a:srgbClr val="067D17"/>
                </a:solidFill>
                <a:latin typeface="JetBrains Mono"/>
              </a:rPr>
              <a:t>changeImage</a:t>
            </a:r>
            <a:r>
              <a:rPr lang="en-US" sz="1800" dirty="0" smtClean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sz="1800" dirty="0">
                <a:solidFill>
                  <a:srgbClr val="067D17"/>
                </a:solidFill>
                <a:latin typeface="JetBrains Mono"/>
              </a:rPr>
              <a:t/>
            </a:r>
            <a:br>
              <a:rPr lang="en-US" sz="1800" dirty="0">
                <a:solidFill>
                  <a:srgbClr val="067D17"/>
                </a:solidFill>
                <a:latin typeface="JetBrains Mono"/>
              </a:rPr>
            </a:br>
            <a:r>
              <a:rPr lang="en-US" sz="1800" dirty="0">
                <a:solidFill>
                  <a:srgbClr val="067D17"/>
                </a:solidFill>
                <a:latin typeface="JetBrains Mono"/>
              </a:rPr>
              <a:t>    </a:t>
            </a:r>
            <a:r>
              <a:rPr lang="en-US" sz="1800" dirty="0" err="1">
                <a:solidFill>
                  <a:srgbClr val="871094"/>
                </a:solidFill>
                <a:latin typeface="JetBrains Mono"/>
              </a:rPr>
              <a:t>android</a:t>
            </a:r>
            <a:r>
              <a:rPr lang="en-US" sz="1800" dirty="0" err="1">
                <a:solidFill>
                  <a:srgbClr val="174AD4"/>
                </a:solidFill>
                <a:latin typeface="JetBrains Mono"/>
              </a:rPr>
              <a:t>:contentDescription</a:t>
            </a:r>
            <a:r>
              <a:rPr lang="en-US" sz="1800" dirty="0">
                <a:solidFill>
                  <a:srgbClr val="067D17"/>
                </a:solidFill>
                <a:latin typeface="JetBrains Mono"/>
              </a:rPr>
              <a:t>="@string/</a:t>
            </a:r>
            <a:r>
              <a:rPr lang="en-US" sz="1800" dirty="0" err="1">
                <a:solidFill>
                  <a:srgbClr val="067D17"/>
                </a:solidFill>
                <a:latin typeface="JetBrains Mono"/>
              </a:rPr>
              <a:t>todo</a:t>
            </a:r>
            <a:r>
              <a:rPr lang="en-US" sz="1800" dirty="0">
                <a:solidFill>
                  <a:srgbClr val="067D17"/>
                </a:solidFill>
                <a:latin typeface="JetBrains Mono"/>
              </a:rPr>
              <a:t>" 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/&gt;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728132" y="3725550"/>
            <a:ext cx="10772813" cy="2585323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33B3"/>
                </a:solidFill>
                <a:latin typeface="JetBrains Mono"/>
              </a:rPr>
              <a:t>public void </a:t>
            </a:r>
            <a:r>
              <a:rPr lang="en-US" sz="1800" dirty="0" err="1" smtClean="0">
                <a:solidFill>
                  <a:srgbClr val="00627A"/>
                </a:solidFill>
                <a:latin typeface="JetBrains Mono"/>
              </a:rPr>
              <a:t>changeImage</a:t>
            </a:r>
            <a:r>
              <a:rPr lang="en-US" sz="1800" dirty="0" smtClean="0">
                <a:solidFill>
                  <a:srgbClr val="080808"/>
                </a:solidFill>
                <a:latin typeface="JetBrains Mono"/>
              </a:rPr>
              <a:t>(View 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view) {</a:t>
            </a:r>
            <a:br>
              <a:rPr 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JetBrains Mono"/>
              </a:rPr>
              <a:t>if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800" dirty="0" err="1">
                <a:solidFill>
                  <a:srgbClr val="080808"/>
                </a:solidFill>
                <a:latin typeface="JetBrains Mono"/>
              </a:rPr>
              <a:t>imageView.getTag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() == </a:t>
            </a:r>
            <a:r>
              <a:rPr lang="en-US" sz="1800" dirty="0">
                <a:solidFill>
                  <a:srgbClr val="0033B3"/>
                </a:solidFill>
                <a:latin typeface="JetBrains Mono"/>
              </a:rPr>
              <a:t>null 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|| </a:t>
            </a:r>
            <a:r>
              <a:rPr lang="en-US" sz="1800" dirty="0" err="1">
                <a:solidFill>
                  <a:srgbClr val="080808"/>
                </a:solidFill>
                <a:latin typeface="JetBrains Mono"/>
              </a:rPr>
              <a:t>imageView.getTag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().equals(</a:t>
            </a:r>
            <a:r>
              <a:rPr lang="en-US" sz="1800" dirty="0">
                <a:solidFill>
                  <a:srgbClr val="067D17"/>
                </a:solidFill>
                <a:latin typeface="JetBrains Mono"/>
              </a:rPr>
              <a:t>"android"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)){</a:t>
            </a:r>
            <a:br>
              <a:rPr 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sz="1800" dirty="0" err="1">
                <a:solidFill>
                  <a:srgbClr val="080808"/>
                </a:solidFill>
                <a:latin typeface="JetBrains Mono"/>
              </a:rPr>
              <a:t>imageView.setImageResource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800" dirty="0" err="1">
                <a:latin typeface="JetBrains Mono"/>
              </a:rPr>
              <a:t>R</a:t>
            </a:r>
            <a:r>
              <a:rPr lang="en-US" sz="18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US" sz="1800" dirty="0" err="1">
                <a:latin typeface="JetBrains Mono"/>
              </a:rPr>
              <a:t>drawable</a:t>
            </a:r>
            <a:r>
              <a:rPr lang="en-US" sz="1800" dirty="0" err="1">
                <a:solidFill>
                  <a:srgbClr val="080808"/>
                </a:solidFill>
                <a:latin typeface="JetBrains Mono"/>
              </a:rPr>
              <a:t>.ios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sz="1800" dirty="0" err="1">
                <a:solidFill>
                  <a:srgbClr val="080808"/>
                </a:solidFill>
                <a:latin typeface="JetBrains Mono"/>
              </a:rPr>
              <a:t>imageView.setTag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8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sz="1800" dirty="0" err="1">
                <a:solidFill>
                  <a:srgbClr val="067D17"/>
                </a:solidFill>
                <a:latin typeface="JetBrains Mono"/>
              </a:rPr>
              <a:t>ios</a:t>
            </a:r>
            <a:r>
              <a:rPr lang="en-US" sz="18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</a:rPr>
              <a:t>    }</a:t>
            </a:r>
            <a:r>
              <a:rPr lang="en-US" sz="1800" dirty="0">
                <a:solidFill>
                  <a:srgbClr val="0033B3"/>
                </a:solidFill>
                <a:latin typeface="JetBrains Mono"/>
              </a:rPr>
              <a:t>else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{</a:t>
            </a:r>
            <a:br>
              <a:rPr 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sz="1800" dirty="0" err="1">
                <a:solidFill>
                  <a:srgbClr val="080808"/>
                </a:solidFill>
                <a:latin typeface="JetBrains Mono"/>
              </a:rPr>
              <a:t>imageView.setImageResource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800" dirty="0" err="1">
                <a:latin typeface="JetBrains Mono"/>
              </a:rPr>
              <a:t>R</a:t>
            </a:r>
            <a:r>
              <a:rPr lang="en-US" sz="18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US" sz="1800" dirty="0" err="1">
                <a:latin typeface="JetBrains Mono"/>
              </a:rPr>
              <a:t>drawable</a:t>
            </a:r>
            <a:r>
              <a:rPr lang="en-US" sz="1800" dirty="0" err="1">
                <a:solidFill>
                  <a:srgbClr val="080808"/>
                </a:solidFill>
                <a:latin typeface="JetBrains Mono"/>
              </a:rPr>
              <a:t>.android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US" sz="1800" dirty="0" err="1">
                <a:solidFill>
                  <a:srgbClr val="080808"/>
                </a:solidFill>
                <a:latin typeface="JetBrains Mono"/>
              </a:rPr>
              <a:t>imageView.setTag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US" sz="1800" dirty="0">
                <a:solidFill>
                  <a:srgbClr val="067D17"/>
                </a:solidFill>
                <a:latin typeface="JetBrains Mono"/>
              </a:rPr>
              <a:t>"android"</a:t>
            </a:r>
            <a:r>
              <a:rPr lang="en-US" sz="18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US" sz="1800" dirty="0">
                <a:solidFill>
                  <a:srgbClr val="080808"/>
                </a:solidFill>
                <a:latin typeface="JetBrains Mono"/>
              </a:rPr>
            </a:br>
            <a:r>
              <a:rPr lang="en-US" sz="1800" dirty="0">
                <a:solidFill>
                  <a:srgbClr val="080808"/>
                </a:solidFill>
                <a:latin typeface="JetBrains Mono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773" y="845389"/>
            <a:ext cx="84609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 property of view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android:onClick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xml </a:t>
            </a:r>
          </a:p>
        </p:txBody>
      </p:sp>
    </p:spTree>
    <p:extLst>
      <p:ext uri="{BB962C8B-B14F-4D97-AF65-F5344CB8AC3E}">
        <p14:creationId xmlns:p14="http://schemas.microsoft.com/office/powerpoint/2010/main" val="147427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</a:t>
              </a: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Anonymous Listener</a:t>
              </a: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0" name="Rectangle 9"/>
          <p:cNvSpPr/>
          <p:nvPr/>
        </p:nvSpPr>
        <p:spPr>
          <a:xfrm>
            <a:off x="728132" y="2055098"/>
            <a:ext cx="10770476" cy="4247317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btnGreen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.setOnClickListener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(</a:t>
            </a:r>
            <a:r>
              <a:rPr lang="en-US" sz="1800" dirty="0">
                <a:solidFill>
                  <a:srgbClr val="0033B3"/>
                </a:solidFill>
                <a:latin typeface="JetBrains Mono" panose="02000009000000000000" pitchFamily="49" charset="0"/>
              </a:rPr>
              <a:t>new </a:t>
            </a:r>
            <a:r>
              <a:rPr lang="en-US" sz="1800" dirty="0" err="1">
                <a:latin typeface="JetBrains Mono" panose="02000009000000000000" pitchFamily="49" charset="0"/>
              </a:rPr>
              <a:t>View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dirty="0" err="1">
                <a:latin typeface="JetBrains Mono" panose="02000009000000000000" pitchFamily="49" charset="0"/>
              </a:rPr>
              <a:t>OnClickListener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()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{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>
                <a:solidFill>
                  <a:srgbClr val="9E880D"/>
                </a:solidFill>
                <a:latin typeface="JetBrains Mono" panose="02000009000000000000" pitchFamily="49" charset="0"/>
              </a:rPr>
              <a:t>@Override</a:t>
            </a:r>
            <a:br>
              <a:rPr lang="en-US" sz="1800" dirty="0">
                <a:solidFill>
                  <a:srgbClr val="9E880D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9E880D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JetBrains Mono" panose="02000009000000000000" pitchFamily="49" charset="0"/>
              </a:rPr>
              <a:t>public void </a:t>
            </a:r>
            <a:r>
              <a:rPr lang="en-US" sz="1800" dirty="0" err="1">
                <a:solidFill>
                  <a:srgbClr val="00627A"/>
                </a:solidFill>
                <a:latin typeface="JetBrains Mono" panose="02000009000000000000" pitchFamily="49" charset="0"/>
              </a:rPr>
              <a:t>onClick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 dirty="0">
                <a:latin typeface="JetBrains Mono" panose="02000009000000000000" pitchFamily="49" charset="0"/>
              </a:rPr>
              <a:t>View 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view) {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txtColor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.setBackgroundColor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 dirty="0" err="1">
                <a:latin typeface="JetBrains Mono" panose="02000009000000000000" pitchFamily="49" charset="0"/>
              </a:rPr>
              <a:t>Color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GREEN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}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});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/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btnBlue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.setOnLongClickListener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 dirty="0">
                <a:solidFill>
                  <a:srgbClr val="0033B3"/>
                </a:solidFill>
                <a:latin typeface="JetBrains Mono" panose="02000009000000000000" pitchFamily="49" charset="0"/>
              </a:rPr>
              <a:t>new </a:t>
            </a:r>
            <a:r>
              <a:rPr lang="en-US" sz="1800" dirty="0" err="1">
                <a:latin typeface="JetBrains Mono" panose="02000009000000000000" pitchFamily="49" charset="0"/>
              </a:rPr>
              <a:t>View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dirty="0" err="1">
                <a:latin typeface="JetBrains Mono" panose="02000009000000000000" pitchFamily="49" charset="0"/>
              </a:rPr>
              <a:t>OnLongClickListener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() {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>
                <a:solidFill>
                  <a:srgbClr val="9E880D"/>
                </a:solidFill>
                <a:latin typeface="JetBrains Mono" panose="02000009000000000000" pitchFamily="49" charset="0"/>
              </a:rPr>
              <a:t>@Override</a:t>
            </a:r>
            <a:br>
              <a:rPr lang="en-US" sz="1800" dirty="0">
                <a:solidFill>
                  <a:srgbClr val="9E880D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9E880D"/>
                </a:solidFill>
                <a:latin typeface="JetBrains Mono" panose="02000009000000000000" pitchFamily="49" charset="0"/>
              </a:rPr>
              <a:t>    </a:t>
            </a:r>
            <a:r>
              <a:rPr lang="en-US" sz="1800" dirty="0">
                <a:solidFill>
                  <a:srgbClr val="0033B3"/>
                </a:solidFill>
                <a:latin typeface="JetBrains Mono" panose="02000009000000000000" pitchFamily="49" charset="0"/>
              </a:rPr>
              <a:t>public </a:t>
            </a:r>
            <a:r>
              <a:rPr lang="en-US" sz="1800" dirty="0" err="1">
                <a:solidFill>
                  <a:srgbClr val="0033B3"/>
                </a:solidFill>
                <a:latin typeface="JetBrains Mono" panose="02000009000000000000" pitchFamily="49" charset="0"/>
              </a:rPr>
              <a:t>boolean</a:t>
            </a:r>
            <a:r>
              <a:rPr lang="en-US" sz="1800" dirty="0">
                <a:solidFill>
                  <a:srgbClr val="0033B3"/>
                </a:solidFill>
                <a:latin typeface="JetBrains Mono" panose="02000009000000000000" pitchFamily="49" charset="0"/>
              </a:rPr>
              <a:t> </a:t>
            </a:r>
            <a:r>
              <a:rPr lang="en-US" sz="1800" dirty="0" err="1">
                <a:solidFill>
                  <a:srgbClr val="00627A"/>
                </a:solidFill>
                <a:latin typeface="JetBrains Mono" panose="02000009000000000000" pitchFamily="49" charset="0"/>
              </a:rPr>
              <a:t>onLongClick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 dirty="0">
                <a:latin typeface="JetBrains Mono" panose="02000009000000000000" pitchFamily="49" charset="0"/>
              </a:rPr>
              <a:t>View 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view) {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sz="1800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txtColor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.setBackgroundColor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(</a:t>
            </a:r>
            <a:r>
              <a:rPr lang="en-US" sz="1800" dirty="0" err="1">
                <a:latin typeface="JetBrains Mono" panose="02000009000000000000" pitchFamily="49" charset="0"/>
              </a:rPr>
              <a:t>Color</a:t>
            </a:r>
            <a:r>
              <a:rPr lang="en-US" sz="1800" dirty="0" err="1">
                <a:solidFill>
                  <a:srgbClr val="080808"/>
                </a:solidFill>
                <a:latin typeface="JetBrains Mono" panose="02000009000000000000" pitchFamily="49" charset="0"/>
              </a:rPr>
              <a:t>.</a:t>
            </a:r>
            <a:r>
              <a:rPr lang="en-US" sz="1800" i="1" dirty="0" err="1">
                <a:solidFill>
                  <a:srgbClr val="871094"/>
                </a:solidFill>
                <a:latin typeface="JetBrains Mono" panose="02000009000000000000" pitchFamily="49" charset="0"/>
              </a:rPr>
              <a:t>BLUE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);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    </a:t>
            </a:r>
            <a:r>
              <a:rPr lang="en-US" sz="1800" dirty="0">
                <a:solidFill>
                  <a:srgbClr val="0033B3"/>
                </a:solidFill>
                <a:latin typeface="JetBrains Mono" panose="02000009000000000000" pitchFamily="49" charset="0"/>
              </a:rPr>
              <a:t>return false</a:t>
            </a: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;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    }</a:t>
            </a:r>
            <a:b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</a:br>
            <a:r>
              <a:rPr lang="en-US" sz="1800" dirty="0">
                <a:solidFill>
                  <a:srgbClr val="080808"/>
                </a:solidFill>
                <a:latin typeface="JetBrains Mono" panose="02000009000000000000" pitchFamily="49" charset="0"/>
              </a:rPr>
              <a:t>}) 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1706" y="920479"/>
            <a:ext cx="1084690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anonymous listener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pass it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setOnClickListener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functions in the same step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393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sz="2800" b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Variable as Listener</a:t>
              </a: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8BCD0CE-C780-8443-8982-C168394C2BF9}"/>
              </a:ext>
            </a:extLst>
          </p:cNvPr>
          <p:cNvSpPr/>
          <p:nvPr/>
        </p:nvSpPr>
        <p:spPr>
          <a:xfrm>
            <a:off x="666060" y="1072290"/>
            <a:ext cx="6830443" cy="5078313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View.OnClickListener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myClick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View.OnClickListener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onClick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(View view)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if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view.getId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==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R.id.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btnHide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imgPhoto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.setVisibility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INVISIBLE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else if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view.getId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==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R.id.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btnShow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imgPhoto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.setVisibility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VISIBLE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void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onCreate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(Bundle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savedInstanceState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.onCreate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savedInstanceState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setContentView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R.layout.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activity_main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addViews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();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btnShow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.setOnClickListener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myClick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btnHide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.setOnClickListener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myClick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7045" y="2157248"/>
            <a:ext cx="4142424" cy="1938992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don’t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the implementation to class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Hold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reference to the Listener in a variable </a:t>
            </a:r>
          </a:p>
        </p:txBody>
      </p:sp>
    </p:spTree>
    <p:extLst>
      <p:ext uri="{BB962C8B-B14F-4D97-AF65-F5344CB8AC3E}">
        <p14:creationId xmlns:p14="http://schemas.microsoft.com/office/powerpoint/2010/main" val="349744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</a:t>
              </a: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Activity as Listener</a:t>
              </a: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C0C0E4AA-2EB7-624E-B769-3281E5671232}"/>
              </a:ext>
            </a:extLst>
          </p:cNvPr>
          <p:cNvSpPr/>
          <p:nvPr/>
        </p:nvSpPr>
        <p:spPr>
          <a:xfrm>
            <a:off x="728132" y="928100"/>
            <a:ext cx="6476460" cy="5262979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class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MainActivity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extends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AppCompatActivity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implements 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View.OnClickListener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….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void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onCreate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(Bundle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savedInstanceState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 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.onCreate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savedInstanceState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setContentView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R.layout.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activity_main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….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btnPic1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.setOnClickListener(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btnPic2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.setOnClickListener(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….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@Override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onClick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(View view) 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if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view.getId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== R.id.</a:t>
            </a:r>
            <a:r>
              <a:rPr kumimoji="0" lang="en-US" sz="16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btnPic1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imgPic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.setImageResource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R.drawable.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android_icon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else if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view.getId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== R.id.</a:t>
            </a:r>
            <a:r>
              <a:rPr kumimoji="0" lang="en-US" sz="16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btnPic2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imgPic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.setImageResource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R.drawable.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ios_icon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2572" y="2300287"/>
            <a:ext cx="458251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interface to your base class. 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“implements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to the class declaration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609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5. </a:t>
              </a: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Explicit class Listener</a:t>
              </a: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F4CDC-9CDE-3646-B571-637E1D7DBE57}"/>
              </a:ext>
            </a:extLst>
          </p:cNvPr>
          <p:cNvSpPr/>
          <p:nvPr/>
        </p:nvSpPr>
        <p:spPr>
          <a:xfrm>
            <a:off x="744188" y="1842584"/>
            <a:ext cx="6477000" cy="3785652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….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btnMove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.setOnClickListener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MyEvents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….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class </a:t>
            </a: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MyEvents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implements </a:t>
            </a:r>
            <a:r>
              <a:rPr kumimoji="0" lang="en-US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View.OnClickListener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{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onClick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(View view) {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if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view.equals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btnExit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)){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finish()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36814" y="994689"/>
            <a:ext cx="95317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explicit class for the listener, but an anonymous (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inline)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listener object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90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6. </a:t>
              </a:r>
              <a:r>
                <a:rPr lang="en-US" sz="2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View Subclassing</a:t>
              </a: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38E138EC-463B-E444-BE43-05DEC078E16D}"/>
              </a:ext>
            </a:extLst>
          </p:cNvPr>
          <p:cNvSpPr/>
          <p:nvPr/>
        </p:nvSpPr>
        <p:spPr>
          <a:xfrm>
            <a:off x="859365" y="1166419"/>
            <a:ext cx="4876800" cy="4491358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….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Button btnBack =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Button(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){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boolean 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performClick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//your code here;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return super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.performClick()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btnBack.setText(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"Back"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btnBack.setLayoutParams(params)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linearLayout.addView(btnBack)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….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765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223345" y="293128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Discussions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24320" y="991108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Q1: </a:t>
            </a:r>
            <a:r>
              <a:rPr lang="en-US" sz="2800" dirty="0">
                <a:latin typeface="Cambria" panose="02040503050406030204" pitchFamily="18" charset="0"/>
              </a:rPr>
              <a:t>Explain mechanism operating of</a:t>
            </a:r>
            <a:r>
              <a:rPr lang="en-US" sz="2800" dirty="0" smtClean="0">
                <a:latin typeface="Cambria" panose="02040503050406030204" pitchFamily="18" charset="0"/>
              </a:rPr>
              <a:t> </a:t>
            </a:r>
            <a:r>
              <a:rPr lang="en-US" sz="2800" dirty="0" err="1" smtClean="0">
                <a:latin typeface="Cambria" panose="02040503050406030204" pitchFamily="18" charset="0"/>
              </a:rPr>
              <a:t>Onclick</a:t>
            </a:r>
            <a:r>
              <a:rPr lang="en-US" sz="2800" dirty="0" smtClean="0">
                <a:latin typeface="Cambria" panose="02040503050406030204" pitchFamily="18" charset="0"/>
              </a:rPr>
              <a:t> </a:t>
            </a:r>
            <a:r>
              <a:rPr lang="en-US" sz="2800" dirty="0">
                <a:latin typeface="Cambria" panose="02040503050406030204" pitchFamily="18" charset="0"/>
              </a:rPr>
              <a:t>XML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Q2: </a:t>
            </a:r>
            <a:r>
              <a:rPr lang="en-US" sz="2800" dirty="0">
                <a:latin typeface="Cambria" panose="02040503050406030204" pitchFamily="18" charset="0"/>
              </a:rPr>
              <a:t>Explain mechanism operating </a:t>
            </a:r>
            <a:r>
              <a:rPr lang="en-US" sz="2800" dirty="0" smtClean="0">
                <a:latin typeface="Cambria" panose="02040503050406030204" pitchFamily="18" charset="0"/>
              </a:rPr>
              <a:t>of Anonymous </a:t>
            </a:r>
            <a:r>
              <a:rPr lang="en-US" sz="2800" dirty="0">
                <a:latin typeface="Cambria" panose="02040503050406030204" pitchFamily="18" charset="0"/>
              </a:rPr>
              <a:t>Listener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Q3</a:t>
            </a:r>
            <a:r>
              <a:rPr lang="en-US" sz="2800" dirty="0">
                <a:latin typeface="Cambria" panose="02040503050406030204" pitchFamily="18" charset="0"/>
              </a:rPr>
              <a:t>: Explain mechanism operating of </a:t>
            </a:r>
            <a:r>
              <a:rPr lang="en-US" sz="2800" dirty="0" smtClean="0">
                <a:latin typeface="Cambria" panose="02040503050406030204" pitchFamily="18" charset="0"/>
              </a:rPr>
              <a:t>Variable </a:t>
            </a:r>
            <a:r>
              <a:rPr lang="en-US" sz="2800" dirty="0">
                <a:latin typeface="Cambria" panose="02040503050406030204" pitchFamily="18" charset="0"/>
              </a:rPr>
              <a:t>as Listener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Q4</a:t>
            </a:r>
            <a:r>
              <a:rPr lang="en-US" sz="2800" dirty="0">
                <a:latin typeface="Cambria" panose="02040503050406030204" pitchFamily="18" charset="0"/>
              </a:rPr>
              <a:t>: Explain mechanism operating of </a:t>
            </a:r>
            <a:r>
              <a:rPr lang="en-US" sz="2800" dirty="0" smtClean="0">
                <a:latin typeface="Cambria" panose="02040503050406030204" pitchFamily="18" charset="0"/>
              </a:rPr>
              <a:t>Activity </a:t>
            </a:r>
            <a:r>
              <a:rPr lang="en-US" sz="2800" dirty="0">
                <a:latin typeface="Cambria" panose="02040503050406030204" pitchFamily="18" charset="0"/>
              </a:rPr>
              <a:t>as Listener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Q5</a:t>
            </a:r>
            <a:r>
              <a:rPr lang="en-US" sz="2800" dirty="0">
                <a:latin typeface="Cambria" panose="02040503050406030204" pitchFamily="18" charset="0"/>
              </a:rPr>
              <a:t>: Explain mechanism operating of Explicit </a:t>
            </a:r>
            <a:r>
              <a:rPr lang="en-US" sz="2800" dirty="0">
                <a:latin typeface="Cambria" panose="02040503050406030204" pitchFamily="18" charset="0"/>
              </a:rPr>
              <a:t>class Listener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Q6</a:t>
            </a:r>
            <a:r>
              <a:rPr lang="en-US" sz="2800" dirty="0">
                <a:latin typeface="Cambria" panose="02040503050406030204" pitchFamily="18" charset="0"/>
              </a:rPr>
              <a:t>: Explain mechanism operating of </a:t>
            </a:r>
            <a:r>
              <a:rPr lang="en-US" sz="2800" dirty="0" smtClean="0">
                <a:latin typeface="Cambria" panose="02040503050406030204" pitchFamily="18" charset="0"/>
              </a:rPr>
              <a:t>View </a:t>
            </a:r>
            <a:r>
              <a:rPr lang="en-US" sz="2800" dirty="0" err="1">
                <a:latin typeface="Cambria" panose="02040503050406030204" pitchFamily="18" charset="0"/>
              </a:rPr>
              <a:t>Subclassing</a:t>
            </a: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66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83931" y="30539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Next Lesson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Toast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AlertDialog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 Dialog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819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</a:pPr>
            <a:r>
              <a:rPr lang="en-US"/>
              <a:t>THANK YOU!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896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350</Words>
  <Application>Microsoft Office PowerPoint</Application>
  <PresentationFormat>Widescreen</PresentationFormat>
  <Paragraphs>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Georgia</vt:lpstr>
      <vt:lpstr>Lato Black</vt:lpstr>
      <vt:lpstr>Times New Roman</vt:lpstr>
      <vt:lpstr>Lato</vt:lpstr>
      <vt:lpstr>Arial</vt:lpstr>
      <vt:lpstr>JetBrains Mono</vt:lpstr>
      <vt:lpstr>Cambria</vt:lpstr>
      <vt:lpstr>Calibri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Pí Yeah</dc:creator>
  <cp:lastModifiedBy>thanhtd</cp:lastModifiedBy>
  <cp:revision>259</cp:revision>
  <dcterms:created xsi:type="dcterms:W3CDTF">2022-12-02T04:21:00Z</dcterms:created>
  <dcterms:modified xsi:type="dcterms:W3CDTF">2024-01-25T13:54:14Z</dcterms:modified>
</cp:coreProperties>
</file>