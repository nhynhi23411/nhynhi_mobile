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9" r:id="rId2"/>
  </p:sldMasterIdLst>
  <p:notesMasterIdLst>
    <p:notesMasterId r:id="rId26"/>
  </p:notesMasterIdLst>
  <p:sldIdLst>
    <p:sldId id="256" r:id="rId3"/>
    <p:sldId id="267" r:id="rId4"/>
    <p:sldId id="281" r:id="rId5"/>
    <p:sldId id="341" r:id="rId6"/>
    <p:sldId id="344" r:id="rId7"/>
    <p:sldId id="342" r:id="rId8"/>
    <p:sldId id="346" r:id="rId9"/>
    <p:sldId id="345" r:id="rId10"/>
    <p:sldId id="349" r:id="rId11"/>
    <p:sldId id="350" r:id="rId12"/>
    <p:sldId id="351" r:id="rId13"/>
    <p:sldId id="343" r:id="rId14"/>
    <p:sldId id="353" r:id="rId15"/>
    <p:sldId id="354" r:id="rId16"/>
    <p:sldId id="352" r:id="rId17"/>
    <p:sldId id="355" r:id="rId18"/>
    <p:sldId id="356" r:id="rId19"/>
    <p:sldId id="357" r:id="rId20"/>
    <p:sldId id="358" r:id="rId21"/>
    <p:sldId id="340" r:id="rId22"/>
    <p:sldId id="359" r:id="rId23"/>
    <p:sldId id="308" r:id="rId24"/>
    <p:sldId id="269" r:id="rId25"/>
  </p:sldIdLst>
  <p:sldSz cx="12192000" cy="6858000"/>
  <p:notesSz cx="6858000" cy="9144000"/>
  <p:embeddedFontLst>
    <p:embeddedFont>
      <p:font typeface="Muli" panose="02000503040000090004" pitchFamily="2" charset="0"/>
      <p:regular r:id="rId27"/>
      <p:italic r:id="rId28"/>
    </p:embeddedFont>
    <p:embeddedFont>
      <p:font typeface="Cambria" panose="02040503050406030204" pitchFamily="18" charset="0"/>
      <p:regular r:id="rId29"/>
      <p:bold r:id="rId30"/>
      <p:italic r:id="rId31"/>
      <p:boldItalic r:id="rId32"/>
    </p:embeddedFont>
    <p:embeddedFont>
      <p:font typeface="Calibri" panose="020F0502020204030204" pitchFamily="34" charset="0"/>
      <p:regular r:id="rId33"/>
      <p:bold r:id="rId34"/>
      <p:italic r:id="rId35"/>
      <p:boldItalic r:id="rId36"/>
    </p:embeddedFont>
    <p:embeddedFont>
      <p:font typeface="Georgia" panose="02040502050405020303" pitchFamily="18" charset="0"/>
      <p:regular r:id="rId37"/>
      <p:bold r:id="rId38"/>
      <p:italic r:id="rId39"/>
      <p:boldItalic r:id="rId40"/>
    </p:embeddedFont>
    <p:embeddedFont>
      <p:font typeface="Lato" panose="020B0604020202020204" charset="0"/>
      <p:regular r:id="rId41"/>
      <p:bold r:id="rId42"/>
      <p:italic r:id="rId43"/>
      <p:boldItalic r:id="rId44"/>
    </p:embeddedFont>
    <p:embeddedFont>
      <p:font typeface="Lato Black" panose="020B0604020202020204" charset="0"/>
      <p:bold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2" roundtripDataSignature="AMtx7mh4VrLQLvjXUsQeVJWWu9hsLYoG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315" autoAdjust="0"/>
    <p:restoredTop sz="89605" autoAdjust="0"/>
  </p:normalViewPr>
  <p:slideViewPr>
    <p:cSldViewPr snapToGrid="0">
      <p:cViewPr varScale="1">
        <p:scale>
          <a:sx n="112" d="100"/>
          <a:sy n="112" d="100"/>
        </p:scale>
        <p:origin x="254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19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7" Type="http://schemas.openxmlformats.org/officeDocument/2006/relationships/slide" Target="slides/slide5.xml"/><Relationship Id="rId92" Type="http://customschemas.google.com/relationships/presentationmetadata" Target="meta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font" Target="fonts/font3.fntdata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openxmlformats.org/officeDocument/2006/relationships/font" Target="fonts/font19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95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5.fntdata"/><Relationship Id="rId44" Type="http://schemas.openxmlformats.org/officeDocument/2006/relationships/font" Target="fonts/font18.fntdata"/><Relationship Id="rId9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font" Target="fonts/font17.fntdata"/><Relationship Id="rId8" Type="http://schemas.openxmlformats.org/officeDocument/2006/relationships/slide" Target="slides/slide6.xml"/><Relationship Id="rId93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46" Type="http://schemas.openxmlformats.org/officeDocument/2006/relationships/font" Target="fonts/font20.fntdata"/><Relationship Id="rId20" Type="http://schemas.openxmlformats.org/officeDocument/2006/relationships/slide" Target="slides/slide18.xml"/><Relationship Id="rId41" Type="http://schemas.openxmlformats.org/officeDocument/2006/relationships/font" Target="fonts/font15.fntdata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8213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20551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801372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747701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801069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679917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59440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333934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56787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90070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321540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34952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966659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690061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052295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92283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963531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734290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732991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33951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083126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2814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0"/>
          <p:cNvPicPr preferRelativeResize="0"/>
          <p:nvPr/>
        </p:nvPicPr>
        <p:blipFill rotWithShape="1">
          <a:blip r:embed="rId2">
            <a:alphaModFix/>
          </a:blip>
          <a:srcRect r="21016"/>
          <a:stretch/>
        </p:blipFill>
        <p:spPr>
          <a:xfrm>
            <a:off x="0" y="880629"/>
            <a:ext cx="8673353" cy="617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0"/>
          <p:cNvPicPr preferRelativeResize="0"/>
          <p:nvPr/>
        </p:nvPicPr>
        <p:blipFill rotWithShape="1">
          <a:blip r:embed="rId3">
            <a:alphaModFix/>
          </a:blip>
          <a:srcRect r="-3333" b="87407"/>
          <a:stretch/>
        </p:blipFill>
        <p:spPr>
          <a:xfrm>
            <a:off x="0" y="0"/>
            <a:ext cx="12598400" cy="4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0"/>
          <p:cNvSpPr txBox="1">
            <a:spLocks noGrp="1"/>
          </p:cNvSpPr>
          <p:nvPr>
            <p:ph type="title"/>
          </p:nvPr>
        </p:nvSpPr>
        <p:spPr>
          <a:xfrm>
            <a:off x="1595351" y="2187196"/>
            <a:ext cx="9001297" cy="7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4400"/>
              <a:buFont typeface="Lato Black"/>
              <a:buNone/>
              <a:defRPr sz="4400"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" name="Google Shape;19;p10"/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4847885" y="210692"/>
            <a:ext cx="2496230" cy="1015802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0"/>
          <p:cNvSpPr txBox="1"/>
          <p:nvPr userDrawn="1"/>
        </p:nvSpPr>
        <p:spPr>
          <a:xfrm>
            <a:off x="1595350" y="1017973"/>
            <a:ext cx="9144000" cy="7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2000"/>
              <a:buFont typeface="Lato Black"/>
              <a:buNone/>
            </a:pPr>
            <a:r>
              <a:rPr lang="en-US" sz="2400" b="1" i="0" u="none" strike="noStrike" cap="none">
                <a:solidFill>
                  <a:srgbClr val="144E8C"/>
                </a:solidFill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VIETNAM NATIONAL UNIVERSITY HO CHI MINH CITY</a:t>
            </a:r>
            <a:br>
              <a:rPr lang="en-US" sz="2400" b="1" i="0" u="none" strike="noStrike" cap="none">
                <a:solidFill>
                  <a:srgbClr val="144E8C"/>
                </a:solidFill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</a:br>
            <a:r>
              <a:rPr lang="en-US" sz="2400" b="1" i="0" u="none" strike="noStrike" cap="none">
                <a:solidFill>
                  <a:srgbClr val="144E8C"/>
                </a:solidFill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University of Economics and Law</a:t>
            </a:r>
            <a:endParaRPr sz="16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 txBox="1">
            <a:spLocks noGrp="1"/>
          </p:cNvSpPr>
          <p:nvPr>
            <p:ph type="title"/>
          </p:nvPr>
        </p:nvSpPr>
        <p:spPr>
          <a:xfrm>
            <a:off x="839788" y="659342"/>
            <a:ext cx="3932237" cy="1070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3200"/>
              <a:buFont typeface="Lato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34" name="Google Shape;34;p12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 flipH="1">
            <a:off x="-406400" y="-1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12"/>
          <p:cNvPicPr preferRelativeResize="0"/>
          <p:nvPr/>
        </p:nvPicPr>
        <p:blipFill rotWithShape="1">
          <a:blip r:embed="rId3">
            <a:alphaModFix/>
          </a:blip>
          <a:srcRect l="15000" t="43307" r="32291" b="37052"/>
          <a:stretch/>
        </p:blipFill>
        <p:spPr>
          <a:xfrm>
            <a:off x="211666" y="6201820"/>
            <a:ext cx="3590248" cy="65618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2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title"/>
          </p:nvPr>
        </p:nvSpPr>
        <p:spPr>
          <a:xfrm>
            <a:off x="839788" y="577547"/>
            <a:ext cx="3932237" cy="129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3200"/>
              <a:buFont typeface="Lato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body" idx="2"/>
          </p:nvPr>
        </p:nvSpPr>
        <p:spPr>
          <a:xfrm>
            <a:off x="839788" y="2201630"/>
            <a:ext cx="3932237" cy="3667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80" name="Google Shape;80;p18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 flipH="1">
            <a:off x="-406400" y="-1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8"/>
          <p:cNvPicPr preferRelativeResize="0"/>
          <p:nvPr/>
        </p:nvPicPr>
        <p:blipFill rotWithShape="1">
          <a:blip r:embed="rId3">
            <a:alphaModFix/>
          </a:blip>
          <a:srcRect l="24127" t="66898" r="25919" b="25925"/>
          <a:stretch/>
        </p:blipFill>
        <p:spPr>
          <a:xfrm>
            <a:off x="810734" y="1911095"/>
            <a:ext cx="2855494" cy="11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8"/>
          <p:cNvPicPr preferRelativeResize="0"/>
          <p:nvPr/>
        </p:nvPicPr>
        <p:blipFill rotWithShape="1">
          <a:blip r:embed="rId4">
            <a:alphaModFix/>
          </a:blip>
          <a:srcRect l="15000" t="43307" r="32291" b="37052"/>
          <a:stretch/>
        </p:blipFill>
        <p:spPr>
          <a:xfrm>
            <a:off x="211666" y="6160255"/>
            <a:ext cx="3590248" cy="65618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728132" y="6387798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3098799" y="6335940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ftr" idx="11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0"/>
          <p:cNvPicPr preferRelativeResize="0"/>
          <p:nvPr/>
        </p:nvPicPr>
        <p:blipFill rotWithShape="1">
          <a:blip r:embed="rId2">
            <a:alphaModFix/>
          </a:blip>
          <a:srcRect r="21016"/>
          <a:stretch/>
        </p:blipFill>
        <p:spPr>
          <a:xfrm>
            <a:off x="0" y="880629"/>
            <a:ext cx="8673353" cy="617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0"/>
          <p:cNvPicPr preferRelativeResize="0"/>
          <p:nvPr/>
        </p:nvPicPr>
        <p:blipFill rotWithShape="1">
          <a:blip r:embed="rId3">
            <a:alphaModFix/>
          </a:blip>
          <a:srcRect r="-3333" b="87407"/>
          <a:stretch/>
        </p:blipFill>
        <p:spPr>
          <a:xfrm>
            <a:off x="0" y="0"/>
            <a:ext cx="12598400" cy="4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0"/>
          <p:cNvSpPr txBox="1">
            <a:spLocks noGrp="1"/>
          </p:cNvSpPr>
          <p:nvPr>
            <p:ph type="title"/>
          </p:nvPr>
        </p:nvSpPr>
        <p:spPr>
          <a:xfrm>
            <a:off x="1595351" y="2187196"/>
            <a:ext cx="9001297" cy="7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4400"/>
              <a:buFont typeface="Lato Black"/>
              <a:buNone/>
              <a:defRPr sz="4400"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" name="Google Shape;19;p10"/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4847885" y="210692"/>
            <a:ext cx="2496230" cy="1015802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0"/>
          <p:cNvSpPr txBox="1"/>
          <p:nvPr userDrawn="1"/>
        </p:nvSpPr>
        <p:spPr>
          <a:xfrm>
            <a:off x="1595350" y="1017973"/>
            <a:ext cx="9144000" cy="7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2000"/>
              <a:buFont typeface="Lato Black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VIETNAM NATIONAL UNIVERSITY HO CHI MINH CITY</a:t>
            </a:r>
            <a:b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</a:b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University of Economics and Law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50978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 txBox="1">
            <a:spLocks noGrp="1"/>
          </p:cNvSpPr>
          <p:nvPr>
            <p:ph type="title"/>
          </p:nvPr>
        </p:nvSpPr>
        <p:spPr>
          <a:xfrm>
            <a:off x="839788" y="659342"/>
            <a:ext cx="3932237" cy="1070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3200"/>
              <a:buFont typeface="Lato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34" name="Google Shape;34;p12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 flipH="1">
            <a:off x="-406400" y="-1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12"/>
          <p:cNvPicPr preferRelativeResize="0"/>
          <p:nvPr/>
        </p:nvPicPr>
        <p:blipFill rotWithShape="1">
          <a:blip r:embed="rId3">
            <a:alphaModFix/>
          </a:blip>
          <a:srcRect l="15000" t="43307" r="32291" b="37052"/>
          <a:stretch/>
        </p:blipFill>
        <p:spPr>
          <a:xfrm>
            <a:off x="211666" y="6201820"/>
            <a:ext cx="3590248" cy="65618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2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smtClean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Faculty of Information Systems</a:t>
            </a:r>
            <a:endParaRPr kumimoji="0" lang="en-US" sz="1200" b="1" i="1" u="none" strike="noStrike" kern="0" cap="none" spc="0" normalizeH="0" baseline="0" noProof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" name="Google Shape;37;p12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300363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7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>
            <a:off x="0" y="0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5306" y="-33086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838200" y="2581306"/>
            <a:ext cx="10515600" cy="1566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9600"/>
              <a:buFont typeface="Lato Black"/>
              <a:buNone/>
              <a:defRPr sz="9600"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4" name="Google Shape;74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57944" y="330860"/>
            <a:ext cx="2890753" cy="1176347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7"/>
          <p:cNvSpPr txBox="1"/>
          <p:nvPr/>
        </p:nvSpPr>
        <p:spPr>
          <a:xfrm>
            <a:off x="2805445" y="1354975"/>
            <a:ext cx="6410498" cy="688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2000"/>
              <a:buFont typeface="Lato Black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VIETNAM NATIONAL UNIVERSITY HO CHI MINH CITY</a:t>
            </a:r>
            <a:br>
              <a:rPr kumimoji="0" 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</a:br>
            <a:r>
              <a:rPr kumimoji="0" 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University of Economics and Law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1330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title"/>
          </p:nvPr>
        </p:nvSpPr>
        <p:spPr>
          <a:xfrm>
            <a:off x="839788" y="577547"/>
            <a:ext cx="3932237" cy="129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3200"/>
              <a:buFont typeface="Lato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body" idx="2"/>
          </p:nvPr>
        </p:nvSpPr>
        <p:spPr>
          <a:xfrm>
            <a:off x="839788" y="2201630"/>
            <a:ext cx="3932237" cy="3667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80" name="Google Shape;80;p18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 flipH="1">
            <a:off x="-406400" y="-1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8"/>
          <p:cNvPicPr preferRelativeResize="0"/>
          <p:nvPr/>
        </p:nvPicPr>
        <p:blipFill rotWithShape="1">
          <a:blip r:embed="rId3">
            <a:alphaModFix/>
          </a:blip>
          <a:srcRect l="24127" t="66898" r="25919" b="25925"/>
          <a:stretch/>
        </p:blipFill>
        <p:spPr>
          <a:xfrm>
            <a:off x="810734" y="1911095"/>
            <a:ext cx="2855494" cy="11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8"/>
          <p:cNvPicPr preferRelativeResize="0"/>
          <p:nvPr/>
        </p:nvPicPr>
        <p:blipFill rotWithShape="1">
          <a:blip r:embed="rId4">
            <a:alphaModFix/>
          </a:blip>
          <a:srcRect l="15000" t="43307" r="32291" b="37052"/>
          <a:stretch/>
        </p:blipFill>
        <p:spPr>
          <a:xfrm>
            <a:off x="211666" y="6160255"/>
            <a:ext cx="3590248" cy="65618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728132" y="6387798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smtClean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Faculty of Information Systems</a:t>
            </a:r>
            <a:endParaRPr kumimoji="0" lang="en-US" sz="1200" b="1" i="1" u="none" strike="noStrike" kern="0" cap="none" spc="0" normalizeH="0" baseline="0" noProof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3098799" y="6335940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529039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1_Blank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9"/>
          <p:cNvSpPr txBox="1">
            <a:spLocks noGrp="1"/>
          </p:cNvSpPr>
          <p:nvPr>
            <p:ph type="ftr" idx="11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" name="Google Shape;8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30321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4400"/>
              <a:buFont typeface="Lato Black"/>
              <a:buNone/>
              <a:defRPr sz="4400" b="1" i="0" u="none" strike="noStrike" cap="none">
                <a:solidFill>
                  <a:srgbClr val="144E8C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7" r:id="rId3"/>
    <p:sldLayoutId id="2147483658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4400"/>
              <a:buFont typeface="Lato Black"/>
              <a:buNone/>
              <a:defRPr sz="4400" b="1" i="0" u="none" strike="noStrike" cap="none">
                <a:solidFill>
                  <a:srgbClr val="144E8C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920289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thanhtd@uel.edu.v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tranduythanh.com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7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F9BAC58-9AA6-A91A-085E-F1421DCCF43A}"/>
              </a:ext>
            </a:extLst>
          </p:cNvPr>
          <p:cNvSpPr txBox="1">
            <a:spLocks/>
          </p:cNvSpPr>
          <p:nvPr/>
        </p:nvSpPr>
        <p:spPr bwMode="auto">
          <a:xfrm>
            <a:off x="2132317" y="1977662"/>
            <a:ext cx="8763000" cy="1904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3200" kern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Mobile-Commerce </a:t>
            </a:r>
            <a:r>
              <a:rPr lang="en-US" sz="3200" kern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</a:p>
          <a:p>
            <a:pPr>
              <a:defRPr/>
            </a:pPr>
            <a:r>
              <a:rPr lang="en-US" sz="3200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Lesson</a:t>
            </a:r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kern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Broadcast Receiver</a:t>
            </a:r>
            <a:endParaRPr lang="en-US" sz="3200" kern="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F97E3A-A23C-B018-8E45-86B8BF858946}"/>
              </a:ext>
            </a:extLst>
          </p:cNvPr>
          <p:cNvSpPr txBox="1"/>
          <p:nvPr/>
        </p:nvSpPr>
        <p:spPr>
          <a:xfrm>
            <a:off x="7958878" y="4079089"/>
            <a:ext cx="3781805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Lecturer:</a:t>
            </a:r>
          </a:p>
          <a:p>
            <a:pPr algn="ctr"/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Duy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Thanh, </a:t>
            </a:r>
            <a:r>
              <a:rPr lang="en-US" sz="22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Phd</a:t>
            </a:r>
            <a:endParaRPr lang="en-US" sz="22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Nguyen </a:t>
            </a:r>
            <a:r>
              <a:rPr lang="en-US" sz="22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Quang</a:t>
            </a:r>
            <a:r>
              <a:rPr lang="en-US" sz="2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Phuc</a:t>
            </a:r>
            <a:r>
              <a:rPr lang="en-US" sz="2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Msc</a:t>
            </a:r>
            <a:endParaRPr lang="en-US" sz="2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thanhtd@uel.edu.vn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Blog: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https://tranduythanh.com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Phone: 0987773061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52400" y="482600"/>
            <a:ext cx="4620576" cy="508000"/>
            <a:chOff x="789624" y="1191463"/>
            <a:chExt cx="4620576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600" y="1191463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dirty="0" smtClean="0">
                  <a:latin typeface="Cambria" panose="02040503050406030204" pitchFamily="18" charset="0"/>
                </a:rPr>
                <a:t>Lesson Objective</a:t>
              </a:r>
              <a:endParaRPr lang="en-US" sz="2800" b="1" kern="0" dirty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6738" indent="-45720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Tx/>
              <a:buChar char="-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understand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Broadcast Receiver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6738" indent="-45720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Tx/>
              <a:buChar char="-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and unregister a Broadcast Receiver</a:t>
            </a:r>
          </a:p>
          <a:p>
            <a:pPr marL="566738" indent="-45720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Tx/>
              <a:buChar char="-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Broadcast Receiver for listening Wi-Fi changing</a:t>
            </a:r>
          </a:p>
          <a:p>
            <a:pPr marL="566738" indent="-45720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Broadcast Receiver for listening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SMS coming</a:t>
            </a:r>
          </a:p>
          <a:p>
            <a:pPr marL="566738" indent="-45720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Tx/>
              <a:buChar char="-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 custom Broadcast Receiver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145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526858" y="935452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Introducing Broadcast Receiver</a:t>
            </a: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Broadcast Receiver</a:t>
            </a: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Broadcast Receiver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Outlines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4794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 Introducing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Broadcast Receiver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49BB4756-DA4D-8E4A-85AC-7A2284558353}"/>
              </a:ext>
            </a:extLst>
          </p:cNvPr>
          <p:cNvSpPr txBox="1">
            <a:spLocks/>
          </p:cNvSpPr>
          <p:nvPr/>
        </p:nvSpPr>
        <p:spPr>
          <a:xfrm>
            <a:off x="449238" y="1029133"/>
            <a:ext cx="11226421" cy="379171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lvl="0" indent="-354013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Ø"/>
            </a:pPr>
            <a:r>
              <a:rPr lang="en-US" sz="2400" b="1" dirty="0">
                <a:solidFill>
                  <a:sysClr val="windowText" lastClr="000000"/>
                </a:solidFill>
                <a:latin typeface="Georgia"/>
              </a:rPr>
              <a:t>Broadcast Receiver </a:t>
            </a:r>
            <a:r>
              <a:rPr lang="en-US" sz="2400" dirty="0">
                <a:solidFill>
                  <a:sysClr val="windowText" lastClr="000000"/>
                </a:solidFill>
                <a:latin typeface="Georgia"/>
              </a:rPr>
              <a:t>is a component that helps spread information in the system and only registered applications receive the information.</a:t>
            </a:r>
          </a:p>
          <a:p>
            <a:pPr marL="463550" lvl="0" indent="-354013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Ø"/>
            </a:pPr>
            <a:r>
              <a:rPr lang="en-US" sz="2400" b="1" dirty="0">
                <a:solidFill>
                  <a:sysClr val="windowText" lastClr="000000"/>
                </a:solidFill>
                <a:latin typeface="Georgia"/>
              </a:rPr>
              <a:t>Broadcast Receiver </a:t>
            </a:r>
            <a:r>
              <a:rPr lang="en-US" sz="2400" dirty="0">
                <a:solidFill>
                  <a:sysClr val="windowText" lastClr="000000"/>
                </a:solidFill>
                <a:latin typeface="Georgia"/>
              </a:rPr>
              <a:t>helps registered applications listen to system events and status </a:t>
            </a:r>
            <a:r>
              <a:rPr lang="en-US" sz="2400" dirty="0" smtClean="0">
                <a:solidFill>
                  <a:sysClr val="windowText" lastClr="000000"/>
                </a:solidFill>
                <a:latin typeface="Georgia"/>
              </a:rPr>
              <a:t>(Wi-Fi </a:t>
            </a:r>
            <a:r>
              <a:rPr lang="en-US" sz="2400" dirty="0">
                <a:solidFill>
                  <a:sysClr val="windowText" lastClr="000000"/>
                </a:solidFill>
                <a:latin typeface="Georgia"/>
              </a:rPr>
              <a:t>connection status, charging, incoming messages, etc.) emitted through Intent.</a:t>
            </a:r>
          </a:p>
          <a:p>
            <a:pPr marL="463550" lvl="0" indent="-354013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Ø"/>
            </a:pPr>
            <a:r>
              <a:rPr lang="en-US" sz="2400" b="1" dirty="0">
                <a:solidFill>
                  <a:sysClr val="windowText" lastClr="000000"/>
                </a:solidFill>
                <a:latin typeface="Georgia"/>
              </a:rPr>
              <a:t>Broadcast Receiver </a:t>
            </a:r>
            <a:r>
              <a:rPr lang="en-US" sz="2400" dirty="0">
                <a:solidFill>
                  <a:sysClr val="windowText" lastClr="000000"/>
                </a:solidFill>
                <a:latin typeface="Georgia"/>
              </a:rPr>
              <a:t>can be customized to transmit information according to the programmer's intentions.</a:t>
            </a: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268018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 Introducing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Broadcast Receiver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4F95C39-BB81-904F-B6B6-CAA42483E11A}"/>
              </a:ext>
            </a:extLst>
          </p:cNvPr>
          <p:cNvGrpSpPr/>
          <p:nvPr/>
        </p:nvGrpSpPr>
        <p:grpSpPr>
          <a:xfrm>
            <a:off x="1102685" y="1048603"/>
            <a:ext cx="9249143" cy="4656568"/>
            <a:chOff x="123457" y="1287032"/>
            <a:chExt cx="9249143" cy="465656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298FD9C-F216-7B45-90F6-38F782E592E2}"/>
                </a:ext>
              </a:extLst>
            </p:cNvPr>
            <p:cNvSpPr/>
            <p:nvPr/>
          </p:nvSpPr>
          <p:spPr>
            <a:xfrm>
              <a:off x="123457" y="1287032"/>
              <a:ext cx="8868143" cy="4656568"/>
            </a:xfrm>
            <a:prstGeom prst="rect">
              <a:avLst/>
            </a:prstGeom>
            <a:noFill/>
            <a:ln w="9525" cap="flat" cmpd="sng" algn="ctr">
              <a:solidFill>
                <a:srgbClr val="0F6FC6">
                  <a:shade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E2E2152-9850-FB41-958A-6C5EDA3AFBA0}"/>
                </a:ext>
              </a:extLst>
            </p:cNvPr>
            <p:cNvGrpSpPr/>
            <p:nvPr/>
          </p:nvGrpSpPr>
          <p:grpSpPr>
            <a:xfrm>
              <a:off x="123457" y="1447800"/>
              <a:ext cx="9249143" cy="3562852"/>
              <a:chOff x="76200" y="1600200"/>
              <a:chExt cx="9249143" cy="3562852"/>
            </a:xfrm>
          </p:grpSpPr>
          <p:sp>
            <p:nvSpPr>
              <p:cNvPr id="22" name="Cloud 21">
                <a:extLst>
                  <a:ext uri="{FF2B5EF4-FFF2-40B4-BE49-F238E27FC236}">
                    <a16:creationId xmlns:a16="http://schemas.microsoft.com/office/drawing/2014/main" id="{2A59D356-E0C3-7A43-B848-0980B2F6832C}"/>
                  </a:ext>
                </a:extLst>
              </p:cNvPr>
              <p:cNvSpPr/>
              <p:nvPr/>
            </p:nvSpPr>
            <p:spPr>
              <a:xfrm>
                <a:off x="256309" y="2743200"/>
                <a:ext cx="2895600" cy="1447800"/>
              </a:xfrm>
              <a:prstGeom prst="cloud">
                <a:avLst/>
              </a:prstGeom>
              <a:solidFill>
                <a:srgbClr val="009DD9">
                  <a:lumMod val="50000"/>
                </a:srgbClr>
              </a:solidFill>
              <a:ln w="19050" cap="flat" cmpd="sng" algn="ctr">
                <a:solidFill>
                  <a:srgbClr val="0F6FC6">
                    <a:shade val="5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eorgia"/>
                    <a:ea typeface="+mn-ea"/>
                    <a:cs typeface="+mn-cs"/>
                  </a:rPr>
                  <a:t>Broadcast Receiver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35224F9-3F54-5740-8081-D28B0E34ACE3}"/>
                  </a:ext>
                </a:extLst>
              </p:cNvPr>
              <p:cNvSpPr txBox="1"/>
              <p:nvPr/>
            </p:nvSpPr>
            <p:spPr>
              <a:xfrm>
                <a:off x="76200" y="2135020"/>
                <a:ext cx="32004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1200" cap="none" spc="0" normalizeH="0" baseline="0" noProof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eorgia"/>
                    <a:ea typeface="+mn-ea"/>
                    <a:cs typeface="+mn-cs"/>
                  </a:rPr>
                  <a:t>Manifest / Java code</a:t>
                </a:r>
              </a:p>
            </p:txBody>
          </p:sp>
          <p:pic>
            <p:nvPicPr>
              <p:cNvPr id="24" name="Graphic 9" descr="Wireless">
                <a:extLst>
                  <a:ext uri="{FF2B5EF4-FFF2-40B4-BE49-F238E27FC236}">
                    <a16:creationId xmlns:a16="http://schemas.microsoft.com/office/drawing/2014/main" id="{44F4AC56-5FE1-784D-874F-FFA7DCA31B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8010763">
                <a:off x="3320465" y="2772226"/>
                <a:ext cx="1313546" cy="1313546"/>
              </a:xfrm>
              <a:prstGeom prst="rect">
                <a:avLst/>
              </a:prstGeom>
            </p:spPr>
          </p:pic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D0536C6-7C76-E040-BB01-89789D004F20}"/>
                  </a:ext>
                </a:extLst>
              </p:cNvPr>
              <p:cNvSpPr txBox="1"/>
              <p:nvPr/>
            </p:nvSpPr>
            <p:spPr>
              <a:xfrm>
                <a:off x="3000743" y="4122816"/>
                <a:ext cx="17526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1200" cap="none" spc="0" normalizeH="0" baseline="0" noProof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eorgia"/>
                    <a:ea typeface="+mn-ea"/>
                    <a:cs typeface="+mn-cs"/>
                  </a:rPr>
                  <a:t>Listen …</a:t>
                </a:r>
              </a:p>
            </p:txBody>
          </p: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114E8BEC-1824-8448-85FD-749EEAE4B9BD}"/>
                  </a:ext>
                </a:extLst>
              </p:cNvPr>
              <p:cNvGrpSpPr/>
              <p:nvPr/>
            </p:nvGrpSpPr>
            <p:grpSpPr>
              <a:xfrm>
                <a:off x="4647701" y="1783275"/>
                <a:ext cx="2095501" cy="703490"/>
                <a:chOff x="5638800" y="1734910"/>
                <a:chExt cx="2095501" cy="703490"/>
              </a:xfrm>
            </p:grpSpPr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10D1C528-0CAD-5F48-B58B-166AEC79B86A}"/>
                    </a:ext>
                  </a:extLst>
                </p:cNvPr>
                <p:cNvSpPr txBox="1"/>
                <p:nvPr/>
              </p:nvSpPr>
              <p:spPr>
                <a:xfrm>
                  <a:off x="5638800" y="1734910"/>
                  <a:ext cx="17526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srgbClr val="10CF9B">
                          <a:lumMod val="75000"/>
                        </a:srgbClr>
                      </a:solidFill>
                      <a:effectLst/>
                      <a:uLnTx/>
                      <a:uFillTx/>
                      <a:latin typeface="Georgia"/>
                      <a:ea typeface="+mn-ea"/>
                      <a:cs typeface="+mn-cs"/>
                    </a:rPr>
                    <a:t>Intent</a:t>
                  </a:r>
                </a:p>
              </p:txBody>
            </p: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3488200B-3F35-F245-A466-89AC4A73B3D9}"/>
                    </a:ext>
                  </a:extLst>
                </p:cNvPr>
                <p:cNvSpPr txBox="1"/>
                <p:nvPr/>
              </p:nvSpPr>
              <p:spPr>
                <a:xfrm>
                  <a:off x="5638800" y="2038290"/>
                  <a:ext cx="209550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srgbClr val="003300"/>
                      </a:solidFill>
                      <a:effectLst/>
                      <a:uLnTx/>
                      <a:uFillTx/>
                      <a:latin typeface="Georgia"/>
                      <a:ea typeface="+mn-ea"/>
                      <a:cs typeface="+mn-cs"/>
                    </a:rPr>
                    <a:t>Battery Low</a:t>
                  </a:r>
                </a:p>
              </p:txBody>
            </p:sp>
          </p:grp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0807F6A6-17D1-384E-AC85-AE1921B568B0}"/>
                  </a:ext>
                </a:extLst>
              </p:cNvPr>
              <p:cNvGrpSpPr/>
              <p:nvPr/>
            </p:nvGrpSpPr>
            <p:grpSpPr>
              <a:xfrm>
                <a:off x="4599709" y="2777465"/>
                <a:ext cx="2095501" cy="703490"/>
                <a:chOff x="5638800" y="1734910"/>
                <a:chExt cx="2095501" cy="703490"/>
              </a:xfrm>
            </p:grpSpPr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3C112489-89C7-3F41-852D-E290BF029CA7}"/>
                    </a:ext>
                  </a:extLst>
                </p:cNvPr>
                <p:cNvSpPr txBox="1"/>
                <p:nvPr/>
              </p:nvSpPr>
              <p:spPr>
                <a:xfrm>
                  <a:off x="5638800" y="1734910"/>
                  <a:ext cx="17526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srgbClr val="10CF9B">
                          <a:lumMod val="75000"/>
                        </a:srgbClr>
                      </a:solidFill>
                      <a:effectLst/>
                      <a:uLnTx/>
                      <a:uFillTx/>
                      <a:latin typeface="Georgia"/>
                      <a:ea typeface="+mn-ea"/>
                      <a:cs typeface="+mn-cs"/>
                    </a:rPr>
                    <a:t>Intent</a:t>
                  </a:r>
                </a:p>
              </p:txBody>
            </p: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677D0073-A2E4-3E40-8A34-1413AEBFDC42}"/>
                    </a:ext>
                  </a:extLst>
                </p:cNvPr>
                <p:cNvSpPr txBox="1"/>
                <p:nvPr/>
              </p:nvSpPr>
              <p:spPr>
                <a:xfrm>
                  <a:off x="5638800" y="2038290"/>
                  <a:ext cx="209550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srgbClr val="003300"/>
                      </a:solidFill>
                      <a:effectLst/>
                      <a:uLnTx/>
                      <a:uFillTx/>
                      <a:latin typeface="Georgia"/>
                      <a:ea typeface="+mn-ea"/>
                      <a:cs typeface="+mn-cs"/>
                    </a:rPr>
                    <a:t>Incoming Call</a:t>
                  </a:r>
                </a:p>
              </p:txBody>
            </p: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5A1929F7-0194-564D-9237-008A150C5C5B}"/>
                  </a:ext>
                </a:extLst>
              </p:cNvPr>
              <p:cNvGrpSpPr/>
              <p:nvPr/>
            </p:nvGrpSpPr>
            <p:grpSpPr>
              <a:xfrm>
                <a:off x="4647701" y="3771071"/>
                <a:ext cx="2095501" cy="703490"/>
                <a:chOff x="5638800" y="1734910"/>
                <a:chExt cx="2095501" cy="703490"/>
              </a:xfrm>
            </p:grpSpPr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A5CC34C3-D5D3-DB4D-BFCB-1961928212B4}"/>
                    </a:ext>
                  </a:extLst>
                </p:cNvPr>
                <p:cNvSpPr txBox="1"/>
                <p:nvPr/>
              </p:nvSpPr>
              <p:spPr>
                <a:xfrm>
                  <a:off x="5638800" y="1734910"/>
                  <a:ext cx="17526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srgbClr val="10CF9B">
                          <a:lumMod val="75000"/>
                        </a:srgbClr>
                      </a:solidFill>
                      <a:effectLst/>
                      <a:uLnTx/>
                      <a:uFillTx/>
                      <a:latin typeface="Georgia"/>
                      <a:ea typeface="+mn-ea"/>
                      <a:cs typeface="+mn-cs"/>
                    </a:rPr>
                    <a:t>Intent</a:t>
                  </a:r>
                </a:p>
              </p:txBody>
            </p: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E4CF11A5-FF66-EB41-863C-3BFEC729D625}"/>
                    </a:ext>
                  </a:extLst>
                </p:cNvPr>
                <p:cNvSpPr txBox="1"/>
                <p:nvPr/>
              </p:nvSpPr>
              <p:spPr>
                <a:xfrm>
                  <a:off x="5638800" y="2038290"/>
                  <a:ext cx="209550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srgbClr val="003300"/>
                      </a:solidFill>
                      <a:effectLst/>
                      <a:uLnTx/>
                      <a:uFillTx/>
                      <a:latin typeface="Georgia"/>
                      <a:ea typeface="+mn-ea"/>
                      <a:cs typeface="+mn-cs"/>
                    </a:rPr>
                    <a:t>Incoming SMS</a:t>
                  </a: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4DF3AD4E-5848-2649-8AA2-EF7271CD4511}"/>
                  </a:ext>
                </a:extLst>
              </p:cNvPr>
              <p:cNvGrpSpPr/>
              <p:nvPr/>
            </p:nvGrpSpPr>
            <p:grpSpPr>
              <a:xfrm>
                <a:off x="6809509" y="1600200"/>
                <a:ext cx="2095501" cy="1011266"/>
                <a:chOff x="5638800" y="1734910"/>
                <a:chExt cx="2095501" cy="1011266"/>
              </a:xfrm>
            </p:grpSpPr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47A449F5-966F-4242-9FEB-80C45710CCD2}"/>
                    </a:ext>
                  </a:extLst>
                </p:cNvPr>
                <p:cNvSpPr txBox="1"/>
                <p:nvPr/>
              </p:nvSpPr>
              <p:spPr>
                <a:xfrm>
                  <a:off x="5638800" y="1734910"/>
                  <a:ext cx="17526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srgbClr val="10CF9B">
                          <a:lumMod val="75000"/>
                        </a:srgbClr>
                      </a:solidFill>
                      <a:effectLst/>
                      <a:uLnTx/>
                      <a:uFillTx/>
                      <a:latin typeface="Georgia"/>
                      <a:ea typeface="+mn-ea"/>
                      <a:cs typeface="+mn-cs"/>
                    </a:rPr>
                    <a:t>Intent</a:t>
                  </a:r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C8404830-1D70-C44D-88F5-2BF44B44D606}"/>
                    </a:ext>
                  </a:extLst>
                </p:cNvPr>
                <p:cNvSpPr txBox="1"/>
                <p:nvPr/>
              </p:nvSpPr>
              <p:spPr>
                <a:xfrm>
                  <a:off x="5638800" y="2038290"/>
                  <a:ext cx="2095501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srgbClr val="003300"/>
                      </a:solidFill>
                      <a:effectLst/>
                      <a:uLnTx/>
                      <a:uFillTx/>
                      <a:latin typeface="Georgia"/>
                      <a:ea typeface="+mn-ea"/>
                      <a:cs typeface="+mn-cs"/>
                    </a:rPr>
                    <a:t>Wi-Fi availability</a:t>
                  </a:r>
                </a:p>
              </p:txBody>
            </p:sp>
          </p:grp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DE28D49B-6E59-3246-A1F7-9796534E8B3A}"/>
                  </a:ext>
                </a:extLst>
              </p:cNvPr>
              <p:cNvGrpSpPr/>
              <p:nvPr/>
            </p:nvGrpSpPr>
            <p:grpSpPr>
              <a:xfrm>
                <a:off x="6809509" y="2667000"/>
                <a:ext cx="2095501" cy="1011266"/>
                <a:chOff x="5638800" y="1734910"/>
                <a:chExt cx="2095501" cy="1011266"/>
              </a:xfrm>
            </p:grpSpPr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E6355106-C33B-D44C-8204-519EC6C2D61E}"/>
                    </a:ext>
                  </a:extLst>
                </p:cNvPr>
                <p:cNvSpPr txBox="1"/>
                <p:nvPr/>
              </p:nvSpPr>
              <p:spPr>
                <a:xfrm>
                  <a:off x="5638800" y="1734910"/>
                  <a:ext cx="17526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srgbClr val="10CF9B">
                          <a:lumMod val="75000"/>
                        </a:srgbClr>
                      </a:solidFill>
                      <a:effectLst/>
                      <a:uLnTx/>
                      <a:uFillTx/>
                      <a:latin typeface="Georgia"/>
                      <a:ea typeface="+mn-ea"/>
                      <a:cs typeface="+mn-cs"/>
                    </a:rPr>
                    <a:t>Intent</a:t>
                  </a: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D22E7759-262E-EE49-9E60-AC9B09AFA0D0}"/>
                    </a:ext>
                  </a:extLst>
                </p:cNvPr>
                <p:cNvSpPr txBox="1"/>
                <p:nvPr/>
              </p:nvSpPr>
              <p:spPr>
                <a:xfrm>
                  <a:off x="5638800" y="2038290"/>
                  <a:ext cx="2095501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srgbClr val="003300"/>
                      </a:solidFill>
                      <a:effectLst/>
                      <a:uLnTx/>
                      <a:uFillTx/>
                      <a:latin typeface="Georgia"/>
                      <a:ea typeface="+mn-ea"/>
                      <a:cs typeface="+mn-cs"/>
                    </a:rPr>
                    <a:t>Bluetooth device connected</a:t>
                  </a:r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F4B4BE25-B376-534B-A547-69C46768CA90}"/>
                  </a:ext>
                </a:extLst>
              </p:cNvPr>
              <p:cNvGrpSpPr/>
              <p:nvPr/>
            </p:nvGrpSpPr>
            <p:grpSpPr>
              <a:xfrm>
                <a:off x="6809509" y="3725432"/>
                <a:ext cx="2515834" cy="1012686"/>
                <a:chOff x="5638800" y="1369185"/>
                <a:chExt cx="2095501" cy="1012686"/>
              </a:xfrm>
            </p:grpSpPr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0B37D300-8669-A14A-8871-C57B45FC81B1}"/>
                    </a:ext>
                  </a:extLst>
                </p:cNvPr>
                <p:cNvSpPr txBox="1"/>
                <p:nvPr/>
              </p:nvSpPr>
              <p:spPr>
                <a:xfrm>
                  <a:off x="5638800" y="1369185"/>
                  <a:ext cx="17526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srgbClr val="10CF9B">
                          <a:lumMod val="75000"/>
                        </a:srgbClr>
                      </a:solidFill>
                      <a:effectLst/>
                      <a:uLnTx/>
                      <a:uFillTx/>
                      <a:latin typeface="Georgia"/>
                      <a:ea typeface="+mn-ea"/>
                      <a:cs typeface="+mn-cs"/>
                    </a:rPr>
                    <a:t>Intent</a:t>
                  </a:r>
                </a:p>
              </p:txBody>
            </p: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198046E0-0CEB-FE42-8F5E-4860078716C6}"/>
                    </a:ext>
                  </a:extLst>
                </p:cNvPr>
                <p:cNvSpPr txBox="1"/>
                <p:nvPr/>
              </p:nvSpPr>
              <p:spPr>
                <a:xfrm>
                  <a:off x="5638800" y="1673985"/>
                  <a:ext cx="2095501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srgbClr val="003300"/>
                      </a:solidFill>
                      <a:effectLst/>
                      <a:uLnTx/>
                      <a:uFillTx/>
                      <a:latin typeface="Georgia"/>
                      <a:ea typeface="+mn-ea"/>
                      <a:cs typeface="+mn-cs"/>
                    </a:rPr>
                    <a:t>Charger (dis)connected</a:t>
                  </a:r>
                </a:p>
              </p:txBody>
            </p:sp>
          </p:grp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2ABCDA7-AE1C-8048-9102-B722D12F531B}"/>
                  </a:ext>
                </a:extLst>
              </p:cNvPr>
              <p:cNvSpPr txBox="1"/>
              <p:nvPr/>
            </p:nvSpPr>
            <p:spPr>
              <a:xfrm>
                <a:off x="5640532" y="4639832"/>
                <a:ext cx="17526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1" i="0" u="none" strike="noStrike" kern="1200" cap="none" spc="0" normalizeH="0" baseline="0" noProof="0" smtClean="0">
                    <a:ln>
                      <a:noFill/>
                    </a:ln>
                    <a:solidFill>
                      <a:srgbClr val="009DD9">
                        <a:lumMod val="50000"/>
                      </a:srgbClr>
                    </a:solidFill>
                    <a:effectLst/>
                    <a:uLnTx/>
                    <a:uFillTx/>
                    <a:latin typeface="Georgia"/>
                    <a:ea typeface="+mn-ea"/>
                    <a:cs typeface="+mn-cs"/>
                  </a:rPr>
                  <a:t> .…</a:t>
                </a: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59D631B-E7F4-5B46-9BA6-AEB706784452}"/>
                </a:ext>
              </a:extLst>
            </p:cNvPr>
            <p:cNvSpPr txBox="1"/>
            <p:nvPr/>
          </p:nvSpPr>
          <p:spPr>
            <a:xfrm>
              <a:off x="1447800" y="5325632"/>
              <a:ext cx="64533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buClrTx/>
              </a:pPr>
              <a:r>
                <a:rPr lang="en-US" sz="2000" b="1" i="1" kern="1200" dirty="0">
                  <a:solidFill>
                    <a:prstClr val="black"/>
                  </a:solidFill>
                  <a:latin typeface="Georgia"/>
                  <a:ea typeface="+mn-ea"/>
                  <a:cs typeface="+mn-cs"/>
                </a:rPr>
                <a:t>Some events commonly occur in Android</a:t>
              </a:r>
              <a:endParaRPr kumimoji="0" lang="en-US" sz="2000" b="1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84793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 Using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Broadcast Receiver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714F145-B764-EC49-8FD7-32549BB6BD5E}"/>
              </a:ext>
            </a:extLst>
          </p:cNvPr>
          <p:cNvGrpSpPr/>
          <p:nvPr/>
        </p:nvGrpSpPr>
        <p:grpSpPr>
          <a:xfrm>
            <a:off x="860946" y="845389"/>
            <a:ext cx="8991600" cy="451694"/>
            <a:chOff x="533400" y="1066618"/>
            <a:chExt cx="8382000" cy="451694"/>
          </a:xfrm>
        </p:grpSpPr>
        <p:sp>
          <p:nvSpPr>
            <p:cNvPr id="18" name="Chevron 17">
              <a:extLst>
                <a:ext uri="{FF2B5EF4-FFF2-40B4-BE49-F238E27FC236}">
                  <a16:creationId xmlns:a16="http://schemas.microsoft.com/office/drawing/2014/main" id="{20259D38-DADA-FE47-BBE0-1537E9997434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9" name="Chevron 18">
              <a:extLst>
                <a:ext uri="{FF2B5EF4-FFF2-40B4-BE49-F238E27FC236}">
                  <a16:creationId xmlns:a16="http://schemas.microsoft.com/office/drawing/2014/main" id="{1AD6D22D-BAB4-114F-80F4-D032285A6297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0" name="Title 1">
              <a:extLst>
                <a:ext uri="{FF2B5EF4-FFF2-40B4-BE49-F238E27FC236}">
                  <a16:creationId xmlns:a16="http://schemas.microsoft.com/office/drawing/2014/main" id="{B6B6D775-ABE0-BE40-8463-61B711C45B79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Register</a:t>
              </a:r>
              <a:endPara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Arial" pitchFamily="34" charset="0"/>
                <a:cs typeface="Arial" pitchFamily="34" charset="0"/>
                <a:sym typeface="Muli"/>
              </a:endParaRPr>
            </a:p>
          </p:txBody>
        </p:sp>
      </p:grp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800C5C01-C8BD-DB43-B963-44C06AC0692A}"/>
              </a:ext>
            </a:extLst>
          </p:cNvPr>
          <p:cNvSpPr txBox="1">
            <a:spLocks/>
          </p:cNvSpPr>
          <p:nvPr/>
        </p:nvSpPr>
        <p:spPr>
          <a:xfrm>
            <a:off x="1394345" y="1394437"/>
            <a:ext cx="2549857" cy="2880134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lvl="0" indent="-354013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Ø"/>
            </a:pPr>
            <a:r>
              <a:rPr lang="en-US" sz="2400" b="1" dirty="0">
                <a:solidFill>
                  <a:sysClr val="windowText" lastClr="000000"/>
                </a:solidFill>
                <a:latin typeface="Georgia"/>
              </a:rPr>
              <a:t>Method 1: register in Java code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5CBCA79-2B28-F648-9AC0-6AD77DE839CD}"/>
              </a:ext>
            </a:extLst>
          </p:cNvPr>
          <p:cNvSpPr/>
          <p:nvPr/>
        </p:nvSpPr>
        <p:spPr>
          <a:xfrm>
            <a:off x="4212692" y="922683"/>
            <a:ext cx="6315419" cy="2057038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BroadcastReceiver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receiver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BroadcastReceiver() {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@Override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public void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onReceive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(Context context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Intent intent) {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//Todo something ….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}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7393111-368B-0147-AC6C-37B0BD65FA4C}"/>
              </a:ext>
            </a:extLst>
          </p:cNvPr>
          <p:cNvSpPr/>
          <p:nvPr/>
        </p:nvSpPr>
        <p:spPr>
          <a:xfrm>
            <a:off x="4212692" y="3132122"/>
            <a:ext cx="6315419" cy="1724639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protected void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onResume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 {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super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.onResume()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IntentFilter filter =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IntentFilter(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ACTION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registerReceiver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receiver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filter)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8C229F4-E1BA-9F4F-A19F-4CE4649E1055}"/>
              </a:ext>
            </a:extLst>
          </p:cNvPr>
          <p:cNvSpPr/>
          <p:nvPr/>
        </p:nvSpPr>
        <p:spPr>
          <a:xfrm>
            <a:off x="4212692" y="5037122"/>
            <a:ext cx="6315419" cy="1392241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protected void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onPause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 {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super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.onPause()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unregisterReceiver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receiver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71894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 Using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Broadcast Receiver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714F145-B764-EC49-8FD7-32549BB6BD5E}"/>
              </a:ext>
            </a:extLst>
          </p:cNvPr>
          <p:cNvGrpSpPr/>
          <p:nvPr/>
        </p:nvGrpSpPr>
        <p:grpSpPr>
          <a:xfrm>
            <a:off x="860946" y="845389"/>
            <a:ext cx="8991600" cy="451694"/>
            <a:chOff x="533400" y="1066618"/>
            <a:chExt cx="8382000" cy="451694"/>
          </a:xfrm>
        </p:grpSpPr>
        <p:sp>
          <p:nvSpPr>
            <p:cNvPr id="18" name="Chevron 17">
              <a:extLst>
                <a:ext uri="{FF2B5EF4-FFF2-40B4-BE49-F238E27FC236}">
                  <a16:creationId xmlns:a16="http://schemas.microsoft.com/office/drawing/2014/main" id="{20259D38-DADA-FE47-BBE0-1537E9997434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9" name="Chevron 18">
              <a:extLst>
                <a:ext uri="{FF2B5EF4-FFF2-40B4-BE49-F238E27FC236}">
                  <a16:creationId xmlns:a16="http://schemas.microsoft.com/office/drawing/2014/main" id="{1AD6D22D-BAB4-114F-80F4-D032285A6297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0" name="Title 1">
              <a:extLst>
                <a:ext uri="{FF2B5EF4-FFF2-40B4-BE49-F238E27FC236}">
                  <a16:creationId xmlns:a16="http://schemas.microsoft.com/office/drawing/2014/main" id="{B6B6D775-ABE0-BE40-8463-61B711C45B79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Register</a:t>
              </a:r>
              <a:endPara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Arial" pitchFamily="34" charset="0"/>
                <a:cs typeface="Arial" pitchFamily="34" charset="0"/>
                <a:sym typeface="Muli"/>
              </a:endParaRPr>
            </a:p>
          </p:txBody>
        </p:sp>
      </p:grp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800C5C01-C8BD-DB43-B963-44C06AC0692A}"/>
              </a:ext>
            </a:extLst>
          </p:cNvPr>
          <p:cNvSpPr txBox="1">
            <a:spLocks/>
          </p:cNvSpPr>
          <p:nvPr/>
        </p:nvSpPr>
        <p:spPr>
          <a:xfrm>
            <a:off x="860946" y="1337189"/>
            <a:ext cx="8696147" cy="469844"/>
          </a:xfrm>
          <a:prstGeom prst="rect">
            <a:avLst/>
          </a:prstGeom>
        </p:spPr>
        <p:txBody>
          <a:bodyPr vert="horz">
            <a:normAutofit lnSpcReduction="10000"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lvl="0" indent="-354013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Ø"/>
            </a:pPr>
            <a:r>
              <a:rPr lang="en-US" sz="2400" dirty="0">
                <a:solidFill>
                  <a:sysClr val="windowText" lastClr="000000"/>
                </a:solidFill>
                <a:latin typeface="Georgia"/>
              </a:rPr>
              <a:t>Method 2: register in Manifest</a:t>
            </a: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3B948BA-9B52-8140-A6A4-71B15D60279A}"/>
              </a:ext>
            </a:extLst>
          </p:cNvPr>
          <p:cNvSpPr/>
          <p:nvPr/>
        </p:nvSpPr>
        <p:spPr>
          <a:xfrm>
            <a:off x="1632293" y="1960157"/>
            <a:ext cx="7848600" cy="2057038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public class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MyReceiver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extends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BroadcastReceiver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{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@Override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public void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onReceive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(Context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context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Intent intent) {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//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Todo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something ….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}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4D059A5-FD38-F64F-8350-93AB1C49FD0C}"/>
              </a:ext>
            </a:extLst>
          </p:cNvPr>
          <p:cNvSpPr/>
          <p:nvPr/>
        </p:nvSpPr>
        <p:spPr>
          <a:xfrm>
            <a:off x="1632293" y="4169595"/>
            <a:ext cx="7848600" cy="2057038"/>
          </a:xfrm>
          <a:prstGeom prst="rect">
            <a:avLst/>
          </a:prstGeom>
          <a:solidFill>
            <a:sysClr val="windowText" lastClr="000000"/>
          </a:solidFill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&lt;receiver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android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BABAB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:name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".MyReceiver"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&gt;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&lt;intent-filter&gt;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&lt;action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android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BABAB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:name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"android.provider.Telephony.</a:t>
            </a: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                                                                    SMS_RECEIVED"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/&gt;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&lt;/intent-filter&gt;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&lt;/receiver&gt;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7196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 Using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Broadcast Receiver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1E74688-79F8-224D-B835-C357983093ED}"/>
              </a:ext>
            </a:extLst>
          </p:cNvPr>
          <p:cNvGrpSpPr/>
          <p:nvPr/>
        </p:nvGrpSpPr>
        <p:grpSpPr>
          <a:xfrm>
            <a:off x="859809" y="890922"/>
            <a:ext cx="9067800" cy="451694"/>
            <a:chOff x="533400" y="1066618"/>
            <a:chExt cx="8382000" cy="451694"/>
          </a:xfrm>
        </p:grpSpPr>
        <p:sp>
          <p:nvSpPr>
            <p:cNvPr id="17" name="Chevron 16">
              <a:extLst>
                <a:ext uri="{FF2B5EF4-FFF2-40B4-BE49-F238E27FC236}">
                  <a16:creationId xmlns:a16="http://schemas.microsoft.com/office/drawing/2014/main" id="{4539337E-4C7D-8647-995C-9F30BE077838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8" name="Chevron 17">
              <a:extLst>
                <a:ext uri="{FF2B5EF4-FFF2-40B4-BE49-F238E27FC236}">
                  <a16:creationId xmlns:a16="http://schemas.microsoft.com/office/drawing/2014/main" id="{C2917A06-FFD6-8242-BE7F-F94277744DE4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9" name="Title 1">
              <a:extLst>
                <a:ext uri="{FF2B5EF4-FFF2-40B4-BE49-F238E27FC236}">
                  <a16:creationId xmlns:a16="http://schemas.microsoft.com/office/drawing/2014/main" id="{7FC8F00D-6CF9-C440-88CA-DB22AA46F400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Example: Listening</a:t>
              </a:r>
              <a:r>
                <a:rPr kumimoji="0" lang="en-US" sz="2600" b="1" i="0" u="none" strike="noStrike" kern="1200" cap="none" spc="0" normalizeH="0" noProof="0" dirty="0" smtClean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 Wi-Fi changing</a:t>
              </a:r>
              <a:endPara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Arial" pitchFamily="34" charset="0"/>
                <a:cs typeface="Arial" pitchFamily="34" charset="0"/>
                <a:sym typeface="Muli"/>
              </a:endParaRP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C8BD2528-57DC-C54D-A3E6-C8A30F7AB77E}"/>
              </a:ext>
            </a:extLst>
          </p:cNvPr>
          <p:cNvSpPr/>
          <p:nvPr/>
        </p:nvSpPr>
        <p:spPr>
          <a:xfrm>
            <a:off x="1157766" y="1576752"/>
            <a:ext cx="8229600" cy="646331"/>
          </a:xfrm>
          <a:prstGeom prst="rect">
            <a:avLst/>
          </a:prstGeom>
          <a:solidFill>
            <a:sysClr val="windowText" lastClr="000000">
              <a:lumMod val="95000"/>
              <a:lumOff val="5000"/>
            </a:sysClr>
          </a:solidFill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&lt;uses-permission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android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BABAB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:name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"android.permission.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				        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ACCESS_NETWORK_STATE"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/&gt;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1" name="Line Callout 1 (Border and Accent Bar) 20">
            <a:extLst>
              <a:ext uri="{FF2B5EF4-FFF2-40B4-BE49-F238E27FC236}">
                <a16:creationId xmlns:a16="http://schemas.microsoft.com/office/drawing/2014/main" id="{A4C16135-124E-AC48-847D-0F828BA5373C}"/>
              </a:ext>
            </a:extLst>
          </p:cNvPr>
          <p:cNvSpPr/>
          <p:nvPr/>
        </p:nvSpPr>
        <p:spPr>
          <a:xfrm>
            <a:off x="8587937" y="556651"/>
            <a:ext cx="2211635" cy="668542"/>
          </a:xfrm>
          <a:prstGeom prst="accentBorderCallout1">
            <a:avLst>
              <a:gd name="adj1" fmla="val 18750"/>
              <a:gd name="adj2" fmla="val -8333"/>
              <a:gd name="adj3" fmla="val 148834"/>
              <a:gd name="adj4" fmla="val -13586"/>
            </a:avLst>
          </a:prstGeom>
          <a:solidFill>
            <a:srgbClr val="009DD9">
              <a:lumMod val="50000"/>
            </a:srgbClr>
          </a:solidFill>
          <a:ln w="19050" cap="flat" cmpd="sng" algn="ctr">
            <a:solidFill>
              <a:srgbClr val="0F6FC6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Request permission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6744938-A2C3-884C-B725-96DB11C8D1F4}"/>
              </a:ext>
            </a:extLst>
          </p:cNvPr>
          <p:cNvSpPr/>
          <p:nvPr/>
        </p:nvSpPr>
        <p:spPr>
          <a:xfrm>
            <a:off x="1164590" y="2305125"/>
            <a:ext cx="10147110" cy="3719031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@Override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protected void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onResume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 {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super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.onResume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IntentFilter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filter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IntentFilter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ConnectivityManager.</a:t>
            </a:r>
            <a:r>
              <a:rPr kumimoji="0" lang="en-US" sz="1800" b="1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CONNECTIVITY_ACTION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registerReceiver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receiver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filter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@Override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protected void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onPause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 {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super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.onPause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unregisterReceiver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receiver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88376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 Using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Broadcast Receiver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1E74688-79F8-224D-B835-C357983093ED}"/>
              </a:ext>
            </a:extLst>
          </p:cNvPr>
          <p:cNvGrpSpPr/>
          <p:nvPr/>
        </p:nvGrpSpPr>
        <p:grpSpPr>
          <a:xfrm>
            <a:off x="859809" y="890922"/>
            <a:ext cx="9067800" cy="451694"/>
            <a:chOff x="533400" y="1066618"/>
            <a:chExt cx="8382000" cy="451694"/>
          </a:xfrm>
        </p:grpSpPr>
        <p:sp>
          <p:nvSpPr>
            <p:cNvPr id="17" name="Chevron 16">
              <a:extLst>
                <a:ext uri="{FF2B5EF4-FFF2-40B4-BE49-F238E27FC236}">
                  <a16:creationId xmlns:a16="http://schemas.microsoft.com/office/drawing/2014/main" id="{4539337E-4C7D-8647-995C-9F30BE077838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8" name="Chevron 17">
              <a:extLst>
                <a:ext uri="{FF2B5EF4-FFF2-40B4-BE49-F238E27FC236}">
                  <a16:creationId xmlns:a16="http://schemas.microsoft.com/office/drawing/2014/main" id="{C2917A06-FFD6-8242-BE7F-F94277744DE4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9" name="Title 1">
              <a:extLst>
                <a:ext uri="{FF2B5EF4-FFF2-40B4-BE49-F238E27FC236}">
                  <a16:creationId xmlns:a16="http://schemas.microsoft.com/office/drawing/2014/main" id="{7FC8F00D-6CF9-C440-88CA-DB22AA46F400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Example: Listening</a:t>
              </a:r>
              <a:r>
                <a:rPr kumimoji="0" lang="en-US" sz="2600" b="1" i="0" u="none" strike="noStrike" kern="1200" cap="none" spc="0" normalizeH="0" noProof="0" dirty="0" smtClean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 Wi-Fi changing</a:t>
              </a:r>
              <a:endPara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Arial" pitchFamily="34" charset="0"/>
                <a:cs typeface="Arial" pitchFamily="34" charset="0"/>
                <a:sym typeface="Muli"/>
              </a:endParaRP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A008A542-6F77-6940-A799-473632BF8325}"/>
              </a:ext>
            </a:extLst>
          </p:cNvPr>
          <p:cNvSpPr/>
          <p:nvPr/>
        </p:nvSpPr>
        <p:spPr>
          <a:xfrm>
            <a:off x="199697" y="1474792"/>
            <a:ext cx="11878511" cy="4770537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BroadcastReceiver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receiver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BroadcastReceiver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 {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@Override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public void </a:t>
            </a:r>
            <a:r>
              <a:rPr kumimoji="0" lang="en-US" sz="16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onReceive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(Context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context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Intent intent) {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ConnectivityManager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connectivityManager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(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ConnectivityManager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context.getSystemService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600" b="0" i="1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CONNECTIVITY_SERVICE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NetworkInfo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networkInfo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connectivityManager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.getActiveNetworkInfo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if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networkInfo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!=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null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&amp;&amp;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networkInfo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.isConnected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()){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if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networkInfo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.getType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 == </a:t>
            </a:r>
            <a:r>
              <a:rPr kumimoji="0" lang="en-US" sz="16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ConnectivityManager.</a:t>
            </a:r>
            <a:r>
              <a:rPr kumimoji="0" lang="en-US" sz="1600" b="1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TYPE_WIFI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){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imvConnectionState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.setImageResource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R.drawable.</a:t>
            </a:r>
            <a:r>
              <a:rPr kumimoji="0" lang="en-US" sz="16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ic_action_wifi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txtConnectionState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.setText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"Connected with WIFI"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else if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networkInfo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.getType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 == </a:t>
            </a:r>
            <a:r>
              <a:rPr kumimoji="0" lang="en-US" sz="16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ConnectivityManager.</a:t>
            </a:r>
            <a:r>
              <a:rPr kumimoji="0" lang="en-US" sz="1600" b="1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TYPE_MOBILE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){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imvConnectionState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.setImageResource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R.drawable.</a:t>
            </a:r>
            <a:r>
              <a:rPr kumimoji="0" lang="en-US" sz="16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ic_action_cellular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txtConnectionState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.setText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"Connected with Mobile Data"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}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else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{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imvConnectionState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.setImageResource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R.drawable.</a:t>
            </a:r>
            <a:r>
              <a:rPr kumimoji="0" lang="en-US" sz="16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ic_action_no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txtConnectionState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.setText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"No internet connection"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}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4745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 Using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Broadcast Receiver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1E74688-79F8-224D-B835-C357983093ED}"/>
              </a:ext>
            </a:extLst>
          </p:cNvPr>
          <p:cNvGrpSpPr/>
          <p:nvPr/>
        </p:nvGrpSpPr>
        <p:grpSpPr>
          <a:xfrm>
            <a:off x="859809" y="890922"/>
            <a:ext cx="9067800" cy="451694"/>
            <a:chOff x="533400" y="1066618"/>
            <a:chExt cx="8382000" cy="451694"/>
          </a:xfrm>
        </p:grpSpPr>
        <p:sp>
          <p:nvSpPr>
            <p:cNvPr id="17" name="Chevron 16">
              <a:extLst>
                <a:ext uri="{FF2B5EF4-FFF2-40B4-BE49-F238E27FC236}">
                  <a16:creationId xmlns:a16="http://schemas.microsoft.com/office/drawing/2014/main" id="{4539337E-4C7D-8647-995C-9F30BE077838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8" name="Chevron 17">
              <a:extLst>
                <a:ext uri="{FF2B5EF4-FFF2-40B4-BE49-F238E27FC236}">
                  <a16:creationId xmlns:a16="http://schemas.microsoft.com/office/drawing/2014/main" id="{C2917A06-FFD6-8242-BE7F-F94277744DE4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9" name="Title 1">
              <a:extLst>
                <a:ext uri="{FF2B5EF4-FFF2-40B4-BE49-F238E27FC236}">
                  <a16:creationId xmlns:a16="http://schemas.microsoft.com/office/drawing/2014/main" id="{7FC8F00D-6CF9-C440-88CA-DB22AA46F400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Example: Listening</a:t>
              </a:r>
              <a:r>
                <a:rPr kumimoji="0" lang="en-US" sz="2600" b="1" i="0" u="none" strike="noStrike" kern="1200" cap="none" spc="0" normalizeH="0" noProof="0" dirty="0" smtClean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 SMS</a:t>
              </a:r>
              <a:endPara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Arial" pitchFamily="34" charset="0"/>
                <a:cs typeface="Arial" pitchFamily="34" charset="0"/>
                <a:sym typeface="Muli"/>
              </a:endParaRP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C8BD2528-57DC-C54D-A3E6-C8A30F7AB77E}"/>
              </a:ext>
            </a:extLst>
          </p:cNvPr>
          <p:cNvSpPr/>
          <p:nvPr/>
        </p:nvSpPr>
        <p:spPr>
          <a:xfrm>
            <a:off x="859809" y="1881523"/>
            <a:ext cx="10290412" cy="757130"/>
          </a:xfrm>
          <a:prstGeom prst="rect">
            <a:avLst/>
          </a:prstGeom>
          <a:solidFill>
            <a:sysClr val="windowText" lastClr="000000">
              <a:lumMod val="95000"/>
              <a:lumOff val="5000"/>
            </a:sysClr>
          </a:solidFill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&lt;uses-permission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android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BABAB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:name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android.permission.RECEIVE_SMS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/&gt;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&lt;uses-permission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android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BABAB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:name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android.permission.READ_SMS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/&gt;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1" name="Line Callout 1 (Border and Accent Bar) 20">
            <a:extLst>
              <a:ext uri="{FF2B5EF4-FFF2-40B4-BE49-F238E27FC236}">
                <a16:creationId xmlns:a16="http://schemas.microsoft.com/office/drawing/2014/main" id="{A4C16135-124E-AC48-847D-0F828BA5373C}"/>
              </a:ext>
            </a:extLst>
          </p:cNvPr>
          <p:cNvSpPr/>
          <p:nvPr/>
        </p:nvSpPr>
        <p:spPr>
          <a:xfrm>
            <a:off x="6888791" y="890922"/>
            <a:ext cx="2211635" cy="668542"/>
          </a:xfrm>
          <a:prstGeom prst="accentBorderCallout1">
            <a:avLst>
              <a:gd name="adj1" fmla="val 18750"/>
              <a:gd name="adj2" fmla="val -8333"/>
              <a:gd name="adj3" fmla="val 148834"/>
              <a:gd name="adj4" fmla="val -13586"/>
            </a:avLst>
          </a:prstGeom>
          <a:solidFill>
            <a:srgbClr val="009DD9">
              <a:lumMod val="50000"/>
            </a:srgbClr>
          </a:solidFill>
          <a:ln w="19050" cap="flat" cmpd="sng" algn="ctr">
            <a:solidFill>
              <a:srgbClr val="0F6FC6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Request permission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4600E7D-B6A1-2A40-84E0-006CECF4DFBA}"/>
              </a:ext>
            </a:extLst>
          </p:cNvPr>
          <p:cNvSpPr/>
          <p:nvPr/>
        </p:nvSpPr>
        <p:spPr>
          <a:xfrm>
            <a:off x="859809" y="3255397"/>
            <a:ext cx="10290412" cy="1724639"/>
          </a:xfrm>
          <a:prstGeom prst="rect">
            <a:avLst/>
          </a:prstGeom>
          <a:solidFill>
            <a:sysClr val="windowText" lastClr="000000"/>
          </a:solidFill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&lt;receiver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android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BABAB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:name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".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SmsReceiver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&gt;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&lt;intent-filter&gt;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&lt;action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android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BABAB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:name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android.provider.Telephony.SMS_RECEIVED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/&gt;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&lt;/intent-filter&gt;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&lt;/receiver&gt;</a:t>
            </a:r>
            <a:endParaRPr kumimoji="0" lang="en-US" sz="1800" b="1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9854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 Using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Broadcast Receiver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1E74688-79F8-224D-B835-C357983093ED}"/>
              </a:ext>
            </a:extLst>
          </p:cNvPr>
          <p:cNvGrpSpPr/>
          <p:nvPr/>
        </p:nvGrpSpPr>
        <p:grpSpPr>
          <a:xfrm>
            <a:off x="728132" y="845389"/>
            <a:ext cx="9067800" cy="451694"/>
            <a:chOff x="533400" y="1066618"/>
            <a:chExt cx="8382000" cy="451694"/>
          </a:xfrm>
        </p:grpSpPr>
        <p:sp>
          <p:nvSpPr>
            <p:cNvPr id="17" name="Chevron 16">
              <a:extLst>
                <a:ext uri="{FF2B5EF4-FFF2-40B4-BE49-F238E27FC236}">
                  <a16:creationId xmlns:a16="http://schemas.microsoft.com/office/drawing/2014/main" id="{4539337E-4C7D-8647-995C-9F30BE077838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8" name="Chevron 17">
              <a:extLst>
                <a:ext uri="{FF2B5EF4-FFF2-40B4-BE49-F238E27FC236}">
                  <a16:creationId xmlns:a16="http://schemas.microsoft.com/office/drawing/2014/main" id="{C2917A06-FFD6-8242-BE7F-F94277744DE4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9" name="Title 1">
              <a:extLst>
                <a:ext uri="{FF2B5EF4-FFF2-40B4-BE49-F238E27FC236}">
                  <a16:creationId xmlns:a16="http://schemas.microsoft.com/office/drawing/2014/main" id="{7FC8F00D-6CF9-C440-88CA-DB22AA46F400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Example: Listening</a:t>
              </a:r>
              <a:r>
                <a:rPr kumimoji="0" lang="en-US" sz="2600" b="1" i="0" u="none" strike="noStrike" kern="1200" cap="none" spc="0" normalizeH="0" noProof="0" dirty="0" smtClean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 SMS</a:t>
              </a:r>
              <a:endPara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Arial" pitchFamily="34" charset="0"/>
                <a:cs typeface="Arial" pitchFamily="34" charset="0"/>
                <a:sym typeface="Muli"/>
              </a:endParaRP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A008A542-6F77-6940-A799-473632BF8325}"/>
              </a:ext>
            </a:extLst>
          </p:cNvPr>
          <p:cNvSpPr/>
          <p:nvPr/>
        </p:nvSpPr>
        <p:spPr>
          <a:xfrm>
            <a:off x="908543" y="1352221"/>
            <a:ext cx="10921762" cy="5088894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public class </a:t>
            </a:r>
            <a:r>
              <a:rPr kumimoji="0" lang="en-US" sz="16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SmsReceiver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extends </a:t>
            </a:r>
            <a:r>
              <a:rPr kumimoji="0" lang="en-US" sz="16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BroadcastReceiver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{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@Override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public void </a:t>
            </a:r>
            <a:r>
              <a:rPr kumimoji="0" lang="en-US" sz="16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onReceive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(Context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context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Intent intent) {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Bundle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bundle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intent.getExtras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Object[]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arrMessages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(Object[])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bundle.get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</a:t>
            </a:r>
            <a:r>
              <a:rPr kumimoji="0" lang="en-US" sz="16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pdus</a:t>
            </a: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String phone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time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content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Date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date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 byte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[] bytes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for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0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&lt;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arrMessages.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length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++){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bytes = (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byte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[])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arrMessages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[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]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SmsMessage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message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SmsMessage.</a:t>
            </a:r>
            <a:r>
              <a:rPr kumimoji="0" lang="en-US" sz="1600" b="1" i="1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createFromPdu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(bytes)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phone =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message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</a:t>
            </a:r>
            <a:r>
              <a:rPr kumimoji="0" lang="en-US" sz="16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getDisplayOriginatingAddress</a:t>
            </a: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date =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Date(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message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</a:t>
            </a:r>
            <a:r>
              <a:rPr kumimoji="0" lang="en-US" sz="16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getTimestampMillis</a:t>
            </a: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content =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message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</a:t>
            </a:r>
            <a:r>
              <a:rPr kumimoji="0" lang="en-US" sz="16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getMessageBody</a:t>
            </a: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</a:t>
            </a: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//</a:t>
            </a:r>
            <a:r>
              <a:rPr kumimoji="0" lang="en-US" sz="16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Todo</a:t>
            </a: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something …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}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06608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Custom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Broadcast Receiver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714F145-B764-EC49-8FD7-32549BB6BD5E}"/>
              </a:ext>
            </a:extLst>
          </p:cNvPr>
          <p:cNvGrpSpPr/>
          <p:nvPr/>
        </p:nvGrpSpPr>
        <p:grpSpPr>
          <a:xfrm>
            <a:off x="628935" y="845389"/>
            <a:ext cx="8991600" cy="451694"/>
            <a:chOff x="533400" y="1066618"/>
            <a:chExt cx="8382000" cy="451694"/>
          </a:xfrm>
        </p:grpSpPr>
        <p:sp>
          <p:nvSpPr>
            <p:cNvPr id="18" name="Chevron 17">
              <a:extLst>
                <a:ext uri="{FF2B5EF4-FFF2-40B4-BE49-F238E27FC236}">
                  <a16:creationId xmlns:a16="http://schemas.microsoft.com/office/drawing/2014/main" id="{20259D38-DADA-FE47-BBE0-1537E9997434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9" name="Chevron 18">
              <a:extLst>
                <a:ext uri="{FF2B5EF4-FFF2-40B4-BE49-F238E27FC236}">
                  <a16:creationId xmlns:a16="http://schemas.microsoft.com/office/drawing/2014/main" id="{1AD6D22D-BAB4-114F-80F4-D032285A6297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0" name="Title 1">
              <a:extLst>
                <a:ext uri="{FF2B5EF4-FFF2-40B4-BE49-F238E27FC236}">
                  <a16:creationId xmlns:a16="http://schemas.microsoft.com/office/drawing/2014/main" id="{B6B6D775-ABE0-BE40-8463-61B711C45B79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Case </a:t>
              </a:r>
              <a:r>
                <a:rPr kumimoji="0" 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1: custom Broadcast &amp; </a:t>
              </a:r>
              <a:r>
                <a:rPr kumimoji="0" lang="en-US" sz="2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registering in Java </a:t>
              </a:r>
              <a:r>
                <a:rPr kumimoji="0" 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code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3FACCF9-BBCC-C147-A5ED-2014DECF0D43}"/>
              </a:ext>
            </a:extLst>
          </p:cNvPr>
          <p:cNvGrpSpPr/>
          <p:nvPr/>
        </p:nvGrpSpPr>
        <p:grpSpPr>
          <a:xfrm>
            <a:off x="1189042" y="1537058"/>
            <a:ext cx="7660394" cy="2131554"/>
            <a:chOff x="797806" y="1879085"/>
            <a:chExt cx="7660394" cy="2131554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CF24FD8-106A-4D45-8FD6-F6E01434E5AC}"/>
                </a:ext>
              </a:extLst>
            </p:cNvPr>
            <p:cNvSpPr/>
            <p:nvPr/>
          </p:nvSpPr>
          <p:spPr>
            <a:xfrm>
              <a:off x="797806" y="2286000"/>
              <a:ext cx="7660394" cy="1724639"/>
            </a:xfrm>
            <a:prstGeom prst="rect">
              <a:avLst/>
            </a:prstGeom>
            <a:ln>
              <a:solidFill>
                <a:srgbClr val="009DD9">
                  <a:lumMod val="50000"/>
                </a:srgbClr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public void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SendBroadCast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(View view) {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Intent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intent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=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new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Intent(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"com.example.EXAMPLE_ACTION"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)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intent.putExtra(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"com.example.VALUE"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,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"Broadcast Received"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)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sendBroadcast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(intent)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/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}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655A18E-F97B-B943-9C34-D289C7218B2E}"/>
                </a:ext>
              </a:extLst>
            </p:cNvPr>
            <p:cNvSpPr/>
            <p:nvPr/>
          </p:nvSpPr>
          <p:spPr>
            <a:xfrm>
              <a:off x="797806" y="1879085"/>
              <a:ext cx="3774194" cy="406915"/>
            </a:xfrm>
            <a:prstGeom prst="rect">
              <a:avLst/>
            </a:prstGeom>
            <a:solidFill>
              <a:srgbClr val="17406D">
                <a:lumMod val="75000"/>
              </a:srgbClr>
            </a:solidFill>
            <a:ln w="190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App </a:t>
              </a:r>
              <a:r>
                <a:rPr kumimoji="0" 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1</a:t>
              </a:r>
              <a:r>
                <a:rPr kumimoji="0" 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: Broadcast Sender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255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Custom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Broadcast Receiver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714F145-B764-EC49-8FD7-32549BB6BD5E}"/>
              </a:ext>
            </a:extLst>
          </p:cNvPr>
          <p:cNvGrpSpPr/>
          <p:nvPr/>
        </p:nvGrpSpPr>
        <p:grpSpPr>
          <a:xfrm>
            <a:off x="628935" y="845389"/>
            <a:ext cx="8991600" cy="451694"/>
            <a:chOff x="533400" y="1066618"/>
            <a:chExt cx="8382000" cy="451694"/>
          </a:xfrm>
        </p:grpSpPr>
        <p:sp>
          <p:nvSpPr>
            <p:cNvPr id="18" name="Chevron 17">
              <a:extLst>
                <a:ext uri="{FF2B5EF4-FFF2-40B4-BE49-F238E27FC236}">
                  <a16:creationId xmlns:a16="http://schemas.microsoft.com/office/drawing/2014/main" id="{20259D38-DADA-FE47-BBE0-1537E9997434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9" name="Chevron 18">
              <a:extLst>
                <a:ext uri="{FF2B5EF4-FFF2-40B4-BE49-F238E27FC236}">
                  <a16:creationId xmlns:a16="http://schemas.microsoft.com/office/drawing/2014/main" id="{1AD6D22D-BAB4-114F-80F4-D032285A6297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0" name="Title 1">
              <a:extLst>
                <a:ext uri="{FF2B5EF4-FFF2-40B4-BE49-F238E27FC236}">
                  <a16:creationId xmlns:a16="http://schemas.microsoft.com/office/drawing/2014/main" id="{B6B6D775-ABE0-BE40-8463-61B711C45B79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Case </a:t>
              </a:r>
              <a:r>
                <a:rPr kumimoji="0" 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1: custom Broadcast &amp; </a:t>
              </a:r>
              <a:r>
                <a:rPr kumimoji="0" lang="en-US" sz="2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registering in Java </a:t>
              </a:r>
              <a:r>
                <a:rPr kumimoji="0" 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code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C0F602E-13BD-4243-B280-716B088A2663}"/>
              </a:ext>
            </a:extLst>
          </p:cNvPr>
          <p:cNvGrpSpPr/>
          <p:nvPr/>
        </p:nvGrpSpPr>
        <p:grpSpPr>
          <a:xfrm>
            <a:off x="1148099" y="1448053"/>
            <a:ext cx="7660394" cy="3823235"/>
            <a:chOff x="797806" y="1879085"/>
            <a:chExt cx="7660394" cy="3823235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F46582-A0E5-C04C-86D9-0068512C745E}"/>
                </a:ext>
              </a:extLst>
            </p:cNvPr>
            <p:cNvSpPr/>
            <p:nvPr/>
          </p:nvSpPr>
          <p:spPr>
            <a:xfrm>
              <a:off x="797806" y="2286000"/>
              <a:ext cx="7660394" cy="3416320"/>
            </a:xfrm>
            <a:prstGeom prst="rect">
              <a:avLst/>
            </a:prstGeom>
            <a:ln>
              <a:solidFill>
                <a:srgbClr val="009DD9">
                  <a:lumMod val="50000"/>
                </a:srgbClr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public class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MyBroadcast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extends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BroadcastReceiver {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BBB52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@Override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BBB52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BBB52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public void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onReceive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(Context context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,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Intent intent) {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if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(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"com.example.EXAMPLE_ACTION"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.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		                                                equals(intent.getAction())){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    String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receiverText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=  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                                  intent.getStringExtra(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"com.example.VALUE"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)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Toast.</a:t>
              </a:r>
              <a:r>
                <a:rPr kumimoji="0" lang="en-US" sz="1800" b="0" i="1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makeText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(context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,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receiverText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, 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			                      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Toast.</a:t>
              </a:r>
              <a:r>
                <a:rPr kumimoji="0" lang="en-US" sz="1800" b="0" i="1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LENGTH_LONG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).show()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}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}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}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78A8330-D87E-7942-9992-C8D0421F684E}"/>
                </a:ext>
              </a:extLst>
            </p:cNvPr>
            <p:cNvSpPr/>
            <p:nvPr/>
          </p:nvSpPr>
          <p:spPr>
            <a:xfrm>
              <a:off x="797806" y="1879085"/>
              <a:ext cx="3774194" cy="406915"/>
            </a:xfrm>
            <a:prstGeom prst="rect">
              <a:avLst/>
            </a:prstGeom>
            <a:solidFill>
              <a:srgbClr val="17406D">
                <a:lumMod val="75000"/>
              </a:srgbClr>
            </a:solidFill>
            <a:ln w="190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App </a:t>
              </a:r>
              <a:r>
                <a:rPr kumimoji="0" 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2</a:t>
              </a:r>
              <a:r>
                <a:rPr kumimoji="0" 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: Broadcast Receiver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63584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Custom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Broadcast Receiver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714F145-B764-EC49-8FD7-32549BB6BD5E}"/>
              </a:ext>
            </a:extLst>
          </p:cNvPr>
          <p:cNvGrpSpPr/>
          <p:nvPr/>
        </p:nvGrpSpPr>
        <p:grpSpPr>
          <a:xfrm>
            <a:off x="628935" y="845389"/>
            <a:ext cx="8991600" cy="451694"/>
            <a:chOff x="533400" y="1066618"/>
            <a:chExt cx="8382000" cy="451694"/>
          </a:xfrm>
        </p:grpSpPr>
        <p:sp>
          <p:nvSpPr>
            <p:cNvPr id="18" name="Chevron 17">
              <a:extLst>
                <a:ext uri="{FF2B5EF4-FFF2-40B4-BE49-F238E27FC236}">
                  <a16:creationId xmlns:a16="http://schemas.microsoft.com/office/drawing/2014/main" id="{20259D38-DADA-FE47-BBE0-1537E9997434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9" name="Chevron 18">
              <a:extLst>
                <a:ext uri="{FF2B5EF4-FFF2-40B4-BE49-F238E27FC236}">
                  <a16:creationId xmlns:a16="http://schemas.microsoft.com/office/drawing/2014/main" id="{1AD6D22D-BAB4-114F-80F4-D032285A6297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0" name="Title 1">
              <a:extLst>
                <a:ext uri="{FF2B5EF4-FFF2-40B4-BE49-F238E27FC236}">
                  <a16:creationId xmlns:a16="http://schemas.microsoft.com/office/drawing/2014/main" id="{B6B6D775-ABE0-BE40-8463-61B711C45B79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Case </a:t>
              </a:r>
              <a:r>
                <a:rPr kumimoji="0" 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1: custom Broadcast &amp; </a:t>
              </a:r>
              <a:r>
                <a:rPr kumimoji="0" lang="en-US" sz="2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registering in Java </a:t>
              </a:r>
              <a:r>
                <a:rPr kumimoji="0" 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code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C0F602E-13BD-4243-B280-716B088A2663}"/>
              </a:ext>
            </a:extLst>
          </p:cNvPr>
          <p:cNvGrpSpPr/>
          <p:nvPr/>
        </p:nvGrpSpPr>
        <p:grpSpPr>
          <a:xfrm>
            <a:off x="1107156" y="1420346"/>
            <a:ext cx="7660394" cy="4931230"/>
            <a:chOff x="797806" y="1879085"/>
            <a:chExt cx="7660394" cy="493123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1F46582-A0E5-C04C-86D9-0068512C745E}"/>
                </a:ext>
              </a:extLst>
            </p:cNvPr>
            <p:cNvSpPr/>
            <p:nvPr/>
          </p:nvSpPr>
          <p:spPr>
            <a:xfrm>
              <a:off x="797806" y="2286000"/>
              <a:ext cx="7660394" cy="4524315"/>
            </a:xfrm>
            <a:prstGeom prst="rect">
              <a:avLst/>
            </a:prstGeom>
            <a:ln>
              <a:solidFill>
                <a:srgbClr val="009DD9">
                  <a:lumMod val="50000"/>
                </a:srgbClr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public class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MainActivity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extends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AppCompatActivity {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MyBroadcast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receiver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=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new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MyBroadcast()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BBB52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@Override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BBB52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BBB52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protected void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onCreate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(Bundle savedInstanceState) {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super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.onCreate(savedInstanceState)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setContentView(R.layout.</a:t>
              </a:r>
              <a:r>
                <a:rPr kumimoji="0" lang="en-US" sz="1800" b="0" i="1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activity_main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)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IntentFilter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filter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=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new   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                   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IntentFilter(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"com.example.EXAMPLE_ACTION"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)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registerReceiver(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receiver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,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filter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)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}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BBB52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@Override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BBB52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BBB52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protected void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onDestroy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() {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super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.onDestroy()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unregisterReceiver(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receiver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)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/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}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}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78A8330-D87E-7942-9992-C8D0421F684E}"/>
                </a:ext>
              </a:extLst>
            </p:cNvPr>
            <p:cNvSpPr/>
            <p:nvPr/>
          </p:nvSpPr>
          <p:spPr>
            <a:xfrm>
              <a:off x="797806" y="1879085"/>
              <a:ext cx="3774194" cy="406915"/>
            </a:xfrm>
            <a:prstGeom prst="rect">
              <a:avLst/>
            </a:prstGeom>
            <a:solidFill>
              <a:srgbClr val="17406D">
                <a:lumMod val="75000"/>
              </a:srgbClr>
            </a:solidFill>
            <a:ln w="190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App </a:t>
              </a:r>
              <a:r>
                <a:rPr kumimoji="0" 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2</a:t>
              </a:r>
              <a:r>
                <a:rPr kumimoji="0" 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: Broadcast Receiver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00538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Custom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Broadcast Receiver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3FACCF9-BBCC-C147-A5ED-2014DECF0D43}"/>
              </a:ext>
            </a:extLst>
          </p:cNvPr>
          <p:cNvGrpSpPr/>
          <p:nvPr/>
        </p:nvGrpSpPr>
        <p:grpSpPr>
          <a:xfrm>
            <a:off x="1052564" y="1515946"/>
            <a:ext cx="7660394" cy="2796352"/>
            <a:chOff x="797806" y="1879085"/>
            <a:chExt cx="7660394" cy="2796352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CF24FD8-106A-4D45-8FD6-F6E01434E5AC}"/>
                </a:ext>
              </a:extLst>
            </p:cNvPr>
            <p:cNvSpPr/>
            <p:nvPr/>
          </p:nvSpPr>
          <p:spPr>
            <a:xfrm>
              <a:off x="797806" y="2286000"/>
              <a:ext cx="7660394" cy="2389437"/>
            </a:xfrm>
            <a:prstGeom prst="rect">
              <a:avLst/>
            </a:prstGeom>
            <a:ln>
              <a:solidFill>
                <a:srgbClr val="009DD9">
                  <a:lumMod val="50000"/>
                </a:srgbClr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Intent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intent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=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new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Intent()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ComponentName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cn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=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new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ComponentName(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"com.example.custombroadcastreceiver"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,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                         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"com.example.custombroadcastreceiver.</a:t>
              </a: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				   BroadcastReceiverExample"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)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intent.setComponent(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cn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)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/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sendBroadcast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(intent)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endPara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55A18E-F97B-B943-9C34-D289C7218B2E}"/>
                </a:ext>
              </a:extLst>
            </p:cNvPr>
            <p:cNvSpPr/>
            <p:nvPr/>
          </p:nvSpPr>
          <p:spPr>
            <a:xfrm>
              <a:off x="797806" y="1879085"/>
              <a:ext cx="3774194" cy="406915"/>
            </a:xfrm>
            <a:prstGeom prst="rect">
              <a:avLst/>
            </a:prstGeom>
            <a:solidFill>
              <a:srgbClr val="17406D">
                <a:lumMod val="75000"/>
              </a:srgbClr>
            </a:solidFill>
            <a:ln w="190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App </a:t>
              </a:r>
              <a:r>
                <a:rPr kumimoji="0" 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1</a:t>
              </a:r>
              <a:r>
                <a:rPr kumimoji="0" 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: Broadcast Sender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47AC0BC-D64D-E548-965D-759253C22D44}"/>
              </a:ext>
            </a:extLst>
          </p:cNvPr>
          <p:cNvGrpSpPr/>
          <p:nvPr/>
        </p:nvGrpSpPr>
        <p:grpSpPr>
          <a:xfrm>
            <a:off x="1052564" y="4535656"/>
            <a:ext cx="7660394" cy="1171291"/>
            <a:chOff x="797806" y="1879085"/>
            <a:chExt cx="7660394" cy="117129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5FF7A2C-E395-0740-8E6F-0C8B9A799568}"/>
                </a:ext>
              </a:extLst>
            </p:cNvPr>
            <p:cNvSpPr/>
            <p:nvPr/>
          </p:nvSpPr>
          <p:spPr>
            <a:xfrm>
              <a:off x="797806" y="2286000"/>
              <a:ext cx="7660394" cy="764376"/>
            </a:xfrm>
            <a:prstGeom prst="rect">
              <a:avLst/>
            </a:prstGeom>
            <a:solidFill>
              <a:sysClr val="windowText" lastClr="000000"/>
            </a:solidFill>
            <a:ln>
              <a:solidFill>
                <a:srgbClr val="009DD9">
                  <a:lumMod val="50000"/>
                </a:srgbClr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E8BF6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&lt;receiver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android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BABAB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:name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="</a:t>
              </a:r>
              <a:r>
                <a:rPr kumimoji="0" 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.BroadcastReceiverExample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" </a:t>
              </a: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       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android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BABAB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:exported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="true"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E8BF6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/&gt;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</a:t>
              </a:r>
              <a:endPara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6D83E6C-A834-EF4A-BF69-C2CABC06E981}"/>
                </a:ext>
              </a:extLst>
            </p:cNvPr>
            <p:cNvSpPr/>
            <p:nvPr/>
          </p:nvSpPr>
          <p:spPr>
            <a:xfrm>
              <a:off x="797806" y="1879085"/>
              <a:ext cx="3774194" cy="406915"/>
            </a:xfrm>
            <a:prstGeom prst="rect">
              <a:avLst/>
            </a:prstGeom>
            <a:solidFill>
              <a:srgbClr val="17406D">
                <a:lumMod val="75000"/>
              </a:srgbClr>
            </a:solidFill>
            <a:ln w="190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App </a:t>
              </a:r>
              <a:r>
                <a:rPr kumimoji="0" 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2</a:t>
              </a:r>
              <a:r>
                <a:rPr kumimoji="0" 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: Broadcast Receiver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641A072-7B15-EA42-B897-C80F6FE1A90A}"/>
              </a:ext>
            </a:extLst>
          </p:cNvPr>
          <p:cNvGrpSpPr/>
          <p:nvPr/>
        </p:nvGrpSpPr>
        <p:grpSpPr>
          <a:xfrm>
            <a:off x="601639" y="845389"/>
            <a:ext cx="8991600" cy="451694"/>
            <a:chOff x="533400" y="1066618"/>
            <a:chExt cx="8382000" cy="451694"/>
          </a:xfrm>
        </p:grpSpPr>
        <p:sp>
          <p:nvSpPr>
            <p:cNvPr id="23" name="Chevron 22">
              <a:extLst>
                <a:ext uri="{FF2B5EF4-FFF2-40B4-BE49-F238E27FC236}">
                  <a16:creationId xmlns:a16="http://schemas.microsoft.com/office/drawing/2014/main" id="{810D8186-7B11-C448-AB54-C8ED0A5D3F85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4" name="Chevron 23">
              <a:extLst>
                <a:ext uri="{FF2B5EF4-FFF2-40B4-BE49-F238E27FC236}">
                  <a16:creationId xmlns:a16="http://schemas.microsoft.com/office/drawing/2014/main" id="{0C6B41B7-F67F-9442-98B2-C4C9E05B118B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5" name="Title 1">
              <a:extLst>
                <a:ext uri="{FF2B5EF4-FFF2-40B4-BE49-F238E27FC236}">
                  <a16:creationId xmlns:a16="http://schemas.microsoft.com/office/drawing/2014/main" id="{BD2FB11A-0A1E-9040-B1ED-7C09AC663802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Case </a:t>
              </a:r>
              <a:r>
                <a:rPr kumimoji="0" 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2: custom Broadcast &amp; </a:t>
              </a:r>
              <a:r>
                <a:rPr kumimoji="0" lang="en-US" sz="2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registering in Manifest</a:t>
              </a:r>
              <a:endPara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Arial" pitchFamily="34" charset="0"/>
                <a:cs typeface="Arial" pitchFamily="34" charset="0"/>
                <a:sym typeface="Mul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0634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Custom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Broadcast Receiver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641A072-7B15-EA42-B897-C80F6FE1A90A}"/>
              </a:ext>
            </a:extLst>
          </p:cNvPr>
          <p:cNvGrpSpPr/>
          <p:nvPr/>
        </p:nvGrpSpPr>
        <p:grpSpPr>
          <a:xfrm>
            <a:off x="601639" y="845389"/>
            <a:ext cx="8991600" cy="451694"/>
            <a:chOff x="533400" y="1066618"/>
            <a:chExt cx="8382000" cy="451694"/>
          </a:xfrm>
        </p:grpSpPr>
        <p:sp>
          <p:nvSpPr>
            <p:cNvPr id="23" name="Chevron 22">
              <a:extLst>
                <a:ext uri="{FF2B5EF4-FFF2-40B4-BE49-F238E27FC236}">
                  <a16:creationId xmlns:a16="http://schemas.microsoft.com/office/drawing/2014/main" id="{810D8186-7B11-C448-AB54-C8ED0A5D3F85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4" name="Chevron 23">
              <a:extLst>
                <a:ext uri="{FF2B5EF4-FFF2-40B4-BE49-F238E27FC236}">
                  <a16:creationId xmlns:a16="http://schemas.microsoft.com/office/drawing/2014/main" id="{0C6B41B7-F67F-9442-98B2-C4C9E05B118B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5" name="Title 1">
              <a:extLst>
                <a:ext uri="{FF2B5EF4-FFF2-40B4-BE49-F238E27FC236}">
                  <a16:creationId xmlns:a16="http://schemas.microsoft.com/office/drawing/2014/main" id="{BD2FB11A-0A1E-9040-B1ED-7C09AC663802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Case </a:t>
              </a:r>
              <a:r>
                <a:rPr kumimoji="0" 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2: custom Broadcast &amp; </a:t>
              </a:r>
              <a:r>
                <a:rPr kumimoji="0" lang="en-US" sz="2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registering in Manifest</a:t>
              </a:r>
              <a:endPara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Arial" pitchFamily="34" charset="0"/>
                <a:cs typeface="Arial" pitchFamily="34" charset="0"/>
                <a:sym typeface="Muli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3FACCF9-BBCC-C147-A5ED-2014DECF0D43}"/>
              </a:ext>
            </a:extLst>
          </p:cNvPr>
          <p:cNvGrpSpPr/>
          <p:nvPr/>
        </p:nvGrpSpPr>
        <p:grpSpPr>
          <a:xfrm>
            <a:off x="1067689" y="1519452"/>
            <a:ext cx="7660394" cy="1466757"/>
            <a:chOff x="797806" y="1879085"/>
            <a:chExt cx="7660394" cy="1466757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CF24FD8-106A-4D45-8FD6-F6E01434E5AC}"/>
                </a:ext>
              </a:extLst>
            </p:cNvPr>
            <p:cNvSpPr/>
            <p:nvPr/>
          </p:nvSpPr>
          <p:spPr>
            <a:xfrm>
              <a:off x="797806" y="2286000"/>
              <a:ext cx="7660394" cy="1059842"/>
            </a:xfrm>
            <a:prstGeom prst="rect">
              <a:avLst/>
            </a:prstGeom>
            <a:ln>
              <a:solidFill>
                <a:srgbClr val="009DD9">
                  <a:lumMod val="50000"/>
                </a:srgbClr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Intent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intent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=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new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Intent(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"com.example.EXAMPLE_ACTION"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)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intent.setPackage(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"com.example.custombroadcastreceiver"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)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/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sendBroadcast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(intent)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endPara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655A18E-F97B-B943-9C34-D289C7218B2E}"/>
                </a:ext>
              </a:extLst>
            </p:cNvPr>
            <p:cNvSpPr/>
            <p:nvPr/>
          </p:nvSpPr>
          <p:spPr>
            <a:xfrm>
              <a:off x="797806" y="1879085"/>
              <a:ext cx="3774194" cy="406915"/>
            </a:xfrm>
            <a:prstGeom prst="rect">
              <a:avLst/>
            </a:prstGeom>
            <a:solidFill>
              <a:srgbClr val="17406D">
                <a:lumMod val="75000"/>
              </a:srgbClr>
            </a:solidFill>
            <a:ln w="190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App </a:t>
              </a:r>
              <a:r>
                <a:rPr kumimoji="0" 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1</a:t>
              </a:r>
              <a:r>
                <a:rPr kumimoji="0" 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: Broadcast Sender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47AC0BC-D64D-E548-965D-759253C22D44}"/>
              </a:ext>
            </a:extLst>
          </p:cNvPr>
          <p:cNvGrpSpPr/>
          <p:nvPr/>
        </p:nvGrpSpPr>
        <p:grpSpPr>
          <a:xfrm>
            <a:off x="1067689" y="3237165"/>
            <a:ext cx="7660394" cy="2168487"/>
            <a:chOff x="797806" y="1879085"/>
            <a:chExt cx="7660394" cy="2168487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5FF7A2C-E395-0740-8E6F-0C8B9A799568}"/>
                </a:ext>
              </a:extLst>
            </p:cNvPr>
            <p:cNvSpPr/>
            <p:nvPr/>
          </p:nvSpPr>
          <p:spPr>
            <a:xfrm>
              <a:off x="797806" y="2286000"/>
              <a:ext cx="7660394" cy="1761572"/>
            </a:xfrm>
            <a:prstGeom prst="rect">
              <a:avLst/>
            </a:prstGeom>
            <a:solidFill>
              <a:sysClr val="windowText" lastClr="000000"/>
            </a:solidFill>
            <a:ln>
              <a:solidFill>
                <a:srgbClr val="009DD9">
                  <a:lumMod val="50000"/>
                </a:srgbClr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E8BF6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&lt;receiver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android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BABAB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:name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="</a:t>
              </a:r>
              <a:r>
                <a:rPr kumimoji="0" 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.BroadcastReceiverExample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"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E8BF6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&gt;</a:t>
              </a: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E8BF6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&lt;intent-filter&gt;</a:t>
              </a:r>
              <a:b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E8BF6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E8BF6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E8BF6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&lt;action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android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BABAB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:name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=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"com.example.EXAMPLE_ACTION"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E8BF6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/&gt;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E8BF6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/>
              </a:r>
              <a:b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E8BF6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E8BF6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&lt;/intent-filter&gt;</a:t>
              </a:r>
              <a:b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E8BF6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E8BF6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&lt;/receiver&gt;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</a:t>
              </a:r>
              <a:endPara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6D83E6C-A834-EF4A-BF69-C2CABC06E981}"/>
                </a:ext>
              </a:extLst>
            </p:cNvPr>
            <p:cNvSpPr/>
            <p:nvPr/>
          </p:nvSpPr>
          <p:spPr>
            <a:xfrm>
              <a:off x="797806" y="1879085"/>
              <a:ext cx="3774194" cy="406915"/>
            </a:xfrm>
            <a:prstGeom prst="rect">
              <a:avLst/>
            </a:prstGeom>
            <a:solidFill>
              <a:srgbClr val="17406D">
                <a:lumMod val="75000"/>
              </a:srgbClr>
            </a:solidFill>
            <a:ln w="190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App </a:t>
              </a:r>
              <a:r>
                <a:rPr kumimoji="0" 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2</a:t>
              </a:r>
              <a:r>
                <a:rPr kumimoji="0" 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: Broadcast Receiver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14651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Custom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Broadcast Receiver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3FACCF9-BBCC-C147-A5ED-2014DECF0D43}"/>
              </a:ext>
            </a:extLst>
          </p:cNvPr>
          <p:cNvGrpSpPr/>
          <p:nvPr/>
        </p:nvGrpSpPr>
        <p:grpSpPr>
          <a:xfrm>
            <a:off x="1475645" y="1507251"/>
            <a:ext cx="7660394" cy="1466757"/>
            <a:chOff x="797806" y="1879085"/>
            <a:chExt cx="7660394" cy="1466757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CF24FD8-106A-4D45-8FD6-F6E01434E5AC}"/>
                </a:ext>
              </a:extLst>
            </p:cNvPr>
            <p:cNvSpPr/>
            <p:nvPr/>
          </p:nvSpPr>
          <p:spPr>
            <a:xfrm>
              <a:off x="797806" y="2286000"/>
              <a:ext cx="7660394" cy="1059842"/>
            </a:xfrm>
            <a:prstGeom prst="rect">
              <a:avLst/>
            </a:prstGeom>
            <a:ln>
              <a:solidFill>
                <a:srgbClr val="009DD9">
                  <a:lumMod val="50000"/>
                </a:srgbClr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Intent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intent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=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new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Intent(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"com.example.EXAMPLE_ACTION"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)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intent.setPackage(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"com.example.custombroadcastreceiver"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)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/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sendOrderedBroadcast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(intent,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receiverPermission: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null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)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endPara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655A18E-F97B-B943-9C34-D289C7218B2E}"/>
                </a:ext>
              </a:extLst>
            </p:cNvPr>
            <p:cNvSpPr/>
            <p:nvPr/>
          </p:nvSpPr>
          <p:spPr>
            <a:xfrm>
              <a:off x="797806" y="1879085"/>
              <a:ext cx="3774194" cy="406915"/>
            </a:xfrm>
            <a:prstGeom prst="rect">
              <a:avLst/>
            </a:prstGeom>
            <a:solidFill>
              <a:srgbClr val="17406D">
                <a:lumMod val="75000"/>
              </a:srgbClr>
            </a:solidFill>
            <a:ln w="190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App </a:t>
              </a:r>
              <a:r>
                <a:rPr kumimoji="0" 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1</a:t>
              </a:r>
              <a:r>
                <a:rPr kumimoji="0" 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: Broadcast Sender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090AF98-74F9-8D42-8C0D-DE0E971F8E96}"/>
              </a:ext>
            </a:extLst>
          </p:cNvPr>
          <p:cNvGrpSpPr/>
          <p:nvPr/>
        </p:nvGrpSpPr>
        <p:grpSpPr>
          <a:xfrm>
            <a:off x="601639" y="897468"/>
            <a:ext cx="8991600" cy="451694"/>
            <a:chOff x="533400" y="1066618"/>
            <a:chExt cx="8382000" cy="451694"/>
          </a:xfrm>
        </p:grpSpPr>
        <p:sp>
          <p:nvSpPr>
            <p:cNvPr id="34" name="Chevron 33">
              <a:extLst>
                <a:ext uri="{FF2B5EF4-FFF2-40B4-BE49-F238E27FC236}">
                  <a16:creationId xmlns:a16="http://schemas.microsoft.com/office/drawing/2014/main" id="{5021F94A-0AD7-7941-BE59-3C85C135B6FF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35" name="Chevron 34">
              <a:extLst>
                <a:ext uri="{FF2B5EF4-FFF2-40B4-BE49-F238E27FC236}">
                  <a16:creationId xmlns:a16="http://schemas.microsoft.com/office/drawing/2014/main" id="{E587C557-0A12-BB40-A782-C6B756F66083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36" name="Title 1">
              <a:extLst>
                <a:ext uri="{FF2B5EF4-FFF2-40B4-BE49-F238E27FC236}">
                  <a16:creationId xmlns:a16="http://schemas.microsoft.com/office/drawing/2014/main" id="{A697AFA2-1223-8B47-A954-260BB34ED442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Using </a:t>
              </a:r>
              <a:r>
                <a:rPr kumimoji="0" lang="en-US" sz="2600" b="1" i="0" u="none" strike="noStrike" kern="1200" cap="none" spc="0" normalizeH="0" baseline="0" noProof="0" dirty="0" err="1" smtClean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sendOrderedBroadcast</a:t>
              </a:r>
              <a:endPara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Arial" pitchFamily="34" charset="0"/>
                <a:cs typeface="Arial" pitchFamily="34" charset="0"/>
                <a:sym typeface="Mul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7812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Custom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Broadcast Receiver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090AF98-74F9-8D42-8C0D-DE0E971F8E96}"/>
              </a:ext>
            </a:extLst>
          </p:cNvPr>
          <p:cNvGrpSpPr/>
          <p:nvPr/>
        </p:nvGrpSpPr>
        <p:grpSpPr>
          <a:xfrm>
            <a:off x="601639" y="897468"/>
            <a:ext cx="8991600" cy="451694"/>
            <a:chOff x="533400" y="1066618"/>
            <a:chExt cx="8382000" cy="451694"/>
          </a:xfrm>
        </p:grpSpPr>
        <p:sp>
          <p:nvSpPr>
            <p:cNvPr id="34" name="Chevron 33">
              <a:extLst>
                <a:ext uri="{FF2B5EF4-FFF2-40B4-BE49-F238E27FC236}">
                  <a16:creationId xmlns:a16="http://schemas.microsoft.com/office/drawing/2014/main" id="{5021F94A-0AD7-7941-BE59-3C85C135B6FF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35" name="Chevron 34">
              <a:extLst>
                <a:ext uri="{FF2B5EF4-FFF2-40B4-BE49-F238E27FC236}">
                  <a16:creationId xmlns:a16="http://schemas.microsoft.com/office/drawing/2014/main" id="{E587C557-0A12-BB40-A782-C6B756F66083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36" name="Title 1">
              <a:extLst>
                <a:ext uri="{FF2B5EF4-FFF2-40B4-BE49-F238E27FC236}">
                  <a16:creationId xmlns:a16="http://schemas.microsoft.com/office/drawing/2014/main" id="{A697AFA2-1223-8B47-A954-260BB34ED442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Using </a:t>
              </a:r>
              <a:r>
                <a:rPr kumimoji="0" lang="en-US" sz="2600" b="1" i="0" u="none" strike="noStrike" kern="1200" cap="none" spc="0" normalizeH="0" baseline="0" noProof="0" dirty="0" err="1" smtClean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sendOrderedBroadcast</a:t>
              </a:r>
              <a:endPara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Arial" pitchFamily="34" charset="0"/>
                <a:cs typeface="Arial" pitchFamily="34" charset="0"/>
                <a:sym typeface="Muli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DA8A060-0219-BF45-8D99-31BC3B7616DF}"/>
              </a:ext>
            </a:extLst>
          </p:cNvPr>
          <p:cNvGrpSpPr/>
          <p:nvPr/>
        </p:nvGrpSpPr>
        <p:grpSpPr>
          <a:xfrm>
            <a:off x="1161746" y="1521826"/>
            <a:ext cx="7660394" cy="4199813"/>
            <a:chOff x="797806" y="1879085"/>
            <a:chExt cx="7660394" cy="419981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F58B573-AFB8-444C-8EF0-F1B1411AC689}"/>
                </a:ext>
              </a:extLst>
            </p:cNvPr>
            <p:cNvSpPr/>
            <p:nvPr/>
          </p:nvSpPr>
          <p:spPr>
            <a:xfrm>
              <a:off x="797806" y="2286000"/>
              <a:ext cx="7660394" cy="3792898"/>
            </a:xfrm>
            <a:prstGeom prst="rect">
              <a:avLst/>
            </a:prstGeom>
            <a:solidFill>
              <a:sysClr val="windowText" lastClr="000000"/>
            </a:solidFill>
            <a:ln>
              <a:solidFill>
                <a:srgbClr val="009DD9">
                  <a:lumMod val="50000"/>
                </a:srgbClr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E8BF6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&lt;receiver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android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BABAB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:name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=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"</a:t>
              </a:r>
              <a:r>
                <a:rPr kumimoji="0" 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.OrderedReceiver1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"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E8BF6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&gt;</a:t>
              </a: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E8BF6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&lt;intent-filter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android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BABAB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:priority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="1"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E8BF6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&gt;</a:t>
              </a:r>
              <a:b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E8BF6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E8BF6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E8BF6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&lt;action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android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BABAB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:name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=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"com.example.EXAMPLE_ACTION"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E8BF6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/&gt;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E8BF6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/>
              </a:r>
              <a:b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E8BF6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E8BF6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&lt;/intent-filter&gt;</a:t>
              </a:r>
              <a:b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E8BF6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E8BF6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&lt;/receiver&gt;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</a:t>
              </a: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E8BF6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&lt;receiver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android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BABAB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:name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=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"</a:t>
              </a:r>
              <a:r>
                <a:rPr kumimoji="0" 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.OrderedReceiver2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"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E8BF6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&gt;</a:t>
              </a: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E8BF6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&lt;intent-filter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android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BABAB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:priority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="2"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E8BF6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&gt;</a:t>
              </a:r>
              <a:b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E8BF6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E8BF6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E8BF6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&lt;action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9876A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android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BABAB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:name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=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"com.example.EXAMPLE_ACTION"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E8BF6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/&gt;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E8BF6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/>
              </a:r>
              <a:b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E8BF6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E8BF6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&lt;/intent-filter&gt;</a:t>
              </a:r>
              <a:b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E8BF6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E8BF6A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&lt;/receiver&gt;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</a:t>
              </a:r>
              <a:endPara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6CB4F87-1B50-7347-B3DF-C24CA048EF33}"/>
                </a:ext>
              </a:extLst>
            </p:cNvPr>
            <p:cNvSpPr/>
            <p:nvPr/>
          </p:nvSpPr>
          <p:spPr>
            <a:xfrm>
              <a:off x="797806" y="1879085"/>
              <a:ext cx="3774194" cy="406915"/>
            </a:xfrm>
            <a:prstGeom prst="rect">
              <a:avLst/>
            </a:prstGeom>
            <a:solidFill>
              <a:srgbClr val="17406D">
                <a:lumMod val="75000"/>
              </a:srgbClr>
            </a:solidFill>
            <a:ln w="190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App </a:t>
              </a:r>
              <a:r>
                <a:rPr kumimoji="0" 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2</a:t>
              </a:r>
              <a:r>
                <a:rPr kumimoji="0" 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: Broadcast Receiver</a:t>
              </a:r>
            </a:p>
          </p:txBody>
        </p:sp>
      </p:grpSp>
      <p:sp>
        <p:nvSpPr>
          <p:cNvPr id="22" name="Left Arrow 21">
            <a:extLst>
              <a:ext uri="{FF2B5EF4-FFF2-40B4-BE49-F238E27FC236}">
                <a16:creationId xmlns:a16="http://schemas.microsoft.com/office/drawing/2014/main" id="{9438209C-69F9-AB4D-A579-DB9F98072880}"/>
              </a:ext>
            </a:extLst>
          </p:cNvPr>
          <p:cNvSpPr/>
          <p:nvPr/>
        </p:nvSpPr>
        <p:spPr>
          <a:xfrm>
            <a:off x="5774140" y="2360025"/>
            <a:ext cx="381000" cy="228600"/>
          </a:xfrm>
          <a:prstGeom prst="leftArrow">
            <a:avLst/>
          </a:prstGeom>
          <a:solidFill>
            <a:sysClr val="window" lastClr="FFFFFF"/>
          </a:solidFill>
          <a:ln w="1905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3" name="Left Arrow 22">
            <a:extLst>
              <a:ext uri="{FF2B5EF4-FFF2-40B4-BE49-F238E27FC236}">
                <a16:creationId xmlns:a16="http://schemas.microsoft.com/office/drawing/2014/main" id="{5E504AAB-F5D1-824C-91EE-AD85EBFB2B55}"/>
              </a:ext>
            </a:extLst>
          </p:cNvPr>
          <p:cNvSpPr/>
          <p:nvPr/>
        </p:nvSpPr>
        <p:spPr>
          <a:xfrm>
            <a:off x="5774140" y="4417425"/>
            <a:ext cx="381000" cy="228600"/>
          </a:xfrm>
          <a:prstGeom prst="leftArrow">
            <a:avLst/>
          </a:prstGeom>
          <a:solidFill>
            <a:sysClr val="window" lastClr="FFFFFF"/>
          </a:solidFill>
          <a:ln w="1905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3772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Custom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Broadcast Receiver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090AF98-74F9-8D42-8C0D-DE0E971F8E96}"/>
              </a:ext>
            </a:extLst>
          </p:cNvPr>
          <p:cNvGrpSpPr/>
          <p:nvPr/>
        </p:nvGrpSpPr>
        <p:grpSpPr>
          <a:xfrm>
            <a:off x="601639" y="897468"/>
            <a:ext cx="8991600" cy="451694"/>
            <a:chOff x="533400" y="1066618"/>
            <a:chExt cx="8382000" cy="451694"/>
          </a:xfrm>
        </p:grpSpPr>
        <p:sp>
          <p:nvSpPr>
            <p:cNvPr id="34" name="Chevron 33">
              <a:extLst>
                <a:ext uri="{FF2B5EF4-FFF2-40B4-BE49-F238E27FC236}">
                  <a16:creationId xmlns:a16="http://schemas.microsoft.com/office/drawing/2014/main" id="{5021F94A-0AD7-7941-BE59-3C85C135B6FF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35" name="Chevron 34">
              <a:extLst>
                <a:ext uri="{FF2B5EF4-FFF2-40B4-BE49-F238E27FC236}">
                  <a16:creationId xmlns:a16="http://schemas.microsoft.com/office/drawing/2014/main" id="{E587C557-0A12-BB40-A782-C6B756F66083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36" name="Title 1">
              <a:extLst>
                <a:ext uri="{FF2B5EF4-FFF2-40B4-BE49-F238E27FC236}">
                  <a16:creationId xmlns:a16="http://schemas.microsoft.com/office/drawing/2014/main" id="{A697AFA2-1223-8B47-A954-260BB34ED442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Using </a:t>
              </a:r>
              <a:r>
                <a:rPr kumimoji="0" lang="en-US" sz="2600" b="1" i="0" u="none" strike="noStrike" kern="1200" cap="none" spc="0" normalizeH="0" baseline="0" noProof="0" dirty="0" err="1" smtClean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sendOrderedBroadcast</a:t>
              </a:r>
              <a:endPara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Arial" pitchFamily="34" charset="0"/>
                <a:cs typeface="Arial" pitchFamily="34" charset="0"/>
                <a:sym typeface="Muli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230D261-CE29-BF4A-BA1C-68405A686EA8}"/>
              </a:ext>
            </a:extLst>
          </p:cNvPr>
          <p:cNvGrpSpPr/>
          <p:nvPr/>
        </p:nvGrpSpPr>
        <p:grpSpPr>
          <a:xfrm>
            <a:off x="1100331" y="1453099"/>
            <a:ext cx="7660394" cy="4132871"/>
            <a:chOff x="797806" y="1879085"/>
            <a:chExt cx="7660394" cy="4132871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B6FDE4A-A20E-714D-B411-EC18A37F3D3D}"/>
                </a:ext>
              </a:extLst>
            </p:cNvPr>
            <p:cNvSpPr/>
            <p:nvPr/>
          </p:nvSpPr>
          <p:spPr>
            <a:xfrm>
              <a:off x="797806" y="2286000"/>
              <a:ext cx="7660394" cy="3725956"/>
            </a:xfrm>
            <a:prstGeom prst="rect">
              <a:avLst/>
            </a:prstGeom>
            <a:noFill/>
            <a:ln>
              <a:solidFill>
                <a:srgbClr val="009DD9">
                  <a:lumMod val="50000"/>
                </a:srgbClr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public class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OrderedReceiver1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extends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BroadcastReceiver {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BBB52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@Override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BBB52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BBB52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public void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onReceive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(Context context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,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Intent intent) {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/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Log.</a:t>
              </a:r>
              <a:r>
                <a:rPr kumimoji="0" lang="en-US" sz="1800" b="0" i="1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i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(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"Receiving app: "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,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"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Ordered Receiver 1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"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)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}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}</a:t>
              </a:r>
            </a:p>
            <a:p>
              <a:pPr marL="0" marR="0" lvl="0" indent="0" defTabSz="91440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public class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OrderedReceiver2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extends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BroadcastReceiver {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BBB52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@Override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BBB52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BBB52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public void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onReceive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(Context context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,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Intent intent) {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/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Log.</a:t>
              </a:r>
              <a:r>
                <a:rPr kumimoji="0" lang="en-US" sz="1800" b="0" i="1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i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(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"Receiving app: "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,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"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Ordered Receiver 2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6A8759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"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)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;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rgbClr val="CC7832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   </a:t>
              </a: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}</a:t>
              </a:r>
              <a:b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}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33C2C2F-9F27-E447-9159-8B9FF7A20C31}"/>
                </a:ext>
              </a:extLst>
            </p:cNvPr>
            <p:cNvSpPr/>
            <p:nvPr/>
          </p:nvSpPr>
          <p:spPr>
            <a:xfrm>
              <a:off x="797806" y="1879085"/>
              <a:ext cx="3774194" cy="406915"/>
            </a:xfrm>
            <a:prstGeom prst="rect">
              <a:avLst/>
            </a:prstGeom>
            <a:solidFill>
              <a:srgbClr val="17406D">
                <a:lumMod val="75000"/>
              </a:srgbClr>
            </a:solidFill>
            <a:ln w="190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App </a:t>
              </a:r>
              <a:r>
                <a:rPr kumimoji="0" 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2</a:t>
              </a:r>
              <a:r>
                <a:rPr kumimoji="0" 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: Broadcast Receiver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8E3BAEE-099D-794B-A0BF-4781A3CECFB8}"/>
              </a:ext>
            </a:extLst>
          </p:cNvPr>
          <p:cNvGrpSpPr/>
          <p:nvPr/>
        </p:nvGrpSpPr>
        <p:grpSpPr>
          <a:xfrm>
            <a:off x="988326" y="5683568"/>
            <a:ext cx="7792597" cy="727443"/>
            <a:chOff x="665603" y="5983069"/>
            <a:chExt cx="7792597" cy="72744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D96F49A-D42D-8946-917E-A853DA4E4A70}"/>
                </a:ext>
              </a:extLst>
            </p:cNvPr>
            <p:cNvSpPr/>
            <p:nvPr/>
          </p:nvSpPr>
          <p:spPr>
            <a:xfrm>
              <a:off x="3581400" y="5983069"/>
              <a:ext cx="4876800" cy="727443"/>
            </a:xfrm>
            <a:prstGeom prst="rect">
              <a:avLst/>
            </a:prstGeom>
            <a:noFill/>
            <a:ln>
              <a:solidFill>
                <a:srgbClr val="009DD9">
                  <a:lumMod val="50000"/>
                </a:srgbClr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I/Receiving app::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Ordered Receiver 2</a:t>
              </a: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I/Receiving app:: </a:t>
              </a: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Ordered Receiver 1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D42867F9-1372-0045-8166-352AF748E2AD}"/>
                </a:ext>
              </a:extLst>
            </p:cNvPr>
            <p:cNvCxnSpPr>
              <a:cxnSpLocks/>
            </p:cNvCxnSpPr>
            <p:nvPr/>
          </p:nvCxnSpPr>
          <p:spPr>
            <a:xfrm>
              <a:off x="665603" y="6477000"/>
              <a:ext cx="2839597" cy="0"/>
            </a:xfrm>
            <a:prstGeom prst="straightConnector1">
              <a:avLst/>
            </a:prstGeom>
            <a:noFill/>
            <a:ln w="28575" cap="flat" cmpd="sng" algn="ctr">
              <a:solidFill>
                <a:srgbClr val="009DD9">
                  <a:lumMod val="50000"/>
                </a:srgbClr>
              </a:solidFill>
              <a:prstDash val="solid"/>
              <a:tailEnd type="triangle"/>
            </a:ln>
            <a:effectLst/>
          </p:spPr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3481001-E060-CA4E-BE8D-A82B2CC8A06A}"/>
                </a:ext>
              </a:extLst>
            </p:cNvPr>
            <p:cNvSpPr txBox="1"/>
            <p:nvPr/>
          </p:nvSpPr>
          <p:spPr>
            <a:xfrm>
              <a:off x="685800" y="6107668"/>
              <a:ext cx="28985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The results show in Logcat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9940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52400" y="482600"/>
            <a:ext cx="6350000" cy="508000"/>
            <a:chOff x="789624" y="1191463"/>
            <a:chExt cx="6350000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dirty="0" smtClean="0">
                  <a:latin typeface="Cambria" panose="02040503050406030204" pitchFamily="18" charset="0"/>
                </a:rPr>
                <a:t>Exercise</a:t>
              </a:r>
              <a:endParaRPr lang="en-US" sz="2800" b="1" kern="0" dirty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8688" y="1910687"/>
            <a:ext cx="3461154" cy="4413913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480910" y="944219"/>
            <a:ext cx="11430000" cy="78904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 smtClean="0">
                <a:latin typeface="Cambria" panose="02040503050406030204" pitchFamily="18" charset="0"/>
              </a:rPr>
              <a:t>Using Broadcast Receiver for Wi-Fi changing, if internet connection is off then disabled Login button as automatically </a:t>
            </a:r>
            <a:endParaRPr lang="en-US" sz="28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499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52400" y="482600"/>
            <a:ext cx="6350000" cy="508000"/>
            <a:chOff x="789624" y="1191463"/>
            <a:chExt cx="6350000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smtClean="0">
                  <a:latin typeface="Cambria" panose="02040503050406030204" pitchFamily="18" charset="0"/>
                </a:rPr>
                <a:t>Discussions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>
                <a:latin typeface="Cambria" panose="02040503050406030204" pitchFamily="18" charset="0"/>
              </a:rPr>
              <a:t>Q1: </a:t>
            </a:r>
            <a:r>
              <a:rPr lang="en-US" sz="2800" dirty="0" smtClean="0">
                <a:latin typeface="Cambria" panose="02040503050406030204" pitchFamily="18" charset="0"/>
              </a:rPr>
              <a:t>What are advantages of </a:t>
            </a:r>
            <a:r>
              <a:rPr lang="en-US" sz="2800" dirty="0" smtClean="0">
                <a:latin typeface="Cambria" panose="02040503050406030204" pitchFamily="18" charset="0"/>
              </a:rPr>
              <a:t>Broadcast Receiver?</a:t>
            </a:r>
            <a:endParaRPr lang="en-US" sz="2800" dirty="0">
              <a:latin typeface="Cambria" panose="020405030504060302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>
                <a:latin typeface="Cambria" panose="02040503050406030204" pitchFamily="18" charset="0"/>
              </a:rPr>
              <a:t>Q2: </a:t>
            </a:r>
            <a:r>
              <a:rPr lang="en-US" sz="2800" dirty="0" smtClean="0">
                <a:latin typeface="Cambria" panose="02040503050406030204" pitchFamily="18" charset="0"/>
              </a:rPr>
              <a:t>How to </a:t>
            </a:r>
            <a:r>
              <a:rPr lang="en-US" sz="2800" dirty="0" smtClean="0">
                <a:latin typeface="Cambria" panose="02040503050406030204" pitchFamily="18" charset="0"/>
              </a:rPr>
              <a:t>listen Wi-Fi changing?</a:t>
            </a:r>
            <a:endParaRPr lang="en-US" sz="2800" dirty="0">
              <a:latin typeface="Cambria" panose="020405030504060302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 smtClean="0">
                <a:latin typeface="Cambria" panose="02040503050406030204" pitchFamily="18" charset="0"/>
              </a:rPr>
              <a:t>Q3: </a:t>
            </a:r>
            <a:r>
              <a:rPr lang="en-US" sz="2800" dirty="0">
                <a:latin typeface="Cambria" panose="02040503050406030204" pitchFamily="18" charset="0"/>
              </a:rPr>
              <a:t>How to listen </a:t>
            </a:r>
            <a:r>
              <a:rPr lang="en-US" sz="2800" dirty="0" smtClean="0">
                <a:latin typeface="Cambria" panose="02040503050406030204" pitchFamily="18" charset="0"/>
              </a:rPr>
              <a:t>SMS coming?</a:t>
            </a:r>
            <a:endParaRPr lang="en-US" sz="2800" dirty="0" smtClean="0">
              <a:latin typeface="Cambria" panose="020405030504060302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 smtClean="0">
                <a:latin typeface="Cambria" panose="02040503050406030204" pitchFamily="18" charset="0"/>
              </a:rPr>
              <a:t>Q4: How to </a:t>
            </a:r>
            <a:r>
              <a:rPr lang="en-US" sz="2800" dirty="0" smtClean="0">
                <a:latin typeface="Cambria" panose="02040503050406030204" pitchFamily="18" charset="0"/>
              </a:rPr>
              <a:t>do custom Broadcast Receiver?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 smtClean="0">
                <a:latin typeface="Cambria" panose="02040503050406030204" pitchFamily="18" charset="0"/>
              </a:rPr>
              <a:t>Q5: What are different between registering Broadcast Receiver in Manifest and Java Code?</a:t>
            </a:r>
            <a:endParaRPr lang="en-US" sz="28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2062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83931" y="305390"/>
            <a:ext cx="4620576" cy="508000"/>
            <a:chOff x="789624" y="1191463"/>
            <a:chExt cx="4620576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600" y="1191463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dirty="0" smtClean="0">
                  <a:latin typeface="Cambria" panose="02040503050406030204" pitchFamily="18" charset="0"/>
                </a:rPr>
                <a:t>Next Lesson</a:t>
              </a:r>
              <a:endParaRPr lang="en-US" sz="2800" b="1" kern="0" dirty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457200" y="1026709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prstClr val="black">
                  <a:lumMod val="85000"/>
                  <a:lumOff val="15000"/>
                </a:prstClr>
              </a:buClr>
              <a:buFont typeface="Wingdings" charset="2"/>
              <a:buChar char="§"/>
            </a:pPr>
            <a:r>
              <a:rPr lang="en-US" sz="2800" i="1" dirty="0" smtClean="0">
                <a:solidFill>
                  <a:prstClr val="black"/>
                </a:solidFill>
                <a:latin typeface="Georgia"/>
              </a:rPr>
              <a:t>Multi-Threading</a:t>
            </a:r>
            <a:endParaRPr lang="en-US" sz="2800" i="1" dirty="0">
              <a:solidFill>
                <a:prstClr val="black"/>
              </a:solidFill>
              <a:latin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2131959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 txBox="1">
            <a:spLocks noGrp="1"/>
          </p:cNvSpPr>
          <p:nvPr>
            <p:ph type="title"/>
          </p:nvPr>
        </p:nvSpPr>
        <p:spPr>
          <a:xfrm>
            <a:off x="838200" y="2581306"/>
            <a:ext cx="10515600" cy="1566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9600"/>
              <a:buFont typeface="Lato Black"/>
              <a:buNone/>
            </a:pPr>
            <a:r>
              <a:rPr lang="en-US"/>
              <a:t>THANK YOU!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38968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1379</TotalTime>
  <Words>714</Words>
  <Application>Microsoft Office PowerPoint</Application>
  <PresentationFormat>Widescreen</PresentationFormat>
  <Paragraphs>174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Muli</vt:lpstr>
      <vt:lpstr>Cambria</vt:lpstr>
      <vt:lpstr>Calibri</vt:lpstr>
      <vt:lpstr>Wingdings</vt:lpstr>
      <vt:lpstr>Georgia</vt:lpstr>
      <vt:lpstr>Lato</vt:lpstr>
      <vt:lpstr>Lato Black</vt:lpstr>
      <vt:lpstr>Times New Roman</vt:lpstr>
      <vt:lpstr>Arial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Pí Yeah</dc:creator>
  <cp:lastModifiedBy>thanhtd</cp:lastModifiedBy>
  <cp:revision>559</cp:revision>
  <dcterms:created xsi:type="dcterms:W3CDTF">2022-12-02T04:21:00Z</dcterms:created>
  <dcterms:modified xsi:type="dcterms:W3CDTF">2024-02-18T09:53:16Z</dcterms:modified>
</cp:coreProperties>
</file>