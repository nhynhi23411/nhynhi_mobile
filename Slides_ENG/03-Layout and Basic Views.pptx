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55"/>
  </p:notesMasterIdLst>
  <p:sldIdLst>
    <p:sldId id="256" r:id="rId3"/>
    <p:sldId id="323" r:id="rId4"/>
    <p:sldId id="267" r:id="rId5"/>
    <p:sldId id="270" r:id="rId6"/>
    <p:sldId id="276" r:id="rId7"/>
    <p:sldId id="277" r:id="rId8"/>
    <p:sldId id="285" r:id="rId9"/>
    <p:sldId id="278" r:id="rId10"/>
    <p:sldId id="279" r:id="rId11"/>
    <p:sldId id="280" r:id="rId12"/>
    <p:sldId id="281" r:id="rId13"/>
    <p:sldId id="286" r:id="rId14"/>
    <p:sldId id="282" r:id="rId15"/>
    <p:sldId id="287" r:id="rId16"/>
    <p:sldId id="288" r:id="rId17"/>
    <p:sldId id="299" r:id="rId18"/>
    <p:sldId id="300" r:id="rId19"/>
    <p:sldId id="301" r:id="rId20"/>
    <p:sldId id="293" r:id="rId21"/>
    <p:sldId id="294" r:id="rId22"/>
    <p:sldId id="295" r:id="rId23"/>
    <p:sldId id="289" r:id="rId24"/>
    <p:sldId id="302" r:id="rId25"/>
    <p:sldId id="290" r:id="rId26"/>
    <p:sldId id="303" r:id="rId27"/>
    <p:sldId id="304" r:id="rId28"/>
    <p:sldId id="305" r:id="rId29"/>
    <p:sldId id="306" r:id="rId30"/>
    <p:sldId id="307" r:id="rId31"/>
    <p:sldId id="308" r:id="rId32"/>
    <p:sldId id="309" r:id="rId33"/>
    <p:sldId id="291" r:id="rId34"/>
    <p:sldId id="310" r:id="rId35"/>
    <p:sldId id="292" r:id="rId36"/>
    <p:sldId id="311" r:id="rId37"/>
    <p:sldId id="318" r:id="rId38"/>
    <p:sldId id="312" r:id="rId39"/>
    <p:sldId id="319" r:id="rId40"/>
    <p:sldId id="313" r:id="rId41"/>
    <p:sldId id="320" r:id="rId42"/>
    <p:sldId id="314" r:id="rId43"/>
    <p:sldId id="315" r:id="rId44"/>
    <p:sldId id="316" r:id="rId45"/>
    <p:sldId id="321" r:id="rId46"/>
    <p:sldId id="317" r:id="rId47"/>
    <p:sldId id="322" r:id="rId48"/>
    <p:sldId id="275" r:id="rId49"/>
    <p:sldId id="326" r:id="rId50"/>
    <p:sldId id="327" r:id="rId51"/>
    <p:sldId id="325" r:id="rId52"/>
    <p:sldId id="324" r:id="rId53"/>
    <p:sldId id="269" r:id="rId54"/>
  </p:sldIdLst>
  <p:sldSz cx="12192000" cy="6858000"/>
  <p:notesSz cx="6858000" cy="9144000"/>
  <p:embeddedFontLst>
    <p:embeddedFont>
      <p:font typeface="MS PGothic" panose="020B0600070205080204" pitchFamily="34" charset="-128"/>
      <p:regular r:id="rId56"/>
    </p:embeddedFont>
    <p:embeddedFont>
      <p:font typeface="Georgia" panose="02040502050405020303" pitchFamily="18" charset="0"/>
      <p:regular r:id="rId57"/>
      <p:bold r:id="rId58"/>
      <p:italic r:id="rId59"/>
      <p:boldItalic r:id="rId60"/>
    </p:embeddedFont>
    <p:embeddedFont>
      <p:font typeface="Segoe UI" panose="020B0502040204020203" pitchFamily="34" charset="0"/>
      <p:regular r:id="rId61"/>
      <p:bold r:id="rId62"/>
      <p:italic r:id="rId63"/>
      <p:boldItalic r:id="rId64"/>
    </p:embeddedFont>
    <p:embeddedFont>
      <p:font typeface="Lato Black" panose="020B0604020202020204" charset="0"/>
      <p:bold r:id="rId65"/>
      <p:boldItalic r:id="rId66"/>
    </p:embeddedFont>
    <p:embeddedFont>
      <p:font typeface="Mangal" panose="00000400000000000000" pitchFamily="2"/>
      <p:regular r:id="rId67"/>
    </p:embeddedFont>
    <p:embeddedFont>
      <p:font typeface="Menlo" panose="020B0609030804020204" pitchFamily="49" charset="0"/>
      <p:regular r:id="rId68"/>
    </p:embeddedFont>
    <p:embeddedFont>
      <p:font typeface="Calibri" panose="020F0502020204030204" pitchFamily="34" charset="0"/>
      <p:regular r:id="rId69"/>
      <p:bold r:id="rId70"/>
      <p:italic r:id="rId71"/>
      <p:boldItalic r:id="rId72"/>
    </p:embeddedFont>
    <p:embeddedFont>
      <p:font typeface="Cambria Math" panose="02040503050406030204" pitchFamily="18" charset="0"/>
      <p:regular r:id="rId73"/>
    </p:embeddedFont>
    <p:embeddedFont>
      <p:font typeface="Cambria" panose="02040503050406030204" pitchFamily="18" charset="0"/>
      <p:regular r:id="rId74"/>
      <p:bold r:id="rId75"/>
      <p:italic r:id="rId76"/>
      <p:boldItalic r:id="rId77"/>
    </p:embeddedFont>
    <p:embeddedFont>
      <p:font typeface="Lato" panose="020B0604020202020204" charset="0"/>
      <p:regular r:id="rId78"/>
      <p:bold r:id="rId79"/>
      <p:italic r:id="rId80"/>
      <p:boldItalic r:id="rId8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2"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547" autoAdjust="0"/>
    <p:restoredTop sz="77148" autoAdjust="0"/>
  </p:normalViewPr>
  <p:slideViewPr>
    <p:cSldViewPr snapToGrid="0">
      <p:cViewPr varScale="1">
        <p:scale>
          <a:sx n="97" d="100"/>
          <a:sy n="97" d="100"/>
        </p:scale>
        <p:origin x="739" y="67"/>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8.fntdata"/><Relationship Id="rId68" Type="http://schemas.openxmlformats.org/officeDocument/2006/relationships/font" Target="fonts/font13.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font" Target="fonts/font3.fntdata"/><Relationship Id="rId74" Type="http://schemas.openxmlformats.org/officeDocument/2006/relationships/font" Target="fonts/font19.fntdata"/><Relationship Id="rId79" Type="http://schemas.openxmlformats.org/officeDocument/2006/relationships/font" Target="fonts/font24.fntdata"/><Relationship Id="rId5" Type="http://schemas.openxmlformats.org/officeDocument/2006/relationships/slide" Target="slides/slide3.xml"/><Relationship Id="rId95"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77" Type="http://schemas.openxmlformats.org/officeDocument/2006/relationships/font" Target="fonts/font2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7.fntdata"/><Relationship Id="rId80" Type="http://schemas.openxmlformats.org/officeDocument/2006/relationships/font" Target="fonts/font25.fntdata"/><Relationship Id="rId93"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7.fntdata"/><Relationship Id="rId70" Type="http://schemas.openxmlformats.org/officeDocument/2006/relationships/font" Target="fonts/font15.fntdata"/><Relationship Id="rId75" Type="http://schemas.openxmlformats.org/officeDocument/2006/relationships/font" Target="fonts/font20.fntdata"/><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2.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font" Target="fonts/font18.fntdata"/><Relationship Id="rId78" Type="http://schemas.openxmlformats.org/officeDocument/2006/relationships/font" Target="fonts/font23.fntdata"/><Relationship Id="rId81" Type="http://schemas.openxmlformats.org/officeDocument/2006/relationships/font" Target="fonts/font26.fntdata"/><Relationship Id="rId9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notesMaster" Target="notesMasters/notesMaster1.xml"/><Relationship Id="rId76" Type="http://schemas.openxmlformats.org/officeDocument/2006/relationships/font" Target="fonts/font21.fntdata"/><Relationship Id="rId7" Type="http://schemas.openxmlformats.org/officeDocument/2006/relationships/slide" Target="slides/slide5.xml"/><Relationship Id="rId71" Type="http://schemas.openxmlformats.org/officeDocument/2006/relationships/font" Target="fonts/font16.fntdata"/><Relationship Id="rId92" Type="http://customschemas.google.com/relationships/presentationmetadata" Target="meta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font" Target="fonts/font11.fntdata"/><Relationship Id="rId61"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438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8213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8366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8208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3923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9405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0899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0178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6953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95548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36763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17620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8281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4479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11639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5562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8040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1850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67272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10760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39988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19457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67613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85368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05359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57574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6811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56870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19404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02580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78619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41175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22831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85590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52757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19044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4977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94664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82106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991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55883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843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3259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97567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35936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43483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62606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64530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91403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25008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28143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6" name="Google Shape;16;p10"/>
          <p:cNvPicPr preferRelativeResize="0"/>
          <p:nvPr/>
        </p:nvPicPr>
        <p:blipFill rotWithShape="1">
          <a:blip r:embed="rId2">
            <a:alphaModFix/>
          </a:blip>
          <a:srcRect r="21016"/>
          <a:stretch/>
        </p:blipFill>
        <p:spPr>
          <a:xfrm>
            <a:off x="0" y="880629"/>
            <a:ext cx="8673353" cy="6176876"/>
          </a:xfrm>
          <a:prstGeom prst="rect">
            <a:avLst/>
          </a:prstGeom>
          <a:noFill/>
          <a:ln>
            <a:noFill/>
          </a:ln>
        </p:spPr>
      </p:pic>
      <p:pic>
        <p:nvPicPr>
          <p:cNvPr id="17" name="Google Shape;17;p10"/>
          <p:cNvPicPr preferRelativeResize="0"/>
          <p:nvPr/>
        </p:nvPicPr>
        <p:blipFill rotWithShape="1">
          <a:blip r:embed="rId3">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9" name="Google Shape;19;p10"/>
          <p:cNvPicPr preferRelativeResize="0"/>
          <p:nvPr userDrawn="1"/>
        </p:nvPicPr>
        <p:blipFill rotWithShape="1">
          <a:blip r:embed="rId4">
            <a:alphaModFix/>
          </a:blip>
          <a:srcRect/>
          <a:stretch/>
        </p:blipFill>
        <p:spPr>
          <a:xfrm>
            <a:off x="4847885" y="210692"/>
            <a:ext cx="2496230" cy="1015802"/>
          </a:xfrm>
          <a:prstGeom prst="rect">
            <a:avLst/>
          </a:prstGeom>
          <a:noFill/>
          <a:ln>
            <a:noFill/>
          </a:ln>
        </p:spPr>
      </p:pic>
      <p:sp>
        <p:nvSpPr>
          <p:cNvPr id="20" name="Google Shape;20;p10"/>
          <p:cNvSpPr txBox="1"/>
          <p:nvPr userDrawn="1"/>
        </p:nvSpPr>
        <p:spPr>
          <a:xfrm>
            <a:off x="1595350" y="1017973"/>
            <a:ext cx="9144000" cy="778583"/>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rtl="0">
              <a:lnSpc>
                <a:spcPct val="120000"/>
              </a:lnSpc>
              <a:spcBef>
                <a:spcPts val="0"/>
              </a:spcBef>
              <a:spcAft>
                <a:spcPts val="0"/>
              </a:spcAft>
              <a:buClr>
                <a:srgbClr val="144E8C"/>
              </a:buClr>
              <a:buSzPts val="2000"/>
              <a:buFont typeface="Lato Black"/>
              <a:buNone/>
            </a:pPr>
            <a:r>
              <a:rPr lang="en-US" sz="2400" b="1" i="0" u="none" strike="noStrike" cap="none">
                <a:solidFill>
                  <a:srgbClr val="144E8C"/>
                </a:solidFill>
                <a:latin typeface="Cambria" panose="02040503050406030204" pitchFamily="18" charset="0"/>
                <a:ea typeface="Cambria" panose="02040503050406030204" pitchFamily="18" charset="0"/>
                <a:cs typeface="Lato Black"/>
                <a:sym typeface="Lato Black"/>
              </a:rPr>
              <a:t>VIETNAM NATIONAL UNIVERSITY HO CHI MINH CITY</a:t>
            </a:r>
            <a:br>
              <a:rPr lang="en-US" sz="2400" b="1" i="0" u="none" strike="noStrike" cap="none">
                <a:solidFill>
                  <a:srgbClr val="144E8C"/>
                </a:solidFill>
                <a:latin typeface="Cambria" panose="02040503050406030204" pitchFamily="18" charset="0"/>
                <a:ea typeface="Cambria" panose="02040503050406030204" pitchFamily="18" charset="0"/>
                <a:cs typeface="Lato Black"/>
                <a:sym typeface="Lato Black"/>
              </a:rPr>
            </a:br>
            <a:r>
              <a:rPr lang="en-US" sz="2400" b="1" i="0" u="none" strike="noStrike" cap="none">
                <a:solidFill>
                  <a:srgbClr val="144E8C"/>
                </a:solidFill>
                <a:latin typeface="Cambria" panose="02040503050406030204" pitchFamily="18" charset="0"/>
                <a:ea typeface="Cambria" panose="02040503050406030204" pitchFamily="18" charset="0"/>
                <a:cs typeface="Lato Black"/>
                <a:sym typeface="Lato Black"/>
              </a:rPr>
              <a:t>University of Economics and Law</a:t>
            </a:r>
            <a:endParaRPr sz="1600">
              <a:latin typeface="Cambria" panose="02040503050406030204" pitchFamily="18" charset="0"/>
              <a:ea typeface="Cambria" panose="020405030504060302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6" name="Google Shape;16;p10"/>
          <p:cNvPicPr preferRelativeResize="0"/>
          <p:nvPr/>
        </p:nvPicPr>
        <p:blipFill rotWithShape="1">
          <a:blip r:embed="rId2">
            <a:alphaModFix/>
          </a:blip>
          <a:srcRect r="21016"/>
          <a:stretch/>
        </p:blipFill>
        <p:spPr>
          <a:xfrm>
            <a:off x="0" y="880629"/>
            <a:ext cx="8673353" cy="6176876"/>
          </a:xfrm>
          <a:prstGeom prst="rect">
            <a:avLst/>
          </a:prstGeom>
          <a:noFill/>
          <a:ln>
            <a:noFill/>
          </a:ln>
        </p:spPr>
      </p:pic>
      <p:pic>
        <p:nvPicPr>
          <p:cNvPr id="17" name="Google Shape;17;p10"/>
          <p:cNvPicPr preferRelativeResize="0"/>
          <p:nvPr/>
        </p:nvPicPr>
        <p:blipFill rotWithShape="1">
          <a:blip r:embed="rId3">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9" name="Google Shape;19;p10"/>
          <p:cNvPicPr preferRelativeResize="0"/>
          <p:nvPr userDrawn="1"/>
        </p:nvPicPr>
        <p:blipFill rotWithShape="1">
          <a:blip r:embed="rId4">
            <a:alphaModFix/>
          </a:blip>
          <a:srcRect/>
          <a:stretch/>
        </p:blipFill>
        <p:spPr>
          <a:xfrm>
            <a:off x="4847885" y="210692"/>
            <a:ext cx="2496230" cy="1015802"/>
          </a:xfrm>
          <a:prstGeom prst="rect">
            <a:avLst/>
          </a:prstGeom>
          <a:noFill/>
          <a:ln>
            <a:noFill/>
          </a:ln>
        </p:spPr>
      </p:pic>
      <p:sp>
        <p:nvSpPr>
          <p:cNvPr id="20" name="Google Shape;20;p10"/>
          <p:cNvSpPr txBox="1"/>
          <p:nvPr userDrawn="1"/>
        </p:nvSpPr>
        <p:spPr>
          <a:xfrm>
            <a:off x="1595350" y="1017973"/>
            <a:ext cx="9144000" cy="778583"/>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defTabSz="914400" rtl="0" eaLnBrk="1" fontAlgn="auto" latinLnBrk="0" hangingPunct="1">
              <a:lnSpc>
                <a:spcPct val="120000"/>
              </a:lnSpc>
              <a:spcBef>
                <a:spcPts val="0"/>
              </a:spcBef>
              <a:spcAft>
                <a:spcPts val="0"/>
              </a:spcAft>
              <a:buClr>
                <a:srgbClr val="144E8C"/>
              </a:buClr>
              <a:buSzPts val="2000"/>
              <a:buFont typeface="Lato Black"/>
              <a:buNone/>
              <a:tabLst/>
              <a:defRPr/>
            </a:pPr>
            <a:r>
              <a:rPr kumimoji="0" lang="en-US" sz="2400" b="1" i="0" u="none" strike="noStrike" kern="0" cap="none" spc="0" normalizeH="0" baseline="0" noProof="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VIETNAM NATIONAL UNIVERSITY HO CHI MINH CITY</a:t>
            </a:r>
            <a:br>
              <a:rPr kumimoji="0" lang="en-US" sz="2400" b="1" i="0" u="none" strike="noStrike" kern="0" cap="none" spc="0" normalizeH="0" baseline="0" noProof="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br>
            <a:r>
              <a:rPr kumimoji="0" lang="en-US" sz="2400" b="1" i="0" u="none" strike="noStrike" kern="0" cap="none" spc="0" normalizeH="0" baseline="0" noProof="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University of Economics and Law</a:t>
            </a:r>
            <a:endParaRPr kumimoji="0" sz="1600" b="0" i="0" u="none" strike="noStrike" kern="0" cap="none" spc="0" normalizeH="0" baseline="0" noProof="0">
              <a:ln>
                <a:noFill/>
              </a:ln>
              <a:solidFill>
                <a:srgbClr val="000000"/>
              </a:solidFill>
              <a:effectLst/>
              <a:uLnTx/>
              <a:uFillTx/>
              <a:latin typeface="Cambria" panose="02040503050406030204" pitchFamily="18" charset="0"/>
              <a:ea typeface="Cambria" panose="02040503050406030204" pitchFamily="18" charset="0"/>
              <a:cs typeface="Arial"/>
              <a:sym typeface="Arial"/>
            </a:endParaRPr>
          </a:p>
        </p:txBody>
      </p:sp>
    </p:spTree>
    <p:extLst>
      <p:ext uri="{BB962C8B-B14F-4D97-AF65-F5344CB8AC3E}">
        <p14:creationId xmlns:p14="http://schemas.microsoft.com/office/powerpoint/2010/main" val="2950978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1" i="1" u="none" strike="noStrike" kern="0" cap="none" spc="0" normalizeH="0" baseline="0" noProof="0" smtClean="0">
                <a:ln>
                  <a:noFill/>
                </a:ln>
                <a:solidFill>
                  <a:srgbClr val="E7E6E6"/>
                </a:solidFill>
                <a:effectLst/>
                <a:uLnTx/>
                <a:uFillTx/>
                <a:latin typeface="Lato"/>
                <a:ea typeface="Lato"/>
                <a:cs typeface="Lato"/>
                <a:sym typeface="Lato"/>
              </a:rPr>
              <a:t>Faculty of Information Systems</a:t>
            </a:r>
            <a:endParaRPr kumimoji="0" lang="en-US" sz="1200" b="1" i="1" u="none" strike="noStrike" kern="0" cap="none" spc="0" normalizeH="0" baseline="0" noProof="0">
              <a:ln>
                <a:noFill/>
              </a:ln>
              <a:solidFill>
                <a:srgbClr val="E7E6E6"/>
              </a:solidFill>
              <a:effectLst/>
              <a:uLnTx/>
              <a:uFillTx/>
              <a:latin typeface="Lato"/>
              <a:ea typeface="Lato"/>
              <a:cs typeface="Lato"/>
              <a:sym typeface="Lato"/>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1" i="0" u="none" strike="noStrike" kern="0" cap="none" spc="0" normalizeH="0" baseline="0" noProof="0">
                <a:ln>
                  <a:noFill/>
                </a:ln>
                <a:solidFill>
                  <a:srgbClr val="FFFFFF"/>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1" i="0" u="none" strike="noStrike" kern="0" cap="none" spc="0" normalizeH="0" baseline="0" noProof="0">
              <a:ln>
                <a:noFill/>
              </a:ln>
              <a:solidFill>
                <a:srgbClr val="FFFFFF"/>
              </a:solidFill>
              <a:effectLst/>
              <a:uLnTx/>
              <a:uFillTx/>
              <a:latin typeface="Lato"/>
              <a:ea typeface="Lato"/>
              <a:cs typeface="Lato"/>
              <a:sym typeface="Lato"/>
            </a:endParaRPr>
          </a:p>
        </p:txBody>
      </p:sp>
    </p:spTree>
    <p:extLst>
      <p:ext uri="{BB962C8B-B14F-4D97-AF65-F5344CB8AC3E}">
        <p14:creationId xmlns:p14="http://schemas.microsoft.com/office/powerpoint/2010/main" val="3300363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pic>
        <p:nvPicPr>
          <p:cNvPr id="72" name="Google Shape;72;p17"/>
          <p:cNvPicPr preferRelativeResize="0"/>
          <p:nvPr/>
        </p:nvPicPr>
        <p:blipFill rotWithShape="1">
          <a:blip r:embed="rId3">
            <a:alphaModFix/>
          </a:blip>
          <a:srcRect/>
          <a:stretch/>
        </p:blipFill>
        <p:spPr>
          <a:xfrm>
            <a:off x="-85306" y="-330860"/>
            <a:ext cx="12192000" cy="68580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4" name="Google Shape;74;p17"/>
          <p:cNvPicPr preferRelativeResize="0"/>
          <p:nvPr/>
        </p:nvPicPr>
        <p:blipFill rotWithShape="1">
          <a:blip r:embed="rId4">
            <a:alphaModFix/>
          </a:blip>
          <a:srcRect/>
          <a:stretch/>
        </p:blipFill>
        <p:spPr>
          <a:xfrm>
            <a:off x="4357944" y="330860"/>
            <a:ext cx="2890753" cy="1176347"/>
          </a:xfrm>
          <a:prstGeom prst="rect">
            <a:avLst/>
          </a:prstGeom>
          <a:noFill/>
          <a:ln>
            <a:noFill/>
          </a:ln>
        </p:spPr>
      </p:pic>
      <p:sp>
        <p:nvSpPr>
          <p:cNvPr id="75" name="Google Shape;75;p17"/>
          <p:cNvSpPr txBox="1"/>
          <p:nvPr/>
        </p:nvSpPr>
        <p:spPr>
          <a:xfrm>
            <a:off x="2805445" y="1354975"/>
            <a:ext cx="6410498" cy="68841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20000"/>
              </a:lnSpc>
              <a:spcBef>
                <a:spcPts val="0"/>
              </a:spcBef>
              <a:spcAft>
                <a:spcPts val="0"/>
              </a:spcAft>
              <a:buClr>
                <a:srgbClr val="144E8C"/>
              </a:buClr>
              <a:buSzPts val="2000"/>
              <a:buFont typeface="Lato Black"/>
              <a:buNone/>
              <a:tabLst/>
              <a:defRPr/>
            </a:pPr>
            <a:r>
              <a:rPr kumimoji="0" lang="en-US" sz="2000" b="1" i="0" u="none" strike="noStrike" kern="0" cap="none" spc="0" normalizeH="0" baseline="0" noProof="0" smtClean="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VIETNAM NATIONAL UNIVERSITY HO CHI MINH CITY</a:t>
            </a:r>
            <a:br>
              <a:rPr kumimoji="0" lang="en-US" sz="2000" b="1" i="0" u="none" strike="noStrike" kern="0" cap="none" spc="0" normalizeH="0" baseline="0" noProof="0" smtClean="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br>
            <a:r>
              <a:rPr kumimoji="0" lang="en-US" sz="2000" b="1" i="0" u="none" strike="noStrike" kern="0" cap="none" spc="0" normalizeH="0" baseline="0" noProof="0" smtClean="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University of Economics and Law</a:t>
            </a:r>
            <a:endParaRPr kumimoji="0" lang="en-US" sz="1400" b="0" i="0" u="none" strike="noStrike" kern="0" cap="none" spc="0" normalizeH="0" baseline="0" noProof="0">
              <a:ln>
                <a:noFill/>
              </a:ln>
              <a:solidFill>
                <a:srgbClr val="000000"/>
              </a:solidFill>
              <a:effectLst/>
              <a:uLnTx/>
              <a:uFillTx/>
              <a:latin typeface="Cambria" panose="02040503050406030204" pitchFamily="18" charset="0"/>
              <a:ea typeface="Cambria" panose="02040503050406030204" pitchFamily="18" charset="0"/>
              <a:cs typeface="Arial"/>
              <a:sym typeface="Arial"/>
            </a:endParaRPr>
          </a:p>
        </p:txBody>
      </p:sp>
    </p:spTree>
    <p:extLst>
      <p:ext uri="{BB962C8B-B14F-4D97-AF65-F5344CB8AC3E}">
        <p14:creationId xmlns:p14="http://schemas.microsoft.com/office/powerpoint/2010/main" val="3681330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1" i="1" u="none" strike="noStrike" kern="0" cap="none" spc="0" normalizeH="0" baseline="0" noProof="0" smtClean="0">
                <a:ln>
                  <a:noFill/>
                </a:ln>
                <a:solidFill>
                  <a:srgbClr val="E7E6E6"/>
                </a:solidFill>
                <a:effectLst/>
                <a:uLnTx/>
                <a:uFillTx/>
                <a:latin typeface="Lato"/>
                <a:ea typeface="Lato"/>
                <a:cs typeface="Lato"/>
                <a:sym typeface="Lato"/>
              </a:rPr>
              <a:t>Faculty of Information Systems</a:t>
            </a:r>
            <a:endParaRPr kumimoji="0" lang="en-US" sz="1200" b="1" i="1" u="none" strike="noStrike" kern="0" cap="none" spc="0" normalizeH="0" baseline="0" noProof="0">
              <a:ln>
                <a:noFill/>
              </a:ln>
              <a:solidFill>
                <a:srgbClr val="E7E6E6"/>
              </a:solidFill>
              <a:effectLst/>
              <a:uLnTx/>
              <a:uFillTx/>
              <a:latin typeface="Lato"/>
              <a:ea typeface="Lato"/>
              <a:cs typeface="Lato"/>
              <a:sym typeface="Lato"/>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1" i="0" u="none" strike="noStrike" kern="0" cap="none" spc="0" normalizeH="0" baseline="0" noProof="0">
                <a:ln>
                  <a:noFill/>
                </a:ln>
                <a:solidFill>
                  <a:srgbClr val="FFFFFF"/>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1" i="0" u="none" strike="noStrike" kern="0" cap="none" spc="0" normalizeH="0" baseline="0" noProof="0">
              <a:ln>
                <a:noFill/>
              </a:ln>
              <a:solidFill>
                <a:srgbClr val="FFFFFF"/>
              </a:solidFill>
              <a:effectLst/>
              <a:uLnTx/>
              <a:uFillTx/>
              <a:latin typeface="Lato"/>
              <a:ea typeface="Lato"/>
              <a:cs typeface="Lato"/>
              <a:sym typeface="Lato"/>
            </a:endParaRPr>
          </a:p>
        </p:txBody>
      </p:sp>
    </p:spTree>
    <p:extLst>
      <p:ext uri="{BB962C8B-B14F-4D97-AF65-F5344CB8AC3E}">
        <p14:creationId xmlns:p14="http://schemas.microsoft.com/office/powerpoint/2010/main" val="2529039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Blank" type="blank">
  <p:cSld name="1_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Lato"/>
              <a:ea typeface="Lato"/>
              <a:cs typeface="Lato"/>
              <a:sym typeface="Lato"/>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2303219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7" r:id="rId3"/>
    <p:sldLayoutId id="2147483658"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Lato"/>
              <a:ea typeface="Lato"/>
              <a:cs typeface="Lato"/>
              <a:sym typeface="Lato"/>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819202890"/>
      </p:ext>
    </p:extLst>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chemas.android.com/apk/res/android"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132317" y="1977662"/>
            <a:ext cx="87630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3200" kern="0">
                <a:solidFill>
                  <a:srgbClr val="002060"/>
                </a:solidFill>
                <a:latin typeface="Times New Roman" panose="02020603050405020304" pitchFamily="18" charset="0"/>
                <a:cs typeface="Times New Roman" panose="02020603050405020304" pitchFamily="18" charset="0"/>
              </a:rPr>
              <a:t>Mobile-Commerce </a:t>
            </a:r>
            <a:r>
              <a:rPr lang="en-US" sz="3200" kern="0" smtClean="0">
                <a:solidFill>
                  <a:srgbClr val="002060"/>
                </a:solidFill>
                <a:latin typeface="Times New Roman" panose="02020603050405020304" pitchFamily="18" charset="0"/>
                <a:cs typeface="Times New Roman" panose="02020603050405020304" pitchFamily="18" charset="0"/>
              </a:rPr>
              <a:t>Development</a:t>
            </a:r>
          </a:p>
          <a:p>
            <a:pPr>
              <a:defRPr/>
            </a:pPr>
            <a:r>
              <a:rPr lang="en-US" sz="3200" u="sng" smtClean="0">
                <a:solidFill>
                  <a:srgbClr val="002060"/>
                </a:solidFill>
                <a:latin typeface="Times New Roman" panose="02020603050405020304" pitchFamily="18" charset="0"/>
                <a:cs typeface="Times New Roman" panose="02020603050405020304" pitchFamily="18" charset="0"/>
              </a:rPr>
              <a:t>Lesson</a:t>
            </a:r>
            <a:r>
              <a:rPr lang="en-US" sz="3200" smtClean="0">
                <a:solidFill>
                  <a:srgbClr val="002060"/>
                </a:solidFill>
                <a:latin typeface="Times New Roman" panose="02020603050405020304" pitchFamily="18" charset="0"/>
                <a:cs typeface="Times New Roman" panose="02020603050405020304" pitchFamily="18" charset="0"/>
              </a:rPr>
              <a:t> </a:t>
            </a:r>
            <a:endParaRPr lang="en-US" sz="3200" kern="0" smtClean="0">
              <a:solidFill>
                <a:srgbClr val="002060"/>
              </a:solidFill>
              <a:latin typeface="Times New Roman" panose="02020603050405020304" pitchFamily="18" charset="0"/>
              <a:cs typeface="Times New Roman" panose="02020603050405020304" pitchFamily="18" charset="0"/>
            </a:endParaRPr>
          </a:p>
          <a:p>
            <a:pPr>
              <a:defRPr/>
            </a:pPr>
            <a:r>
              <a:rPr lang="en-US" sz="3200">
                <a:solidFill>
                  <a:srgbClr val="002060"/>
                </a:solidFill>
                <a:latin typeface="Times New Roman" panose="02020603050405020304" pitchFamily="18" charset="0"/>
                <a:cs typeface="Times New Roman" panose="02020603050405020304" pitchFamily="18" charset="0"/>
              </a:rPr>
              <a:t>Layout and Basic Views</a:t>
            </a:r>
            <a:endParaRPr lang="en-US" sz="3200" kern="0">
              <a:solidFill>
                <a:srgbClr val="00206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2F97E3A-A23C-B018-8E45-86B8BF858946}"/>
              </a:ext>
            </a:extLst>
          </p:cNvPr>
          <p:cNvSpPr txBox="1"/>
          <p:nvPr/>
        </p:nvSpPr>
        <p:spPr>
          <a:xfrm>
            <a:off x="7958878" y="4079089"/>
            <a:ext cx="3781805" cy="2123658"/>
          </a:xfrm>
          <a:prstGeom prst="rect">
            <a:avLst/>
          </a:prstGeom>
          <a:noFill/>
        </p:spPr>
        <p:txBody>
          <a:bodyPr wrap="none" rtlCol="0">
            <a:spAutoFit/>
          </a:bodyPr>
          <a:lstStyle/>
          <a:p>
            <a:pPr algn="ctr"/>
            <a:r>
              <a:rPr lang="en-US" sz="2200" u="sng">
                <a:latin typeface="Times New Roman" panose="02020603050405020304" pitchFamily="18" charset="0"/>
                <a:cs typeface="Times New Roman" panose="02020603050405020304" pitchFamily="18" charset="0"/>
              </a:rPr>
              <a:t>Lecturer:</a:t>
            </a:r>
          </a:p>
          <a:p>
            <a:pPr algn="ctr"/>
            <a:r>
              <a:rPr lang="en-US" sz="2200" b="1">
                <a:solidFill>
                  <a:srgbClr val="002060"/>
                </a:solidFill>
                <a:latin typeface="Times New Roman" panose="02020603050405020304" pitchFamily="18" charset="0"/>
                <a:cs typeface="Times New Roman" panose="02020603050405020304" pitchFamily="18" charset="0"/>
              </a:rPr>
              <a:t>Tran Duy Thanh, </a:t>
            </a:r>
            <a:r>
              <a:rPr lang="en-US" sz="2200" b="1" smtClean="0">
                <a:solidFill>
                  <a:srgbClr val="002060"/>
                </a:solidFill>
                <a:latin typeface="Times New Roman" panose="02020603050405020304" pitchFamily="18" charset="0"/>
                <a:cs typeface="Times New Roman" panose="02020603050405020304" pitchFamily="18" charset="0"/>
              </a:rPr>
              <a:t>Phd</a:t>
            </a:r>
          </a:p>
          <a:p>
            <a:pPr algn="ctr"/>
            <a:r>
              <a:rPr lang="en-US" sz="2200" b="1" smtClean="0">
                <a:solidFill>
                  <a:srgbClr val="002060"/>
                </a:solidFill>
                <a:latin typeface="Times New Roman" panose="02020603050405020304" pitchFamily="18" charset="0"/>
                <a:cs typeface="Times New Roman" panose="02020603050405020304" pitchFamily="18" charset="0"/>
              </a:rPr>
              <a:t>Nguyen Quang Phuc, Msc</a:t>
            </a:r>
            <a:endParaRPr lang="en-US" sz="2200" b="1">
              <a:solidFill>
                <a:srgbClr val="002060"/>
              </a:solidFill>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Email: </a:t>
            </a:r>
            <a:r>
              <a:rPr lang="en-US" sz="2200">
                <a:latin typeface="Times New Roman" panose="02020603050405020304" pitchFamily="18" charset="0"/>
                <a:cs typeface="Times New Roman" panose="02020603050405020304" pitchFamily="18" charset="0"/>
                <a:hlinkClick r:id="rId3"/>
              </a:rPr>
              <a:t>thanhtd@uel.edu.vn</a:t>
            </a:r>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Blog: </a:t>
            </a:r>
            <a:r>
              <a:rPr lang="en-US" sz="2200">
                <a:latin typeface="Times New Roman" panose="02020603050405020304" pitchFamily="18" charset="0"/>
                <a:cs typeface="Times New Roman" panose="02020603050405020304" pitchFamily="18" charset="0"/>
                <a:hlinkClick r:id="rId4"/>
              </a:rPr>
              <a:t>https://tranduythanh.com</a:t>
            </a:r>
            <a:r>
              <a:rPr lang="en-US" sz="2200">
                <a:latin typeface="Times New Roman" panose="02020603050405020304" pitchFamily="18" charset="0"/>
                <a:cs typeface="Times New Roman" panose="02020603050405020304" pitchFamily="18" charset="0"/>
              </a:rPr>
              <a:t> </a:t>
            </a:r>
          </a:p>
          <a:p>
            <a:r>
              <a:rPr lang="en-US" sz="2200">
                <a:latin typeface="Times New Roman" panose="02020603050405020304" pitchFamily="18" charset="0"/>
                <a:cs typeface="Times New Roman" panose="02020603050405020304" pitchFamily="18" charset="0"/>
              </a:rPr>
              <a:t>Phone: 0987773061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smtClean="0">
                  <a:latin typeface="Cambria" panose="02040503050406030204" pitchFamily="18" charset="0"/>
                </a:rPr>
                <a:t>Lesson Objective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9538" indent="0" algn="just">
              <a:lnSpc>
                <a:spcPct val="110000"/>
              </a:lnSpc>
              <a:spcBef>
                <a:spcPts val="600"/>
              </a:spcBef>
              <a:spcAft>
                <a:spcPts val="600"/>
              </a:spcAft>
              <a:buClr>
                <a:schemeClr val="tx1">
                  <a:lumMod val="85000"/>
                  <a:lumOff val="15000"/>
                </a:schemeClr>
              </a:buClr>
              <a:buNone/>
            </a:pPr>
            <a:r>
              <a:rPr lang="en-US" sz="2800" smtClean="0">
                <a:latin typeface="Times New Roman" panose="02020603050405020304" pitchFamily="18" charset="0"/>
                <a:cs typeface="Times New Roman" panose="02020603050405020304" pitchFamily="18" charset="0"/>
              </a:rPr>
              <a:t>-Understand the importance of layout in design</a:t>
            </a:r>
          </a:p>
          <a:p>
            <a:pPr marL="109538" indent="0" algn="just">
              <a:lnSpc>
                <a:spcPct val="110000"/>
              </a:lnSpc>
              <a:spcBef>
                <a:spcPts val="600"/>
              </a:spcBef>
              <a:spcAft>
                <a:spcPts val="600"/>
              </a:spcAft>
              <a:buClr>
                <a:schemeClr val="tx1">
                  <a:lumMod val="85000"/>
                  <a:lumOff val="15000"/>
                </a:schemeClr>
              </a:buClr>
              <a:buNone/>
            </a:pPr>
            <a:r>
              <a:rPr lang="en-US" sz="2800" smtClean="0">
                <a:latin typeface="Times New Roman" panose="02020603050405020304" pitchFamily="18" charset="0"/>
                <a:cs typeface="Times New Roman" panose="02020603050405020304" pitchFamily="18" charset="0"/>
              </a:rPr>
              <a:t>-Understand and apply layouts: Frame layout, Linear layout, Table layout, Relative Layout and Constraint layout</a:t>
            </a:r>
          </a:p>
          <a:p>
            <a:pPr marL="109538" indent="0" algn="just">
              <a:lnSpc>
                <a:spcPct val="110000"/>
              </a:lnSpc>
              <a:spcBef>
                <a:spcPts val="600"/>
              </a:spcBef>
              <a:spcAft>
                <a:spcPts val="600"/>
              </a:spcAft>
              <a:buClr>
                <a:schemeClr val="tx1">
                  <a:lumMod val="85000"/>
                  <a:lumOff val="15000"/>
                </a:schemeClr>
              </a:buClr>
              <a:buNone/>
            </a:pPr>
            <a:r>
              <a:rPr lang="en-US" sz="2800" smtClean="0">
                <a:latin typeface="Times New Roman" panose="02020603050405020304" pitchFamily="18" charset="0"/>
                <a:cs typeface="Times New Roman" panose="02020603050405020304" pitchFamily="18" charset="0"/>
              </a:rPr>
              <a:t>-Use the findById method for view accessing</a:t>
            </a:r>
          </a:p>
          <a:p>
            <a:pPr marL="109538" indent="0" algn="just">
              <a:lnSpc>
                <a:spcPct val="110000"/>
              </a:lnSpc>
              <a:spcBef>
                <a:spcPts val="600"/>
              </a:spcBef>
              <a:spcAft>
                <a:spcPts val="600"/>
              </a:spcAft>
              <a:buClr>
                <a:schemeClr val="tx1">
                  <a:lumMod val="85000"/>
                  <a:lumOff val="15000"/>
                </a:schemeClr>
              </a:buClr>
              <a:buNone/>
            </a:pPr>
            <a:r>
              <a:rPr lang="en-US" sz="2800" smtClean="0">
                <a:latin typeface="Times New Roman" panose="02020603050405020304" pitchFamily="18" charset="0"/>
                <a:cs typeface="Times New Roman" panose="02020603050405020304" pitchFamily="18" charset="0"/>
              </a:rPr>
              <a:t>-Understand and apply basic views in design, such as: TextView, Edittext, Button, CheckBox, RadioButton, ImageView, ImageButton</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45523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smtClean="0">
                  <a:latin typeface="Cambria" panose="02040503050406030204" pitchFamily="18" charset="0"/>
                </a:rPr>
                <a:t>Outlines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smtClean="0">
                <a:latin typeface="Times New Roman" panose="02020603050405020304" pitchFamily="18" charset="0"/>
                <a:cs typeface="Times New Roman" panose="02020603050405020304" pitchFamily="18" charset="0"/>
              </a:rPr>
              <a:t>Layout Overview</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smtClean="0">
                <a:latin typeface="Times New Roman" panose="02020603050405020304" pitchFamily="18" charset="0"/>
                <a:cs typeface="Times New Roman" panose="02020603050405020304" pitchFamily="18" charset="0"/>
              </a:rPr>
              <a:t>Frame Layout</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smtClean="0">
                <a:latin typeface="Times New Roman" panose="02020603050405020304" pitchFamily="18" charset="0"/>
                <a:cs typeface="Times New Roman" panose="02020603050405020304" pitchFamily="18" charset="0"/>
              </a:rPr>
              <a:t>Linear Layout</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smtClean="0">
                <a:latin typeface="Times New Roman" panose="02020603050405020304" pitchFamily="18" charset="0"/>
                <a:cs typeface="Times New Roman" panose="02020603050405020304" pitchFamily="18" charset="0"/>
              </a:rPr>
              <a:t>Table Layout</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smtClean="0">
                <a:latin typeface="Times New Roman" panose="02020603050405020304" pitchFamily="18" charset="0"/>
                <a:cs typeface="Times New Roman" panose="02020603050405020304" pitchFamily="18" charset="0"/>
              </a:rPr>
              <a:t>Relative Layout</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a:latin typeface="Times New Roman" panose="02020603050405020304" pitchFamily="18" charset="0"/>
                <a:cs typeface="Times New Roman" panose="02020603050405020304" pitchFamily="18" charset="0"/>
              </a:rPr>
              <a:t>Constraint </a:t>
            </a:r>
            <a:r>
              <a:rPr lang="en-US" sz="2800" b="1" smtClean="0">
                <a:latin typeface="Times New Roman" panose="02020603050405020304" pitchFamily="18" charset="0"/>
                <a:cs typeface="Times New Roman" panose="02020603050405020304" pitchFamily="18" charset="0"/>
              </a:rPr>
              <a:t>Layout</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smtClean="0">
                <a:latin typeface="Times New Roman" panose="02020603050405020304" pitchFamily="18" charset="0"/>
                <a:cs typeface="Times New Roman" panose="02020603050405020304" pitchFamily="18" charset="0"/>
              </a:rPr>
              <a:t>findViewById method</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a:latin typeface="Times New Roman" panose="02020603050405020304" pitchFamily="18" charset="0"/>
                <a:cs typeface="Times New Roman" panose="02020603050405020304" pitchFamily="18" charset="0"/>
              </a:rPr>
              <a:t>Basic Views: TextView, EditText, Button, CheckBox, </a:t>
            </a:r>
            <a:r>
              <a:rPr lang="en-US" sz="2800" b="1" smtClean="0">
                <a:latin typeface="Times New Roman" panose="02020603050405020304" pitchFamily="18" charset="0"/>
                <a:cs typeface="Times New Roman" panose="02020603050405020304" pitchFamily="18" charset="0"/>
              </a:rPr>
              <a:t>etc.</a:t>
            </a:r>
            <a:endParaRPr lang="en-US" sz="28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31455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smtClean="0">
                  <a:latin typeface="Times New Roman" panose="02020603050405020304" pitchFamily="18" charset="0"/>
                  <a:cs typeface="Times New Roman" panose="02020603050405020304" pitchFamily="18" charset="0"/>
                </a:rPr>
                <a:t>1. Layout </a:t>
              </a:r>
              <a:r>
                <a:rPr lang="en-US" sz="2800" b="1">
                  <a:latin typeface="Times New Roman" panose="02020603050405020304" pitchFamily="18" charset="0"/>
                  <a:cs typeface="Times New Roman" panose="02020603050405020304" pitchFamily="18" charset="0"/>
                </a:rPr>
                <a:t>Overview</a:t>
              </a: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Content Placeholder 2"/>
          <p:cNvSpPr txBox="1">
            <a:spLocks/>
          </p:cNvSpPr>
          <p:nvPr/>
        </p:nvSpPr>
        <p:spPr bwMode="auto">
          <a:xfrm>
            <a:off x="400671" y="1016875"/>
            <a:ext cx="11376169" cy="3962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400" smtClean="0">
                <a:solidFill>
                  <a:srgbClr val="002060"/>
                </a:solidFill>
                <a:latin typeface="Cambria" panose="02040503050406030204" pitchFamily="18" charset="0"/>
              </a:rPr>
              <a:t>Layout is the place to organize controls/Views on the interface. When designing the interface, we must use Layouts to arrange appropriately.</a:t>
            </a:r>
            <a:endParaRPr kumimoji="0" lang="en-US" sz="2400" b="0" i="0" u="none" strike="noStrike" kern="0" cap="none" spc="0" normalizeH="0" baseline="0" noProof="0" dirty="0">
              <a:ln>
                <a:noFill/>
              </a:ln>
              <a:solidFill>
                <a:srgbClr val="002060"/>
              </a:solidFill>
              <a:effectLst/>
              <a:uLnTx/>
              <a:uFillTx/>
              <a:latin typeface="Cambria" panose="02040503050406030204" pitchFamily="18" charset="0"/>
            </a:endParaRPr>
          </a:p>
        </p:txBody>
      </p:sp>
      <p:pic>
        <p:nvPicPr>
          <p:cNvPr id="14" name="Picture 1" descr="layoutparams.png"/>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275236" y="2143626"/>
            <a:ext cx="5813519" cy="3294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https://developer.android.com/static/images/layoutparams.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01517" y="2402771"/>
            <a:ext cx="6500758" cy="3035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42767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smtClean="0">
                  <a:latin typeface="Times New Roman" panose="02020603050405020304" pitchFamily="18" charset="0"/>
                  <a:cs typeface="Times New Roman" panose="02020603050405020304" pitchFamily="18" charset="0"/>
                </a:rPr>
                <a:t>2. </a:t>
              </a:r>
              <a:r>
                <a:rPr lang="en-US" sz="2800" b="1">
                  <a:latin typeface="Cambria" panose="02040503050406030204" pitchFamily="18" charset="0"/>
                </a:rPr>
                <a:t>Frame </a:t>
              </a:r>
              <a:r>
                <a:rPr lang="en-US" sz="2800" b="1" smtClean="0">
                  <a:latin typeface="Cambria" panose="02040503050406030204" pitchFamily="18" charset="0"/>
                </a:rPr>
                <a:t>Layout</a:t>
              </a:r>
              <a:endParaRPr lang="en-US" sz="2800" b="1">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28" name="Rectangle 27"/>
          <p:cNvSpPr/>
          <p:nvPr/>
        </p:nvSpPr>
        <p:spPr>
          <a:xfrm>
            <a:off x="728132" y="1062055"/>
            <a:ext cx="10559978" cy="4893647"/>
          </a:xfrm>
          <a:prstGeom prst="rect">
            <a:avLst/>
          </a:prstGeom>
        </p:spPr>
        <p:txBody>
          <a:bodyPr wrap="square">
            <a:spAutoFit/>
          </a:bodyPr>
          <a:lstStyle/>
          <a:p>
            <a:r>
              <a:rPr lang="en-US" sz="2400">
                <a:solidFill>
                  <a:srgbClr val="002060"/>
                </a:solidFill>
                <a:latin typeface="Cambria" panose="02040503050406030204" pitchFamily="18" charset="0"/>
              </a:rPr>
              <a:t>Use in cases of building an organizational layout that displays a single object.</a:t>
            </a:r>
          </a:p>
          <a:p>
            <a:r>
              <a:rPr lang="en-US" sz="2400">
                <a:solidFill>
                  <a:srgbClr val="002060"/>
                </a:solidFill>
                <a:latin typeface="Cambria" panose="02040503050406030204" pitchFamily="18" charset="0"/>
              </a:rPr>
              <a:t>The object defaults to the top-left position on the FrameLayout, you can use the Gravity property to reset the position</a:t>
            </a:r>
            <a:r>
              <a:rPr lang="en-US" sz="2400" smtClean="0">
                <a:solidFill>
                  <a:srgbClr val="002060"/>
                </a:solidFill>
                <a:latin typeface="Cambria" panose="02040503050406030204" pitchFamily="18" charset="0"/>
              </a:rPr>
              <a:t>.</a:t>
            </a:r>
          </a:p>
          <a:p>
            <a:endParaRPr lang="en-US" sz="2400" b="1" u="sng" smtClean="0">
              <a:solidFill>
                <a:srgbClr val="002060"/>
              </a:solidFill>
              <a:latin typeface="Cambria" panose="02040503050406030204" pitchFamily="18" charset="0"/>
            </a:endParaRPr>
          </a:p>
          <a:p>
            <a:r>
              <a:rPr lang="en-US" sz="2400" b="1" u="sng">
                <a:solidFill>
                  <a:srgbClr val="002060"/>
                </a:solidFill>
                <a:latin typeface="Cambria" panose="02040503050406030204" pitchFamily="18" charset="0"/>
              </a:rPr>
              <a:t>For example</a:t>
            </a:r>
            <a:r>
              <a:rPr lang="en-US" sz="2400" b="1" u="sng" smtClean="0">
                <a:solidFill>
                  <a:srgbClr val="002060"/>
                </a:solidFill>
                <a:latin typeface="Cambria" panose="02040503050406030204" pitchFamily="18" charset="0"/>
              </a:rPr>
              <a:t>:</a:t>
            </a:r>
            <a:endParaRPr lang="en-US" sz="2400" b="1" u="sng">
              <a:solidFill>
                <a:srgbClr val="002060"/>
              </a:solidFill>
              <a:latin typeface="Cambria" panose="02040503050406030204" pitchFamily="18" charset="0"/>
            </a:endParaRPr>
          </a:p>
          <a:p>
            <a:r>
              <a:rPr lang="en-US" sz="2400">
                <a:solidFill>
                  <a:srgbClr val="002060"/>
                </a:solidFill>
                <a:latin typeface="Cambria" panose="02040503050406030204" pitchFamily="18" charset="0"/>
              </a:rPr>
              <a:t>&lt;</a:t>
            </a:r>
            <a:r>
              <a:rPr lang="en-US" sz="2400">
                <a:solidFill>
                  <a:srgbClr val="FF0000"/>
                </a:solidFill>
                <a:latin typeface="Cambria" panose="02040503050406030204" pitchFamily="18" charset="0"/>
              </a:rPr>
              <a:t>FrameLayout </a:t>
            </a:r>
            <a:r>
              <a:rPr lang="en-US" sz="2400">
                <a:solidFill>
                  <a:srgbClr val="002060"/>
                </a:solidFill>
                <a:latin typeface="Cambria" panose="02040503050406030204" pitchFamily="18" charset="0"/>
              </a:rPr>
              <a:t>	  xmlns:android="http://schemas.android.com/apk/res/android"</a:t>
            </a:r>
          </a:p>
          <a:p>
            <a:r>
              <a:rPr lang="en-US" sz="2400">
                <a:solidFill>
                  <a:srgbClr val="002060"/>
                </a:solidFill>
                <a:latin typeface="Cambria" panose="02040503050406030204" pitchFamily="18" charset="0"/>
              </a:rPr>
              <a:t>    android:layout_width="match_parent"</a:t>
            </a:r>
          </a:p>
          <a:p>
            <a:r>
              <a:rPr lang="en-US" sz="2400">
                <a:solidFill>
                  <a:srgbClr val="002060"/>
                </a:solidFill>
                <a:latin typeface="Cambria" panose="02040503050406030204" pitchFamily="18" charset="0"/>
              </a:rPr>
              <a:t>    android:layout_height="match_parent” &gt;</a:t>
            </a:r>
          </a:p>
          <a:p>
            <a:r>
              <a:rPr lang="en-US" sz="2400">
                <a:solidFill>
                  <a:srgbClr val="002060"/>
                </a:solidFill>
                <a:latin typeface="Cambria" panose="02040503050406030204" pitchFamily="18" charset="0"/>
              </a:rPr>
              <a:t>&lt;/</a:t>
            </a:r>
            <a:r>
              <a:rPr lang="en-US" sz="2400">
                <a:solidFill>
                  <a:srgbClr val="FF0000"/>
                </a:solidFill>
                <a:latin typeface="Cambria" panose="02040503050406030204" pitchFamily="18" charset="0"/>
              </a:rPr>
              <a:t>FrameLayout</a:t>
            </a:r>
            <a:r>
              <a:rPr lang="en-US" sz="2400">
                <a:solidFill>
                  <a:srgbClr val="002060"/>
                </a:solidFill>
                <a:latin typeface="Cambria" panose="02040503050406030204" pitchFamily="18" charset="0"/>
              </a:rPr>
              <a:t>&gt;</a:t>
            </a:r>
          </a:p>
          <a:p>
            <a:endParaRPr lang="en-US" sz="2400">
              <a:solidFill>
                <a:srgbClr val="002060"/>
              </a:solidFill>
              <a:latin typeface="Cambria" panose="02040503050406030204" pitchFamily="18" charset="0"/>
            </a:endParaRPr>
          </a:p>
          <a:p>
            <a:endParaRPr lang="en-US" sz="2400">
              <a:solidFill>
                <a:srgbClr val="002060"/>
              </a:solidFill>
              <a:latin typeface="Cambria" panose="02040503050406030204" pitchFamily="18" charset="0"/>
            </a:endParaRPr>
          </a:p>
          <a:p>
            <a:endParaRPr lang="en-US" sz="2400">
              <a:solidFill>
                <a:srgbClr val="002060"/>
              </a:solidFill>
              <a:latin typeface="Cambria" panose="02040503050406030204" pitchFamily="18" charset="0"/>
            </a:endParaRPr>
          </a:p>
        </p:txBody>
      </p:sp>
      <p:pic>
        <p:nvPicPr>
          <p:cNvPr id="29" name="Picture 2" descr="7_Layout_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4298" y="3705212"/>
            <a:ext cx="2000250" cy="2724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5896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grpSp>
        <p:nvGrpSpPr>
          <p:cNvPr id="19" name="Group 18"/>
          <p:cNvGrpSpPr/>
          <p:nvPr/>
        </p:nvGrpSpPr>
        <p:grpSpPr>
          <a:xfrm>
            <a:off x="320565" y="290786"/>
            <a:ext cx="4620576" cy="508000"/>
            <a:chOff x="789624" y="1191463"/>
            <a:chExt cx="4620576" cy="508000"/>
          </a:xfrm>
        </p:grpSpPr>
        <p:sp>
          <p:nvSpPr>
            <p:cNvPr id="20"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smtClean="0">
                  <a:latin typeface="Cambria" panose="02040503050406030204" pitchFamily="18" charset="0"/>
                </a:rPr>
                <a:t>2. Frame Layout</a:t>
              </a:r>
              <a:endParaRPr kumimoji="0" lang="en-US" sz="2400" b="1" i="0" u="none" strike="noStrike" kern="0" cap="none" spc="0" normalizeH="0" baseline="0" noProof="0" smtClean="0">
                <a:ln>
                  <a:noFill/>
                </a:ln>
                <a:solidFill>
                  <a:srgbClr val="000000"/>
                </a:solidFill>
                <a:effectLst/>
                <a:uLnTx/>
                <a:uFillTx/>
                <a:latin typeface="Cambria" panose="02040503050406030204" pitchFamily="18" charset="0"/>
              </a:endParaRPr>
            </a:p>
          </p:txBody>
        </p:sp>
        <p:grpSp>
          <p:nvGrpSpPr>
            <p:cNvPr id="21" name="Group 17"/>
            <p:cNvGrpSpPr>
              <a:grpSpLocks/>
            </p:cNvGrpSpPr>
            <p:nvPr/>
          </p:nvGrpSpPr>
          <p:grpSpPr bwMode="auto">
            <a:xfrm>
              <a:off x="789624" y="1295400"/>
              <a:ext cx="353376" cy="272472"/>
              <a:chOff x="1110" y="2656"/>
              <a:chExt cx="1549" cy="1351"/>
            </a:xfrm>
          </p:grpSpPr>
          <p:sp>
            <p:nvSpPr>
              <p:cNvPr id="22"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23"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24"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25" name="Rectangle 24"/>
          <p:cNvSpPr/>
          <p:nvPr/>
        </p:nvSpPr>
        <p:spPr>
          <a:xfrm>
            <a:off x="472964" y="887666"/>
            <a:ext cx="11240815" cy="4154984"/>
          </a:xfrm>
          <a:prstGeom prst="rect">
            <a:avLst/>
          </a:prstGeom>
        </p:spPr>
        <p:txBody>
          <a:bodyPr wrap="square">
            <a:spAutoFit/>
          </a:bodyPr>
          <a:lstStyle/>
          <a:p>
            <a:r>
              <a:rPr lang="en-US" sz="2400">
                <a:latin typeface="Times New Roman" panose="02020603050405020304" pitchFamily="18" charset="0"/>
                <a:cs typeface="Times New Roman" panose="02020603050405020304" pitchFamily="18" charset="0"/>
              </a:rPr>
              <a:t>&lt;?xml version=″1.0″ encoding=″utf-8″?&gt;</a:t>
            </a:r>
          </a:p>
          <a:p>
            <a:r>
              <a:rPr lang="en-US" sz="2400">
                <a:latin typeface="Times New Roman" panose="02020603050405020304" pitchFamily="18" charset="0"/>
                <a:cs typeface="Times New Roman" panose="02020603050405020304" pitchFamily="18" charset="0"/>
              </a:rPr>
              <a:t>&lt;</a:t>
            </a:r>
            <a:r>
              <a:rPr lang="en-US" sz="2400" b="1">
                <a:solidFill>
                  <a:srgbClr val="FF0000"/>
                </a:solidFill>
                <a:latin typeface="Times New Roman" panose="02020603050405020304" pitchFamily="18" charset="0"/>
                <a:cs typeface="Times New Roman" panose="02020603050405020304" pitchFamily="18" charset="0"/>
              </a:rPr>
              <a:t>FrameLayout</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android:id=″@+id/mainlayout″ android:layout_height=″</a:t>
            </a:r>
            <a:r>
              <a:rPr lang="en-US" sz="2400" smtClean="0">
                <a:latin typeface="Times New Roman" panose="02020603050405020304" pitchFamily="18" charset="0"/>
                <a:cs typeface="Times New Roman" panose="02020603050405020304" pitchFamily="18" charset="0"/>
              </a:rPr>
              <a:t>fill_parent</a:t>
            </a:r>
            <a:r>
              <a:rPr lang="en-US" sz="2400">
                <a:latin typeface="Times New Roman" panose="02020603050405020304" pitchFamily="18" charset="0"/>
                <a:cs typeface="Times New Roman" panose="02020603050405020304" pitchFamily="18" charset="0"/>
              </a:rPr>
              <a:t>″ android:layout_width=″</a:t>
            </a:r>
            <a:r>
              <a:rPr lang="en-US" sz="2400" smtClean="0">
                <a:latin typeface="Times New Roman" panose="02020603050405020304" pitchFamily="18" charset="0"/>
                <a:cs typeface="Times New Roman" panose="02020603050405020304" pitchFamily="18" charset="0"/>
              </a:rPr>
              <a:t>fill_parent</a:t>
            </a:r>
            <a:r>
              <a:rPr lang="en-US" sz="2400">
                <a:latin typeface="Times New Roman" panose="02020603050405020304" pitchFamily="18" charset="0"/>
                <a:cs typeface="Times New Roman" panose="02020603050405020304" pitchFamily="18" charset="0"/>
              </a:rPr>
              <a:t>″ android:orientation</a:t>
            </a:r>
            <a:r>
              <a:rPr lang="en-US" sz="2400" smtClean="0">
                <a:latin typeface="Times New Roman" panose="02020603050405020304" pitchFamily="18" charset="0"/>
                <a:cs typeface="Times New Roman" panose="02020603050405020304" pitchFamily="18" charset="0"/>
              </a:rPr>
              <a:t>=″vertical</a:t>
            </a:r>
            <a:r>
              <a:rPr lang="en-US" sz="2400">
                <a:latin typeface="Times New Roman" panose="02020603050405020304" pitchFamily="18" charset="0"/>
                <a:cs typeface="Times New Roman" panose="02020603050405020304" pitchFamily="18" charset="0"/>
              </a:rPr>
              <a:t>″ xmlns:android=″</a:t>
            </a:r>
            <a:r>
              <a:rPr lang="en-US" sz="2400" smtClean="0">
                <a:latin typeface="Times New Roman" panose="02020603050405020304" pitchFamily="18" charset="0"/>
                <a:cs typeface="Times New Roman" panose="02020603050405020304" pitchFamily="18" charset="0"/>
                <a:hlinkClick r:id="rId3"/>
              </a:rPr>
              <a:t>http</a:t>
            </a:r>
            <a:r>
              <a:rPr lang="en-US" sz="2400">
                <a:latin typeface="Times New Roman" panose="02020603050405020304" pitchFamily="18" charset="0"/>
                <a:cs typeface="Times New Roman" panose="02020603050405020304" pitchFamily="18" charset="0"/>
                <a:hlinkClick r:id="rId3"/>
              </a:rPr>
              <a:t>://</a:t>
            </a:r>
            <a:r>
              <a:rPr lang="en-US" sz="2400" smtClean="0">
                <a:latin typeface="Times New Roman" panose="02020603050405020304" pitchFamily="18" charset="0"/>
                <a:cs typeface="Times New Roman" panose="02020603050405020304" pitchFamily="18" charset="0"/>
                <a:hlinkClick r:id="rId3"/>
              </a:rPr>
              <a:t>schemas.android.com/apk/res/android</a:t>
            </a:r>
            <a:r>
              <a:rPr lang="en-US" sz="2400">
                <a:latin typeface="Times New Roman" panose="02020603050405020304" pitchFamily="18" charset="0"/>
                <a:cs typeface="Times New Roman" panose="02020603050405020304" pitchFamily="18" charset="0"/>
              </a:rPr>
              <a:t>″&gt;</a:t>
            </a:r>
          </a:p>
          <a:p>
            <a:pPr lvl="1"/>
            <a:r>
              <a:rPr lang="en-US" sz="2400">
                <a:latin typeface="Times New Roman" panose="02020603050405020304" pitchFamily="18" charset="0"/>
                <a:cs typeface="Times New Roman" panose="02020603050405020304" pitchFamily="18" charset="0"/>
              </a:rPr>
              <a:t>&lt;</a:t>
            </a:r>
            <a:r>
              <a:rPr lang="en-US" sz="2400" b="1">
                <a:solidFill>
                  <a:srgbClr val="FF0000"/>
                </a:solidFill>
                <a:latin typeface="Times New Roman" panose="02020603050405020304" pitchFamily="18" charset="0"/>
                <a:cs typeface="Times New Roman" panose="02020603050405020304" pitchFamily="18" charset="0"/>
              </a:rPr>
              <a:t>ImageView</a:t>
            </a:r>
            <a:r>
              <a:rPr lang="en-US" sz="2400">
                <a:solidFill>
                  <a:srgbClr val="FF0000"/>
                </a:solidFill>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android:layout_height=″</a:t>
            </a:r>
            <a:r>
              <a:rPr lang="en-US" sz="2400" smtClean="0">
                <a:latin typeface="Times New Roman" panose="02020603050405020304" pitchFamily="18" charset="0"/>
                <a:cs typeface="Times New Roman" panose="02020603050405020304" pitchFamily="18" charset="0"/>
              </a:rPr>
              <a:t>wrap_content</a:t>
            </a:r>
            <a:r>
              <a:rPr lang="en-US" sz="2400">
                <a:latin typeface="Times New Roman" panose="02020603050405020304" pitchFamily="18" charset="0"/>
                <a:cs typeface="Times New Roman" panose="02020603050405020304" pitchFamily="18" charset="0"/>
              </a:rPr>
              <a:t>″ android:layout_width=″</a:t>
            </a:r>
            <a:r>
              <a:rPr lang="en-US" sz="2400" smtClean="0">
                <a:latin typeface="Times New Roman" panose="02020603050405020304" pitchFamily="18" charset="0"/>
                <a:cs typeface="Times New Roman" panose="02020603050405020304" pitchFamily="18" charset="0"/>
              </a:rPr>
              <a:t>wrap_content</a:t>
            </a:r>
            <a:r>
              <a:rPr lang="en-US" sz="2400">
                <a:latin typeface="Times New Roman" panose="02020603050405020304" pitchFamily="18" charset="0"/>
                <a:cs typeface="Times New Roman" panose="02020603050405020304" pitchFamily="18" charset="0"/>
              </a:rPr>
              <a:t>″ android:padding=″</a:t>
            </a:r>
            <a:r>
              <a:rPr lang="en-US" sz="2400" smtClean="0">
                <a:latin typeface="Times New Roman" panose="02020603050405020304" pitchFamily="18" charset="0"/>
                <a:cs typeface="Times New Roman" panose="02020603050405020304" pitchFamily="18" charset="0"/>
              </a:rPr>
              <a:t>5px</a:t>
            </a:r>
            <a:r>
              <a:rPr lang="en-US" sz="2400">
                <a:latin typeface="Times New Roman" panose="02020603050405020304" pitchFamily="18" charset="0"/>
                <a:cs typeface="Times New Roman" panose="02020603050405020304" pitchFamily="18" charset="0"/>
              </a:rPr>
              <a:t>″ android:src=″@</a:t>
            </a:r>
            <a:r>
              <a:rPr lang="en-US" sz="2400" smtClean="0">
                <a:latin typeface="Times New Roman" panose="02020603050405020304" pitchFamily="18" charset="0"/>
                <a:cs typeface="Times New Roman" panose="02020603050405020304" pitchFamily="18" charset="0"/>
              </a:rPr>
              <a:t>drawable/</a:t>
            </a:r>
            <a:r>
              <a:rPr lang="en-US" sz="2400" b="1" smtClean="0">
                <a:solidFill>
                  <a:srgbClr val="333399"/>
                </a:solidFill>
                <a:latin typeface="Times New Roman" panose="02020603050405020304" pitchFamily="18" charset="0"/>
                <a:cs typeface="Times New Roman" panose="02020603050405020304" pitchFamily="18" charset="0"/>
              </a:rPr>
              <a:t>blue</a:t>
            </a:r>
            <a:r>
              <a:rPr lang="en-US" sz="2400">
                <a:latin typeface="Times New Roman" panose="02020603050405020304" pitchFamily="18" charset="0"/>
                <a:cs typeface="Times New Roman" panose="02020603050405020304" pitchFamily="18" charset="0"/>
              </a:rPr>
              <a:t>″/&gt;</a:t>
            </a:r>
          </a:p>
          <a:p>
            <a:pPr lvl="1"/>
            <a:r>
              <a:rPr lang="en-US" sz="2400">
                <a:latin typeface="Times New Roman" panose="02020603050405020304" pitchFamily="18" charset="0"/>
                <a:cs typeface="Times New Roman" panose="02020603050405020304" pitchFamily="18" charset="0"/>
              </a:rPr>
              <a:t>&lt;</a:t>
            </a:r>
            <a:r>
              <a:rPr lang="en-US" sz="2400" b="1">
                <a:solidFill>
                  <a:srgbClr val="FF0000"/>
                </a:solidFill>
                <a:latin typeface="Times New Roman" panose="02020603050405020304" pitchFamily="18" charset="0"/>
                <a:cs typeface="Times New Roman" panose="02020603050405020304" pitchFamily="18" charset="0"/>
              </a:rPr>
              <a:t>ImageView</a:t>
            </a:r>
            <a:r>
              <a:rPr lang="en-US" sz="2400">
                <a:solidFill>
                  <a:srgbClr val="FF0000"/>
                </a:solidFill>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android:layout_height=″</a:t>
            </a:r>
            <a:r>
              <a:rPr lang="en-US" sz="2400" smtClean="0">
                <a:latin typeface="Times New Roman" panose="02020603050405020304" pitchFamily="18" charset="0"/>
                <a:cs typeface="Times New Roman" panose="02020603050405020304" pitchFamily="18" charset="0"/>
              </a:rPr>
              <a:t>wrap_content</a:t>
            </a:r>
            <a:r>
              <a:rPr lang="en-US" sz="2400">
                <a:latin typeface="Times New Roman" panose="02020603050405020304" pitchFamily="18" charset="0"/>
                <a:cs typeface="Times New Roman" panose="02020603050405020304" pitchFamily="18" charset="0"/>
              </a:rPr>
              <a:t>″ android:layout_width=″</a:t>
            </a:r>
            <a:r>
              <a:rPr lang="en-US" sz="2400" smtClean="0">
                <a:latin typeface="Times New Roman" panose="02020603050405020304" pitchFamily="18" charset="0"/>
                <a:cs typeface="Times New Roman" panose="02020603050405020304" pitchFamily="18" charset="0"/>
              </a:rPr>
              <a:t>wrap_content</a:t>
            </a:r>
            <a:r>
              <a:rPr lang="en-US" sz="2400">
                <a:latin typeface="Times New Roman" panose="02020603050405020304" pitchFamily="18" charset="0"/>
                <a:cs typeface="Times New Roman" panose="02020603050405020304" pitchFamily="18" charset="0"/>
              </a:rPr>
              <a:t>″ android:padding=″</a:t>
            </a:r>
            <a:r>
              <a:rPr lang="en-US" sz="2400" smtClean="0">
                <a:latin typeface="Times New Roman" panose="02020603050405020304" pitchFamily="18" charset="0"/>
                <a:cs typeface="Times New Roman" panose="02020603050405020304" pitchFamily="18" charset="0"/>
              </a:rPr>
              <a:t>5px</a:t>
            </a:r>
            <a:r>
              <a:rPr lang="en-US" sz="2400">
                <a:latin typeface="Times New Roman" panose="02020603050405020304" pitchFamily="18" charset="0"/>
                <a:cs typeface="Times New Roman" panose="02020603050405020304" pitchFamily="18" charset="0"/>
              </a:rPr>
              <a:t>″ android:src=″@drawable/</a:t>
            </a:r>
            <a:r>
              <a:rPr lang="en-US" sz="2400" smtClean="0">
                <a:solidFill>
                  <a:srgbClr val="FF0000"/>
                </a:solidFill>
                <a:latin typeface="Times New Roman" panose="02020603050405020304" pitchFamily="18" charset="0"/>
                <a:cs typeface="Times New Roman" panose="02020603050405020304" pitchFamily="18" charset="0"/>
              </a:rPr>
              <a:t>red</a:t>
            </a:r>
            <a:r>
              <a:rPr lang="en-US" sz="2400">
                <a:latin typeface="Times New Roman" panose="02020603050405020304" pitchFamily="18" charset="0"/>
                <a:cs typeface="Times New Roman" panose="02020603050405020304" pitchFamily="18" charset="0"/>
              </a:rPr>
              <a:t>″/&gt;</a:t>
            </a:r>
          </a:p>
          <a:p>
            <a:r>
              <a:rPr lang="en-US" sz="2400">
                <a:latin typeface="Times New Roman" panose="02020603050405020304" pitchFamily="18" charset="0"/>
                <a:cs typeface="Times New Roman" panose="02020603050405020304" pitchFamily="18" charset="0"/>
              </a:rPr>
              <a:t>&lt;/</a:t>
            </a:r>
            <a:r>
              <a:rPr lang="en-US" sz="2400" b="1">
                <a:solidFill>
                  <a:srgbClr val="FF0000"/>
                </a:solidFill>
                <a:latin typeface="Times New Roman" panose="02020603050405020304" pitchFamily="18" charset="0"/>
                <a:cs typeface="Times New Roman" panose="02020603050405020304" pitchFamily="18" charset="0"/>
              </a:rPr>
              <a:t>FrameLayout</a:t>
            </a:r>
            <a:r>
              <a:rPr lang="en-US" sz="2400">
                <a:latin typeface="Times New Roman" panose="02020603050405020304" pitchFamily="18" charset="0"/>
                <a:cs typeface="Times New Roman" panose="02020603050405020304" pitchFamily="18" charset="0"/>
              </a:rPr>
              <a:t>&gt;</a:t>
            </a:r>
          </a:p>
        </p:txBody>
      </p:sp>
      <p:pic>
        <p:nvPicPr>
          <p:cNvPr id="26" name="Picture 2" descr="7_Layout_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78158" y="3509449"/>
            <a:ext cx="2000250" cy="2724151"/>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p:cNvSpPr/>
          <p:nvPr/>
        </p:nvSpPr>
        <p:spPr>
          <a:xfrm>
            <a:off x="1642711" y="5007961"/>
            <a:ext cx="7193862" cy="1200329"/>
          </a:xfrm>
          <a:prstGeom prst="rect">
            <a:avLst/>
          </a:prstGeom>
        </p:spPr>
        <p:txBody>
          <a:bodyPr wrap="square">
            <a:spAutoFit/>
          </a:bodyPr>
          <a:lstStyle/>
          <a:p>
            <a:pPr algn="just"/>
            <a:r>
              <a:rPr lang="en-US" sz="2400">
                <a:latin typeface="Cambria" panose="02040503050406030204" pitchFamily="18" charset="0"/>
              </a:rPr>
              <a:t>– You see, red and blue images are always "anchored" in the left corner of the screen. The red image inserted later will overlap the blue image.</a:t>
            </a:r>
          </a:p>
        </p:txBody>
      </p:sp>
    </p:spTree>
    <p:extLst>
      <p:ext uri="{BB962C8B-B14F-4D97-AF65-F5344CB8AC3E}">
        <p14:creationId xmlns:p14="http://schemas.microsoft.com/office/powerpoint/2010/main" val="4739860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grpSp>
        <p:nvGrpSpPr>
          <p:cNvPr id="19" name="Group 18"/>
          <p:cNvGrpSpPr/>
          <p:nvPr/>
        </p:nvGrpSpPr>
        <p:grpSpPr>
          <a:xfrm>
            <a:off x="320565" y="290786"/>
            <a:ext cx="4620576" cy="508000"/>
            <a:chOff x="789624" y="1191463"/>
            <a:chExt cx="4620576" cy="508000"/>
          </a:xfrm>
        </p:grpSpPr>
        <p:sp>
          <p:nvSpPr>
            <p:cNvPr id="20"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smtClean="0">
                  <a:latin typeface="Cambria" panose="02040503050406030204" pitchFamily="18" charset="0"/>
                </a:rPr>
                <a:t>2. Frame Layout</a:t>
              </a:r>
              <a:endParaRPr kumimoji="0" lang="en-US" sz="2400" b="1" i="0" u="none" strike="noStrike" kern="0" cap="none" spc="0" normalizeH="0" baseline="0" noProof="0" smtClean="0">
                <a:ln>
                  <a:noFill/>
                </a:ln>
                <a:solidFill>
                  <a:srgbClr val="000000"/>
                </a:solidFill>
                <a:effectLst/>
                <a:uLnTx/>
                <a:uFillTx/>
                <a:latin typeface="Cambria" panose="02040503050406030204" pitchFamily="18" charset="0"/>
              </a:endParaRPr>
            </a:p>
          </p:txBody>
        </p:sp>
        <p:grpSp>
          <p:nvGrpSpPr>
            <p:cNvPr id="21" name="Group 17"/>
            <p:cNvGrpSpPr>
              <a:grpSpLocks/>
            </p:cNvGrpSpPr>
            <p:nvPr/>
          </p:nvGrpSpPr>
          <p:grpSpPr bwMode="auto">
            <a:xfrm>
              <a:off x="789624" y="1295400"/>
              <a:ext cx="353376" cy="272472"/>
              <a:chOff x="1110" y="2656"/>
              <a:chExt cx="1549" cy="1351"/>
            </a:xfrm>
          </p:grpSpPr>
          <p:sp>
            <p:nvSpPr>
              <p:cNvPr id="22"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23"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24"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11" name="Picture 10"/>
          <p:cNvPicPr>
            <a:picLocks noChangeAspect="1"/>
          </p:cNvPicPr>
          <p:nvPr/>
        </p:nvPicPr>
        <p:blipFill>
          <a:blip r:embed="rId3"/>
          <a:stretch>
            <a:fillRect/>
          </a:stretch>
        </p:blipFill>
        <p:spPr>
          <a:xfrm>
            <a:off x="1836683" y="1000449"/>
            <a:ext cx="5170176" cy="5229558"/>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6301" y="1048407"/>
            <a:ext cx="2889983" cy="5105400"/>
          </a:xfrm>
          <a:prstGeom prst="rect">
            <a:avLst/>
          </a:prstGeom>
        </p:spPr>
      </p:pic>
    </p:spTree>
    <p:extLst>
      <p:ext uri="{BB962C8B-B14F-4D97-AF65-F5344CB8AC3E}">
        <p14:creationId xmlns:p14="http://schemas.microsoft.com/office/powerpoint/2010/main" val="12059894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4" name="Group 3"/>
          <p:cNvGrpSpPr/>
          <p:nvPr/>
        </p:nvGrpSpPr>
        <p:grpSpPr>
          <a:xfrm>
            <a:off x="304799" y="306551"/>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smtClean="0">
                  <a:latin typeface="Cambria" panose="02040503050406030204" pitchFamily="18" charset="0"/>
                </a:rPr>
                <a:t>3. Linear Layout</a:t>
              </a:r>
              <a:endParaRPr kumimoji="0" lang="en-US" sz="2400" b="1" i="0" u="none" strike="noStrike" kern="0" cap="none" spc="0" normalizeH="0" baseline="0" noProof="0" smtClean="0">
                <a:ln>
                  <a:noFill/>
                </a:ln>
                <a:solidFill>
                  <a:srgbClr val="000000"/>
                </a:solidFill>
                <a:effectLst/>
                <a:uLnTx/>
                <a:uFillTx/>
                <a:latin typeface="Cambria" panose="02040503050406030204" pitchFamily="18" charset="0"/>
              </a:endParaRP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0" name="Rectangle 7"/>
          <p:cNvSpPr txBox="1">
            <a:spLocks noChangeArrowheads="1"/>
          </p:cNvSpPr>
          <p:nvPr/>
        </p:nvSpPr>
        <p:spPr>
          <a:xfrm>
            <a:off x="449317" y="918488"/>
            <a:ext cx="11366938" cy="51847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gn="just"/>
            <a:r>
              <a:rPr lang="en-US" altLang="en-US" sz="2400">
                <a:latin typeface="Cambria" panose="02040503050406030204" pitchFamily="18" charset="0"/>
              </a:rPr>
              <a:t>Used in cases of building organizational layouts that display objects in a single direction (vertical or horizontal).</a:t>
            </a:r>
          </a:p>
          <a:p>
            <a:pPr lvl="1" algn="just"/>
            <a:r>
              <a:rPr lang="en-US" altLang="en-US" sz="2400">
                <a:latin typeface="Cambria" panose="02040503050406030204" pitchFamily="18" charset="0"/>
              </a:rPr>
              <a:t>The object defaults to the top left position on LinearLayout , you can use the Gravity property to reset the position.</a:t>
            </a:r>
            <a:endParaRPr lang="en-US" altLang="en-US" sz="2400" smtClean="0">
              <a:latin typeface="Cambria" panose="02040503050406030204" pitchFamily="18" charset="0"/>
            </a:endParaRPr>
          </a:p>
          <a:p>
            <a:pPr lvl="1" algn="just"/>
            <a:r>
              <a:rPr lang="en-US" altLang="en-US" sz="2400" smtClean="0">
                <a:latin typeface="Cambria" panose="02040503050406030204" pitchFamily="18" charset="0"/>
              </a:rPr>
              <a:t>Example:</a:t>
            </a:r>
          </a:p>
          <a:p>
            <a:pPr marL="406400" lvl="1" indent="0" algn="just">
              <a:buFont typeface="Wingdings" panose="05000000000000000000" pitchFamily="2" charset="2"/>
              <a:buNone/>
            </a:pPr>
            <a:r>
              <a:rPr lang="en-US" altLang="en-US" sz="2400" smtClean="0">
                <a:latin typeface="Cambria" panose="02040503050406030204" pitchFamily="18" charset="0"/>
              </a:rPr>
              <a:t>&lt;</a:t>
            </a:r>
            <a:r>
              <a:rPr lang="en-US" altLang="en-US" sz="2400" smtClean="0">
                <a:solidFill>
                  <a:srgbClr val="FF0000"/>
                </a:solidFill>
                <a:latin typeface="Cambria" panose="02040503050406030204" pitchFamily="18" charset="0"/>
              </a:rPr>
              <a:t>LinearLayout</a:t>
            </a:r>
            <a:r>
              <a:rPr lang="en-US" altLang="en-US" sz="2400" smtClean="0">
                <a:latin typeface="Cambria" panose="02040503050406030204" pitchFamily="18" charset="0"/>
              </a:rPr>
              <a:t>	  xmlns:android=</a:t>
            </a:r>
            <a:r>
              <a:rPr lang="en-US" altLang="en-US" sz="2400" i="1" smtClean="0">
                <a:latin typeface="Cambria" panose="02040503050406030204" pitchFamily="18" charset="0"/>
              </a:rPr>
              <a:t>"http://schemas.android.com/apk/res/android"</a:t>
            </a:r>
          </a:p>
          <a:p>
            <a:pPr marL="406400" lvl="1" indent="0" algn="just">
              <a:buFont typeface="Wingdings" panose="05000000000000000000" pitchFamily="2" charset="2"/>
              <a:buNone/>
            </a:pPr>
            <a:r>
              <a:rPr lang="en-US" altLang="en-US" sz="2400" smtClean="0">
                <a:latin typeface="Cambria" panose="02040503050406030204" pitchFamily="18" charset="0"/>
              </a:rPr>
              <a:t>    android:layout_width=</a:t>
            </a:r>
            <a:r>
              <a:rPr lang="en-US" altLang="en-US" sz="2400" i="1" smtClean="0">
                <a:latin typeface="Cambria" panose="02040503050406030204" pitchFamily="18" charset="0"/>
              </a:rPr>
              <a:t>"match_parent"</a:t>
            </a:r>
          </a:p>
          <a:p>
            <a:pPr marL="406400" lvl="1" indent="0" algn="just">
              <a:buFont typeface="Wingdings" panose="05000000000000000000" pitchFamily="2" charset="2"/>
              <a:buNone/>
            </a:pPr>
            <a:r>
              <a:rPr lang="en-US" altLang="en-US" sz="2400" smtClean="0">
                <a:latin typeface="Cambria" panose="02040503050406030204" pitchFamily="18" charset="0"/>
              </a:rPr>
              <a:t>    android:layout_height=</a:t>
            </a:r>
            <a:r>
              <a:rPr lang="en-US" altLang="en-US" sz="2400" i="1" smtClean="0">
                <a:latin typeface="Cambria" panose="02040503050406030204" pitchFamily="18" charset="0"/>
              </a:rPr>
              <a:t>"match_parent”</a:t>
            </a:r>
          </a:p>
          <a:p>
            <a:pPr marL="406400" lvl="1" indent="0" algn="just">
              <a:buFont typeface="Wingdings" panose="05000000000000000000" pitchFamily="2" charset="2"/>
              <a:buNone/>
            </a:pPr>
            <a:r>
              <a:rPr lang="en-US" altLang="en-US" sz="2400" i="1">
                <a:latin typeface="Cambria" panose="02040503050406030204" pitchFamily="18" charset="0"/>
              </a:rPr>
              <a:t> </a:t>
            </a:r>
            <a:r>
              <a:rPr lang="en-US" altLang="en-US" sz="2400" i="1" smtClean="0">
                <a:latin typeface="Cambria" panose="02040503050406030204" pitchFamily="18" charset="0"/>
              </a:rPr>
              <a:t>   </a:t>
            </a:r>
            <a:r>
              <a:rPr lang="en-US" altLang="en-US" sz="2400" smtClean="0">
                <a:latin typeface="Cambria" panose="02040503050406030204" pitchFamily="18" charset="0"/>
              </a:rPr>
              <a:t>android:</a:t>
            </a:r>
            <a:r>
              <a:rPr lang="en-US" altLang="en-US" sz="2400" smtClean="0">
                <a:solidFill>
                  <a:srgbClr val="FF0000"/>
                </a:solidFill>
                <a:latin typeface="Cambria" panose="02040503050406030204" pitchFamily="18" charset="0"/>
              </a:rPr>
              <a:t>orientation</a:t>
            </a:r>
            <a:r>
              <a:rPr lang="en-US" altLang="en-US" sz="2400" smtClean="0">
                <a:latin typeface="Cambria" panose="02040503050406030204" pitchFamily="18" charset="0"/>
              </a:rPr>
              <a:t>=“vertical”</a:t>
            </a:r>
            <a:r>
              <a:rPr lang="en-US" altLang="ja-JP" sz="2400" i="1" smtClean="0">
                <a:latin typeface="Cambria" panose="02040503050406030204" pitchFamily="18" charset="0"/>
              </a:rPr>
              <a:t> &gt;</a:t>
            </a:r>
            <a:r>
              <a:rPr lang="en-US" altLang="ja-JP" sz="2400" smtClean="0">
                <a:latin typeface="Cambria" panose="02040503050406030204" pitchFamily="18" charset="0"/>
              </a:rPr>
              <a:t> </a:t>
            </a:r>
          </a:p>
          <a:p>
            <a:pPr marL="406400" lvl="1" indent="0" algn="just">
              <a:buFont typeface="Wingdings" panose="05000000000000000000" pitchFamily="2" charset="2"/>
              <a:buNone/>
            </a:pPr>
            <a:r>
              <a:rPr lang="en-US" altLang="en-US" sz="2400" smtClean="0">
                <a:latin typeface="Cambria" panose="02040503050406030204" pitchFamily="18" charset="0"/>
              </a:rPr>
              <a:t>&lt;/</a:t>
            </a:r>
            <a:r>
              <a:rPr lang="en-US" altLang="en-US" sz="2400" smtClean="0">
                <a:solidFill>
                  <a:srgbClr val="FF0000"/>
                </a:solidFill>
                <a:latin typeface="Cambria" panose="02040503050406030204" pitchFamily="18" charset="0"/>
              </a:rPr>
              <a:t>LinearLayout</a:t>
            </a:r>
            <a:r>
              <a:rPr lang="en-US" altLang="en-US" sz="2400" smtClean="0">
                <a:latin typeface="Cambria" panose="02040503050406030204" pitchFamily="18" charset="0"/>
              </a:rPr>
              <a:t>&gt;</a:t>
            </a:r>
          </a:p>
          <a:p>
            <a:pPr lvl="1" algn="just"/>
            <a:endParaRPr lang="en-US" altLang="en-US" sz="2400" smtClean="0">
              <a:latin typeface="Cambria" panose="02040503050406030204" pitchFamily="18" charset="0"/>
            </a:endParaRPr>
          </a:p>
          <a:p>
            <a:pPr lvl="1" algn="just"/>
            <a:endParaRPr lang="en-US" altLang="en-US" sz="2400" smtClean="0">
              <a:latin typeface="Cambria" panose="02040503050406030204" pitchFamily="18" charset="0"/>
            </a:endParaRPr>
          </a:p>
          <a:p>
            <a:pPr lvl="1" algn="just"/>
            <a:endParaRPr lang="en-US" altLang="en-US" sz="2400" smtClean="0">
              <a:latin typeface="Cambria" panose="02040503050406030204" pitchFamily="18" charset="0"/>
            </a:endParaRPr>
          </a:p>
        </p:txBody>
      </p:sp>
    </p:spTree>
    <p:extLst>
      <p:ext uri="{BB962C8B-B14F-4D97-AF65-F5344CB8AC3E}">
        <p14:creationId xmlns:p14="http://schemas.microsoft.com/office/powerpoint/2010/main" val="7175587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4" name="Group 3"/>
          <p:cNvGrpSpPr/>
          <p:nvPr/>
        </p:nvGrpSpPr>
        <p:grpSpPr>
          <a:xfrm>
            <a:off x="296917" y="298669"/>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smtClean="0">
                  <a:latin typeface="Cambria" panose="02040503050406030204" pitchFamily="18" charset="0"/>
                </a:rPr>
                <a:t>3. Linear Layout</a:t>
              </a:r>
              <a:endParaRPr kumimoji="0" lang="en-US" sz="2400" b="1" i="0" u="none" strike="noStrike" kern="0" cap="none" spc="0" normalizeH="0" baseline="0" noProof="0" smtClean="0">
                <a:ln>
                  <a:noFill/>
                </a:ln>
                <a:solidFill>
                  <a:srgbClr val="000000"/>
                </a:solidFill>
                <a:effectLst/>
                <a:uLnTx/>
                <a:uFillTx/>
                <a:latin typeface="Cambria" panose="02040503050406030204" pitchFamily="18" charset="0"/>
              </a:endParaRP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10" name="Picture 2" descr="7_Layout_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063" y="972207"/>
            <a:ext cx="5111751" cy="240747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7531" y="1442544"/>
            <a:ext cx="2387249" cy="4217277"/>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02819" y="1442546"/>
            <a:ext cx="2422945" cy="4280338"/>
          </a:xfrm>
          <a:prstGeom prst="rect">
            <a:avLst/>
          </a:prstGeom>
        </p:spPr>
      </p:pic>
      <p:sp>
        <p:nvSpPr>
          <p:cNvPr id="13" name="TextBox 12"/>
          <p:cNvSpPr txBox="1"/>
          <p:nvPr/>
        </p:nvSpPr>
        <p:spPr>
          <a:xfrm>
            <a:off x="6831277" y="5784694"/>
            <a:ext cx="979755" cy="369332"/>
          </a:xfrm>
          <a:prstGeom prst="rect">
            <a:avLst/>
          </a:prstGeom>
          <a:noFill/>
        </p:spPr>
        <p:txBody>
          <a:bodyPr wrap="none" rtlCol="0">
            <a:spAutoFit/>
          </a:bodyPr>
          <a:lstStyle/>
          <a:p>
            <a:r>
              <a:rPr lang="en-US"/>
              <a:t>Vertical</a:t>
            </a:r>
          </a:p>
        </p:txBody>
      </p:sp>
      <p:sp>
        <p:nvSpPr>
          <p:cNvPr id="14" name="TextBox 13"/>
          <p:cNvSpPr txBox="1"/>
          <p:nvPr/>
        </p:nvSpPr>
        <p:spPr>
          <a:xfrm>
            <a:off x="9690539" y="5784694"/>
            <a:ext cx="1285929" cy="369332"/>
          </a:xfrm>
          <a:prstGeom prst="rect">
            <a:avLst/>
          </a:prstGeom>
          <a:noFill/>
        </p:spPr>
        <p:txBody>
          <a:bodyPr wrap="none" rtlCol="0">
            <a:spAutoFit/>
          </a:bodyPr>
          <a:lstStyle/>
          <a:p>
            <a:r>
              <a:rPr lang="en-US"/>
              <a:t>Horizontal</a:t>
            </a:r>
          </a:p>
        </p:txBody>
      </p:sp>
    </p:spTree>
    <p:extLst>
      <p:ext uri="{BB962C8B-B14F-4D97-AF65-F5344CB8AC3E}">
        <p14:creationId xmlns:p14="http://schemas.microsoft.com/office/powerpoint/2010/main" val="6229601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4" name="Group 3"/>
          <p:cNvGrpSpPr/>
          <p:nvPr/>
        </p:nvGrpSpPr>
        <p:grpSpPr>
          <a:xfrm>
            <a:off x="281152" y="298669"/>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3. Linear 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12" name="Picture 11"/>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86572" y="1627526"/>
            <a:ext cx="6502400" cy="3816350"/>
          </a:xfrm>
          <a:prstGeom prst="rect">
            <a:avLst/>
          </a:prstGeom>
        </p:spPr>
      </p:pic>
      <p:sp>
        <p:nvSpPr>
          <p:cNvPr id="13" name="Rectangle 12"/>
          <p:cNvSpPr/>
          <p:nvPr/>
        </p:nvSpPr>
        <p:spPr>
          <a:xfrm>
            <a:off x="710727" y="1001654"/>
            <a:ext cx="10790217" cy="430887"/>
          </a:xfrm>
          <a:prstGeom prst="rect">
            <a:avLst/>
          </a:prstGeom>
        </p:spPr>
        <p:txBody>
          <a:bodyPr wrap="square">
            <a:spAutoFit/>
          </a:bodyPr>
          <a:lstStyle/>
          <a:p>
            <a:pPr marL="342900" indent="-342900" algn="just">
              <a:spcBef>
                <a:spcPts val="600"/>
              </a:spcBef>
              <a:spcAft>
                <a:spcPts val="600"/>
              </a:spcAft>
              <a:buFont typeface="Wingdings" charset="2"/>
              <a:buChar char="ü"/>
            </a:pPr>
            <a:r>
              <a:rPr lang="en-US" sz="2200" i="1">
                <a:latin typeface="Cambria" charset="0"/>
                <a:ea typeface="Cambria" charset="0"/>
                <a:cs typeface="Cambria" charset="0"/>
              </a:rPr>
              <a:t>Some design support properties: margin, padding, gravity, weight, ...</a:t>
            </a:r>
          </a:p>
        </p:txBody>
      </p:sp>
    </p:spTree>
    <p:extLst>
      <p:ext uri="{BB962C8B-B14F-4D97-AF65-F5344CB8AC3E}">
        <p14:creationId xmlns:p14="http://schemas.microsoft.com/office/powerpoint/2010/main" val="3157021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4" name="Group 3"/>
          <p:cNvGrpSpPr/>
          <p:nvPr/>
        </p:nvGrpSpPr>
        <p:grpSpPr>
          <a:xfrm>
            <a:off x="194441" y="267138"/>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3. Linear 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11" name="Picture 2" descr="7_Layout_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9606" y="1569666"/>
            <a:ext cx="5905500" cy="413385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710727" y="1001654"/>
            <a:ext cx="10790217" cy="430887"/>
          </a:xfrm>
          <a:prstGeom prst="rect">
            <a:avLst/>
          </a:prstGeom>
        </p:spPr>
        <p:txBody>
          <a:bodyPr wrap="square">
            <a:spAutoFit/>
          </a:bodyPr>
          <a:lstStyle/>
          <a:p>
            <a:pPr marL="342900" indent="-342900" algn="just">
              <a:spcBef>
                <a:spcPts val="600"/>
              </a:spcBef>
              <a:spcAft>
                <a:spcPts val="600"/>
              </a:spcAft>
              <a:buFont typeface="Wingdings" charset="2"/>
              <a:buChar char="ü"/>
            </a:pPr>
            <a:r>
              <a:rPr lang="en-US" sz="2200" i="1">
                <a:latin typeface="Cambria" charset="0"/>
                <a:ea typeface="Cambria" charset="0"/>
                <a:cs typeface="Cambria" charset="0"/>
              </a:rPr>
              <a:t>Some design support properties: margin, padding, gravity, weight, ...</a:t>
            </a:r>
          </a:p>
        </p:txBody>
      </p:sp>
    </p:spTree>
    <p:extLst>
      <p:ext uri="{BB962C8B-B14F-4D97-AF65-F5344CB8AC3E}">
        <p14:creationId xmlns:p14="http://schemas.microsoft.com/office/powerpoint/2010/main" val="27499104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4" name="Group 3"/>
          <p:cNvGrpSpPr/>
          <p:nvPr/>
        </p:nvGrpSpPr>
        <p:grpSpPr>
          <a:xfrm>
            <a:off x="281152" y="298669"/>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3. Linear 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4" name="Rectangle 13"/>
          <p:cNvSpPr/>
          <p:nvPr/>
        </p:nvSpPr>
        <p:spPr>
          <a:xfrm>
            <a:off x="631562" y="1009537"/>
            <a:ext cx="8458200" cy="430887"/>
          </a:xfrm>
          <a:prstGeom prst="rect">
            <a:avLst/>
          </a:prstGeom>
        </p:spPr>
        <p:txBody>
          <a:bodyPr wrap="square">
            <a:spAutoFit/>
          </a:bodyPr>
          <a:lstStyle/>
          <a:p>
            <a:pPr marL="342900" indent="-342900" algn="just">
              <a:spcBef>
                <a:spcPts val="600"/>
              </a:spcBef>
              <a:spcAft>
                <a:spcPts val="600"/>
              </a:spcAft>
              <a:buFont typeface="Wingdings" charset="2"/>
              <a:buChar char="ü"/>
            </a:pPr>
            <a:r>
              <a:rPr lang="en-US" sz="2200" i="1">
                <a:latin typeface="Cambria" charset="0"/>
                <a:ea typeface="Cambria" charset="0"/>
                <a:cs typeface="Cambria" charset="0"/>
              </a:rPr>
              <a:t>Design support properties: margin, padding</a:t>
            </a:r>
          </a:p>
        </p:txBody>
      </p:sp>
      <p:sp>
        <p:nvSpPr>
          <p:cNvPr id="15" name="Rectangle 14"/>
          <p:cNvSpPr/>
          <p:nvPr/>
        </p:nvSpPr>
        <p:spPr>
          <a:xfrm>
            <a:off x="1164962" y="2130086"/>
            <a:ext cx="3810000" cy="1015663"/>
          </a:xfrm>
          <a:prstGeom prst="rect">
            <a:avLst/>
          </a:prstGeom>
        </p:spPr>
        <p:txBody>
          <a:bodyPr wrap="square">
            <a:spAutoFit/>
          </a:bodyPr>
          <a:lstStyle/>
          <a:p>
            <a:pPr algn="just"/>
            <a:r>
              <a:rPr lang="vi-VN" sz="2000">
                <a:latin typeface="Cambria" panose="02040503050406030204" pitchFamily="18" charset="0"/>
                <a:sym typeface="Wingdings"/>
              </a:rPr>
              <a:t> </a:t>
            </a:r>
            <a:r>
              <a:rPr lang="en-US" sz="2000">
                <a:latin typeface="Cambria" panose="02040503050406030204" pitchFamily="18" charset="0"/>
              </a:rPr>
              <a:t>Padding (internal spacing - distance between internal content and control border)</a:t>
            </a:r>
            <a:endParaRPr lang="en-US" sz="2000"/>
          </a:p>
        </p:txBody>
      </p:sp>
      <p:pic>
        <p:nvPicPr>
          <p:cNvPr id="16" name="Picture 15"/>
          <p:cNvPicPr>
            <a:picLocks noChangeAspect="1"/>
          </p:cNvPicPr>
          <p:nvPr/>
        </p:nvPicPr>
        <p:blipFill>
          <a:blip r:embed="rId3"/>
          <a:stretch>
            <a:fillRect/>
          </a:stretch>
        </p:blipFill>
        <p:spPr>
          <a:xfrm>
            <a:off x="5140062" y="1726324"/>
            <a:ext cx="4102100" cy="3098800"/>
          </a:xfrm>
          <a:prstGeom prst="rect">
            <a:avLst/>
          </a:prstGeom>
        </p:spPr>
      </p:pic>
      <p:sp>
        <p:nvSpPr>
          <p:cNvPr id="17" name="Rectangle 16"/>
          <p:cNvSpPr/>
          <p:nvPr/>
        </p:nvSpPr>
        <p:spPr>
          <a:xfrm>
            <a:off x="1152262" y="3580862"/>
            <a:ext cx="3822700" cy="1015663"/>
          </a:xfrm>
          <a:prstGeom prst="rect">
            <a:avLst/>
          </a:prstGeom>
        </p:spPr>
        <p:txBody>
          <a:bodyPr wrap="square">
            <a:spAutoFit/>
          </a:bodyPr>
          <a:lstStyle/>
          <a:p>
            <a:pPr algn="just"/>
            <a:r>
              <a:rPr lang="vi-VN" sz="2000">
                <a:latin typeface="Cambria" panose="02040503050406030204" pitchFamily="18" charset="0"/>
                <a:sym typeface="Wingdings"/>
              </a:rPr>
              <a:t> </a:t>
            </a:r>
            <a:r>
              <a:rPr lang="en-US" sz="2000">
                <a:latin typeface="Cambria" panose="02040503050406030204" pitchFamily="18" charset="0"/>
              </a:rPr>
              <a:t>Margin (external spacing – distance between one control and another)</a:t>
            </a:r>
            <a:endParaRPr lang="en-US" sz="2000"/>
          </a:p>
        </p:txBody>
      </p:sp>
      <p:sp>
        <p:nvSpPr>
          <p:cNvPr id="18" name="Rectangle 17"/>
          <p:cNvSpPr/>
          <p:nvPr/>
        </p:nvSpPr>
        <p:spPr>
          <a:xfrm>
            <a:off x="1393563" y="5155325"/>
            <a:ext cx="3344185" cy="430887"/>
          </a:xfrm>
          <a:prstGeom prst="rect">
            <a:avLst/>
          </a:prstGeom>
          <a:solidFill>
            <a:schemeClr val="tx1">
              <a:lumMod val="95000"/>
              <a:lumOff val="5000"/>
            </a:schemeClr>
          </a:solidFill>
        </p:spPr>
        <p:txBody>
          <a:bodyPr wrap="none">
            <a:spAutoFit/>
          </a:bodyPr>
          <a:lstStyle/>
          <a:p>
            <a:r>
              <a:rPr lang="en-US" sz="2200">
                <a:solidFill>
                  <a:srgbClr val="9876AA"/>
                </a:solidFill>
              </a:rPr>
              <a:t>android</a:t>
            </a:r>
            <a:r>
              <a:rPr lang="en-US" sz="2200">
                <a:solidFill>
                  <a:srgbClr val="BABABA"/>
                </a:solidFill>
              </a:rPr>
              <a:t>:padding</a:t>
            </a:r>
            <a:r>
              <a:rPr lang="en-US" sz="2200">
                <a:solidFill>
                  <a:srgbClr val="6A8759"/>
                </a:solidFill>
              </a:rPr>
              <a:t>="30dp"</a:t>
            </a:r>
            <a:endParaRPr lang="en-US" sz="2200"/>
          </a:p>
        </p:txBody>
      </p:sp>
      <p:sp>
        <p:nvSpPr>
          <p:cNvPr id="19" name="Rectangle 18"/>
          <p:cNvSpPr/>
          <p:nvPr/>
        </p:nvSpPr>
        <p:spPr>
          <a:xfrm>
            <a:off x="5064416" y="5155325"/>
            <a:ext cx="4177747" cy="430887"/>
          </a:xfrm>
          <a:prstGeom prst="rect">
            <a:avLst/>
          </a:prstGeom>
          <a:solidFill>
            <a:schemeClr val="tx1">
              <a:lumMod val="95000"/>
              <a:lumOff val="5000"/>
            </a:schemeClr>
          </a:solidFill>
        </p:spPr>
        <p:txBody>
          <a:bodyPr wrap="none">
            <a:spAutoFit/>
          </a:bodyPr>
          <a:lstStyle/>
          <a:p>
            <a:r>
              <a:rPr lang="en-US" sz="2200">
                <a:solidFill>
                  <a:srgbClr val="9876AA"/>
                </a:solidFill>
              </a:rPr>
              <a:t>android</a:t>
            </a:r>
            <a:r>
              <a:rPr lang="en-US" sz="2200">
                <a:solidFill>
                  <a:srgbClr val="BABABA"/>
                </a:solidFill>
              </a:rPr>
              <a:t>:layout_margin</a:t>
            </a:r>
            <a:r>
              <a:rPr lang="en-US" sz="2200">
                <a:solidFill>
                  <a:srgbClr val="6A8759"/>
                </a:solidFill>
              </a:rPr>
              <a:t>="30dp"</a:t>
            </a:r>
            <a:endParaRPr lang="en-US" sz="2200"/>
          </a:p>
        </p:txBody>
      </p:sp>
    </p:spTree>
    <p:extLst>
      <p:ext uri="{BB962C8B-B14F-4D97-AF65-F5344CB8AC3E}">
        <p14:creationId xmlns:p14="http://schemas.microsoft.com/office/powerpoint/2010/main" val="2816646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linds(horizontal)">
                                      <p:cBhvr>
                                        <p:cTn id="27" dur="500"/>
                                        <p:tgtEl>
                                          <p:spTgt spid="18"/>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blinds(horizontal)">
                                      <p:cBhvr>
                                        <p:cTn id="3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7" grpId="0"/>
      <p:bldP spid="18" grpId="0" animBg="1"/>
      <p:bldP spid="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3. Linear 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grpSp>
        <p:nvGrpSpPr>
          <p:cNvPr id="12" name="Group 11"/>
          <p:cNvGrpSpPr/>
          <p:nvPr/>
        </p:nvGrpSpPr>
        <p:grpSpPr>
          <a:xfrm>
            <a:off x="2102242" y="1744845"/>
            <a:ext cx="8077925" cy="3833520"/>
            <a:chOff x="822606" y="2286000"/>
            <a:chExt cx="8077925" cy="3833520"/>
          </a:xfrm>
        </p:grpSpPr>
        <p:grpSp>
          <p:nvGrpSpPr>
            <p:cNvPr id="13" name="Group 12"/>
            <p:cNvGrpSpPr/>
            <p:nvPr/>
          </p:nvGrpSpPr>
          <p:grpSpPr>
            <a:xfrm>
              <a:off x="822606" y="2286000"/>
              <a:ext cx="3977994" cy="2385720"/>
              <a:chOff x="746406" y="2057400"/>
              <a:chExt cx="3977994" cy="2385720"/>
            </a:xfrm>
          </p:grpSpPr>
          <p:pic>
            <p:nvPicPr>
              <p:cNvPr id="17" name="Picture 16"/>
              <p:cNvPicPr>
                <a:picLocks noChangeAspect="1"/>
              </p:cNvPicPr>
              <p:nvPr/>
            </p:nvPicPr>
            <p:blipFill>
              <a:blip r:embed="rId3"/>
              <a:stretch>
                <a:fillRect/>
              </a:stretch>
            </p:blipFill>
            <p:spPr>
              <a:xfrm>
                <a:off x="746406" y="2057400"/>
                <a:ext cx="3977994" cy="1890165"/>
              </a:xfrm>
              <a:prstGeom prst="rect">
                <a:avLst/>
              </a:prstGeom>
            </p:spPr>
          </p:pic>
          <p:sp>
            <p:nvSpPr>
              <p:cNvPr id="18" name="Rectangle 17"/>
              <p:cNvSpPr/>
              <p:nvPr/>
            </p:nvSpPr>
            <p:spPr>
              <a:xfrm>
                <a:off x="746406" y="4043010"/>
                <a:ext cx="3977994" cy="400110"/>
              </a:xfrm>
              <a:prstGeom prst="rect">
                <a:avLst/>
              </a:prstGeom>
              <a:solidFill>
                <a:schemeClr val="tx1">
                  <a:lumMod val="95000"/>
                  <a:lumOff val="5000"/>
                </a:schemeClr>
              </a:solidFill>
            </p:spPr>
            <p:txBody>
              <a:bodyPr wrap="square">
                <a:spAutoFit/>
              </a:bodyPr>
              <a:lstStyle/>
              <a:p>
                <a:r>
                  <a:rPr lang="en-US" sz="2000">
                    <a:solidFill>
                      <a:srgbClr val="9876AA"/>
                    </a:solidFill>
                  </a:rPr>
                  <a:t>android</a:t>
                </a:r>
                <a:r>
                  <a:rPr lang="en-US" sz="2000">
                    <a:solidFill>
                      <a:srgbClr val="BABABA"/>
                    </a:solidFill>
                  </a:rPr>
                  <a:t>:gravity</a:t>
                </a:r>
                <a:r>
                  <a:rPr lang="en-US" sz="2000">
                    <a:solidFill>
                      <a:srgbClr val="6A8759"/>
                    </a:solidFill>
                  </a:rPr>
                  <a:t>=“center”</a:t>
                </a:r>
                <a:endParaRPr lang="en-US" sz="2000"/>
              </a:p>
            </p:txBody>
          </p:sp>
        </p:grpSp>
        <p:grpSp>
          <p:nvGrpSpPr>
            <p:cNvPr id="14" name="Group 13"/>
            <p:cNvGrpSpPr/>
            <p:nvPr/>
          </p:nvGrpSpPr>
          <p:grpSpPr>
            <a:xfrm>
              <a:off x="4876800" y="3740345"/>
              <a:ext cx="4023731" cy="2379175"/>
              <a:chOff x="4495800" y="2745335"/>
              <a:chExt cx="4023731" cy="2379175"/>
            </a:xfrm>
          </p:grpSpPr>
          <p:pic>
            <p:nvPicPr>
              <p:cNvPr id="15" name="Picture 14"/>
              <p:cNvPicPr>
                <a:picLocks noChangeAspect="1"/>
              </p:cNvPicPr>
              <p:nvPr/>
            </p:nvPicPr>
            <p:blipFill>
              <a:blip r:embed="rId4"/>
              <a:stretch>
                <a:fillRect/>
              </a:stretch>
            </p:blipFill>
            <p:spPr>
              <a:xfrm>
                <a:off x="4555950" y="2745335"/>
                <a:ext cx="3963581" cy="1902519"/>
              </a:xfrm>
              <a:prstGeom prst="rect">
                <a:avLst/>
              </a:prstGeom>
            </p:spPr>
          </p:pic>
          <p:sp>
            <p:nvSpPr>
              <p:cNvPr id="16" name="Rectangle 15"/>
              <p:cNvSpPr/>
              <p:nvPr/>
            </p:nvSpPr>
            <p:spPr>
              <a:xfrm>
                <a:off x="4495800" y="4724400"/>
                <a:ext cx="3977994" cy="400110"/>
              </a:xfrm>
              <a:prstGeom prst="rect">
                <a:avLst/>
              </a:prstGeom>
              <a:solidFill>
                <a:schemeClr val="tx1">
                  <a:lumMod val="95000"/>
                  <a:lumOff val="5000"/>
                </a:schemeClr>
              </a:solidFill>
            </p:spPr>
            <p:txBody>
              <a:bodyPr wrap="square">
                <a:spAutoFit/>
              </a:bodyPr>
              <a:lstStyle/>
              <a:p>
                <a:r>
                  <a:rPr lang="en-US" sz="2000">
                    <a:solidFill>
                      <a:srgbClr val="9876AA"/>
                    </a:solidFill>
                  </a:rPr>
                  <a:t>android</a:t>
                </a:r>
                <a:r>
                  <a:rPr lang="en-US" sz="2000">
                    <a:solidFill>
                      <a:srgbClr val="BABABA"/>
                    </a:solidFill>
                  </a:rPr>
                  <a:t>:layout_gravity</a:t>
                </a:r>
                <a:r>
                  <a:rPr lang="en-US" sz="2000">
                    <a:solidFill>
                      <a:srgbClr val="6A8759"/>
                    </a:solidFill>
                  </a:rPr>
                  <a:t>=“center”</a:t>
                </a:r>
                <a:endParaRPr lang="en-US" sz="2000"/>
              </a:p>
            </p:txBody>
          </p:sp>
        </p:grpSp>
      </p:grpSp>
      <p:sp>
        <p:nvSpPr>
          <p:cNvPr id="19" name="Rectangle 18"/>
          <p:cNvSpPr/>
          <p:nvPr/>
        </p:nvSpPr>
        <p:spPr>
          <a:xfrm>
            <a:off x="631562" y="1009537"/>
            <a:ext cx="8458200" cy="430887"/>
          </a:xfrm>
          <a:prstGeom prst="rect">
            <a:avLst/>
          </a:prstGeom>
        </p:spPr>
        <p:txBody>
          <a:bodyPr wrap="square">
            <a:spAutoFit/>
          </a:bodyPr>
          <a:lstStyle/>
          <a:p>
            <a:pPr marL="342900" indent="-342900" algn="just">
              <a:spcBef>
                <a:spcPts val="600"/>
              </a:spcBef>
              <a:spcAft>
                <a:spcPts val="600"/>
              </a:spcAft>
              <a:buFont typeface="Wingdings" charset="2"/>
              <a:buChar char="ü"/>
            </a:pPr>
            <a:r>
              <a:rPr lang="en-US" sz="2200" i="1">
                <a:latin typeface="Cambria" charset="0"/>
                <a:ea typeface="Cambria" charset="0"/>
                <a:cs typeface="Cambria" charset="0"/>
              </a:rPr>
              <a:t>Design support properties: gravity</a:t>
            </a:r>
          </a:p>
        </p:txBody>
      </p:sp>
    </p:spTree>
    <p:extLst>
      <p:ext uri="{BB962C8B-B14F-4D97-AF65-F5344CB8AC3E}">
        <p14:creationId xmlns:p14="http://schemas.microsoft.com/office/powerpoint/2010/main" val="405553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3. Linear 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20" name="Rectangle 19"/>
          <p:cNvSpPr/>
          <p:nvPr/>
        </p:nvSpPr>
        <p:spPr>
          <a:xfrm>
            <a:off x="993228" y="970123"/>
            <a:ext cx="8458200" cy="430887"/>
          </a:xfrm>
          <a:prstGeom prst="rect">
            <a:avLst/>
          </a:prstGeom>
        </p:spPr>
        <p:txBody>
          <a:bodyPr wrap="square">
            <a:spAutoFit/>
          </a:bodyPr>
          <a:lstStyle/>
          <a:p>
            <a:pPr marL="342900" indent="-342900" algn="just">
              <a:spcBef>
                <a:spcPts val="600"/>
              </a:spcBef>
              <a:spcAft>
                <a:spcPts val="600"/>
              </a:spcAft>
              <a:buClrTx/>
              <a:buFont typeface="Wingdings" charset="2"/>
              <a:buChar char="ü"/>
            </a:pPr>
            <a:r>
              <a:rPr lang="en-US" sz="2200" i="1">
                <a:latin typeface="Cambria" charset="0"/>
                <a:ea typeface="Cambria" charset="0"/>
                <a:cs typeface="Cambria" charset="0"/>
              </a:rPr>
              <a:t>Design support </a:t>
            </a:r>
            <a:r>
              <a:rPr lang="en-US" sz="2200" i="1" smtClean="0">
                <a:latin typeface="Cambria" charset="0"/>
                <a:ea typeface="Cambria" charset="0"/>
                <a:cs typeface="Cambria" charset="0"/>
              </a:rPr>
              <a:t>properties</a:t>
            </a:r>
            <a:r>
              <a:rPr lang="en-US" sz="2200" i="1" kern="1200" smtClean="0">
                <a:solidFill>
                  <a:prstClr val="black"/>
                </a:solidFill>
                <a:latin typeface="Cambria" charset="0"/>
                <a:ea typeface="Cambria" charset="0"/>
                <a:cs typeface="Cambria" charset="0"/>
              </a:rPr>
              <a:t>: </a:t>
            </a:r>
            <a:r>
              <a:rPr lang="en-US" sz="2200" i="1" kern="1200">
                <a:solidFill>
                  <a:prstClr val="black"/>
                </a:solidFill>
                <a:latin typeface="Cambria" charset="0"/>
                <a:ea typeface="Cambria" charset="0"/>
                <a:cs typeface="Cambria" charset="0"/>
              </a:rPr>
              <a:t>weight</a:t>
            </a:r>
          </a:p>
        </p:txBody>
      </p:sp>
      <p:pic>
        <p:nvPicPr>
          <p:cNvPr id="21" name="Picture 20"/>
          <p:cNvPicPr>
            <a:picLocks noChangeAspect="1"/>
          </p:cNvPicPr>
          <p:nvPr/>
        </p:nvPicPr>
        <p:blipFill>
          <a:blip r:embed="rId3"/>
          <a:stretch>
            <a:fillRect/>
          </a:stretch>
        </p:blipFill>
        <p:spPr>
          <a:xfrm>
            <a:off x="1298028" y="1598010"/>
            <a:ext cx="4140200" cy="1993900"/>
          </a:xfrm>
          <a:prstGeom prst="rect">
            <a:avLst/>
          </a:prstGeom>
        </p:spPr>
      </p:pic>
      <p:pic>
        <p:nvPicPr>
          <p:cNvPr id="22" name="Picture 21"/>
          <p:cNvPicPr>
            <a:picLocks noChangeAspect="1"/>
          </p:cNvPicPr>
          <p:nvPr/>
        </p:nvPicPr>
        <p:blipFill>
          <a:blip r:embed="rId4"/>
          <a:stretch>
            <a:fillRect/>
          </a:stretch>
        </p:blipFill>
        <p:spPr>
          <a:xfrm>
            <a:off x="5336628" y="3820511"/>
            <a:ext cx="4114800" cy="2019300"/>
          </a:xfrm>
          <a:prstGeom prst="rect">
            <a:avLst/>
          </a:prstGeom>
        </p:spPr>
      </p:pic>
      <p:sp>
        <p:nvSpPr>
          <p:cNvPr id="23" name="Curved Left Arrow 22"/>
          <p:cNvSpPr/>
          <p:nvPr/>
        </p:nvSpPr>
        <p:spPr>
          <a:xfrm rot="19854017">
            <a:off x="5783606" y="2717633"/>
            <a:ext cx="381000" cy="996950"/>
          </a:xfrm>
          <a:prstGeom prst="curvedLeftArrow">
            <a:avLst/>
          </a:prstGeom>
          <a:gradFill rotWithShape="1">
            <a:gsLst>
              <a:gs pos="0">
                <a:srgbClr val="009DD9">
                  <a:tint val="43000"/>
                  <a:satMod val="165000"/>
                </a:srgbClr>
              </a:gs>
              <a:gs pos="55000">
                <a:srgbClr val="009DD9">
                  <a:tint val="83000"/>
                  <a:satMod val="155000"/>
                </a:srgbClr>
              </a:gs>
              <a:gs pos="100000">
                <a:srgbClr val="009DD9">
                  <a:shade val="85000"/>
                </a:srgb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rgbClr val="009DD9">
                <a:satMod val="115000"/>
              </a:srgbClr>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black"/>
              </a:solidFill>
              <a:effectLst/>
              <a:uLnTx/>
              <a:uFillTx/>
              <a:latin typeface="Georgia"/>
              <a:ea typeface="+mn-ea"/>
              <a:cs typeface="+mn-cs"/>
            </a:endParaRPr>
          </a:p>
        </p:txBody>
      </p:sp>
      <p:sp>
        <p:nvSpPr>
          <p:cNvPr id="24" name="Rectangle 23"/>
          <p:cNvSpPr/>
          <p:nvPr/>
        </p:nvSpPr>
        <p:spPr>
          <a:xfrm>
            <a:off x="5565228" y="2246624"/>
            <a:ext cx="3591048" cy="430887"/>
          </a:xfrm>
          <a:prstGeom prst="rect">
            <a:avLst/>
          </a:prstGeom>
          <a:solidFill>
            <a:sysClr val="windowText" lastClr="000000">
              <a:lumMod val="95000"/>
              <a:lumOff val="5000"/>
            </a:sysClr>
          </a:solid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2200" b="0" i="0" u="none" strike="noStrike" kern="1200" cap="none" spc="0" normalizeH="0" baseline="0" noProof="0" smtClean="0">
                <a:ln>
                  <a:noFill/>
                </a:ln>
                <a:solidFill>
                  <a:srgbClr val="BABABA"/>
                </a:solidFill>
                <a:effectLst/>
                <a:uLnTx/>
                <a:uFillTx/>
                <a:latin typeface="Georgia"/>
                <a:ea typeface="+mn-ea"/>
                <a:cs typeface="+mn-cs"/>
              </a:rPr>
              <a:t>:layout_weight</a:t>
            </a:r>
            <a:r>
              <a:rPr kumimoji="0" lang="en-US" sz="2200" b="0" i="0" u="none" strike="noStrike" kern="1200" cap="none" spc="0" normalizeH="0" baseline="0" noProof="0" smtClean="0">
                <a:ln>
                  <a:noFill/>
                </a:ln>
                <a:solidFill>
                  <a:srgbClr val="6A8759"/>
                </a:solidFill>
                <a:effectLst/>
                <a:uLnTx/>
                <a:uFillTx/>
                <a:latin typeface="Georgia"/>
                <a:ea typeface="+mn-ea"/>
                <a:cs typeface="+mn-cs"/>
              </a:rPr>
              <a:t>=“1”</a:t>
            </a:r>
            <a:endParaRPr kumimoji="0" lang="en-US" sz="2200" b="0" i="0" u="none" strike="noStrike" kern="1200" cap="none" spc="0" normalizeH="0" baseline="0" noProof="0" smtClean="0">
              <a:ln>
                <a:noFill/>
              </a:ln>
              <a:solidFill>
                <a:prstClr val="black"/>
              </a:solidFill>
              <a:effectLst/>
              <a:uLnTx/>
              <a:uFillTx/>
              <a:latin typeface="Georgia"/>
              <a:ea typeface="+mn-ea"/>
              <a:cs typeface="+mn-cs"/>
            </a:endParaRPr>
          </a:p>
        </p:txBody>
      </p:sp>
      <p:sp>
        <p:nvSpPr>
          <p:cNvPr id="25" name="Rectangle 24"/>
          <p:cNvSpPr/>
          <p:nvPr/>
        </p:nvSpPr>
        <p:spPr>
          <a:xfrm>
            <a:off x="1298028" y="3820511"/>
            <a:ext cx="3505200" cy="1323439"/>
          </a:xfrm>
          <a:prstGeom prst="rect">
            <a:avLst/>
          </a:prstGeom>
        </p:spPr>
        <p:txBody>
          <a:bodyPr wrap="square">
            <a:spAutoFit/>
          </a:bodyPr>
          <a:lstStyle/>
          <a:p>
            <a:pPr algn="just">
              <a:buClrTx/>
              <a:buFontTx/>
              <a:buNone/>
            </a:pPr>
            <a:r>
              <a:rPr lang="vi-VN" sz="2000" kern="1200">
                <a:solidFill>
                  <a:prstClr val="black"/>
                </a:solidFill>
                <a:latin typeface="Cambria" panose="02040503050406030204" pitchFamily="18" charset="0"/>
                <a:ea typeface="+mn-ea"/>
                <a:cs typeface="+mn-cs"/>
                <a:sym typeface="Wingdings"/>
              </a:rPr>
              <a:t> </a:t>
            </a:r>
            <a:r>
              <a:rPr lang="en-US" sz="2000" kern="1200">
                <a:solidFill>
                  <a:prstClr val="black"/>
                </a:solidFill>
                <a:latin typeface="Cambria" panose="02040503050406030204" pitchFamily="18" charset="0"/>
                <a:ea typeface="+mn-ea"/>
                <a:cs typeface="+mn-cs"/>
                <a:sym typeface="Wingdings"/>
              </a:rPr>
              <a:t>The “layout_weight” attribute helps divide the display ratio of the views evenly.</a:t>
            </a:r>
            <a:endParaRPr lang="en-US" sz="2000" kern="1200">
              <a:solidFill>
                <a:prstClr val="black"/>
              </a:solidFill>
              <a:latin typeface="Georgia"/>
              <a:ea typeface="+mn-ea"/>
              <a:cs typeface="+mn-cs"/>
            </a:endParaRPr>
          </a:p>
        </p:txBody>
      </p:sp>
    </p:spTree>
    <p:extLst>
      <p:ext uri="{BB962C8B-B14F-4D97-AF65-F5344CB8AC3E}">
        <p14:creationId xmlns:p14="http://schemas.microsoft.com/office/powerpoint/2010/main" val="502992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linds(horizontal)">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blinds(horizontal)">
                                      <p:cBhvr>
                                        <p:cTn id="17" dur="500"/>
                                        <p:tgtEl>
                                          <p:spTgt spid="22"/>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blinds(horizontal)">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blinds(horizontal)">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4. Table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6"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ts val="600"/>
              </a:spcBef>
              <a:spcAft>
                <a:spcPts val="600"/>
              </a:spcAft>
              <a:buFont typeface="Wingdings" charset="2"/>
              <a:buChar char="ü"/>
            </a:pPr>
            <a:r>
              <a:rPr lang="en-US" sz="2800" i="1">
                <a:latin typeface="Cambria" panose="02040503050406030204" pitchFamily="18" charset="0"/>
              </a:rPr>
              <a:t>TableLayout inherits from LinearLayout, allowing objects to be displayed in tabular form. The TableRow view object represents each row, inside the TableRow contains child Views, each child View is located in a table cell (cell).</a:t>
            </a:r>
          </a:p>
          <a:p>
            <a:pPr algn="just">
              <a:spcBef>
                <a:spcPts val="600"/>
              </a:spcBef>
              <a:spcAft>
                <a:spcPts val="600"/>
              </a:spcAft>
              <a:buFont typeface="Wingdings" charset="2"/>
              <a:buChar char="ü"/>
            </a:pPr>
            <a:r>
              <a:rPr lang="en-US" sz="2800" i="1">
                <a:latin typeface="Cambria" panose="02040503050406030204" pitchFamily="18" charset="0"/>
              </a:rPr>
              <a:t>Columns / rows in TableLayout count from position 0.</a:t>
            </a:r>
          </a:p>
          <a:p>
            <a:pPr algn="just">
              <a:spcBef>
                <a:spcPts val="600"/>
              </a:spcBef>
              <a:spcAft>
                <a:spcPts val="600"/>
              </a:spcAft>
              <a:buFont typeface="Wingdings" charset="2"/>
              <a:buChar char="ü"/>
            </a:pPr>
            <a:r>
              <a:rPr lang="en-US" sz="2800" i="1">
                <a:latin typeface="Cambria" panose="02040503050406030204" pitchFamily="18" charset="0"/>
              </a:rPr>
              <a:t>TableLayout will see which row has the most views to determine how many columns it has.</a:t>
            </a:r>
            <a:endParaRPr lang="en-US" sz="2800" i="1">
              <a:latin typeface="Cambria" charset="0"/>
              <a:ea typeface="Cambria" charset="0"/>
              <a:cs typeface="Cambria" charset="0"/>
            </a:endParaRPr>
          </a:p>
        </p:txBody>
      </p:sp>
    </p:spTree>
    <p:extLst>
      <p:ext uri="{BB962C8B-B14F-4D97-AF65-F5344CB8AC3E}">
        <p14:creationId xmlns:p14="http://schemas.microsoft.com/office/powerpoint/2010/main" val="23028913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4. Table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2" name="Rectangle 1"/>
          <p:cNvSpPr/>
          <p:nvPr/>
        </p:nvSpPr>
        <p:spPr>
          <a:xfrm>
            <a:off x="801414" y="1015159"/>
            <a:ext cx="10108324" cy="3046988"/>
          </a:xfrm>
          <a:prstGeom prst="rect">
            <a:avLst/>
          </a:prstGeom>
        </p:spPr>
        <p:txBody>
          <a:bodyPr wrap="square">
            <a:spAutoFit/>
          </a:bodyPr>
          <a:lstStyle/>
          <a:p>
            <a:pPr lvl="0">
              <a:buClrTx/>
            </a:pPr>
            <a:r>
              <a:rPr lang="en-US" sz="2400" kern="1200">
                <a:solidFill>
                  <a:srgbClr val="002060"/>
                </a:solidFill>
                <a:latin typeface="Cambria" panose="02040503050406030204" pitchFamily="18" charset="0"/>
                <a:ea typeface="+mn-ea"/>
                <a:cs typeface="+mn-cs"/>
              </a:rPr>
              <a:t>&lt;TableLayout	    </a:t>
            </a:r>
          </a:p>
          <a:p>
            <a:pPr lvl="0">
              <a:buClrTx/>
            </a:pPr>
            <a:r>
              <a:rPr lang="en-US" sz="2400" kern="1200">
                <a:solidFill>
                  <a:srgbClr val="002060"/>
                </a:solidFill>
                <a:latin typeface="Cambria" panose="02040503050406030204" pitchFamily="18" charset="0"/>
                <a:ea typeface="+mn-ea"/>
                <a:cs typeface="+mn-cs"/>
              </a:rPr>
              <a:t>    </a:t>
            </a:r>
            <a:r>
              <a:rPr lang="en-US" sz="2200" kern="1200">
                <a:solidFill>
                  <a:srgbClr val="002060"/>
                </a:solidFill>
                <a:latin typeface="Cambria" panose="02040503050406030204" pitchFamily="18" charset="0"/>
                <a:ea typeface="+mn-ea"/>
                <a:cs typeface="+mn-cs"/>
              </a:rPr>
              <a:t>xmlns:android="http://schemas.android.com/apk/res/android"</a:t>
            </a:r>
          </a:p>
          <a:p>
            <a:pPr lvl="0">
              <a:buClrTx/>
            </a:pPr>
            <a:r>
              <a:rPr lang="en-US" sz="2400" kern="1200">
                <a:solidFill>
                  <a:srgbClr val="002060"/>
                </a:solidFill>
                <a:latin typeface="Cambria" panose="02040503050406030204" pitchFamily="18" charset="0"/>
                <a:ea typeface="+mn-ea"/>
                <a:cs typeface="+mn-cs"/>
              </a:rPr>
              <a:t>    android:layout_width="match_parent"</a:t>
            </a:r>
          </a:p>
          <a:p>
            <a:pPr lvl="0">
              <a:buClrTx/>
            </a:pPr>
            <a:r>
              <a:rPr lang="en-US" sz="2400" kern="1200">
                <a:solidFill>
                  <a:srgbClr val="002060"/>
                </a:solidFill>
                <a:latin typeface="Cambria" panose="02040503050406030204" pitchFamily="18" charset="0"/>
                <a:ea typeface="+mn-ea"/>
                <a:cs typeface="+mn-cs"/>
              </a:rPr>
              <a:t>    android:layout_height="match_parent” &gt; </a:t>
            </a:r>
          </a:p>
          <a:p>
            <a:pPr lvl="0">
              <a:buClrTx/>
            </a:pPr>
            <a:r>
              <a:rPr lang="en-US" sz="2400" kern="1200">
                <a:solidFill>
                  <a:srgbClr val="002060"/>
                </a:solidFill>
                <a:latin typeface="Cambria" panose="02040503050406030204" pitchFamily="18" charset="0"/>
                <a:ea typeface="+mn-ea"/>
                <a:cs typeface="+mn-cs"/>
              </a:rPr>
              <a:t>		&lt;Tablerow&gt;</a:t>
            </a:r>
          </a:p>
          <a:p>
            <a:pPr lvl="0">
              <a:buClrTx/>
            </a:pPr>
            <a:r>
              <a:rPr lang="en-US" sz="2400" kern="1200">
                <a:solidFill>
                  <a:srgbClr val="002060"/>
                </a:solidFill>
                <a:latin typeface="Cambria" panose="02040503050406030204" pitchFamily="18" charset="0"/>
                <a:ea typeface="+mn-ea"/>
                <a:cs typeface="+mn-cs"/>
              </a:rPr>
              <a:t>			&lt;Button/&gt;</a:t>
            </a:r>
          </a:p>
          <a:p>
            <a:pPr lvl="0">
              <a:buClrTx/>
            </a:pPr>
            <a:r>
              <a:rPr lang="en-US" sz="2400" kern="1200">
                <a:solidFill>
                  <a:srgbClr val="002060"/>
                </a:solidFill>
                <a:latin typeface="Cambria" panose="02040503050406030204" pitchFamily="18" charset="0"/>
                <a:ea typeface="+mn-ea"/>
                <a:cs typeface="+mn-cs"/>
              </a:rPr>
              <a:t>		&lt;/Tablerow&gt;</a:t>
            </a:r>
          </a:p>
          <a:p>
            <a:pPr lvl="0">
              <a:buClrTx/>
            </a:pPr>
            <a:r>
              <a:rPr lang="en-US" sz="2400" kern="1200">
                <a:solidFill>
                  <a:srgbClr val="002060"/>
                </a:solidFill>
                <a:latin typeface="Cambria" panose="02040503050406030204" pitchFamily="18" charset="0"/>
                <a:ea typeface="+mn-ea"/>
                <a:cs typeface="+mn-cs"/>
              </a:rPr>
              <a:t>&lt;/TableLayout&gt;</a:t>
            </a:r>
          </a:p>
        </p:txBody>
      </p:sp>
    </p:spTree>
    <p:extLst>
      <p:ext uri="{BB962C8B-B14F-4D97-AF65-F5344CB8AC3E}">
        <p14:creationId xmlns:p14="http://schemas.microsoft.com/office/powerpoint/2010/main" val="25618635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4. Table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1" name="Rectangle 10"/>
          <p:cNvSpPr/>
          <p:nvPr/>
        </p:nvSpPr>
        <p:spPr>
          <a:xfrm>
            <a:off x="857018" y="965967"/>
            <a:ext cx="10304968" cy="1200329"/>
          </a:xfrm>
          <a:prstGeom prst="rect">
            <a:avLst/>
          </a:prstGeom>
        </p:spPr>
        <p:txBody>
          <a:bodyPr wrap="square">
            <a:spAutoFit/>
          </a:bodyPr>
          <a:lstStyle/>
          <a:p>
            <a:pPr algn="just">
              <a:buClrTx/>
              <a:buFontTx/>
              <a:buNone/>
            </a:pPr>
            <a:r>
              <a:rPr lang="en-US" sz="2400" kern="1200">
                <a:solidFill>
                  <a:prstClr val="black"/>
                </a:solidFill>
                <a:latin typeface="Cambria" panose="02040503050406030204" pitchFamily="18" charset="0"/>
                <a:ea typeface="+mn-ea"/>
                <a:cs typeface="+mn-cs"/>
              </a:rPr>
              <a:t>– TableLayout will see which row has the most number of controls to determine how many columns it has (take the line with the most number of controls as the standard number of columns).</a:t>
            </a:r>
          </a:p>
        </p:txBody>
      </p:sp>
      <p:pic>
        <p:nvPicPr>
          <p:cNvPr id="12" name="Picture 4" descr="7_Layout_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3867" y="2138916"/>
            <a:ext cx="5495925" cy="1047751"/>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857018" y="3301976"/>
            <a:ext cx="10718688" cy="830997"/>
          </a:xfrm>
          <a:prstGeom prst="rect">
            <a:avLst/>
          </a:prstGeom>
        </p:spPr>
        <p:txBody>
          <a:bodyPr wrap="square">
            <a:spAutoFit/>
          </a:bodyPr>
          <a:lstStyle/>
          <a:p>
            <a:pPr>
              <a:buClrTx/>
              <a:buFontTx/>
              <a:buNone/>
            </a:pPr>
            <a:r>
              <a:rPr lang="en-US" sz="2400" kern="1200">
                <a:solidFill>
                  <a:prstClr val="black"/>
                </a:solidFill>
                <a:latin typeface="Cambria" panose="02040503050406030204" pitchFamily="18" charset="0"/>
                <a:ea typeface="+mn-ea"/>
                <a:cs typeface="+mn-cs"/>
                <a:sym typeface="Wingdings" panose="05000000000000000000" pitchFamily="2" charset="2"/>
              </a:rPr>
              <a:t>-So according to the image above, you have to say that this TableLayout has 4 columns and 3 rows.</a:t>
            </a:r>
            <a:endParaRPr lang="en-US" sz="2400" kern="1200">
              <a:solidFill>
                <a:prstClr val="black"/>
              </a:solidFill>
              <a:latin typeface="Cambria" panose="02040503050406030204" pitchFamily="18" charset="0"/>
              <a:ea typeface="+mn-ea"/>
              <a:cs typeface="+mn-cs"/>
            </a:endParaRPr>
          </a:p>
        </p:txBody>
      </p:sp>
      <p:sp>
        <p:nvSpPr>
          <p:cNvPr id="14" name="Rectangle 13"/>
          <p:cNvSpPr/>
          <p:nvPr/>
        </p:nvSpPr>
        <p:spPr>
          <a:xfrm>
            <a:off x="4352815" y="4104029"/>
            <a:ext cx="4787657" cy="461665"/>
          </a:xfrm>
          <a:prstGeom prst="rect">
            <a:avLst/>
          </a:prstGeom>
        </p:spPr>
        <p:txBody>
          <a:bodyPr wrap="none">
            <a:spAutoFit/>
          </a:bodyPr>
          <a:lstStyle/>
          <a:p>
            <a:pPr>
              <a:buClrTx/>
              <a:buFontTx/>
              <a:buNone/>
            </a:pPr>
            <a:r>
              <a:rPr lang="en-US" sz="2400" kern="1200">
                <a:solidFill>
                  <a:prstClr val="black"/>
                </a:solidFill>
                <a:latin typeface="Cambria" panose="02040503050406030204" pitchFamily="18" charset="0"/>
                <a:ea typeface="+mn-ea"/>
                <a:cs typeface="+mn-cs"/>
              </a:rPr>
              <a:t>Use layout_span to </a:t>
            </a:r>
            <a:r>
              <a:rPr lang="en-US" sz="2400" kern="1200" smtClean="0">
                <a:solidFill>
                  <a:prstClr val="black"/>
                </a:solidFill>
                <a:latin typeface="Cambria" panose="02040503050406030204" pitchFamily="18" charset="0"/>
                <a:ea typeface="+mn-ea"/>
                <a:cs typeface="+mn-cs"/>
              </a:rPr>
              <a:t>merge columns</a:t>
            </a:r>
            <a:r>
              <a:rPr lang="en-US" sz="2400" kern="1200">
                <a:solidFill>
                  <a:prstClr val="black"/>
                </a:solidFill>
                <a:latin typeface="Cambria" panose="02040503050406030204" pitchFamily="18" charset="0"/>
                <a:ea typeface="+mn-ea"/>
                <a:cs typeface="+mn-cs"/>
              </a:rPr>
              <a:t>:</a:t>
            </a:r>
          </a:p>
        </p:txBody>
      </p:sp>
      <p:pic>
        <p:nvPicPr>
          <p:cNvPr id="15" name="Picture 6" descr="7_Layout_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4768" y="4644335"/>
            <a:ext cx="4914900" cy="1628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56353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4. Table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6" name="Rectangle 15"/>
          <p:cNvSpPr/>
          <p:nvPr/>
        </p:nvSpPr>
        <p:spPr>
          <a:xfrm>
            <a:off x="868383" y="939093"/>
            <a:ext cx="11050348" cy="461665"/>
          </a:xfrm>
          <a:prstGeom prst="rect">
            <a:avLst/>
          </a:prstGeom>
        </p:spPr>
        <p:txBody>
          <a:bodyPr wrap="square">
            <a:spAutoFit/>
          </a:bodyPr>
          <a:lstStyle/>
          <a:p>
            <a:pPr>
              <a:buClrTx/>
              <a:buFontTx/>
              <a:buNone/>
            </a:pPr>
            <a:r>
              <a:rPr lang="en-US" sz="2400" kern="1200">
                <a:solidFill>
                  <a:prstClr val="black"/>
                </a:solidFill>
                <a:latin typeface="Cambria" panose="02040503050406030204" pitchFamily="18" charset="0"/>
                <a:ea typeface="+mn-ea"/>
                <a:cs typeface="+mn-cs"/>
              </a:rPr>
              <a:t>Use </a:t>
            </a:r>
            <a:r>
              <a:rPr lang="en-US" sz="2400" b="1" kern="1200">
                <a:solidFill>
                  <a:prstClr val="black"/>
                </a:solidFill>
                <a:latin typeface="Cambria" panose="02040503050406030204" pitchFamily="18" charset="0"/>
                <a:ea typeface="+mn-ea"/>
                <a:cs typeface="+mn-cs"/>
              </a:rPr>
              <a:t>layout_column</a:t>
            </a:r>
            <a:r>
              <a:rPr lang="en-US" sz="2400" kern="1200">
                <a:solidFill>
                  <a:prstClr val="black"/>
                </a:solidFill>
                <a:latin typeface="Cambria" panose="02040503050406030204" pitchFamily="18" charset="0"/>
                <a:ea typeface="+mn-ea"/>
                <a:cs typeface="+mn-cs"/>
              </a:rPr>
              <a:t> to move the control's position to a certain column on a line:</a:t>
            </a:r>
          </a:p>
        </p:txBody>
      </p:sp>
      <p:pic>
        <p:nvPicPr>
          <p:cNvPr id="17" name="Picture 2" descr="7_Layout_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4807" y="1611379"/>
            <a:ext cx="5905500" cy="215265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p:cNvSpPr/>
          <p:nvPr/>
        </p:nvSpPr>
        <p:spPr>
          <a:xfrm>
            <a:off x="728132" y="3850200"/>
            <a:ext cx="10609252" cy="461665"/>
          </a:xfrm>
          <a:prstGeom prst="rect">
            <a:avLst/>
          </a:prstGeom>
        </p:spPr>
        <p:txBody>
          <a:bodyPr wrap="square">
            <a:spAutoFit/>
          </a:bodyPr>
          <a:lstStyle/>
          <a:p>
            <a:pPr algn="just">
              <a:buClrTx/>
              <a:buFontTx/>
              <a:buNone/>
            </a:pPr>
            <a:r>
              <a:rPr lang="en-US" sz="2400" kern="1200">
                <a:solidFill>
                  <a:prstClr val="black"/>
                </a:solidFill>
                <a:latin typeface="Cambria" panose="02040503050406030204" pitchFamily="18" charset="0"/>
                <a:ea typeface="+mn-ea"/>
                <a:cs typeface="+mn-cs"/>
              </a:rPr>
              <a:t>Use </a:t>
            </a:r>
            <a:r>
              <a:rPr lang="en-US" sz="2400" b="1" kern="1200">
                <a:solidFill>
                  <a:prstClr val="black"/>
                </a:solidFill>
                <a:latin typeface="Cambria" panose="02040503050406030204" pitchFamily="18" charset="0"/>
                <a:ea typeface="+mn-ea"/>
                <a:cs typeface="+mn-cs"/>
              </a:rPr>
              <a:t>stretchColumns</a:t>
            </a:r>
            <a:r>
              <a:rPr lang="en-US" sz="2400" kern="1200">
                <a:solidFill>
                  <a:prstClr val="black"/>
                </a:solidFill>
                <a:latin typeface="Cambria" panose="02040503050406030204" pitchFamily="18" charset="0"/>
                <a:ea typeface="+mn-ea"/>
                <a:cs typeface="+mn-cs"/>
              </a:rPr>
              <a:t> to stretch controls and cells evenly (we often use the </a:t>
            </a:r>
            <a:r>
              <a:rPr lang="en-US" sz="2400" kern="1200" smtClean="0">
                <a:solidFill>
                  <a:prstClr val="black"/>
                </a:solidFill>
                <a:latin typeface="Cambria" panose="02040503050406030204" pitchFamily="18" charset="0"/>
                <a:ea typeface="+mn-ea"/>
                <a:cs typeface="+mn-cs"/>
              </a:rPr>
              <a:t>“*”):</a:t>
            </a:r>
            <a:endParaRPr lang="en-US" sz="2400" kern="1200">
              <a:solidFill>
                <a:prstClr val="black"/>
              </a:solidFill>
              <a:latin typeface="Cambria" panose="02040503050406030204" pitchFamily="18" charset="0"/>
              <a:ea typeface="+mn-ea"/>
              <a:cs typeface="+mn-cs"/>
            </a:endParaRPr>
          </a:p>
        </p:txBody>
      </p:sp>
      <p:pic>
        <p:nvPicPr>
          <p:cNvPr id="19" name="Picture 4" descr="7_Layout_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6458" y="4452172"/>
            <a:ext cx="5092426" cy="132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0897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4. Table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22" name="Picture 21"/>
          <p:cNvPicPr>
            <a:picLocks noChangeAspect="1"/>
          </p:cNvPicPr>
          <p:nvPr/>
        </p:nvPicPr>
        <p:blipFill>
          <a:blip r:embed="rId3"/>
          <a:stretch>
            <a:fillRect/>
          </a:stretch>
        </p:blipFill>
        <p:spPr>
          <a:xfrm>
            <a:off x="2435773" y="934983"/>
            <a:ext cx="4097296" cy="2425700"/>
          </a:xfrm>
          <a:prstGeom prst="rect">
            <a:avLst/>
          </a:prstGeom>
        </p:spPr>
      </p:pic>
      <p:sp>
        <p:nvSpPr>
          <p:cNvPr id="23" name="Curved Left Arrow 22"/>
          <p:cNvSpPr/>
          <p:nvPr/>
        </p:nvSpPr>
        <p:spPr>
          <a:xfrm flipH="1">
            <a:off x="1931721" y="3037591"/>
            <a:ext cx="381000" cy="996950"/>
          </a:xfrm>
          <a:prstGeom prst="curvedLeftArrow">
            <a:avLst/>
          </a:prstGeom>
          <a:solidFill>
            <a:srgbClr val="17406D">
              <a:lumMod val="75000"/>
            </a:srgbClr>
          </a:solidFill>
          <a:ln>
            <a:noFill/>
          </a:ln>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rgbClr val="009DD9">
                <a:satMod val="115000"/>
              </a:srgbClr>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black"/>
              </a:solidFill>
              <a:effectLst/>
              <a:uLnTx/>
              <a:uFillTx/>
              <a:latin typeface="Georgia"/>
              <a:ea typeface="+mn-ea"/>
              <a:cs typeface="+mn-cs"/>
            </a:endParaRPr>
          </a:p>
        </p:txBody>
      </p:sp>
      <p:pic>
        <p:nvPicPr>
          <p:cNvPr id="24" name="Picture 23"/>
          <p:cNvPicPr>
            <a:picLocks noChangeAspect="1"/>
          </p:cNvPicPr>
          <p:nvPr/>
        </p:nvPicPr>
        <p:blipFill>
          <a:blip r:embed="rId4"/>
          <a:stretch>
            <a:fillRect/>
          </a:stretch>
        </p:blipFill>
        <p:spPr>
          <a:xfrm>
            <a:off x="2435773" y="3601983"/>
            <a:ext cx="4097296" cy="2425700"/>
          </a:xfrm>
          <a:prstGeom prst="rect">
            <a:avLst/>
          </a:prstGeom>
        </p:spPr>
      </p:pic>
      <p:sp>
        <p:nvSpPr>
          <p:cNvPr id="25" name="Rectangle 24"/>
          <p:cNvSpPr/>
          <p:nvPr/>
        </p:nvSpPr>
        <p:spPr>
          <a:xfrm>
            <a:off x="6656121" y="1912883"/>
            <a:ext cx="4009252" cy="2831544"/>
          </a:xfrm>
          <a:prstGeom prst="rect">
            <a:avLst/>
          </a:prstGeom>
          <a:solidFill>
            <a:sysClr val="windowText" lastClr="000000">
              <a:lumMod val="95000"/>
              <a:lumOff val="5000"/>
            </a:sysClr>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smtClean="0">
                <a:ln>
                  <a:noFill/>
                </a:ln>
                <a:solidFill>
                  <a:srgbClr val="E8BF6A"/>
                </a:solidFill>
                <a:effectLst/>
                <a:uLnTx/>
                <a:uFillTx/>
                <a:latin typeface="Georgia"/>
                <a:ea typeface="+mn-ea"/>
                <a:cs typeface="+mn-cs"/>
              </a:rPr>
              <a:t>&lt;TableLayout </a:t>
            </a:r>
            <a:r>
              <a:rPr kumimoji="0" lang="en-US" sz="1600" b="0" i="0" u="none" strike="noStrike" kern="1200" cap="none" spc="0" normalizeH="0" baseline="0" noProof="0" smtClean="0">
                <a:ln>
                  <a:noFill/>
                </a:ln>
                <a:solidFill>
                  <a:srgbClr val="BABABA"/>
                </a:solidFill>
                <a:effectLst/>
                <a:uLnTx/>
                <a:uFillTx/>
                <a:latin typeface="Georgia"/>
                <a:ea typeface="+mn-ea"/>
                <a:cs typeface="+mn-cs"/>
              </a:rPr>
              <a:t>xmlns:</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6A8759"/>
                </a:solidFill>
                <a:effectLst/>
                <a:uLnTx/>
                <a:uFillTx/>
                <a:latin typeface="Georgia"/>
                <a:ea typeface="+mn-ea"/>
                <a:cs typeface="+mn-cs"/>
              </a:rPr>
              <a:t>="http://schemas.android.com/apk/res/android"</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BABABA"/>
                </a:solidFill>
                <a:effectLst/>
                <a:uLnTx/>
                <a:uFillTx/>
                <a:latin typeface="Georgia"/>
                <a:ea typeface="+mn-ea"/>
                <a:cs typeface="+mn-cs"/>
              </a:rPr>
              <a:t>xmlns:</a:t>
            </a:r>
            <a:r>
              <a:rPr kumimoji="0" lang="en-US" sz="1600" b="0" i="0" u="none" strike="noStrike" kern="1200" cap="none" spc="0" normalizeH="0" baseline="0" noProof="0" smtClean="0">
                <a:ln>
                  <a:noFill/>
                </a:ln>
                <a:solidFill>
                  <a:srgbClr val="9876AA"/>
                </a:solidFill>
                <a:effectLst/>
                <a:uLnTx/>
                <a:uFillTx/>
                <a:latin typeface="Georgia"/>
                <a:ea typeface="+mn-ea"/>
                <a:cs typeface="+mn-cs"/>
              </a:rPr>
              <a:t>tools</a:t>
            </a:r>
            <a:r>
              <a:rPr kumimoji="0" lang="en-US" sz="1600" b="0" i="0" u="none" strike="noStrike" kern="1200" cap="none" spc="0" normalizeH="0" baseline="0" noProof="0" smtClean="0">
                <a:ln>
                  <a:noFill/>
                </a:ln>
                <a:solidFill>
                  <a:srgbClr val="6A8759"/>
                </a:solidFill>
                <a:effectLst/>
                <a:uLnTx/>
                <a:uFillTx/>
                <a:latin typeface="Georgia"/>
                <a:ea typeface="+mn-ea"/>
                <a:cs typeface="+mn-cs"/>
              </a:rPr>
              <a:t>="http://schemas.android.com/tools"</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:layout_width</a:t>
            </a:r>
            <a:r>
              <a:rPr kumimoji="0" lang="en-US" sz="1600" b="0" i="0" u="none" strike="noStrike" kern="1200" cap="none" spc="0" normalizeH="0" baseline="0" noProof="0" smtClean="0">
                <a:ln>
                  <a:noFill/>
                </a:ln>
                <a:solidFill>
                  <a:srgbClr val="6A8759"/>
                </a:solidFill>
                <a:effectLst/>
                <a:uLnTx/>
                <a:uFillTx/>
                <a:latin typeface="Georgia"/>
                <a:ea typeface="+mn-ea"/>
                <a:cs typeface="+mn-cs"/>
              </a:rPr>
              <a:t>="match_parent"</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:layout_height</a:t>
            </a:r>
            <a:r>
              <a:rPr kumimoji="0" lang="en-US" sz="1600" b="0" i="0" u="none" strike="noStrike" kern="1200" cap="none" spc="0" normalizeH="0" baseline="0" noProof="0" smtClean="0">
                <a:ln>
                  <a:noFill/>
                </a:ln>
                <a:solidFill>
                  <a:srgbClr val="6A8759"/>
                </a:solidFill>
                <a:effectLst/>
                <a:uLnTx/>
                <a:uFillTx/>
                <a:latin typeface="Georgia"/>
                <a:ea typeface="+mn-ea"/>
                <a:cs typeface="+mn-cs"/>
              </a:rPr>
              <a:t>="match_parent"</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tools</a:t>
            </a:r>
            <a:r>
              <a:rPr kumimoji="0" lang="en-US" sz="1600" b="0" i="0" u="none" strike="noStrike" kern="1200" cap="none" spc="0" normalizeH="0" baseline="0" noProof="0" smtClean="0">
                <a:ln>
                  <a:noFill/>
                </a:ln>
                <a:solidFill>
                  <a:srgbClr val="BABABA"/>
                </a:solidFill>
                <a:effectLst/>
                <a:uLnTx/>
                <a:uFillTx/>
                <a:latin typeface="Georgia"/>
                <a:ea typeface="+mn-ea"/>
                <a:cs typeface="+mn-cs"/>
              </a:rPr>
              <a:t>:context</a:t>
            </a:r>
            <a:r>
              <a:rPr kumimoji="0" lang="en-US" sz="1600" b="0" i="0" u="none" strike="noStrike" kern="1200" cap="none" spc="0" normalizeH="0" baseline="0" noProof="0" smtClean="0">
                <a:ln>
                  <a:noFill/>
                </a:ln>
                <a:solidFill>
                  <a:srgbClr val="6A8759"/>
                </a:solidFill>
                <a:effectLst/>
                <a:uLnTx/>
                <a:uFillTx/>
                <a:latin typeface="Georgia"/>
                <a:ea typeface="+mn-ea"/>
                <a:cs typeface="+mn-cs"/>
              </a:rPr>
              <a:t>=".MainActivity"</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800" b="1" i="0" u="none" strike="noStrike" kern="1200" cap="none" spc="0" normalizeH="0" baseline="0" noProof="0" smtClean="0">
                <a:ln>
                  <a:noFill/>
                </a:ln>
                <a:solidFill>
                  <a:srgbClr val="9876AA"/>
                </a:solidFill>
                <a:effectLst/>
                <a:uLnTx/>
                <a:uFillTx/>
                <a:latin typeface="Georgia"/>
                <a:ea typeface="+mn-ea"/>
                <a:cs typeface="+mn-cs"/>
              </a:rPr>
              <a:t>android</a:t>
            </a:r>
            <a:r>
              <a:rPr kumimoji="0" lang="en-US" sz="1800" b="1" i="0" u="none" strike="noStrike" kern="1200" cap="none" spc="0" normalizeH="0" baseline="0" noProof="0" smtClean="0">
                <a:ln>
                  <a:noFill/>
                </a:ln>
                <a:solidFill>
                  <a:srgbClr val="BABABA"/>
                </a:solidFill>
                <a:effectLst/>
                <a:uLnTx/>
                <a:uFillTx/>
                <a:latin typeface="Georgia"/>
                <a:ea typeface="+mn-ea"/>
                <a:cs typeface="+mn-cs"/>
              </a:rPr>
              <a:t>:stretchColumns</a:t>
            </a:r>
            <a:r>
              <a:rPr kumimoji="0" lang="en-US" sz="1800" b="1" i="0" u="none" strike="noStrike" kern="1200" cap="none" spc="0" normalizeH="0" baseline="0" noProof="0" smtClean="0">
                <a:ln>
                  <a:noFill/>
                </a:ln>
                <a:solidFill>
                  <a:srgbClr val="6A8759"/>
                </a:solidFill>
                <a:effectLst/>
                <a:uLnTx/>
                <a:uFillTx/>
                <a:latin typeface="Georgia"/>
                <a:ea typeface="+mn-ea"/>
                <a:cs typeface="+mn-cs"/>
              </a:rPr>
              <a:t>="*"</a:t>
            </a:r>
            <a:r>
              <a:rPr kumimoji="0" lang="en-US" sz="1600" b="0" i="0" u="none" strike="noStrike" kern="1200" cap="none" spc="0" normalizeH="0" baseline="0" noProof="0" smtClean="0">
                <a:ln>
                  <a:noFill/>
                </a:ln>
                <a:solidFill>
                  <a:srgbClr val="E8BF6A"/>
                </a:solidFill>
                <a:effectLst/>
                <a:uLnTx/>
                <a:uFillTx/>
                <a:latin typeface="Georgia"/>
                <a:ea typeface="+mn-ea"/>
                <a:cs typeface="+mn-cs"/>
              </a:rPr>
              <a:t>&gt;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smtClean="0">
              <a:ln>
                <a:noFill/>
              </a:ln>
              <a:solidFill>
                <a:prstClr val="black"/>
              </a:solidFill>
              <a:effectLst/>
              <a:uLnTx/>
              <a:uFillTx/>
              <a:latin typeface="Georgia"/>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smtClean="0">
                <a:ln>
                  <a:noFill/>
                </a:ln>
                <a:solidFill>
                  <a:srgbClr val="E8BF6A"/>
                </a:solidFill>
                <a:effectLst/>
                <a:uLnTx/>
                <a:uFillTx/>
                <a:latin typeface="Georgia"/>
                <a:ea typeface="+mn-ea"/>
                <a:cs typeface="+mn-cs"/>
              </a:rPr>
              <a:t>&lt;/TableLayout&gt;</a:t>
            </a:r>
            <a:endParaRPr kumimoji="0" lang="en-US" sz="1600" b="0" i="0" u="none" strike="noStrike" kern="1200" cap="none" spc="0" normalizeH="0" baseline="0" noProof="0" smtClean="0">
              <a:ln>
                <a:noFill/>
              </a:ln>
              <a:solidFill>
                <a:prstClr val="black"/>
              </a:solidFill>
              <a:effectLst/>
              <a:uLnTx/>
              <a:uFillTx/>
              <a:latin typeface="Georgia"/>
              <a:ea typeface="+mn-ea"/>
              <a:cs typeface="+mn-cs"/>
            </a:endParaRPr>
          </a:p>
        </p:txBody>
      </p:sp>
      <p:sp>
        <p:nvSpPr>
          <p:cNvPr id="26" name="Left Arrow 25"/>
          <p:cNvSpPr/>
          <p:nvPr/>
        </p:nvSpPr>
        <p:spPr>
          <a:xfrm rot="2011306">
            <a:off x="9221632" y="4312455"/>
            <a:ext cx="457200" cy="152400"/>
          </a:xfrm>
          <a:prstGeom prst="leftArrow">
            <a:avLst/>
          </a:prstGeom>
          <a:solidFill>
            <a:sysClr val="window" lastClr="FFFFFF"/>
          </a:solidFill>
          <a:ln w="1905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Georgia"/>
              <a:ea typeface="+mn-ea"/>
              <a:cs typeface="+mn-cs"/>
            </a:endParaRPr>
          </a:p>
        </p:txBody>
      </p:sp>
    </p:spTree>
    <p:extLst>
      <p:ext uri="{BB962C8B-B14F-4D97-AF65-F5344CB8AC3E}">
        <p14:creationId xmlns:p14="http://schemas.microsoft.com/office/powerpoint/2010/main" val="7537910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4. Table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10" name="Picture 9"/>
          <p:cNvPicPr>
            <a:picLocks noChangeAspect="1"/>
          </p:cNvPicPr>
          <p:nvPr/>
        </p:nvPicPr>
        <p:blipFill>
          <a:blip r:embed="rId3"/>
          <a:stretch>
            <a:fillRect/>
          </a:stretch>
        </p:blipFill>
        <p:spPr>
          <a:xfrm>
            <a:off x="2293883" y="953813"/>
            <a:ext cx="4097296" cy="2425700"/>
          </a:xfrm>
          <a:prstGeom prst="rect">
            <a:avLst/>
          </a:prstGeom>
        </p:spPr>
      </p:pic>
      <p:pic>
        <p:nvPicPr>
          <p:cNvPr id="11" name="Picture 10"/>
          <p:cNvPicPr>
            <a:picLocks noChangeAspect="1"/>
          </p:cNvPicPr>
          <p:nvPr/>
        </p:nvPicPr>
        <p:blipFill>
          <a:blip r:embed="rId4"/>
          <a:stretch>
            <a:fillRect/>
          </a:stretch>
        </p:blipFill>
        <p:spPr>
          <a:xfrm>
            <a:off x="2293883" y="3544613"/>
            <a:ext cx="4097296" cy="2380692"/>
          </a:xfrm>
          <a:prstGeom prst="rect">
            <a:avLst/>
          </a:prstGeom>
        </p:spPr>
      </p:pic>
      <p:sp>
        <p:nvSpPr>
          <p:cNvPr id="12" name="Curved Left Arrow 11"/>
          <p:cNvSpPr/>
          <p:nvPr/>
        </p:nvSpPr>
        <p:spPr>
          <a:xfrm flipH="1">
            <a:off x="1789831" y="3069121"/>
            <a:ext cx="381000" cy="996950"/>
          </a:xfrm>
          <a:prstGeom prst="curvedLeftArrow">
            <a:avLst/>
          </a:prstGeom>
          <a:solidFill>
            <a:srgbClr val="17406D">
              <a:lumMod val="75000"/>
            </a:srgbClr>
          </a:solidFill>
          <a:ln>
            <a:noFill/>
          </a:ln>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rgbClr val="009DD9">
                <a:satMod val="115000"/>
              </a:srgbClr>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black"/>
              </a:solidFill>
              <a:effectLst/>
              <a:uLnTx/>
              <a:uFillTx/>
              <a:latin typeface="Georgia"/>
              <a:ea typeface="+mn-ea"/>
              <a:cs typeface="+mn-cs"/>
            </a:endParaRPr>
          </a:p>
        </p:txBody>
      </p:sp>
      <p:sp>
        <p:nvSpPr>
          <p:cNvPr id="13" name="Rectangle 12"/>
          <p:cNvSpPr/>
          <p:nvPr/>
        </p:nvSpPr>
        <p:spPr>
          <a:xfrm>
            <a:off x="6484883" y="2249213"/>
            <a:ext cx="4077440" cy="2831544"/>
          </a:xfrm>
          <a:prstGeom prst="rect">
            <a:avLst/>
          </a:prstGeom>
          <a:solidFill>
            <a:sysClr val="windowText" lastClr="000000"/>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smtClean="0">
                <a:ln>
                  <a:noFill/>
                </a:ln>
                <a:solidFill>
                  <a:srgbClr val="E8BF6A"/>
                </a:solidFill>
                <a:effectLst/>
                <a:uLnTx/>
                <a:uFillTx/>
                <a:latin typeface="Georgia"/>
                <a:ea typeface="+mn-ea"/>
                <a:cs typeface="+mn-cs"/>
              </a:rPr>
              <a:t>&lt;Button</a:t>
            </a:r>
            <a:br>
              <a:rPr kumimoji="0" lang="en-US" sz="1600" b="0" i="0" u="none" strike="noStrike" kern="1200" cap="none" spc="0" normalizeH="0" baseline="0" noProof="0" smtClean="0">
                <a:ln>
                  <a:noFill/>
                </a:ln>
                <a:solidFill>
                  <a:srgbClr val="E8BF6A"/>
                </a:solidFill>
                <a:effectLst/>
                <a:uLnTx/>
                <a:uFillTx/>
                <a:latin typeface="Georgia"/>
                <a:ea typeface="+mn-ea"/>
                <a:cs typeface="+mn-cs"/>
              </a:rPr>
            </a:br>
            <a:r>
              <a:rPr kumimoji="0" lang="en-US" sz="1600" b="0" i="0" u="none" strike="noStrike" kern="1200" cap="none" spc="0" normalizeH="0" baseline="0" noProof="0" smtClean="0">
                <a:ln>
                  <a:noFill/>
                </a:ln>
                <a:solidFill>
                  <a:srgbClr val="E8BF6A"/>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:id</a:t>
            </a:r>
            <a:r>
              <a:rPr kumimoji="0" lang="en-US" sz="1600" b="0" i="0" u="none" strike="noStrike" kern="1200" cap="none" spc="0" normalizeH="0" baseline="0" noProof="0" smtClean="0">
                <a:ln>
                  <a:noFill/>
                </a:ln>
                <a:solidFill>
                  <a:srgbClr val="6A8759"/>
                </a:solidFill>
                <a:effectLst/>
                <a:uLnTx/>
                <a:uFillTx/>
                <a:latin typeface="Georgia"/>
                <a:ea typeface="+mn-ea"/>
                <a:cs typeface="+mn-cs"/>
              </a:rPr>
              <a:t>="@+id/button5"</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:layout_width</a:t>
            </a:r>
            <a:r>
              <a:rPr kumimoji="0" lang="en-US" sz="1600" b="0" i="0" u="none" strike="noStrike" kern="1200" cap="none" spc="0" normalizeH="0" baseline="0" noProof="0" smtClean="0">
                <a:ln>
                  <a:noFill/>
                </a:ln>
                <a:solidFill>
                  <a:srgbClr val="6A8759"/>
                </a:solidFill>
                <a:effectLst/>
                <a:uLnTx/>
                <a:uFillTx/>
                <a:latin typeface="Georgia"/>
                <a:ea typeface="+mn-ea"/>
                <a:cs typeface="+mn-cs"/>
              </a:rPr>
              <a:t>="80dp"</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:layout_height</a:t>
            </a:r>
            <a:r>
              <a:rPr kumimoji="0" lang="en-US" sz="1600" b="0" i="0" u="none" strike="noStrike" kern="1200" cap="none" spc="0" normalizeH="0" baseline="0" noProof="0" smtClean="0">
                <a:ln>
                  <a:noFill/>
                </a:ln>
                <a:solidFill>
                  <a:srgbClr val="6A8759"/>
                </a:solidFill>
                <a:effectLst/>
                <a:uLnTx/>
                <a:uFillTx/>
                <a:latin typeface="Georgia"/>
                <a:ea typeface="+mn-ea"/>
                <a:cs typeface="+mn-cs"/>
              </a:rPr>
              <a:t>="wrap_content"</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:background</a:t>
            </a:r>
            <a:r>
              <a:rPr kumimoji="0" lang="en-US" sz="1600" b="0" i="0" u="none" strike="noStrike" kern="1200" cap="none" spc="0" normalizeH="0" baseline="0" noProof="0" smtClean="0">
                <a:ln>
                  <a:noFill/>
                </a:ln>
                <a:solidFill>
                  <a:srgbClr val="6A8759"/>
                </a:solidFill>
                <a:effectLst/>
                <a:uLnTx/>
                <a:uFillTx/>
                <a:latin typeface="Georgia"/>
                <a:ea typeface="+mn-ea"/>
                <a:cs typeface="+mn-cs"/>
              </a:rPr>
              <a:t>="@color/</a:t>
            </a:r>
            <a:r>
              <a:rPr kumimoji="0" lang="mr-IN" sz="1600" b="0" i="0" u="none" strike="noStrike" kern="1200" cap="none" spc="0" normalizeH="0" baseline="0" noProof="0" smtClean="0">
                <a:ln>
                  <a:noFill/>
                </a:ln>
                <a:solidFill>
                  <a:srgbClr val="6A8759"/>
                </a:solidFill>
                <a:effectLst/>
                <a:uLnTx/>
                <a:uFillTx/>
                <a:latin typeface="Georgia"/>
                <a:ea typeface="+mn-ea"/>
                <a:cs typeface="Mangal" panose="00000400000000000000" pitchFamily="2"/>
              </a:rPr>
              <a:t>…</a:t>
            </a:r>
            <a:r>
              <a:rPr kumimoji="0" lang="en-US" sz="1600" b="0" i="0" u="none" strike="noStrike" kern="1200" cap="none" spc="0" normalizeH="0" baseline="0" noProof="0" smtClean="0">
                <a:ln>
                  <a:noFill/>
                </a:ln>
                <a:solidFill>
                  <a:srgbClr val="6A8759"/>
                </a:solidFill>
                <a:effectLst/>
                <a:uLnTx/>
                <a:uFillTx/>
                <a:latin typeface="Georgia"/>
                <a:ea typeface="+mn-ea"/>
                <a:cs typeface="+mn-cs"/>
              </a:rPr>
              <a:t>"</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:text</a:t>
            </a:r>
            <a:r>
              <a:rPr kumimoji="0" lang="en-US" sz="1600" b="0" i="0" u="none" strike="noStrike" kern="1200" cap="none" spc="0" normalizeH="0" baseline="0" noProof="0" smtClean="0">
                <a:ln>
                  <a:noFill/>
                </a:ln>
                <a:solidFill>
                  <a:srgbClr val="6A8759"/>
                </a:solidFill>
                <a:effectLst/>
                <a:uLnTx/>
                <a:uFillTx/>
                <a:latin typeface="Georgia"/>
                <a:ea typeface="+mn-ea"/>
                <a:cs typeface="+mn-cs"/>
              </a:rPr>
              <a:t>="5 - 6"</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:textColor</a:t>
            </a:r>
            <a:r>
              <a:rPr kumimoji="0" lang="en-US" sz="1600" b="0" i="0" u="none" strike="noStrike" kern="1200" cap="none" spc="0" normalizeH="0" baseline="0" noProof="0" smtClean="0">
                <a:ln>
                  <a:noFill/>
                </a:ln>
                <a:solidFill>
                  <a:srgbClr val="6A8759"/>
                </a:solidFill>
                <a:effectLst/>
                <a:uLnTx/>
                <a:uFillTx/>
                <a:latin typeface="Georgia"/>
                <a:ea typeface="+mn-ea"/>
                <a:cs typeface="+mn-cs"/>
              </a:rPr>
              <a:t>="@color/mauTrang"</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:textSize</a:t>
            </a:r>
            <a:r>
              <a:rPr kumimoji="0" lang="en-US" sz="1600" b="0" i="0" u="none" strike="noStrike" kern="1200" cap="none" spc="0" normalizeH="0" baseline="0" noProof="0" smtClean="0">
                <a:ln>
                  <a:noFill/>
                </a:ln>
                <a:solidFill>
                  <a:srgbClr val="6A8759"/>
                </a:solidFill>
                <a:effectLst/>
                <a:uLnTx/>
                <a:uFillTx/>
                <a:latin typeface="Georgia"/>
                <a:ea typeface="+mn-ea"/>
                <a:cs typeface="+mn-cs"/>
              </a:rPr>
              <a:t>="30sp"</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:textStyle</a:t>
            </a:r>
            <a:r>
              <a:rPr kumimoji="0" lang="en-US" sz="1600" b="0" i="0" u="none" strike="noStrike" kern="1200" cap="none" spc="0" normalizeH="0" baseline="0" noProof="0" smtClean="0">
                <a:ln>
                  <a:noFill/>
                </a:ln>
                <a:solidFill>
                  <a:srgbClr val="6A8759"/>
                </a:solidFill>
                <a:effectLst/>
                <a:uLnTx/>
                <a:uFillTx/>
                <a:latin typeface="Georgia"/>
                <a:ea typeface="+mn-ea"/>
                <a:cs typeface="+mn-cs"/>
              </a:rPr>
              <a:t>="bold"</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800" b="1" i="0" u="none" strike="noStrike" kern="1200" cap="none" spc="0" normalizeH="0" baseline="0" noProof="0" smtClean="0">
                <a:ln>
                  <a:noFill/>
                </a:ln>
                <a:solidFill>
                  <a:srgbClr val="9876AA"/>
                </a:solidFill>
                <a:effectLst/>
                <a:uLnTx/>
                <a:uFillTx/>
                <a:latin typeface="Georgia"/>
                <a:ea typeface="+mn-ea"/>
                <a:cs typeface="+mn-cs"/>
              </a:rPr>
              <a:t>android</a:t>
            </a:r>
            <a:r>
              <a:rPr kumimoji="0" lang="en-US" sz="1800" b="1" i="0" u="none" strike="noStrike" kern="1200" cap="none" spc="0" normalizeH="0" baseline="0" noProof="0" smtClean="0">
                <a:ln>
                  <a:noFill/>
                </a:ln>
                <a:solidFill>
                  <a:srgbClr val="BABABA"/>
                </a:solidFill>
                <a:effectLst/>
                <a:uLnTx/>
                <a:uFillTx/>
                <a:latin typeface="Georgia"/>
                <a:ea typeface="+mn-ea"/>
                <a:cs typeface="+mn-cs"/>
              </a:rPr>
              <a:t>:layout_span</a:t>
            </a:r>
            <a:r>
              <a:rPr kumimoji="0" lang="en-US" sz="1800" b="1" i="0" u="none" strike="noStrike" kern="1200" cap="none" spc="0" normalizeH="0" baseline="0" noProof="0" smtClean="0">
                <a:ln>
                  <a:noFill/>
                </a:ln>
                <a:solidFill>
                  <a:srgbClr val="6A8759"/>
                </a:solidFill>
                <a:effectLst/>
                <a:uLnTx/>
                <a:uFillTx/>
                <a:latin typeface="Georgia"/>
                <a:ea typeface="+mn-ea"/>
                <a:cs typeface="+mn-cs"/>
              </a:rPr>
              <a:t>="2"</a:t>
            </a:r>
            <a:r>
              <a:rPr kumimoji="0" lang="en-US" sz="1600" b="0" i="0" u="none" strike="noStrike" kern="1200" cap="none" spc="0" normalizeH="0" baseline="0" noProof="0" smtClean="0">
                <a:ln>
                  <a:noFill/>
                </a:ln>
                <a:solidFill>
                  <a:srgbClr val="E8BF6A"/>
                </a:solidFill>
                <a:effectLst/>
                <a:uLnTx/>
                <a:uFillTx/>
                <a:latin typeface="Georgia"/>
                <a:ea typeface="+mn-ea"/>
                <a:cs typeface="+mn-cs"/>
              </a:rPr>
              <a:t>/&gt;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smtClean="0">
              <a:ln>
                <a:noFill/>
              </a:ln>
              <a:solidFill>
                <a:prstClr val="black"/>
              </a:solidFill>
              <a:effectLst/>
              <a:uLnTx/>
              <a:uFillTx/>
              <a:latin typeface="Georgia"/>
              <a:ea typeface="+mn-ea"/>
              <a:cs typeface="+mn-cs"/>
            </a:endParaRPr>
          </a:p>
        </p:txBody>
      </p:sp>
      <p:sp>
        <p:nvSpPr>
          <p:cNvPr id="14" name="Left Arrow 13"/>
          <p:cNvSpPr/>
          <p:nvPr/>
        </p:nvSpPr>
        <p:spPr>
          <a:xfrm rot="2011306">
            <a:off x="8766822" y="4878841"/>
            <a:ext cx="457200" cy="152400"/>
          </a:xfrm>
          <a:prstGeom prst="leftArrow">
            <a:avLst/>
          </a:prstGeom>
          <a:solidFill>
            <a:sysClr val="window" lastClr="FFFFFF"/>
          </a:solidFill>
          <a:ln w="1905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Georgia"/>
              <a:ea typeface="+mn-ea"/>
              <a:cs typeface="+mn-cs"/>
            </a:endParaRPr>
          </a:p>
        </p:txBody>
      </p:sp>
    </p:spTree>
    <p:extLst>
      <p:ext uri="{BB962C8B-B14F-4D97-AF65-F5344CB8AC3E}">
        <p14:creationId xmlns:p14="http://schemas.microsoft.com/office/powerpoint/2010/main" val="37606047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4. Table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0" name="Curved Left Arrow 9"/>
          <p:cNvSpPr/>
          <p:nvPr/>
        </p:nvSpPr>
        <p:spPr>
          <a:xfrm flipH="1">
            <a:off x="1829244" y="3077004"/>
            <a:ext cx="381000" cy="996950"/>
          </a:xfrm>
          <a:prstGeom prst="curvedLeftArrow">
            <a:avLst/>
          </a:prstGeom>
          <a:solidFill>
            <a:srgbClr val="17406D">
              <a:lumMod val="75000"/>
            </a:srgbClr>
          </a:solidFill>
          <a:ln>
            <a:noFill/>
          </a:ln>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rgbClr val="009DD9">
                <a:satMod val="115000"/>
              </a:srgbClr>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black"/>
              </a:solidFill>
              <a:effectLst/>
              <a:uLnTx/>
              <a:uFillTx/>
              <a:latin typeface="Georgia"/>
              <a:ea typeface="+mn-ea"/>
              <a:cs typeface="+mn-cs"/>
            </a:endParaRPr>
          </a:p>
        </p:txBody>
      </p:sp>
      <p:pic>
        <p:nvPicPr>
          <p:cNvPr id="11" name="Picture 10"/>
          <p:cNvPicPr>
            <a:picLocks noChangeAspect="1"/>
          </p:cNvPicPr>
          <p:nvPr/>
        </p:nvPicPr>
        <p:blipFill>
          <a:blip r:embed="rId3"/>
          <a:stretch>
            <a:fillRect/>
          </a:stretch>
        </p:blipFill>
        <p:spPr>
          <a:xfrm>
            <a:off x="2333296" y="3666796"/>
            <a:ext cx="4127500" cy="2324100"/>
          </a:xfrm>
          <a:prstGeom prst="rect">
            <a:avLst/>
          </a:prstGeom>
        </p:spPr>
      </p:pic>
      <p:pic>
        <p:nvPicPr>
          <p:cNvPr id="12" name="Picture 11"/>
          <p:cNvPicPr>
            <a:picLocks noChangeAspect="1"/>
          </p:cNvPicPr>
          <p:nvPr/>
        </p:nvPicPr>
        <p:blipFill>
          <a:blip r:embed="rId4"/>
          <a:stretch>
            <a:fillRect/>
          </a:stretch>
        </p:blipFill>
        <p:spPr>
          <a:xfrm>
            <a:off x="2348398" y="974396"/>
            <a:ext cx="4097296" cy="2425700"/>
          </a:xfrm>
          <a:prstGeom prst="rect">
            <a:avLst/>
          </a:prstGeom>
        </p:spPr>
      </p:pic>
      <p:sp>
        <p:nvSpPr>
          <p:cNvPr id="13" name="Rectangle 12"/>
          <p:cNvSpPr/>
          <p:nvPr/>
        </p:nvSpPr>
        <p:spPr>
          <a:xfrm>
            <a:off x="6598950" y="2261602"/>
            <a:ext cx="4040146" cy="2585323"/>
          </a:xfrm>
          <a:prstGeom prst="rect">
            <a:avLst/>
          </a:prstGeom>
          <a:solidFill>
            <a:sysClr val="windowText" lastClr="000000"/>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smtClean="0">
                <a:ln>
                  <a:noFill/>
                </a:ln>
                <a:solidFill>
                  <a:srgbClr val="E8BF6A"/>
                </a:solidFill>
                <a:effectLst/>
                <a:uLnTx/>
                <a:uFillTx/>
                <a:latin typeface="Georgia"/>
                <a:ea typeface="+mn-ea"/>
                <a:cs typeface="+mn-cs"/>
              </a:rPr>
              <a:t>&lt;Button</a:t>
            </a:r>
            <a:br>
              <a:rPr kumimoji="0" lang="en-US" sz="1600" b="0" i="0" u="none" strike="noStrike" kern="1200" cap="none" spc="0" normalizeH="0" baseline="0" noProof="0" smtClean="0">
                <a:ln>
                  <a:noFill/>
                </a:ln>
                <a:solidFill>
                  <a:srgbClr val="E8BF6A"/>
                </a:solidFill>
                <a:effectLst/>
                <a:uLnTx/>
                <a:uFillTx/>
                <a:latin typeface="Georgia"/>
                <a:ea typeface="+mn-ea"/>
                <a:cs typeface="+mn-cs"/>
              </a:rPr>
            </a:br>
            <a:r>
              <a:rPr kumimoji="0" lang="en-US" sz="1600" b="0" i="0" u="none" strike="noStrike" kern="1200" cap="none" spc="0" normalizeH="0" baseline="0" noProof="0" smtClean="0">
                <a:ln>
                  <a:noFill/>
                </a:ln>
                <a:solidFill>
                  <a:srgbClr val="E8BF6A"/>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:id</a:t>
            </a:r>
            <a:r>
              <a:rPr kumimoji="0" lang="en-US" sz="1600" b="0" i="0" u="none" strike="noStrike" kern="1200" cap="none" spc="0" normalizeH="0" baseline="0" noProof="0" smtClean="0">
                <a:ln>
                  <a:noFill/>
                </a:ln>
                <a:solidFill>
                  <a:srgbClr val="6A8759"/>
                </a:solidFill>
                <a:effectLst/>
                <a:uLnTx/>
                <a:uFillTx/>
                <a:latin typeface="Georgia"/>
                <a:ea typeface="+mn-ea"/>
                <a:cs typeface="+mn-cs"/>
              </a:rPr>
              <a:t>="@+id/button8"</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:layout_width</a:t>
            </a:r>
            <a:r>
              <a:rPr kumimoji="0" lang="en-US" sz="1600" b="0" i="0" u="none" strike="noStrike" kern="1200" cap="none" spc="0" normalizeH="0" baseline="0" noProof="0" smtClean="0">
                <a:ln>
                  <a:noFill/>
                </a:ln>
                <a:solidFill>
                  <a:srgbClr val="6A8759"/>
                </a:solidFill>
                <a:effectLst/>
                <a:uLnTx/>
                <a:uFillTx/>
                <a:latin typeface="Georgia"/>
                <a:ea typeface="+mn-ea"/>
                <a:cs typeface="+mn-cs"/>
              </a:rPr>
              <a:t>="80dp"</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:layout_height</a:t>
            </a:r>
            <a:r>
              <a:rPr kumimoji="0" lang="en-US" sz="1600" b="0" i="0" u="none" strike="noStrike" kern="1200" cap="none" spc="0" normalizeH="0" baseline="0" noProof="0" smtClean="0">
                <a:ln>
                  <a:noFill/>
                </a:ln>
                <a:solidFill>
                  <a:srgbClr val="6A8759"/>
                </a:solidFill>
                <a:effectLst/>
                <a:uLnTx/>
                <a:uFillTx/>
                <a:latin typeface="Georgia"/>
                <a:ea typeface="+mn-ea"/>
                <a:cs typeface="+mn-cs"/>
              </a:rPr>
              <a:t>="wrap_content"</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800" b="1" i="0" u="none" strike="noStrike" kern="1200" cap="none" spc="0" normalizeH="0" baseline="0" noProof="0" smtClean="0">
                <a:ln>
                  <a:noFill/>
                </a:ln>
                <a:solidFill>
                  <a:srgbClr val="9876AA"/>
                </a:solidFill>
                <a:effectLst/>
                <a:uLnTx/>
                <a:uFillTx/>
                <a:latin typeface="Georgia"/>
                <a:ea typeface="+mn-ea"/>
                <a:cs typeface="+mn-cs"/>
              </a:rPr>
              <a:t>android</a:t>
            </a:r>
            <a:r>
              <a:rPr kumimoji="0" lang="en-US" sz="1800" b="1" i="0" u="none" strike="noStrike" kern="1200" cap="none" spc="0" normalizeH="0" baseline="0" noProof="0" smtClean="0">
                <a:ln>
                  <a:noFill/>
                </a:ln>
                <a:solidFill>
                  <a:srgbClr val="BABABA"/>
                </a:solidFill>
                <a:effectLst/>
                <a:uLnTx/>
                <a:uFillTx/>
                <a:latin typeface="Georgia"/>
                <a:ea typeface="+mn-ea"/>
                <a:cs typeface="+mn-cs"/>
              </a:rPr>
              <a:t>:layout_column</a:t>
            </a:r>
            <a:r>
              <a:rPr kumimoji="0" lang="en-US" sz="1800" b="1" i="0" u="none" strike="noStrike" kern="1200" cap="none" spc="0" normalizeH="0" baseline="0" noProof="0" smtClean="0">
                <a:ln>
                  <a:noFill/>
                </a:ln>
                <a:solidFill>
                  <a:srgbClr val="6A8759"/>
                </a:solidFill>
                <a:effectLst/>
                <a:uLnTx/>
                <a:uFillTx/>
                <a:latin typeface="Georgia"/>
                <a:ea typeface="+mn-ea"/>
                <a:cs typeface="+mn-cs"/>
              </a:rPr>
              <a:t>="2"</a:t>
            </a:r>
            <a:r>
              <a:rPr kumimoji="0" lang="en-US" sz="1600" b="0" i="0" u="none" strike="noStrike" kern="1200" cap="none" spc="0" normalizeH="0" baseline="0" noProof="0" smtClean="0">
                <a:ln>
                  <a:noFill/>
                </a:ln>
                <a:solidFill>
                  <a:srgbClr val="6A8759"/>
                </a:solidFill>
                <a:effectLst/>
                <a:uLnTx/>
                <a:uFillTx/>
                <a:latin typeface="Georgia"/>
                <a:ea typeface="+mn-ea"/>
                <a:cs typeface="+mn-cs"/>
              </a:rPr>
              <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:background</a:t>
            </a:r>
            <a:r>
              <a:rPr kumimoji="0" lang="en-US" sz="1600" b="0" i="0" u="none" strike="noStrike" kern="1200" cap="none" spc="0" normalizeH="0" baseline="0" noProof="0" smtClean="0">
                <a:ln>
                  <a:noFill/>
                </a:ln>
                <a:solidFill>
                  <a:srgbClr val="6A8759"/>
                </a:solidFill>
                <a:effectLst/>
                <a:uLnTx/>
                <a:uFillTx/>
                <a:latin typeface="Georgia"/>
                <a:ea typeface="+mn-ea"/>
                <a:cs typeface="+mn-cs"/>
              </a:rPr>
              <a:t>="#959307"</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:text</a:t>
            </a:r>
            <a:r>
              <a:rPr kumimoji="0" lang="en-US" sz="1600" b="0" i="0" u="none" strike="noStrike" kern="1200" cap="none" spc="0" normalizeH="0" baseline="0" noProof="0" smtClean="0">
                <a:ln>
                  <a:noFill/>
                </a:ln>
                <a:solidFill>
                  <a:srgbClr val="6A8759"/>
                </a:solidFill>
                <a:effectLst/>
                <a:uLnTx/>
                <a:uFillTx/>
                <a:latin typeface="Georgia"/>
                <a:ea typeface="+mn-ea"/>
                <a:cs typeface="+mn-cs"/>
              </a:rPr>
              <a:t>="8"</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:textColor</a:t>
            </a:r>
            <a:r>
              <a:rPr kumimoji="0" lang="en-US" sz="1600" b="0" i="0" u="none" strike="noStrike" kern="1200" cap="none" spc="0" normalizeH="0" baseline="0" noProof="0" smtClean="0">
                <a:ln>
                  <a:noFill/>
                </a:ln>
                <a:solidFill>
                  <a:srgbClr val="6A8759"/>
                </a:solidFill>
                <a:effectLst/>
                <a:uLnTx/>
                <a:uFillTx/>
                <a:latin typeface="Georgia"/>
                <a:ea typeface="+mn-ea"/>
                <a:cs typeface="+mn-cs"/>
              </a:rPr>
              <a:t>="@color/mauTrang"</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:textSize</a:t>
            </a:r>
            <a:r>
              <a:rPr kumimoji="0" lang="en-US" sz="1600" b="0" i="0" u="none" strike="noStrike" kern="1200" cap="none" spc="0" normalizeH="0" baseline="0" noProof="0" smtClean="0">
                <a:ln>
                  <a:noFill/>
                </a:ln>
                <a:solidFill>
                  <a:srgbClr val="6A8759"/>
                </a:solidFill>
                <a:effectLst/>
                <a:uLnTx/>
                <a:uFillTx/>
                <a:latin typeface="Georgia"/>
                <a:ea typeface="+mn-ea"/>
                <a:cs typeface="+mn-cs"/>
              </a:rPr>
              <a:t>="30sp"</a:t>
            </a:r>
            <a:br>
              <a:rPr kumimoji="0" lang="en-US" sz="1600" b="0" i="0" u="none" strike="noStrike" kern="1200" cap="none" spc="0" normalizeH="0" baseline="0" noProof="0" smtClean="0">
                <a:ln>
                  <a:noFill/>
                </a:ln>
                <a:solidFill>
                  <a:srgbClr val="6A8759"/>
                </a:solidFill>
                <a:effectLst/>
                <a:uLnTx/>
                <a:uFillTx/>
                <a:latin typeface="Georgia"/>
                <a:ea typeface="+mn-ea"/>
                <a:cs typeface="+mn-cs"/>
              </a:rPr>
            </a:br>
            <a:r>
              <a:rPr kumimoji="0" lang="en-US" sz="1600" b="0" i="0" u="none" strike="noStrike" kern="1200" cap="none" spc="0" normalizeH="0" baseline="0" noProof="0" smtClean="0">
                <a:ln>
                  <a:noFill/>
                </a:ln>
                <a:solidFill>
                  <a:srgbClr val="6A8759"/>
                </a:solidFill>
                <a:effectLst/>
                <a:uLnTx/>
                <a:uFillTx/>
                <a:latin typeface="Georgia"/>
                <a:ea typeface="+mn-ea"/>
                <a:cs typeface="+mn-cs"/>
              </a:rPr>
              <a:t>    </a:t>
            </a:r>
            <a:r>
              <a:rPr kumimoji="0" lang="en-US" sz="16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600" b="0" i="0" u="none" strike="noStrike" kern="1200" cap="none" spc="0" normalizeH="0" baseline="0" noProof="0" smtClean="0">
                <a:ln>
                  <a:noFill/>
                </a:ln>
                <a:solidFill>
                  <a:srgbClr val="BABABA"/>
                </a:solidFill>
                <a:effectLst/>
                <a:uLnTx/>
                <a:uFillTx/>
                <a:latin typeface="Georgia"/>
                <a:ea typeface="+mn-ea"/>
                <a:cs typeface="+mn-cs"/>
              </a:rPr>
              <a:t>:textStyle</a:t>
            </a:r>
            <a:r>
              <a:rPr kumimoji="0" lang="en-US" sz="1600" b="0" i="0" u="none" strike="noStrike" kern="1200" cap="none" spc="0" normalizeH="0" baseline="0" noProof="0" smtClean="0">
                <a:ln>
                  <a:noFill/>
                </a:ln>
                <a:solidFill>
                  <a:srgbClr val="6A8759"/>
                </a:solidFill>
                <a:effectLst/>
                <a:uLnTx/>
                <a:uFillTx/>
                <a:latin typeface="Georgia"/>
                <a:ea typeface="+mn-ea"/>
                <a:cs typeface="+mn-cs"/>
              </a:rPr>
              <a:t>="bold" </a:t>
            </a:r>
            <a:r>
              <a:rPr kumimoji="0" lang="en-US" sz="1600" b="0" i="0" u="none" strike="noStrike" kern="1200" cap="none" spc="0" normalizeH="0" baseline="0" noProof="0" smtClean="0">
                <a:ln>
                  <a:noFill/>
                </a:ln>
                <a:solidFill>
                  <a:srgbClr val="E8BF6A"/>
                </a:solidFill>
                <a:effectLst/>
                <a:uLnTx/>
                <a:uFillTx/>
                <a:latin typeface="Georgia"/>
                <a:ea typeface="+mn-ea"/>
                <a:cs typeface="+mn-cs"/>
              </a:rPr>
              <a:t>/&gt;</a:t>
            </a:r>
            <a:endParaRPr kumimoji="0" lang="en-US" sz="1600" b="0" i="0" u="none" strike="noStrike" kern="1200" cap="none" spc="0" normalizeH="0" baseline="0" noProof="0" smtClean="0">
              <a:ln>
                <a:noFill/>
              </a:ln>
              <a:solidFill>
                <a:prstClr val="black"/>
              </a:solidFill>
              <a:effectLst/>
              <a:uLnTx/>
              <a:uFillTx/>
              <a:latin typeface="Georgia"/>
              <a:ea typeface="+mn-ea"/>
              <a:cs typeface="+mn-cs"/>
            </a:endParaRPr>
          </a:p>
        </p:txBody>
      </p:sp>
      <p:sp>
        <p:nvSpPr>
          <p:cNvPr id="14" name="Left Arrow 13"/>
          <p:cNvSpPr/>
          <p:nvPr/>
        </p:nvSpPr>
        <p:spPr>
          <a:xfrm rot="2011306">
            <a:off x="9949235" y="3667524"/>
            <a:ext cx="457200" cy="152400"/>
          </a:xfrm>
          <a:prstGeom prst="leftArrow">
            <a:avLst/>
          </a:prstGeom>
          <a:solidFill>
            <a:sysClr val="window" lastClr="FFFFFF"/>
          </a:solidFill>
          <a:ln w="1905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Georgia"/>
              <a:ea typeface="+mn-ea"/>
              <a:cs typeface="+mn-cs"/>
            </a:endParaRPr>
          </a:p>
        </p:txBody>
      </p:sp>
    </p:spTree>
    <p:extLst>
      <p:ext uri="{BB962C8B-B14F-4D97-AF65-F5344CB8AC3E}">
        <p14:creationId xmlns:p14="http://schemas.microsoft.com/office/powerpoint/2010/main" val="39616388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5. Relative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1" name="Rectangle 10"/>
          <p:cNvSpPr/>
          <p:nvPr/>
        </p:nvSpPr>
        <p:spPr>
          <a:xfrm>
            <a:off x="728132" y="938927"/>
            <a:ext cx="10686102" cy="769441"/>
          </a:xfrm>
          <a:prstGeom prst="rect">
            <a:avLst/>
          </a:prstGeom>
        </p:spPr>
        <p:txBody>
          <a:bodyPr wrap="square">
            <a:spAutoFit/>
          </a:bodyPr>
          <a:lstStyle/>
          <a:p>
            <a:pPr marL="342900" indent="-342900" algn="just">
              <a:spcBef>
                <a:spcPts val="600"/>
              </a:spcBef>
              <a:spcAft>
                <a:spcPts val="600"/>
              </a:spcAft>
              <a:buClrTx/>
              <a:buFont typeface="Wingdings" charset="2"/>
              <a:buChar char="ü"/>
            </a:pPr>
            <a:r>
              <a:rPr lang="en-US" sz="2200" i="1" kern="1200">
                <a:solidFill>
                  <a:prstClr val="black"/>
                </a:solidFill>
                <a:latin typeface="Cambria" panose="02040503050406030204" pitchFamily="18" charset="0"/>
                <a:ea typeface="+mn-ea"/>
                <a:cs typeface="+mn-cs"/>
              </a:rPr>
              <a:t>RelativeLayout is a type of Layout in which the position of each child view will be determined relative to other views or to their parent component via ID.</a:t>
            </a:r>
            <a:endParaRPr lang="en-US" sz="2200" i="1" kern="1200">
              <a:solidFill>
                <a:prstClr val="black"/>
              </a:solidFill>
              <a:latin typeface="Cambria" charset="0"/>
              <a:ea typeface="Cambria" charset="0"/>
              <a:cs typeface="Cambria" charset="0"/>
            </a:endParaRPr>
          </a:p>
        </p:txBody>
      </p:sp>
      <p:grpSp>
        <p:nvGrpSpPr>
          <p:cNvPr id="12" name="Group 11"/>
          <p:cNvGrpSpPr/>
          <p:nvPr/>
        </p:nvGrpSpPr>
        <p:grpSpPr>
          <a:xfrm>
            <a:off x="2320530" y="1978400"/>
            <a:ext cx="7743447" cy="2081910"/>
            <a:chOff x="1023645" y="2718690"/>
            <a:chExt cx="7743447" cy="2081910"/>
          </a:xfrm>
        </p:grpSpPr>
        <p:pic>
          <p:nvPicPr>
            <p:cNvPr id="13" name="Picture 12"/>
            <p:cNvPicPr>
              <a:picLocks noChangeAspect="1"/>
            </p:cNvPicPr>
            <p:nvPr/>
          </p:nvPicPr>
          <p:blipFill>
            <a:blip r:embed="rId3"/>
            <a:stretch>
              <a:fillRect/>
            </a:stretch>
          </p:blipFill>
          <p:spPr>
            <a:xfrm>
              <a:off x="1023645" y="2718690"/>
              <a:ext cx="3395955" cy="2081910"/>
            </a:xfrm>
            <a:prstGeom prst="rect">
              <a:avLst/>
            </a:prstGeom>
          </p:spPr>
        </p:pic>
        <p:pic>
          <p:nvPicPr>
            <p:cNvPr id="14" name="Picture 13"/>
            <p:cNvPicPr>
              <a:picLocks noChangeAspect="1"/>
            </p:cNvPicPr>
            <p:nvPr/>
          </p:nvPicPr>
          <p:blipFill>
            <a:blip r:embed="rId4"/>
            <a:stretch>
              <a:fillRect/>
            </a:stretch>
          </p:blipFill>
          <p:spPr>
            <a:xfrm>
              <a:off x="4572000" y="2749322"/>
              <a:ext cx="4195092" cy="2051277"/>
            </a:xfrm>
            <a:prstGeom prst="rect">
              <a:avLst/>
            </a:prstGeom>
          </p:spPr>
        </p:pic>
      </p:grpSp>
      <p:sp>
        <p:nvSpPr>
          <p:cNvPr id="15" name="Rectangle 14"/>
          <p:cNvSpPr/>
          <p:nvPr/>
        </p:nvSpPr>
        <p:spPr>
          <a:xfrm>
            <a:off x="4060951" y="4249411"/>
            <a:ext cx="4632545" cy="1938992"/>
          </a:xfrm>
          <a:prstGeom prst="rect">
            <a:avLst/>
          </a:prstGeom>
          <a:solidFill>
            <a:sysClr val="windowText" lastClr="000000"/>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smtClean="0">
                <a:ln>
                  <a:noFill/>
                </a:ln>
                <a:solidFill>
                  <a:srgbClr val="E8BF6A"/>
                </a:solidFill>
                <a:effectLst/>
                <a:uLnTx/>
                <a:uFillTx/>
                <a:latin typeface="Georgia"/>
                <a:ea typeface="+mn-ea"/>
                <a:cs typeface="+mn-cs"/>
              </a:rPr>
              <a:t>&lt;Button</a:t>
            </a:r>
            <a:br>
              <a:rPr kumimoji="0" lang="en-US" sz="1500" b="0" i="0" u="none" strike="noStrike" kern="1200" cap="none" spc="0" normalizeH="0" baseline="0" noProof="0" smtClean="0">
                <a:ln>
                  <a:noFill/>
                </a:ln>
                <a:solidFill>
                  <a:srgbClr val="E8BF6A"/>
                </a:solidFill>
                <a:effectLst/>
                <a:uLnTx/>
                <a:uFillTx/>
                <a:latin typeface="Georgia"/>
                <a:ea typeface="+mn-ea"/>
                <a:cs typeface="+mn-cs"/>
              </a:rPr>
            </a:br>
            <a:r>
              <a:rPr kumimoji="0" lang="en-US" sz="1500" b="0" i="0" u="none" strike="noStrike" kern="1200" cap="none" spc="0" normalizeH="0" baseline="0" noProof="0" smtClean="0">
                <a:ln>
                  <a:noFill/>
                </a:ln>
                <a:solidFill>
                  <a:srgbClr val="E8BF6A"/>
                </a:solidFill>
                <a:effectLst/>
                <a:uLnTx/>
                <a:uFillTx/>
                <a:latin typeface="Georgia"/>
                <a:ea typeface="+mn-ea"/>
                <a:cs typeface="+mn-cs"/>
              </a:rPr>
              <a:t>    </a:t>
            </a:r>
            <a:r>
              <a:rPr kumimoji="0" lang="en-US" sz="15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500" b="0" i="0" u="none" strike="noStrike" kern="1200" cap="none" spc="0" normalizeH="0" baseline="0" noProof="0" smtClean="0">
                <a:ln>
                  <a:noFill/>
                </a:ln>
                <a:solidFill>
                  <a:srgbClr val="BABABA"/>
                </a:solidFill>
                <a:effectLst/>
                <a:uLnTx/>
                <a:uFillTx/>
                <a:latin typeface="Georgia"/>
                <a:ea typeface="+mn-ea"/>
                <a:cs typeface="+mn-cs"/>
              </a:rPr>
              <a:t>:id</a:t>
            </a:r>
            <a:r>
              <a:rPr kumimoji="0" lang="en-US" sz="1500" b="0" i="0" u="none" strike="noStrike" kern="1200" cap="none" spc="0" normalizeH="0" baseline="0" noProof="0" smtClean="0">
                <a:ln>
                  <a:noFill/>
                </a:ln>
                <a:solidFill>
                  <a:srgbClr val="6A8759"/>
                </a:solidFill>
                <a:effectLst/>
                <a:uLnTx/>
                <a:uFillTx/>
                <a:latin typeface="Georgia"/>
                <a:ea typeface="+mn-ea"/>
                <a:cs typeface="+mn-cs"/>
              </a:rPr>
              <a:t>="@+id/btnOk"</a:t>
            </a:r>
            <a:br>
              <a:rPr kumimoji="0" lang="en-US" sz="1500" b="0" i="0" u="none" strike="noStrike" kern="1200" cap="none" spc="0" normalizeH="0" baseline="0" noProof="0" smtClean="0">
                <a:ln>
                  <a:noFill/>
                </a:ln>
                <a:solidFill>
                  <a:srgbClr val="6A8759"/>
                </a:solidFill>
                <a:effectLst/>
                <a:uLnTx/>
                <a:uFillTx/>
                <a:latin typeface="Georgia"/>
                <a:ea typeface="+mn-ea"/>
                <a:cs typeface="+mn-cs"/>
              </a:rPr>
            </a:br>
            <a:r>
              <a:rPr kumimoji="0" lang="en-US" sz="1500" b="0" i="0" u="none" strike="noStrike" kern="1200" cap="none" spc="0" normalizeH="0" baseline="0" noProof="0" smtClean="0">
                <a:ln>
                  <a:noFill/>
                </a:ln>
                <a:solidFill>
                  <a:srgbClr val="6A8759"/>
                </a:solidFill>
                <a:effectLst/>
                <a:uLnTx/>
                <a:uFillTx/>
                <a:latin typeface="Georgia"/>
                <a:ea typeface="+mn-ea"/>
                <a:cs typeface="+mn-cs"/>
              </a:rPr>
              <a:t>    </a:t>
            </a:r>
            <a:r>
              <a:rPr kumimoji="0" lang="mr-IN" sz="1500" b="0" i="0" u="none" strike="noStrike" kern="1200" cap="none" spc="0" normalizeH="0" baseline="0" noProof="0" smtClean="0">
                <a:ln>
                  <a:noFill/>
                </a:ln>
                <a:solidFill>
                  <a:srgbClr val="6A8759"/>
                </a:solidFill>
                <a:effectLst/>
                <a:uLnTx/>
                <a:uFillTx/>
                <a:latin typeface="Georgia"/>
                <a:ea typeface="+mn-ea"/>
                <a:cs typeface="Mangal" panose="00000400000000000000" pitchFamily="2"/>
              </a:rPr>
              <a:t>……</a:t>
            </a:r>
            <a:r>
              <a:rPr kumimoji="0" lang="en-US" sz="1500" b="0" i="0" u="none" strike="noStrike" kern="1200" cap="none" spc="0" normalizeH="0" baseline="0" noProof="0" smtClean="0">
                <a:ln>
                  <a:noFill/>
                </a:ln>
                <a:solidFill>
                  <a:srgbClr val="6A8759"/>
                </a:solidFill>
                <a:effectLst/>
                <a:uLnTx/>
                <a:uFillTx/>
                <a:latin typeface="Georgia"/>
                <a:ea typeface="+mn-ea"/>
                <a:cs typeface="+mn-cs"/>
              </a:rPr>
              <a:t>.</a:t>
            </a:r>
            <a:br>
              <a:rPr kumimoji="0" lang="en-US" sz="1500" b="0" i="0" u="none" strike="noStrike" kern="1200" cap="none" spc="0" normalizeH="0" baseline="0" noProof="0" smtClean="0">
                <a:ln>
                  <a:noFill/>
                </a:ln>
                <a:solidFill>
                  <a:srgbClr val="6A8759"/>
                </a:solidFill>
                <a:effectLst/>
                <a:uLnTx/>
                <a:uFillTx/>
                <a:latin typeface="Georgia"/>
                <a:ea typeface="+mn-ea"/>
                <a:cs typeface="+mn-cs"/>
              </a:rPr>
            </a:br>
            <a:r>
              <a:rPr kumimoji="0" lang="en-US" sz="1500" b="0" i="0" u="none" strike="noStrike" kern="1200" cap="none" spc="0" normalizeH="0" baseline="0" noProof="0" smtClean="0">
                <a:ln>
                  <a:noFill/>
                </a:ln>
                <a:solidFill>
                  <a:srgbClr val="6A8759"/>
                </a:solidFill>
                <a:effectLst/>
                <a:uLnTx/>
                <a:uFillTx/>
                <a:latin typeface="Georgia"/>
                <a:ea typeface="+mn-ea"/>
                <a:cs typeface="+mn-cs"/>
              </a:rPr>
              <a:t>    </a:t>
            </a:r>
            <a:r>
              <a:rPr kumimoji="0" lang="en-US" sz="1500" b="1" i="0" u="none" strike="noStrike" kern="1200" cap="none" spc="0" normalizeH="0" baseline="0" noProof="0" smtClean="0">
                <a:ln>
                  <a:noFill/>
                </a:ln>
                <a:solidFill>
                  <a:srgbClr val="9876AA"/>
                </a:solidFill>
                <a:effectLst/>
                <a:uLnTx/>
                <a:uFillTx/>
                <a:latin typeface="Georgia"/>
                <a:ea typeface="+mn-ea"/>
                <a:cs typeface="+mn-cs"/>
              </a:rPr>
              <a:t>android</a:t>
            </a:r>
            <a:r>
              <a:rPr kumimoji="0" lang="en-US" sz="1500" b="1" i="0" u="none" strike="noStrike" kern="1200" cap="none" spc="0" normalizeH="0" baseline="0" noProof="0" smtClean="0">
                <a:ln>
                  <a:noFill/>
                </a:ln>
                <a:solidFill>
                  <a:srgbClr val="BABABA"/>
                </a:solidFill>
                <a:effectLst/>
                <a:uLnTx/>
                <a:uFillTx/>
                <a:latin typeface="Georgia"/>
                <a:ea typeface="+mn-ea"/>
                <a:cs typeface="+mn-cs"/>
              </a:rPr>
              <a:t>:layout_alignParentTop</a:t>
            </a:r>
            <a:r>
              <a:rPr kumimoji="0" lang="en-US" sz="1500" b="1" i="0" u="none" strike="noStrike" kern="1200" cap="none" spc="0" normalizeH="0" baseline="0" noProof="0" smtClean="0">
                <a:ln>
                  <a:noFill/>
                </a:ln>
                <a:solidFill>
                  <a:srgbClr val="6A8759"/>
                </a:solidFill>
                <a:effectLst/>
                <a:uLnTx/>
                <a:uFillTx/>
                <a:latin typeface="Georgia"/>
                <a:ea typeface="+mn-ea"/>
                <a:cs typeface="+mn-cs"/>
              </a:rPr>
              <a:t>="true"</a:t>
            </a:r>
            <a:br>
              <a:rPr kumimoji="0" lang="en-US" sz="1500" b="1" i="0" u="none" strike="noStrike" kern="1200" cap="none" spc="0" normalizeH="0" baseline="0" noProof="0" smtClean="0">
                <a:ln>
                  <a:noFill/>
                </a:ln>
                <a:solidFill>
                  <a:srgbClr val="6A8759"/>
                </a:solidFill>
                <a:effectLst/>
                <a:uLnTx/>
                <a:uFillTx/>
                <a:latin typeface="Georgia"/>
                <a:ea typeface="+mn-ea"/>
                <a:cs typeface="+mn-cs"/>
              </a:rPr>
            </a:br>
            <a:r>
              <a:rPr kumimoji="0" lang="en-US" sz="1500" b="1" i="0" u="none" strike="noStrike" kern="1200" cap="none" spc="0" normalizeH="0" baseline="0" noProof="0" smtClean="0">
                <a:ln>
                  <a:noFill/>
                </a:ln>
                <a:solidFill>
                  <a:srgbClr val="6A8759"/>
                </a:solidFill>
                <a:effectLst/>
                <a:uLnTx/>
                <a:uFillTx/>
                <a:latin typeface="Georgia"/>
                <a:ea typeface="+mn-ea"/>
                <a:cs typeface="+mn-cs"/>
              </a:rPr>
              <a:t>    </a:t>
            </a:r>
            <a:r>
              <a:rPr kumimoji="0" lang="en-US" sz="1500" b="1" i="0" u="none" strike="noStrike" kern="1200" cap="none" spc="0" normalizeH="0" baseline="0" noProof="0" smtClean="0">
                <a:ln>
                  <a:noFill/>
                </a:ln>
                <a:solidFill>
                  <a:srgbClr val="9876AA"/>
                </a:solidFill>
                <a:effectLst/>
                <a:uLnTx/>
                <a:uFillTx/>
                <a:latin typeface="Georgia"/>
                <a:ea typeface="+mn-ea"/>
                <a:cs typeface="+mn-cs"/>
              </a:rPr>
              <a:t>android</a:t>
            </a:r>
            <a:r>
              <a:rPr kumimoji="0" lang="en-US" sz="1500" b="1" i="0" u="none" strike="noStrike" kern="1200" cap="none" spc="0" normalizeH="0" baseline="0" noProof="0" smtClean="0">
                <a:ln>
                  <a:noFill/>
                </a:ln>
                <a:solidFill>
                  <a:srgbClr val="BABABA"/>
                </a:solidFill>
                <a:effectLst/>
                <a:uLnTx/>
                <a:uFillTx/>
                <a:latin typeface="Georgia"/>
                <a:ea typeface="+mn-ea"/>
                <a:cs typeface="+mn-cs"/>
              </a:rPr>
              <a:t>:layout_alignParentEnd</a:t>
            </a:r>
            <a:r>
              <a:rPr kumimoji="0" lang="en-US" sz="1500" b="1" i="0" u="none" strike="noStrike" kern="1200" cap="none" spc="0" normalizeH="0" baseline="0" noProof="0" smtClean="0">
                <a:ln>
                  <a:noFill/>
                </a:ln>
                <a:solidFill>
                  <a:srgbClr val="6A8759"/>
                </a:solidFill>
                <a:effectLst/>
                <a:uLnTx/>
                <a:uFillTx/>
                <a:latin typeface="Georgia"/>
                <a:ea typeface="+mn-ea"/>
                <a:cs typeface="+mn-cs"/>
              </a:rPr>
              <a:t>="true"</a:t>
            </a:r>
            <a:br>
              <a:rPr kumimoji="0" lang="en-US" sz="1500" b="1" i="0" u="none" strike="noStrike" kern="1200" cap="none" spc="0" normalizeH="0" baseline="0" noProof="0" smtClean="0">
                <a:ln>
                  <a:noFill/>
                </a:ln>
                <a:solidFill>
                  <a:srgbClr val="6A8759"/>
                </a:solidFill>
                <a:effectLst/>
                <a:uLnTx/>
                <a:uFillTx/>
                <a:latin typeface="Georgia"/>
                <a:ea typeface="+mn-ea"/>
                <a:cs typeface="+mn-cs"/>
              </a:rPr>
            </a:br>
            <a:r>
              <a:rPr kumimoji="0" lang="en-US" sz="1500" b="1" i="0" u="none" strike="noStrike" kern="1200" cap="none" spc="0" normalizeH="0" baseline="0" noProof="0" smtClean="0">
                <a:ln>
                  <a:noFill/>
                </a:ln>
                <a:solidFill>
                  <a:srgbClr val="6A8759"/>
                </a:solidFill>
                <a:effectLst/>
                <a:uLnTx/>
                <a:uFillTx/>
                <a:latin typeface="Georgia"/>
                <a:ea typeface="+mn-ea"/>
                <a:cs typeface="+mn-cs"/>
              </a:rPr>
              <a:t>    </a:t>
            </a:r>
            <a:r>
              <a:rPr kumimoji="0" lang="en-US" sz="1500" b="1" i="0" u="none" strike="noStrike" kern="1200" cap="none" spc="0" normalizeH="0" baseline="0" noProof="0" smtClean="0">
                <a:ln>
                  <a:noFill/>
                </a:ln>
                <a:solidFill>
                  <a:srgbClr val="9876AA"/>
                </a:solidFill>
                <a:effectLst/>
                <a:uLnTx/>
                <a:uFillTx/>
                <a:latin typeface="Georgia"/>
                <a:ea typeface="+mn-ea"/>
                <a:cs typeface="+mn-cs"/>
              </a:rPr>
              <a:t>android</a:t>
            </a:r>
            <a:r>
              <a:rPr kumimoji="0" lang="en-US" sz="1500" b="1" i="0" u="none" strike="noStrike" kern="1200" cap="none" spc="0" normalizeH="0" baseline="0" noProof="0" smtClean="0">
                <a:ln>
                  <a:noFill/>
                </a:ln>
                <a:solidFill>
                  <a:srgbClr val="BABABA"/>
                </a:solidFill>
                <a:effectLst/>
                <a:uLnTx/>
                <a:uFillTx/>
                <a:latin typeface="Georgia"/>
                <a:ea typeface="+mn-ea"/>
                <a:cs typeface="+mn-cs"/>
              </a:rPr>
              <a:t>:layout_marginTop</a:t>
            </a:r>
            <a:r>
              <a:rPr kumimoji="0" lang="en-US" sz="1500" b="1" i="0" u="none" strike="noStrike" kern="1200" cap="none" spc="0" normalizeH="0" baseline="0" noProof="0" smtClean="0">
                <a:ln>
                  <a:noFill/>
                </a:ln>
                <a:solidFill>
                  <a:srgbClr val="6A8759"/>
                </a:solidFill>
                <a:effectLst/>
                <a:uLnTx/>
                <a:uFillTx/>
                <a:latin typeface="Georgia"/>
                <a:ea typeface="+mn-ea"/>
                <a:cs typeface="+mn-cs"/>
              </a:rPr>
              <a:t>="116dp"</a:t>
            </a:r>
            <a:br>
              <a:rPr kumimoji="0" lang="en-US" sz="1500" b="1" i="0" u="none" strike="noStrike" kern="1200" cap="none" spc="0" normalizeH="0" baseline="0" noProof="0" smtClean="0">
                <a:ln>
                  <a:noFill/>
                </a:ln>
                <a:solidFill>
                  <a:srgbClr val="6A8759"/>
                </a:solidFill>
                <a:effectLst/>
                <a:uLnTx/>
                <a:uFillTx/>
                <a:latin typeface="Georgia"/>
                <a:ea typeface="+mn-ea"/>
                <a:cs typeface="+mn-cs"/>
              </a:rPr>
            </a:br>
            <a:r>
              <a:rPr kumimoji="0" lang="en-US" sz="1500" b="1" i="0" u="none" strike="noStrike" kern="1200" cap="none" spc="0" normalizeH="0" baseline="0" noProof="0" smtClean="0">
                <a:ln>
                  <a:noFill/>
                </a:ln>
                <a:solidFill>
                  <a:srgbClr val="6A8759"/>
                </a:solidFill>
                <a:effectLst/>
                <a:uLnTx/>
                <a:uFillTx/>
                <a:latin typeface="Georgia"/>
                <a:ea typeface="+mn-ea"/>
                <a:cs typeface="+mn-cs"/>
              </a:rPr>
              <a:t>    </a:t>
            </a:r>
            <a:r>
              <a:rPr kumimoji="0" lang="en-US" sz="1500" b="1" i="0" u="none" strike="noStrike" kern="1200" cap="none" spc="0" normalizeH="0" baseline="0" noProof="0" smtClean="0">
                <a:ln>
                  <a:noFill/>
                </a:ln>
                <a:solidFill>
                  <a:srgbClr val="9876AA"/>
                </a:solidFill>
                <a:effectLst/>
                <a:uLnTx/>
                <a:uFillTx/>
                <a:latin typeface="Georgia"/>
                <a:ea typeface="+mn-ea"/>
                <a:cs typeface="+mn-cs"/>
              </a:rPr>
              <a:t>android</a:t>
            </a:r>
            <a:r>
              <a:rPr kumimoji="0" lang="en-US" sz="1500" b="1" i="0" u="none" strike="noStrike" kern="1200" cap="none" spc="0" normalizeH="0" baseline="0" noProof="0" smtClean="0">
                <a:ln>
                  <a:noFill/>
                </a:ln>
                <a:solidFill>
                  <a:srgbClr val="BABABA"/>
                </a:solidFill>
                <a:effectLst/>
                <a:uLnTx/>
                <a:uFillTx/>
                <a:latin typeface="Georgia"/>
                <a:ea typeface="+mn-ea"/>
                <a:cs typeface="+mn-cs"/>
              </a:rPr>
              <a:t>:layout_marginEnd</a:t>
            </a:r>
            <a:r>
              <a:rPr kumimoji="0" lang="en-US" sz="1500" b="1" i="0" u="none" strike="noStrike" kern="1200" cap="none" spc="0" normalizeH="0" baseline="0" noProof="0" smtClean="0">
                <a:ln>
                  <a:noFill/>
                </a:ln>
                <a:solidFill>
                  <a:srgbClr val="6A8759"/>
                </a:solidFill>
                <a:effectLst/>
                <a:uLnTx/>
                <a:uFillTx/>
                <a:latin typeface="Georgia"/>
                <a:ea typeface="+mn-ea"/>
                <a:cs typeface="+mn-cs"/>
              </a:rPr>
              <a:t>="14dp"</a:t>
            </a:r>
            <a:r>
              <a:rPr kumimoji="0" lang="en-US" sz="1500" b="0" i="0" u="none" strike="noStrike" kern="1200" cap="none" spc="0" normalizeH="0" baseline="0" noProof="0" smtClean="0">
                <a:ln>
                  <a:noFill/>
                </a:ln>
                <a:solidFill>
                  <a:srgbClr val="6A8759"/>
                </a:solidFill>
                <a:effectLst/>
                <a:uLnTx/>
                <a:uFillTx/>
                <a:latin typeface="Georgia"/>
                <a:ea typeface="+mn-ea"/>
                <a:cs typeface="+mn-cs"/>
              </a:rPr>
              <a:t/>
            </a:r>
            <a:br>
              <a:rPr kumimoji="0" lang="en-US" sz="1500" b="0" i="0" u="none" strike="noStrike" kern="1200" cap="none" spc="0" normalizeH="0" baseline="0" noProof="0" smtClean="0">
                <a:ln>
                  <a:noFill/>
                </a:ln>
                <a:solidFill>
                  <a:srgbClr val="6A8759"/>
                </a:solidFill>
                <a:effectLst/>
                <a:uLnTx/>
                <a:uFillTx/>
                <a:latin typeface="Georgia"/>
                <a:ea typeface="+mn-ea"/>
                <a:cs typeface="+mn-cs"/>
              </a:rPr>
            </a:br>
            <a:r>
              <a:rPr kumimoji="0" lang="en-US" sz="1500" b="0" i="0" u="none" strike="noStrike" kern="1200" cap="none" spc="0" normalizeH="0" baseline="0" noProof="0" smtClean="0">
                <a:ln>
                  <a:noFill/>
                </a:ln>
                <a:solidFill>
                  <a:srgbClr val="6A8759"/>
                </a:solidFill>
                <a:effectLst/>
                <a:uLnTx/>
                <a:uFillTx/>
                <a:latin typeface="Georgia"/>
                <a:ea typeface="+mn-ea"/>
                <a:cs typeface="+mn-cs"/>
              </a:rPr>
              <a:t>    </a:t>
            </a:r>
            <a:r>
              <a:rPr kumimoji="0" lang="mr-IN" sz="1500" b="0" i="0" u="none" strike="noStrike" kern="1200" cap="none" spc="0" normalizeH="0" baseline="0" noProof="0" smtClean="0">
                <a:ln>
                  <a:noFill/>
                </a:ln>
                <a:solidFill>
                  <a:srgbClr val="6A8759"/>
                </a:solidFill>
                <a:effectLst/>
                <a:uLnTx/>
                <a:uFillTx/>
                <a:latin typeface="Georgia"/>
                <a:ea typeface="+mn-ea"/>
                <a:cs typeface="Mangal" panose="00000400000000000000" pitchFamily="2"/>
              </a:rPr>
              <a:t>……</a:t>
            </a:r>
            <a:r>
              <a:rPr kumimoji="0" lang="en-US" sz="1500" b="0" i="0" u="none" strike="noStrike" kern="1200" cap="none" spc="0" normalizeH="0" baseline="0" noProof="0" smtClean="0">
                <a:ln>
                  <a:noFill/>
                </a:ln>
                <a:solidFill>
                  <a:srgbClr val="6A8759"/>
                </a:solidFill>
                <a:effectLst/>
                <a:uLnTx/>
                <a:uFillTx/>
                <a:latin typeface="Georgia"/>
                <a:ea typeface="+mn-ea"/>
                <a:cs typeface="+mn-cs"/>
              </a:rPr>
              <a:t>.</a:t>
            </a:r>
            <a:r>
              <a:rPr kumimoji="0" lang="en-US" sz="1500" b="0" i="0" u="none" strike="noStrike" kern="1200" cap="none" spc="0" normalizeH="0" baseline="0" noProof="0" smtClean="0">
                <a:ln>
                  <a:noFill/>
                </a:ln>
                <a:solidFill>
                  <a:srgbClr val="E8BF6A"/>
                </a:solidFill>
                <a:effectLst/>
                <a:uLnTx/>
                <a:uFillTx/>
                <a:latin typeface="Georgia"/>
                <a:ea typeface="+mn-ea"/>
                <a:cs typeface="+mn-cs"/>
              </a:rPr>
              <a:t>/&gt;</a:t>
            </a:r>
            <a:endParaRPr kumimoji="0" lang="en-US" sz="1500" b="0" i="0" u="none" strike="noStrike" kern="1200" cap="none" spc="0" normalizeH="0" baseline="0" noProof="0" smtClean="0">
              <a:ln>
                <a:noFill/>
              </a:ln>
              <a:solidFill>
                <a:prstClr val="black"/>
              </a:solidFill>
              <a:effectLst/>
              <a:uLnTx/>
              <a:uFillTx/>
              <a:latin typeface="Georgia"/>
              <a:ea typeface="+mn-ea"/>
              <a:cs typeface="+mn-cs"/>
            </a:endParaRPr>
          </a:p>
        </p:txBody>
      </p:sp>
    </p:spTree>
    <p:extLst>
      <p:ext uri="{BB962C8B-B14F-4D97-AF65-F5344CB8AC3E}">
        <p14:creationId xmlns:p14="http://schemas.microsoft.com/office/powerpoint/2010/main" val="676624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5. Relative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11" name="Picture 2" descr="7_Layout_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6729" y="1127925"/>
            <a:ext cx="5905500" cy="460057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p:nvPicPr>
        <p:blipFill>
          <a:blip r:embed="rId4"/>
          <a:stretch>
            <a:fillRect/>
          </a:stretch>
        </p:blipFill>
        <p:spPr>
          <a:xfrm>
            <a:off x="8072704" y="3081388"/>
            <a:ext cx="1988192" cy="2915120"/>
          </a:xfrm>
          <a:prstGeom prst="rect">
            <a:avLst/>
          </a:prstGeom>
        </p:spPr>
      </p:pic>
    </p:spTree>
    <p:extLst>
      <p:ext uri="{BB962C8B-B14F-4D97-AF65-F5344CB8AC3E}">
        <p14:creationId xmlns:p14="http://schemas.microsoft.com/office/powerpoint/2010/main" val="24305728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6. Constraint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1" name="Rectangle 10"/>
          <p:cNvSpPr/>
          <p:nvPr/>
        </p:nvSpPr>
        <p:spPr>
          <a:xfrm>
            <a:off x="458478" y="978006"/>
            <a:ext cx="11223769" cy="1261884"/>
          </a:xfrm>
          <a:prstGeom prst="rect">
            <a:avLst/>
          </a:prstGeom>
        </p:spPr>
        <p:txBody>
          <a:bodyPr wrap="square">
            <a:spAutoFit/>
          </a:bodyPr>
          <a:lstStyle/>
          <a:p>
            <a:pPr marL="342900" indent="-342900" algn="just">
              <a:spcBef>
                <a:spcPts val="600"/>
              </a:spcBef>
              <a:spcAft>
                <a:spcPts val="600"/>
              </a:spcAft>
              <a:buClrTx/>
              <a:buFont typeface="Wingdings" charset="2"/>
              <a:buChar char="ü"/>
            </a:pPr>
            <a:r>
              <a:rPr lang="en-US" sz="2200" i="1" kern="1200">
                <a:solidFill>
                  <a:prstClr val="black"/>
                </a:solidFill>
                <a:latin typeface="Cambria" panose="02040503050406030204" pitchFamily="18" charset="0"/>
                <a:ea typeface="+mn-ea"/>
                <a:cs typeface="+mn-cs"/>
              </a:rPr>
              <a:t>ConstraintLayout helps design interfaces with certain constraints and linking principles between components (views).</a:t>
            </a:r>
          </a:p>
          <a:p>
            <a:pPr marL="342900" indent="-342900" algn="just">
              <a:spcBef>
                <a:spcPts val="600"/>
              </a:spcBef>
              <a:spcAft>
                <a:spcPts val="600"/>
              </a:spcAft>
              <a:buClrTx/>
              <a:buFont typeface="Wingdings" charset="2"/>
              <a:buChar char="ü"/>
            </a:pPr>
            <a:r>
              <a:rPr lang="en-US" sz="2200" i="1" kern="1200">
                <a:solidFill>
                  <a:prstClr val="black"/>
                </a:solidFill>
                <a:latin typeface="Cambria" panose="02040503050406030204" pitchFamily="18" charset="0"/>
                <a:ea typeface="+mn-ea"/>
                <a:cs typeface="+mn-cs"/>
              </a:rPr>
              <a:t>Each view must have at least one horizontal anchor point and one vertical anchor point.</a:t>
            </a:r>
            <a:endParaRPr lang="en-US" sz="2200" i="1" kern="1200">
              <a:solidFill>
                <a:prstClr val="black"/>
              </a:solidFill>
              <a:latin typeface="Cambria" charset="0"/>
              <a:ea typeface="Cambria" charset="0"/>
              <a:cs typeface="Cambria" charset="0"/>
            </a:endParaRPr>
          </a:p>
        </p:txBody>
      </p:sp>
    </p:spTree>
    <p:extLst>
      <p:ext uri="{BB962C8B-B14F-4D97-AF65-F5344CB8AC3E}">
        <p14:creationId xmlns:p14="http://schemas.microsoft.com/office/powerpoint/2010/main" val="19767517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6. Constraint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0" name="Content Placeholder 2"/>
          <p:cNvSpPr txBox="1">
            <a:spLocks/>
          </p:cNvSpPr>
          <p:nvPr/>
        </p:nvSpPr>
        <p:spPr>
          <a:xfrm>
            <a:off x="670035" y="850644"/>
            <a:ext cx="8458200" cy="4115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buClrTx/>
              <a:buFont typeface="Wingdings" charset="2"/>
              <a:buChar char="ü"/>
            </a:pPr>
            <a:r>
              <a:rPr lang="en-US" sz="2400" smtClean="0">
                <a:solidFill>
                  <a:prstClr val="black"/>
                </a:solidFill>
                <a:latin typeface="Georgia"/>
              </a:rPr>
              <a:t>Create </a:t>
            </a:r>
            <a:r>
              <a:rPr lang="en-US" sz="2400">
                <a:solidFill>
                  <a:prstClr val="black"/>
                </a:solidFill>
                <a:latin typeface="Georgia"/>
              </a:rPr>
              <a:t>constraint</a:t>
            </a:r>
          </a:p>
        </p:txBody>
      </p:sp>
      <p:pic>
        <p:nvPicPr>
          <p:cNvPr id="11" name="Picture 10"/>
          <p:cNvPicPr>
            <a:picLocks noChangeAspect="1"/>
          </p:cNvPicPr>
          <p:nvPr/>
        </p:nvPicPr>
        <p:blipFill>
          <a:blip r:embed="rId3"/>
          <a:stretch>
            <a:fillRect/>
          </a:stretch>
        </p:blipFill>
        <p:spPr>
          <a:xfrm>
            <a:off x="1609835" y="1414206"/>
            <a:ext cx="6985000" cy="4419600"/>
          </a:xfrm>
          <a:prstGeom prst="rect">
            <a:avLst/>
          </a:prstGeom>
        </p:spPr>
      </p:pic>
    </p:spTree>
    <p:extLst>
      <p:ext uri="{BB962C8B-B14F-4D97-AF65-F5344CB8AC3E}">
        <p14:creationId xmlns:p14="http://schemas.microsoft.com/office/powerpoint/2010/main" val="42366773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6. Constraint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10" name="Picture 9"/>
          <p:cNvPicPr>
            <a:picLocks noChangeAspect="1"/>
          </p:cNvPicPr>
          <p:nvPr/>
        </p:nvPicPr>
        <p:blipFill>
          <a:blip r:embed="rId3"/>
          <a:stretch>
            <a:fillRect/>
          </a:stretch>
        </p:blipFill>
        <p:spPr>
          <a:xfrm>
            <a:off x="2175487" y="1584554"/>
            <a:ext cx="7023100" cy="1181100"/>
          </a:xfrm>
          <a:prstGeom prst="rect">
            <a:avLst/>
          </a:prstGeom>
        </p:spPr>
      </p:pic>
      <p:sp>
        <p:nvSpPr>
          <p:cNvPr id="11" name="Content Placeholder 2"/>
          <p:cNvSpPr txBox="1">
            <a:spLocks/>
          </p:cNvSpPr>
          <p:nvPr/>
        </p:nvSpPr>
        <p:spPr>
          <a:xfrm>
            <a:off x="607913" y="902723"/>
            <a:ext cx="8458200" cy="4115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buClrTx/>
              <a:buFont typeface="Wingdings" charset="2"/>
              <a:buChar char="ü"/>
            </a:pPr>
            <a:r>
              <a:rPr lang="en-US" sz="2400" smtClean="0">
                <a:solidFill>
                  <a:prstClr val="black"/>
                </a:solidFill>
                <a:latin typeface="Georgia"/>
              </a:rPr>
              <a:t>Create </a:t>
            </a:r>
            <a:r>
              <a:rPr lang="en-US" sz="2400">
                <a:solidFill>
                  <a:prstClr val="black"/>
                </a:solidFill>
                <a:latin typeface="Georgia"/>
              </a:rPr>
              <a:t>baseline constraint</a:t>
            </a:r>
          </a:p>
        </p:txBody>
      </p:sp>
      <p:sp>
        <p:nvSpPr>
          <p:cNvPr id="12" name="Content Placeholder 2"/>
          <p:cNvSpPr txBox="1">
            <a:spLocks/>
          </p:cNvSpPr>
          <p:nvPr/>
        </p:nvSpPr>
        <p:spPr>
          <a:xfrm>
            <a:off x="1065113" y="3035941"/>
            <a:ext cx="10270294" cy="10211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ClrTx/>
              <a:buNone/>
            </a:pPr>
            <a:r>
              <a:rPr lang="en-US" sz="2200" i="1">
                <a:solidFill>
                  <a:prstClr val="black"/>
                </a:solidFill>
                <a:latin typeface="Cambria Math" charset="0"/>
                <a:ea typeface="Cambria Math" charset="0"/>
                <a:cs typeface="Cambria Math" charset="0"/>
                <a:sym typeface="Wingdings"/>
              </a:rPr>
              <a:t> Baseline constraint helps align the position of views based on the text inside, suitable for views such as: TextView, EditText, Button, ...</a:t>
            </a:r>
            <a:endParaRPr lang="en-US" sz="2200" i="1">
              <a:solidFill>
                <a:prstClr val="black"/>
              </a:solidFill>
              <a:latin typeface="Cambria Math" charset="0"/>
              <a:ea typeface="Cambria Math" charset="0"/>
              <a:cs typeface="Cambria Math" charset="0"/>
            </a:endParaRPr>
          </a:p>
        </p:txBody>
      </p:sp>
    </p:spTree>
    <p:extLst>
      <p:ext uri="{BB962C8B-B14F-4D97-AF65-F5344CB8AC3E}">
        <p14:creationId xmlns:p14="http://schemas.microsoft.com/office/powerpoint/2010/main" val="3694987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6. Constraint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0" name="Content Placeholder 2"/>
          <p:cNvSpPr txBox="1">
            <a:spLocks/>
          </p:cNvSpPr>
          <p:nvPr/>
        </p:nvSpPr>
        <p:spPr>
          <a:xfrm>
            <a:off x="837454" y="894716"/>
            <a:ext cx="8435506" cy="4115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buClrTx/>
              <a:buFont typeface="Wingdings" charset="2"/>
              <a:buChar char="ü"/>
            </a:pPr>
            <a:r>
              <a:rPr lang="en-US" sz="2400" smtClean="0">
                <a:solidFill>
                  <a:prstClr val="black"/>
                </a:solidFill>
                <a:latin typeface="Georgia"/>
              </a:rPr>
              <a:t>Create </a:t>
            </a:r>
            <a:r>
              <a:rPr lang="en-US" sz="2400">
                <a:solidFill>
                  <a:prstClr val="black"/>
                </a:solidFill>
                <a:latin typeface="Georgia"/>
              </a:rPr>
              <a:t>constraint</a:t>
            </a:r>
          </a:p>
        </p:txBody>
      </p:sp>
      <p:pic>
        <p:nvPicPr>
          <p:cNvPr id="11" name="Picture 10"/>
          <p:cNvPicPr>
            <a:picLocks noChangeAspect="1"/>
          </p:cNvPicPr>
          <p:nvPr/>
        </p:nvPicPr>
        <p:blipFill>
          <a:blip r:embed="rId3"/>
          <a:stretch>
            <a:fillRect/>
          </a:stretch>
        </p:blipFill>
        <p:spPr>
          <a:xfrm>
            <a:off x="2249860" y="1420178"/>
            <a:ext cx="3441700" cy="4457700"/>
          </a:xfrm>
          <a:prstGeom prst="rect">
            <a:avLst/>
          </a:prstGeom>
        </p:spPr>
      </p:pic>
      <p:pic>
        <p:nvPicPr>
          <p:cNvPr id="12" name="Picture 11"/>
          <p:cNvPicPr>
            <a:picLocks noChangeAspect="1"/>
          </p:cNvPicPr>
          <p:nvPr/>
        </p:nvPicPr>
        <p:blipFill>
          <a:blip r:embed="rId4"/>
          <a:stretch>
            <a:fillRect/>
          </a:stretch>
        </p:blipFill>
        <p:spPr>
          <a:xfrm>
            <a:off x="5903396" y="696278"/>
            <a:ext cx="3423070" cy="5508812"/>
          </a:xfrm>
          <a:prstGeom prst="rect">
            <a:avLst/>
          </a:prstGeom>
        </p:spPr>
      </p:pic>
      <p:sp>
        <p:nvSpPr>
          <p:cNvPr id="13" name="Rounded Rectangular Callout 12"/>
          <p:cNvSpPr/>
          <p:nvPr/>
        </p:nvSpPr>
        <p:spPr>
          <a:xfrm>
            <a:off x="8053760" y="1390398"/>
            <a:ext cx="990600" cy="381000"/>
          </a:xfrm>
          <a:prstGeom prst="wedgeRoundRectCallout">
            <a:avLst>
              <a:gd name="adj1" fmla="val -92326"/>
              <a:gd name="adj2" fmla="val 73088"/>
              <a:gd name="adj3" fmla="val 16667"/>
            </a:avLst>
          </a:prstGeom>
          <a:solidFill>
            <a:sysClr val="window" lastClr="FFFFFF"/>
          </a:solidFill>
          <a:ln w="1905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smtClean="0">
                <a:ln>
                  <a:noFill/>
                </a:ln>
                <a:solidFill>
                  <a:srgbClr val="FF0000"/>
                </a:solidFill>
                <a:effectLst/>
                <a:uLnTx/>
                <a:uFillTx/>
                <a:latin typeface="Georgia"/>
                <a:ea typeface="+mn-ea"/>
                <a:cs typeface="+mn-cs"/>
              </a:rPr>
              <a:t>Margin</a:t>
            </a:r>
          </a:p>
        </p:txBody>
      </p:sp>
      <p:sp>
        <p:nvSpPr>
          <p:cNvPr id="14" name="Rounded Rectangular Callout 13"/>
          <p:cNvSpPr/>
          <p:nvPr/>
        </p:nvSpPr>
        <p:spPr>
          <a:xfrm>
            <a:off x="8049022" y="2753678"/>
            <a:ext cx="1147738" cy="381000"/>
          </a:xfrm>
          <a:prstGeom prst="wedgeRoundRectCallout">
            <a:avLst>
              <a:gd name="adj1" fmla="val -81782"/>
              <a:gd name="adj2" fmla="val -159853"/>
              <a:gd name="adj3" fmla="val 16667"/>
            </a:avLst>
          </a:prstGeom>
          <a:solidFill>
            <a:sysClr val="window" lastClr="FFFFFF"/>
          </a:solidFill>
          <a:ln w="1905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smtClean="0">
                <a:ln>
                  <a:noFill/>
                </a:ln>
                <a:solidFill>
                  <a:srgbClr val="FF0000"/>
                </a:solidFill>
                <a:effectLst/>
                <a:uLnTx/>
                <a:uFillTx/>
                <a:latin typeface="Georgia"/>
                <a:ea typeface="+mn-ea"/>
                <a:cs typeface="+mn-cs"/>
              </a:rPr>
              <a:t>Distance</a:t>
            </a:r>
          </a:p>
        </p:txBody>
      </p:sp>
      <p:sp>
        <p:nvSpPr>
          <p:cNvPr id="15" name="Rounded Rectangular Callout 14"/>
          <p:cNvSpPr/>
          <p:nvPr/>
        </p:nvSpPr>
        <p:spPr>
          <a:xfrm>
            <a:off x="6072560" y="2688493"/>
            <a:ext cx="990600" cy="381000"/>
          </a:xfrm>
          <a:prstGeom prst="wedgeRoundRectCallout">
            <a:avLst>
              <a:gd name="adj1" fmla="val 51566"/>
              <a:gd name="adj2" fmla="val 80147"/>
              <a:gd name="adj3" fmla="val 16667"/>
            </a:avLst>
          </a:prstGeom>
          <a:solidFill>
            <a:sysClr val="window" lastClr="FFFFFF"/>
          </a:solidFill>
          <a:ln w="1905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smtClean="0">
                <a:ln>
                  <a:noFill/>
                </a:ln>
                <a:solidFill>
                  <a:srgbClr val="FF0000"/>
                </a:solidFill>
                <a:effectLst/>
                <a:uLnTx/>
                <a:uFillTx/>
                <a:latin typeface="Georgia"/>
                <a:ea typeface="+mn-ea"/>
                <a:cs typeface="+mn-cs"/>
              </a:rPr>
              <a:t>Bias</a:t>
            </a:r>
          </a:p>
        </p:txBody>
      </p:sp>
    </p:spTree>
    <p:extLst>
      <p:ext uri="{BB962C8B-B14F-4D97-AF65-F5344CB8AC3E}">
        <p14:creationId xmlns:p14="http://schemas.microsoft.com/office/powerpoint/2010/main" val="250329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6. Constraint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0" name="Content Placeholder 2"/>
          <p:cNvSpPr txBox="1">
            <a:spLocks/>
          </p:cNvSpPr>
          <p:nvPr/>
        </p:nvSpPr>
        <p:spPr>
          <a:xfrm>
            <a:off x="607913" y="902723"/>
            <a:ext cx="8458200" cy="4115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buClrTx/>
              <a:buFont typeface="Wingdings" charset="2"/>
              <a:buChar char="ü"/>
            </a:pPr>
            <a:r>
              <a:rPr lang="en-US" sz="2400" smtClean="0">
                <a:solidFill>
                  <a:prstClr val="black"/>
                </a:solidFill>
                <a:latin typeface="Georgia"/>
              </a:rPr>
              <a:t>Remove </a:t>
            </a:r>
            <a:r>
              <a:rPr lang="en-US" sz="2400">
                <a:solidFill>
                  <a:prstClr val="black"/>
                </a:solidFill>
                <a:latin typeface="Georgia"/>
              </a:rPr>
              <a:t>constraint</a:t>
            </a:r>
          </a:p>
        </p:txBody>
      </p:sp>
      <p:pic>
        <p:nvPicPr>
          <p:cNvPr id="11" name="Picture 10"/>
          <p:cNvPicPr>
            <a:picLocks noChangeAspect="1"/>
          </p:cNvPicPr>
          <p:nvPr/>
        </p:nvPicPr>
        <p:blipFill>
          <a:blip r:embed="rId3"/>
          <a:stretch>
            <a:fillRect/>
          </a:stretch>
        </p:blipFill>
        <p:spPr>
          <a:xfrm>
            <a:off x="2525613" y="1542485"/>
            <a:ext cx="4635500" cy="762000"/>
          </a:xfrm>
          <a:prstGeom prst="rect">
            <a:avLst/>
          </a:prstGeom>
        </p:spPr>
      </p:pic>
      <p:sp>
        <p:nvSpPr>
          <p:cNvPr id="12" name="Rounded Rectangle 11"/>
          <p:cNvSpPr/>
          <p:nvPr/>
        </p:nvSpPr>
        <p:spPr>
          <a:xfrm>
            <a:off x="3960713" y="1923485"/>
            <a:ext cx="381000" cy="381000"/>
          </a:xfrm>
          <a:prstGeom prst="roundRect">
            <a:avLst/>
          </a:prstGeom>
          <a:noFill/>
          <a:ln w="381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Georgia"/>
              <a:ea typeface="+mn-ea"/>
              <a:cs typeface="+mn-cs"/>
            </a:endParaRPr>
          </a:p>
        </p:txBody>
      </p:sp>
      <p:pic>
        <p:nvPicPr>
          <p:cNvPr id="13" name="Picture 12"/>
          <p:cNvPicPr>
            <a:picLocks noChangeAspect="1"/>
          </p:cNvPicPr>
          <p:nvPr/>
        </p:nvPicPr>
        <p:blipFill>
          <a:blip r:embed="rId4"/>
          <a:stretch>
            <a:fillRect/>
          </a:stretch>
        </p:blipFill>
        <p:spPr>
          <a:xfrm>
            <a:off x="1293713" y="2558485"/>
            <a:ext cx="7251700" cy="3022600"/>
          </a:xfrm>
          <a:prstGeom prst="rect">
            <a:avLst/>
          </a:prstGeom>
        </p:spPr>
      </p:pic>
    </p:spTree>
    <p:extLst>
      <p:ext uri="{BB962C8B-B14F-4D97-AF65-F5344CB8AC3E}">
        <p14:creationId xmlns:p14="http://schemas.microsoft.com/office/powerpoint/2010/main" val="143316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6. Constraint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0" name="Content Placeholder 2"/>
          <p:cNvSpPr txBox="1">
            <a:spLocks/>
          </p:cNvSpPr>
          <p:nvPr/>
        </p:nvSpPr>
        <p:spPr>
          <a:xfrm>
            <a:off x="586013" y="902723"/>
            <a:ext cx="8458200" cy="4115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buClrTx/>
              <a:buFont typeface="Wingdings" charset="2"/>
              <a:buChar char="ü"/>
            </a:pPr>
            <a:r>
              <a:rPr lang="en-US" sz="2400">
                <a:solidFill>
                  <a:prstClr val="black"/>
                </a:solidFill>
                <a:latin typeface="Georgia"/>
              </a:rPr>
              <a:t>Ratio -&gt; Adjust view size proportionally</a:t>
            </a:r>
          </a:p>
        </p:txBody>
      </p:sp>
      <p:sp>
        <p:nvSpPr>
          <p:cNvPr id="11" name="Rounded Rectangle 10"/>
          <p:cNvSpPr/>
          <p:nvPr/>
        </p:nvSpPr>
        <p:spPr>
          <a:xfrm>
            <a:off x="3938813" y="1923485"/>
            <a:ext cx="381000" cy="381000"/>
          </a:xfrm>
          <a:prstGeom prst="roundRect">
            <a:avLst/>
          </a:prstGeom>
          <a:noFill/>
          <a:ln w="381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Georgia"/>
              <a:ea typeface="+mn-ea"/>
              <a:cs typeface="+mn-cs"/>
            </a:endParaRPr>
          </a:p>
        </p:txBody>
      </p:sp>
      <p:pic>
        <p:nvPicPr>
          <p:cNvPr id="12" name="Picture 11"/>
          <p:cNvPicPr>
            <a:picLocks noChangeAspect="1"/>
          </p:cNvPicPr>
          <p:nvPr/>
        </p:nvPicPr>
        <p:blipFill>
          <a:blip r:embed="rId3"/>
          <a:stretch>
            <a:fillRect/>
          </a:stretch>
        </p:blipFill>
        <p:spPr>
          <a:xfrm>
            <a:off x="1640113" y="1508223"/>
            <a:ext cx="3365500" cy="4356100"/>
          </a:xfrm>
          <a:prstGeom prst="rect">
            <a:avLst/>
          </a:prstGeom>
        </p:spPr>
      </p:pic>
      <p:pic>
        <p:nvPicPr>
          <p:cNvPr id="13" name="Picture 12"/>
          <p:cNvPicPr>
            <a:picLocks noChangeAspect="1"/>
          </p:cNvPicPr>
          <p:nvPr/>
        </p:nvPicPr>
        <p:blipFill>
          <a:blip r:embed="rId4"/>
          <a:stretch>
            <a:fillRect/>
          </a:stretch>
        </p:blipFill>
        <p:spPr>
          <a:xfrm>
            <a:off x="5395091" y="1485811"/>
            <a:ext cx="3191923" cy="4378512"/>
          </a:xfrm>
          <a:prstGeom prst="rect">
            <a:avLst/>
          </a:prstGeom>
        </p:spPr>
      </p:pic>
      <p:cxnSp>
        <p:nvCxnSpPr>
          <p:cNvPr id="14" name="Straight Arrow Connector 13"/>
          <p:cNvCxnSpPr/>
          <p:nvPr/>
        </p:nvCxnSpPr>
        <p:spPr>
          <a:xfrm>
            <a:off x="6224813" y="2533085"/>
            <a:ext cx="304800" cy="152400"/>
          </a:xfrm>
          <a:prstGeom prst="straightConnector1">
            <a:avLst/>
          </a:prstGeom>
          <a:noFill/>
          <a:ln w="38100" cap="flat" cmpd="sng" algn="ctr">
            <a:solidFill>
              <a:sysClr val="window" lastClr="FFFFFF"/>
            </a:solidFill>
            <a:prstDash val="solid"/>
            <a:tailEnd type="triangle"/>
          </a:ln>
          <a:effectLst/>
        </p:spPr>
      </p:cxnSp>
      <p:cxnSp>
        <p:nvCxnSpPr>
          <p:cNvPr id="15" name="Straight Arrow Connector 14"/>
          <p:cNvCxnSpPr/>
          <p:nvPr/>
        </p:nvCxnSpPr>
        <p:spPr>
          <a:xfrm flipH="1" flipV="1">
            <a:off x="7977413" y="3980885"/>
            <a:ext cx="381000" cy="228600"/>
          </a:xfrm>
          <a:prstGeom prst="straightConnector1">
            <a:avLst/>
          </a:prstGeom>
          <a:noFill/>
          <a:ln w="38100" cap="flat" cmpd="sng" algn="ctr">
            <a:solidFill>
              <a:sysClr val="window" lastClr="FFFFFF"/>
            </a:solidFill>
            <a:prstDash val="solid"/>
            <a:tailEnd type="triangle"/>
          </a:ln>
          <a:effectLst/>
        </p:spPr>
      </p:cxnSp>
    </p:spTree>
    <p:extLst>
      <p:ext uri="{BB962C8B-B14F-4D97-AF65-F5344CB8AC3E}">
        <p14:creationId xmlns:p14="http://schemas.microsoft.com/office/powerpoint/2010/main" val="30841844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6. Constraint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0" name="Content Placeholder 2"/>
          <p:cNvSpPr txBox="1">
            <a:spLocks/>
          </p:cNvSpPr>
          <p:nvPr/>
        </p:nvSpPr>
        <p:spPr>
          <a:xfrm>
            <a:off x="612747" y="902723"/>
            <a:ext cx="8458200" cy="4115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buClrTx/>
              <a:buFont typeface="Wingdings" charset="2"/>
              <a:buChar char="ü"/>
            </a:pPr>
            <a:r>
              <a:rPr lang="en-US" sz="2400">
                <a:solidFill>
                  <a:prstClr val="black"/>
                </a:solidFill>
                <a:latin typeface="Georgia"/>
              </a:rPr>
              <a:t>Chain -&gt; chain views</a:t>
            </a:r>
          </a:p>
        </p:txBody>
      </p:sp>
      <p:cxnSp>
        <p:nvCxnSpPr>
          <p:cNvPr id="12" name="Straight Arrow Connector 11"/>
          <p:cNvCxnSpPr/>
          <p:nvPr/>
        </p:nvCxnSpPr>
        <p:spPr>
          <a:xfrm>
            <a:off x="7205361" y="2287764"/>
            <a:ext cx="304800" cy="152400"/>
          </a:xfrm>
          <a:prstGeom prst="straightConnector1">
            <a:avLst/>
          </a:prstGeom>
          <a:noFill/>
          <a:ln w="38100" cap="flat" cmpd="sng" algn="ctr">
            <a:solidFill>
              <a:sysClr val="window" lastClr="FFFFFF"/>
            </a:solidFill>
            <a:prstDash val="solid"/>
            <a:tailEnd type="triangle"/>
          </a:ln>
          <a:effectLst/>
        </p:spPr>
      </p:cxnSp>
      <p:cxnSp>
        <p:nvCxnSpPr>
          <p:cNvPr id="13" name="Straight Arrow Connector 12"/>
          <p:cNvCxnSpPr/>
          <p:nvPr/>
        </p:nvCxnSpPr>
        <p:spPr>
          <a:xfrm flipH="1" flipV="1">
            <a:off x="8957961" y="3735564"/>
            <a:ext cx="381000" cy="228600"/>
          </a:xfrm>
          <a:prstGeom prst="straightConnector1">
            <a:avLst/>
          </a:prstGeom>
          <a:noFill/>
          <a:ln w="38100" cap="flat" cmpd="sng" algn="ctr">
            <a:solidFill>
              <a:sysClr val="window" lastClr="FFFFFF"/>
            </a:solidFill>
            <a:prstDash val="solid"/>
            <a:tailEnd type="triangle"/>
          </a:ln>
          <a:effectLst/>
        </p:spPr>
      </p:cxnSp>
      <p:sp>
        <p:nvSpPr>
          <p:cNvPr id="14" name="Content Placeholder 2"/>
          <p:cNvSpPr txBox="1">
            <a:spLocks/>
          </p:cNvSpPr>
          <p:nvPr/>
        </p:nvSpPr>
        <p:spPr>
          <a:xfrm>
            <a:off x="528145" y="1359541"/>
            <a:ext cx="11288110" cy="10211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ClrTx/>
              <a:buFont typeface="Arial" pitchFamily="34" charset="0"/>
              <a:buNone/>
            </a:pPr>
            <a:r>
              <a:rPr lang="en-US" sz="2200" i="1" smtClean="0">
                <a:solidFill>
                  <a:prstClr val="black"/>
                </a:solidFill>
                <a:latin typeface="Cambria Math" charset="0"/>
                <a:ea typeface="Cambria Math" charset="0"/>
                <a:cs typeface="Cambria Math" charset="0"/>
                <a:sym typeface="Wingdings"/>
              </a:rPr>
              <a:t>Create </a:t>
            </a:r>
            <a:r>
              <a:rPr lang="en-US" sz="2200" i="1">
                <a:solidFill>
                  <a:prstClr val="black"/>
                </a:solidFill>
                <a:latin typeface="Cambria Math" charset="0"/>
                <a:ea typeface="Cambria Math" charset="0"/>
                <a:cs typeface="Cambria Math" charset="0"/>
                <a:sym typeface="Wingdings"/>
              </a:rPr>
              <a:t>chain: </a:t>
            </a:r>
            <a:r>
              <a:rPr lang="en-US" sz="2200" i="1" smtClean="0">
                <a:solidFill>
                  <a:prstClr val="black"/>
                </a:solidFill>
                <a:latin typeface="Cambria Math" charset="0"/>
                <a:ea typeface="Cambria Math" charset="0"/>
                <a:cs typeface="Cambria Math" charset="0"/>
                <a:sym typeface="Wingdings"/>
              </a:rPr>
              <a:t>Choose all Views </a:t>
            </a:r>
            <a:r>
              <a:rPr lang="en-US" sz="2200" i="1">
                <a:solidFill>
                  <a:prstClr val="black"/>
                </a:solidFill>
                <a:latin typeface="Cambria Math" charset="0"/>
                <a:ea typeface="Cambria Math" charset="0"/>
                <a:cs typeface="Cambria Math" charset="0"/>
                <a:sym typeface="Wingdings"/>
              </a:rPr>
              <a:t> </a:t>
            </a:r>
            <a:r>
              <a:rPr lang="en-US" sz="2200" i="1" smtClean="0">
                <a:solidFill>
                  <a:prstClr val="black"/>
                </a:solidFill>
                <a:latin typeface="Cambria Math" charset="0"/>
                <a:ea typeface="Cambria Math" charset="0"/>
                <a:cs typeface="Cambria Math" charset="0"/>
                <a:sym typeface="Wingdings"/>
              </a:rPr>
              <a:t>Right click  </a:t>
            </a:r>
            <a:r>
              <a:rPr lang="en-US" sz="2200" i="1">
                <a:solidFill>
                  <a:prstClr val="black"/>
                </a:solidFill>
                <a:latin typeface="Cambria Math" charset="0"/>
                <a:ea typeface="Cambria Math" charset="0"/>
                <a:cs typeface="Cambria Math" charset="0"/>
                <a:sym typeface="Wingdings"/>
              </a:rPr>
              <a:t>Chains  Create Horizontal/Vertical Chain</a:t>
            </a:r>
            <a:endParaRPr lang="en-US" sz="2200" i="1">
              <a:solidFill>
                <a:prstClr val="black"/>
              </a:solidFill>
              <a:latin typeface="Cambria Math" charset="0"/>
              <a:ea typeface="Cambria Math" charset="0"/>
              <a:cs typeface="Cambria Math" charset="0"/>
            </a:endParaRPr>
          </a:p>
        </p:txBody>
      </p:sp>
      <p:pic>
        <p:nvPicPr>
          <p:cNvPr id="15" name="Picture 14"/>
          <p:cNvPicPr>
            <a:picLocks noChangeAspect="1"/>
          </p:cNvPicPr>
          <p:nvPr/>
        </p:nvPicPr>
        <p:blipFill>
          <a:blip r:embed="rId3"/>
          <a:stretch>
            <a:fillRect/>
          </a:stretch>
        </p:blipFill>
        <p:spPr>
          <a:xfrm>
            <a:off x="2777543" y="2090540"/>
            <a:ext cx="6108700" cy="850900"/>
          </a:xfrm>
          <a:prstGeom prst="rect">
            <a:avLst/>
          </a:prstGeom>
        </p:spPr>
      </p:pic>
      <p:pic>
        <p:nvPicPr>
          <p:cNvPr id="16" name="Picture 15"/>
          <p:cNvPicPr>
            <a:picLocks noChangeAspect="1"/>
          </p:cNvPicPr>
          <p:nvPr/>
        </p:nvPicPr>
        <p:blipFill>
          <a:blip r:embed="rId4"/>
          <a:stretch>
            <a:fillRect/>
          </a:stretch>
        </p:blipFill>
        <p:spPr>
          <a:xfrm>
            <a:off x="2779411" y="3570464"/>
            <a:ext cx="6108700" cy="774700"/>
          </a:xfrm>
          <a:prstGeom prst="rect">
            <a:avLst/>
          </a:prstGeom>
        </p:spPr>
      </p:pic>
      <p:sp>
        <p:nvSpPr>
          <p:cNvPr id="17" name="Down Arrow 16"/>
          <p:cNvSpPr/>
          <p:nvPr/>
        </p:nvSpPr>
        <p:spPr>
          <a:xfrm>
            <a:off x="5528961" y="3049764"/>
            <a:ext cx="192368" cy="381000"/>
          </a:xfrm>
          <a:prstGeom prst="downArrow">
            <a:avLst/>
          </a:prstGeom>
          <a:solidFill>
            <a:srgbClr val="17406D">
              <a:lumMod val="75000"/>
            </a:srgbClr>
          </a:solidFill>
          <a:ln w="9525" cap="flat" cmpd="sng" algn="ctr">
            <a:noFill/>
            <a:prstDash val="solid"/>
          </a:ln>
          <a:effectLst>
            <a:outerShdw blurRad="50800" dist="254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Georgia"/>
              <a:ea typeface="+mn-ea"/>
              <a:cs typeface="+mn-cs"/>
            </a:endParaRPr>
          </a:p>
        </p:txBody>
      </p:sp>
    </p:spTree>
    <p:extLst>
      <p:ext uri="{BB962C8B-B14F-4D97-AF65-F5344CB8AC3E}">
        <p14:creationId xmlns:p14="http://schemas.microsoft.com/office/powerpoint/2010/main" val="149328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par>
                                <p:cTn id="13" presetID="3" presetClass="entr" presetSubtype="1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linds(horizontal)">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6. Constraint </a:t>
              </a:r>
              <a:r>
                <a:rPr lang="en-US" sz="2400" b="1">
                  <a:latin typeface="Times New Roman" panose="02020603050405020304" pitchFamily="18" charset="0"/>
                  <a:cs typeface="Times New Roman" panose="02020603050405020304" pitchFamily="18" charset="0"/>
                </a:rPr>
                <a:t>Layout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0" name="Content Placeholder 2"/>
          <p:cNvSpPr txBox="1">
            <a:spLocks/>
          </p:cNvSpPr>
          <p:nvPr/>
        </p:nvSpPr>
        <p:spPr>
          <a:xfrm>
            <a:off x="728132" y="910514"/>
            <a:ext cx="8458200" cy="4115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buClrTx/>
              <a:buFont typeface="Wingdings" charset="2"/>
              <a:buChar char="ü"/>
            </a:pPr>
            <a:r>
              <a:rPr lang="en-US" sz="2400">
                <a:solidFill>
                  <a:prstClr val="black"/>
                </a:solidFill>
                <a:latin typeface="Georgia"/>
              </a:rPr>
              <a:t>Some other features</a:t>
            </a:r>
          </a:p>
        </p:txBody>
      </p:sp>
      <p:pic>
        <p:nvPicPr>
          <p:cNvPr id="11" name="Picture 10"/>
          <p:cNvPicPr>
            <a:picLocks noChangeAspect="1"/>
          </p:cNvPicPr>
          <p:nvPr/>
        </p:nvPicPr>
        <p:blipFill>
          <a:blip r:embed="rId3"/>
          <a:stretch>
            <a:fillRect/>
          </a:stretch>
        </p:blipFill>
        <p:spPr>
          <a:xfrm>
            <a:off x="2175932" y="2272364"/>
            <a:ext cx="5265872" cy="870270"/>
          </a:xfrm>
          <a:prstGeom prst="rect">
            <a:avLst/>
          </a:prstGeom>
        </p:spPr>
      </p:pic>
      <p:sp>
        <p:nvSpPr>
          <p:cNvPr id="12" name="Rounded Rectangular Callout 11"/>
          <p:cNvSpPr/>
          <p:nvPr/>
        </p:nvSpPr>
        <p:spPr>
          <a:xfrm>
            <a:off x="880532" y="3415364"/>
            <a:ext cx="2209800" cy="349312"/>
          </a:xfrm>
          <a:prstGeom prst="wedgeRoundRectCallout">
            <a:avLst>
              <a:gd name="adj1" fmla="val 40253"/>
              <a:gd name="adj2" fmla="val -153677"/>
              <a:gd name="adj3" fmla="val 16667"/>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smtClean="0">
                <a:ln>
                  <a:noFill/>
                </a:ln>
                <a:solidFill>
                  <a:prstClr val="white"/>
                </a:solidFill>
                <a:effectLst/>
                <a:uLnTx/>
                <a:uFillTx/>
                <a:latin typeface="Georgia"/>
                <a:ea typeface="+mn-ea"/>
                <a:cs typeface="+mn-cs"/>
              </a:rPr>
              <a:t>Autoconnection</a:t>
            </a:r>
          </a:p>
        </p:txBody>
      </p:sp>
      <p:sp>
        <p:nvSpPr>
          <p:cNvPr id="13" name="Rounded Rectangular Callout 12"/>
          <p:cNvSpPr/>
          <p:nvPr/>
        </p:nvSpPr>
        <p:spPr>
          <a:xfrm>
            <a:off x="3242732" y="1626476"/>
            <a:ext cx="2209800" cy="349312"/>
          </a:xfrm>
          <a:prstGeom prst="wedgeRoundRectCallout">
            <a:avLst>
              <a:gd name="adj1" fmla="val -40680"/>
              <a:gd name="adj2" fmla="val 296724"/>
              <a:gd name="adj3" fmla="val 16667"/>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smtClean="0">
                <a:ln>
                  <a:noFill/>
                </a:ln>
                <a:solidFill>
                  <a:prstClr val="white"/>
                </a:solidFill>
                <a:effectLst/>
                <a:uLnTx/>
                <a:uFillTx/>
                <a:latin typeface="Georgia"/>
                <a:ea typeface="+mn-ea"/>
                <a:cs typeface="+mn-cs"/>
              </a:rPr>
              <a:t>Default margin</a:t>
            </a:r>
          </a:p>
        </p:txBody>
      </p:sp>
      <p:sp>
        <p:nvSpPr>
          <p:cNvPr id="14" name="Rounded Rectangular Callout 13"/>
          <p:cNvSpPr/>
          <p:nvPr/>
        </p:nvSpPr>
        <p:spPr>
          <a:xfrm>
            <a:off x="3547532" y="3439210"/>
            <a:ext cx="2209800" cy="349312"/>
          </a:xfrm>
          <a:prstGeom prst="wedgeRoundRectCallout">
            <a:avLst>
              <a:gd name="adj1" fmla="val -14514"/>
              <a:gd name="adj2" fmla="val -157527"/>
              <a:gd name="adj3" fmla="val 16667"/>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smtClean="0">
                <a:ln>
                  <a:noFill/>
                </a:ln>
                <a:solidFill>
                  <a:prstClr val="white"/>
                </a:solidFill>
                <a:effectLst/>
                <a:uLnTx/>
                <a:uFillTx/>
                <a:latin typeface="Georgia"/>
                <a:ea typeface="+mn-ea"/>
                <a:cs typeface="+mn-cs"/>
              </a:rPr>
              <a:t>Infer constraints</a:t>
            </a:r>
          </a:p>
        </p:txBody>
      </p:sp>
      <p:sp>
        <p:nvSpPr>
          <p:cNvPr id="15" name="Rounded Rectangular Callout 14"/>
          <p:cNvSpPr/>
          <p:nvPr/>
        </p:nvSpPr>
        <p:spPr>
          <a:xfrm>
            <a:off x="5757333" y="1626476"/>
            <a:ext cx="1113865" cy="349312"/>
          </a:xfrm>
          <a:prstGeom prst="wedgeRoundRectCallout">
            <a:avLst>
              <a:gd name="adj1" fmla="val -101375"/>
              <a:gd name="adj2" fmla="val 277476"/>
              <a:gd name="adj3" fmla="val 16667"/>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smtClean="0">
                <a:ln>
                  <a:noFill/>
                </a:ln>
                <a:solidFill>
                  <a:prstClr val="white"/>
                </a:solidFill>
                <a:effectLst/>
                <a:uLnTx/>
                <a:uFillTx/>
                <a:latin typeface="Georgia"/>
                <a:ea typeface="+mn-ea"/>
                <a:cs typeface="+mn-cs"/>
              </a:rPr>
              <a:t>Pack</a:t>
            </a:r>
          </a:p>
        </p:txBody>
      </p:sp>
      <p:sp>
        <p:nvSpPr>
          <p:cNvPr id="16" name="Rounded Rectangular Callout 15"/>
          <p:cNvSpPr/>
          <p:nvPr/>
        </p:nvSpPr>
        <p:spPr>
          <a:xfrm>
            <a:off x="5909733" y="3439210"/>
            <a:ext cx="961465" cy="349312"/>
          </a:xfrm>
          <a:prstGeom prst="wedgeRoundRectCallout">
            <a:avLst>
              <a:gd name="adj1" fmla="val -81647"/>
              <a:gd name="adj2" fmla="val -165226"/>
              <a:gd name="adj3" fmla="val 16667"/>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smtClean="0">
                <a:ln>
                  <a:noFill/>
                </a:ln>
                <a:solidFill>
                  <a:prstClr val="white"/>
                </a:solidFill>
                <a:effectLst/>
                <a:uLnTx/>
                <a:uFillTx/>
                <a:latin typeface="Georgia"/>
                <a:ea typeface="+mn-ea"/>
                <a:cs typeface="+mn-cs"/>
              </a:rPr>
              <a:t>Align</a:t>
            </a:r>
          </a:p>
        </p:txBody>
      </p:sp>
      <p:sp>
        <p:nvSpPr>
          <p:cNvPr id="17" name="Rounded Rectangular Callout 16"/>
          <p:cNvSpPr/>
          <p:nvPr/>
        </p:nvSpPr>
        <p:spPr>
          <a:xfrm>
            <a:off x="7205132" y="3439210"/>
            <a:ext cx="1600200" cy="349312"/>
          </a:xfrm>
          <a:prstGeom prst="wedgeRoundRectCallout">
            <a:avLst>
              <a:gd name="adj1" fmla="val -105176"/>
              <a:gd name="adj2" fmla="val -176775"/>
              <a:gd name="adj3" fmla="val 16667"/>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smtClean="0">
                <a:ln>
                  <a:noFill/>
                </a:ln>
                <a:solidFill>
                  <a:prstClr val="white"/>
                </a:solidFill>
                <a:effectLst/>
                <a:uLnTx/>
                <a:uFillTx/>
                <a:latin typeface="Georgia"/>
                <a:ea typeface="+mn-ea"/>
                <a:cs typeface="+mn-cs"/>
              </a:rPr>
              <a:t>Guidelines</a:t>
            </a:r>
          </a:p>
        </p:txBody>
      </p:sp>
    </p:spTree>
    <p:extLst>
      <p:ext uri="{BB962C8B-B14F-4D97-AF65-F5344CB8AC3E}">
        <p14:creationId xmlns:p14="http://schemas.microsoft.com/office/powerpoint/2010/main" val="274820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linds(horizontal)">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linds(horizontal)">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blinds(horizontal)">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7. findViewById </a:t>
              </a:r>
              <a:r>
                <a:rPr lang="en-US" sz="2400" b="1">
                  <a:latin typeface="Times New Roman" panose="02020603050405020304" pitchFamily="18" charset="0"/>
                  <a:cs typeface="Times New Roman" panose="02020603050405020304" pitchFamily="18" charset="0"/>
                </a:rPr>
                <a:t>method</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1" name="Content Placeholder 2"/>
          <p:cNvSpPr txBox="1">
            <a:spLocks/>
          </p:cNvSpPr>
          <p:nvPr/>
        </p:nvSpPr>
        <p:spPr bwMode="auto">
          <a:xfrm>
            <a:off x="586013" y="819017"/>
            <a:ext cx="11230242" cy="5486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buClr>
                <a:srgbClr val="3DC5C5"/>
              </a:buClr>
              <a:defRPr/>
            </a:pPr>
            <a:r>
              <a:rPr lang="en-US" sz="2400">
                <a:solidFill>
                  <a:srgbClr val="002060"/>
                </a:solidFill>
                <a:latin typeface="Cambria" panose="02040503050406030204" pitchFamily="18" charset="0"/>
              </a:rPr>
              <a:t>Called "android naming conventions" and also depends on the programmer's mindset</a:t>
            </a:r>
            <a:endParaRPr lang="en-US" sz="2400" smtClean="0">
              <a:solidFill>
                <a:srgbClr val="002060"/>
              </a:solidFill>
              <a:latin typeface="Cambria" panose="02040503050406030204" pitchFamily="18" charset="0"/>
            </a:endParaRPr>
          </a:p>
          <a:p>
            <a:pPr algn="just">
              <a:buClr>
                <a:srgbClr val="3DC5C5"/>
              </a:buClr>
              <a:defRPr/>
            </a:pPr>
            <a:r>
              <a:rPr lang="en-US" sz="2400" smtClean="0">
                <a:solidFill>
                  <a:srgbClr val="002060"/>
                </a:solidFill>
                <a:latin typeface="Cambria" panose="02040503050406030204" pitchFamily="18" charset="0"/>
              </a:rPr>
              <a:t>Button</a:t>
            </a:r>
            <a:r>
              <a:rPr lang="en-US" sz="2400" smtClean="0">
                <a:solidFill>
                  <a:srgbClr val="002060"/>
                </a:solidFill>
                <a:latin typeface="Cambria" panose="02040503050406030204" pitchFamily="18" charset="0"/>
                <a:sym typeface="Wingdings" panose="05000000000000000000" pitchFamily="2" charset="2"/>
              </a:rPr>
              <a:t>btn</a:t>
            </a:r>
          </a:p>
          <a:p>
            <a:pPr algn="just">
              <a:buClr>
                <a:srgbClr val="3DC5C5"/>
              </a:buClr>
              <a:defRPr/>
            </a:pPr>
            <a:r>
              <a:rPr lang="en-US" sz="2400" smtClean="0">
                <a:solidFill>
                  <a:srgbClr val="002060"/>
                </a:solidFill>
                <a:latin typeface="Cambria" panose="02040503050406030204" pitchFamily="18" charset="0"/>
                <a:sym typeface="Wingdings" panose="05000000000000000000" pitchFamily="2" charset="2"/>
              </a:rPr>
              <a:t>TextViewtxt</a:t>
            </a:r>
          </a:p>
          <a:p>
            <a:pPr algn="just">
              <a:buClr>
                <a:srgbClr val="3DC5C5"/>
              </a:buClr>
              <a:defRPr/>
            </a:pPr>
            <a:r>
              <a:rPr lang="en-US" sz="2400" smtClean="0">
                <a:solidFill>
                  <a:srgbClr val="002060"/>
                </a:solidFill>
                <a:latin typeface="Cambria" panose="02040503050406030204" pitchFamily="18" charset="0"/>
                <a:sym typeface="Wingdings" panose="05000000000000000000" pitchFamily="2" charset="2"/>
              </a:rPr>
              <a:t>EditTexttxt, edt</a:t>
            </a:r>
          </a:p>
          <a:p>
            <a:pPr algn="just">
              <a:buClr>
                <a:srgbClr val="3DC5C5"/>
              </a:buClr>
              <a:defRPr/>
            </a:pPr>
            <a:r>
              <a:rPr lang="en-US" sz="2400" smtClean="0">
                <a:solidFill>
                  <a:srgbClr val="002060"/>
                </a:solidFill>
                <a:latin typeface="Cambria" panose="02040503050406030204" pitchFamily="18" charset="0"/>
                <a:sym typeface="Wingdings" panose="05000000000000000000" pitchFamily="2" charset="2"/>
              </a:rPr>
              <a:t>RadioButtonrad</a:t>
            </a:r>
          </a:p>
          <a:p>
            <a:pPr algn="just">
              <a:buClr>
                <a:srgbClr val="3DC5C5"/>
              </a:buClr>
              <a:defRPr/>
            </a:pPr>
            <a:r>
              <a:rPr lang="en-US" sz="2400" smtClean="0">
                <a:solidFill>
                  <a:srgbClr val="002060"/>
                </a:solidFill>
                <a:latin typeface="Cambria" panose="02040503050406030204" pitchFamily="18" charset="0"/>
                <a:sym typeface="Wingdings" panose="05000000000000000000" pitchFamily="2" charset="2"/>
              </a:rPr>
              <a:t>CheckBoxchk</a:t>
            </a:r>
          </a:p>
          <a:p>
            <a:pPr algn="just">
              <a:buClr>
                <a:srgbClr val="3DC5C5"/>
              </a:buClr>
              <a:defRPr/>
            </a:pPr>
            <a:r>
              <a:rPr lang="en-US" sz="2400" smtClean="0">
                <a:solidFill>
                  <a:srgbClr val="002060"/>
                </a:solidFill>
                <a:latin typeface="Cambria" panose="02040503050406030204" pitchFamily="18" charset="0"/>
                <a:sym typeface="Wingdings" panose="05000000000000000000" pitchFamily="2" charset="2"/>
              </a:rPr>
              <a:t>ListViewlv</a:t>
            </a:r>
            <a:endParaRPr lang="en-US" sz="2400" smtClean="0">
              <a:solidFill>
                <a:srgbClr val="002060"/>
              </a:solidFill>
              <a:latin typeface="Cambria" panose="02040503050406030204" pitchFamily="18" charset="0"/>
            </a:endParaRPr>
          </a:p>
          <a:p>
            <a:pPr marL="0" indent="0" algn="just">
              <a:buClr>
                <a:srgbClr val="3DC5C5"/>
              </a:buClr>
              <a:buNone/>
              <a:defRPr/>
            </a:pPr>
            <a:r>
              <a:rPr lang="en-US" sz="2400">
                <a:solidFill>
                  <a:srgbClr val="002060"/>
                </a:solidFill>
                <a:latin typeface="Cambria" panose="02040503050406030204" pitchFamily="18" charset="0"/>
              </a:rPr>
              <a:t>Need to set a memorable Id. Id is defined in int type, used for Programmers to interact with software resources. But this Id will be automatically saved in R.java</a:t>
            </a:r>
          </a:p>
          <a:p>
            <a:pPr marL="0" indent="0" algn="just">
              <a:buClr>
                <a:srgbClr val="3DC5C5"/>
              </a:buClr>
              <a:buNone/>
              <a:defRPr/>
            </a:pPr>
            <a:r>
              <a:rPr lang="en-US" sz="2400">
                <a:solidFill>
                  <a:srgbClr val="002060"/>
                </a:solidFill>
                <a:latin typeface="Cambria" panose="02040503050406030204" pitchFamily="18" charset="0"/>
              </a:rPr>
              <a:t>Setting the Id must be the same as setting the variable name, otherwise an error will occur and R.java cannot arise.</a:t>
            </a:r>
            <a:endParaRPr lang="en-US" sz="2400" dirty="0">
              <a:solidFill>
                <a:srgbClr val="002060"/>
              </a:solidFill>
              <a:latin typeface="Cambria" panose="02040503050406030204" pitchFamily="18" charset="0"/>
            </a:endParaRPr>
          </a:p>
        </p:txBody>
      </p:sp>
    </p:spTree>
    <p:extLst>
      <p:ext uri="{BB962C8B-B14F-4D97-AF65-F5344CB8AC3E}">
        <p14:creationId xmlns:p14="http://schemas.microsoft.com/office/powerpoint/2010/main" val="18546703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7. findViewById </a:t>
              </a:r>
              <a:r>
                <a:rPr lang="en-US" sz="2400" b="1">
                  <a:latin typeface="Times New Roman" panose="02020603050405020304" pitchFamily="18" charset="0"/>
                  <a:cs typeface="Times New Roman" panose="02020603050405020304" pitchFamily="18" charset="0"/>
                </a:rPr>
                <a:t>method</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0" name="Rectangle 9"/>
          <p:cNvSpPr/>
          <p:nvPr/>
        </p:nvSpPr>
        <p:spPr>
          <a:xfrm>
            <a:off x="2103646" y="1393916"/>
            <a:ext cx="5715000" cy="1938992"/>
          </a:xfrm>
          <a:prstGeom prst="rect">
            <a:avLst/>
          </a:prstGeom>
        </p:spPr>
        <p:txBody>
          <a:bodyPr wrap="square">
            <a:spAutoFit/>
          </a:bodyPr>
          <a:lstStyle/>
          <a:p>
            <a:pPr>
              <a:buClrTx/>
              <a:buFontTx/>
              <a:buNone/>
            </a:pPr>
            <a:r>
              <a:rPr lang="en-US" sz="2400" kern="1200">
                <a:solidFill>
                  <a:prstClr val="black"/>
                </a:solidFill>
                <a:latin typeface="Times New Roman" panose="02020603050405020304" pitchFamily="18" charset="0"/>
                <a:ea typeface="+mn-ea"/>
                <a:cs typeface="Times New Roman" panose="02020603050405020304" pitchFamily="18" charset="0"/>
              </a:rPr>
              <a:t>&lt;Button</a:t>
            </a:r>
            <a:br>
              <a:rPr lang="en-US" sz="2400" kern="1200">
                <a:solidFill>
                  <a:prstClr val="black"/>
                </a:solidFill>
                <a:latin typeface="Times New Roman" panose="02020603050405020304" pitchFamily="18" charset="0"/>
                <a:ea typeface="+mn-ea"/>
                <a:cs typeface="Times New Roman" panose="02020603050405020304" pitchFamily="18" charset="0"/>
              </a:rPr>
            </a:br>
            <a:r>
              <a:rPr lang="en-US" sz="2400" kern="1200">
                <a:solidFill>
                  <a:prstClr val="black"/>
                </a:solidFill>
                <a:latin typeface="Times New Roman" panose="02020603050405020304" pitchFamily="18" charset="0"/>
                <a:ea typeface="+mn-ea"/>
                <a:cs typeface="Times New Roman" panose="02020603050405020304" pitchFamily="18" charset="0"/>
              </a:rPr>
              <a:t>     android:id="@+</a:t>
            </a:r>
            <a:r>
              <a:rPr lang="en-US" sz="2400" kern="1200" smtClean="0">
                <a:solidFill>
                  <a:prstClr val="black"/>
                </a:solidFill>
                <a:latin typeface="Times New Roman" panose="02020603050405020304" pitchFamily="18" charset="0"/>
                <a:ea typeface="+mn-ea"/>
                <a:cs typeface="Times New Roman" panose="02020603050405020304" pitchFamily="18" charset="0"/>
              </a:rPr>
              <a:t>id/btnOk"</a:t>
            </a:r>
            <a:r>
              <a:rPr lang="en-US" sz="2400" kern="1200">
                <a:solidFill>
                  <a:prstClr val="black"/>
                </a:solidFill>
                <a:latin typeface="Times New Roman" panose="02020603050405020304" pitchFamily="18" charset="0"/>
                <a:ea typeface="+mn-ea"/>
                <a:cs typeface="Times New Roman" panose="02020603050405020304" pitchFamily="18" charset="0"/>
              </a:rPr>
              <a:t/>
            </a:r>
            <a:br>
              <a:rPr lang="en-US" sz="2400" kern="1200">
                <a:solidFill>
                  <a:prstClr val="black"/>
                </a:solidFill>
                <a:latin typeface="Times New Roman" panose="02020603050405020304" pitchFamily="18" charset="0"/>
                <a:ea typeface="+mn-ea"/>
                <a:cs typeface="Times New Roman" panose="02020603050405020304" pitchFamily="18" charset="0"/>
              </a:rPr>
            </a:br>
            <a:r>
              <a:rPr lang="en-US" sz="2400" kern="1200">
                <a:solidFill>
                  <a:prstClr val="black"/>
                </a:solidFill>
                <a:latin typeface="Times New Roman" panose="02020603050405020304" pitchFamily="18" charset="0"/>
                <a:ea typeface="+mn-ea"/>
                <a:cs typeface="Times New Roman" panose="02020603050405020304" pitchFamily="18" charset="0"/>
              </a:rPr>
              <a:t>     android:layout_width="wrap_content"</a:t>
            </a:r>
            <a:br>
              <a:rPr lang="en-US" sz="2400" kern="1200">
                <a:solidFill>
                  <a:prstClr val="black"/>
                </a:solidFill>
                <a:latin typeface="Times New Roman" panose="02020603050405020304" pitchFamily="18" charset="0"/>
                <a:ea typeface="+mn-ea"/>
                <a:cs typeface="Times New Roman" panose="02020603050405020304" pitchFamily="18" charset="0"/>
              </a:rPr>
            </a:br>
            <a:r>
              <a:rPr lang="en-US" sz="2400" kern="1200">
                <a:solidFill>
                  <a:prstClr val="black"/>
                </a:solidFill>
                <a:latin typeface="Times New Roman" panose="02020603050405020304" pitchFamily="18" charset="0"/>
                <a:ea typeface="+mn-ea"/>
                <a:cs typeface="Times New Roman" panose="02020603050405020304" pitchFamily="18" charset="0"/>
              </a:rPr>
              <a:t>     android:layout_height="wrap_content"</a:t>
            </a:r>
            <a:br>
              <a:rPr lang="en-US" sz="2400" kern="1200">
                <a:solidFill>
                  <a:prstClr val="black"/>
                </a:solidFill>
                <a:latin typeface="Times New Roman" panose="02020603050405020304" pitchFamily="18" charset="0"/>
                <a:ea typeface="+mn-ea"/>
                <a:cs typeface="Times New Roman" panose="02020603050405020304" pitchFamily="18" charset="0"/>
              </a:rPr>
            </a:br>
            <a:r>
              <a:rPr lang="en-US" sz="2400" kern="1200">
                <a:solidFill>
                  <a:prstClr val="black"/>
                </a:solidFill>
                <a:latin typeface="Times New Roman" panose="02020603050405020304" pitchFamily="18" charset="0"/>
                <a:ea typeface="+mn-ea"/>
                <a:cs typeface="Times New Roman" panose="02020603050405020304" pitchFamily="18" charset="0"/>
              </a:rPr>
              <a:t>     android:text="@string/my_button_text"/&gt;</a:t>
            </a:r>
          </a:p>
        </p:txBody>
      </p:sp>
      <p:sp>
        <p:nvSpPr>
          <p:cNvPr id="11" name="Rectangle 10"/>
          <p:cNvSpPr/>
          <p:nvPr/>
        </p:nvSpPr>
        <p:spPr>
          <a:xfrm>
            <a:off x="2020676" y="4277710"/>
            <a:ext cx="7647624" cy="461665"/>
          </a:xfrm>
          <a:prstGeom prst="rect">
            <a:avLst/>
          </a:prstGeom>
        </p:spPr>
        <p:txBody>
          <a:bodyPr wrap="square">
            <a:spAutoFit/>
          </a:bodyPr>
          <a:lstStyle/>
          <a:p>
            <a:pPr>
              <a:buClrTx/>
              <a:buFontTx/>
              <a:buNone/>
            </a:pPr>
            <a:r>
              <a:rPr lang="en-US" sz="2400" kern="1200">
                <a:solidFill>
                  <a:prstClr val="black"/>
                </a:solidFill>
                <a:latin typeface="Times New Roman" panose="02020603050405020304" pitchFamily="18" charset="0"/>
                <a:ea typeface="+mn-ea"/>
                <a:cs typeface="Times New Roman" panose="02020603050405020304" pitchFamily="18" charset="0"/>
              </a:rPr>
              <a:t>Button </a:t>
            </a:r>
            <a:r>
              <a:rPr lang="en-US" sz="2400" kern="1200" smtClean="0">
                <a:solidFill>
                  <a:prstClr val="black"/>
                </a:solidFill>
                <a:latin typeface="Times New Roman" panose="02020603050405020304" pitchFamily="18" charset="0"/>
                <a:ea typeface="+mn-ea"/>
                <a:cs typeface="Times New Roman" panose="02020603050405020304" pitchFamily="18" charset="0"/>
              </a:rPr>
              <a:t>btnOk </a:t>
            </a:r>
            <a:r>
              <a:rPr lang="en-US" sz="2400" kern="1200">
                <a:solidFill>
                  <a:prstClr val="black"/>
                </a:solidFill>
                <a:latin typeface="Times New Roman" panose="02020603050405020304" pitchFamily="18" charset="0"/>
                <a:ea typeface="+mn-ea"/>
                <a:cs typeface="Times New Roman" panose="02020603050405020304" pitchFamily="18" charset="0"/>
              </a:rPr>
              <a:t>= (</a:t>
            </a:r>
            <a:r>
              <a:rPr lang="en-US" sz="2400" kern="1200" smtClean="0">
                <a:solidFill>
                  <a:prstClr val="black"/>
                </a:solidFill>
                <a:latin typeface="Times New Roman" panose="02020603050405020304" pitchFamily="18" charset="0"/>
                <a:ea typeface="+mn-ea"/>
                <a:cs typeface="Times New Roman" panose="02020603050405020304" pitchFamily="18" charset="0"/>
              </a:rPr>
              <a:t>Button)findViewById(R.id.btnOk);</a:t>
            </a:r>
            <a:endParaRPr lang="en-US" sz="2400" kern="1200">
              <a:solidFill>
                <a:prstClr val="black"/>
              </a:solidFill>
              <a:latin typeface="Times New Roman" panose="02020603050405020304" pitchFamily="18" charset="0"/>
              <a:ea typeface="+mn-ea"/>
              <a:cs typeface="Times New Roman" panose="02020603050405020304" pitchFamily="18" charset="0"/>
            </a:endParaRPr>
          </a:p>
        </p:txBody>
      </p:sp>
      <p:sp>
        <p:nvSpPr>
          <p:cNvPr id="12" name="Rectangle 11"/>
          <p:cNvSpPr/>
          <p:nvPr/>
        </p:nvSpPr>
        <p:spPr>
          <a:xfrm>
            <a:off x="4892566" y="1763110"/>
            <a:ext cx="827360" cy="381000"/>
          </a:xfrm>
          <a:prstGeom prst="rect">
            <a:avLst/>
          </a:prstGeom>
          <a:no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a:ea typeface="+mn-ea"/>
              <a:cs typeface="+mn-cs"/>
            </a:endParaRPr>
          </a:p>
        </p:txBody>
      </p:sp>
      <p:sp>
        <p:nvSpPr>
          <p:cNvPr id="13" name="Rectangle 12"/>
          <p:cNvSpPr/>
          <p:nvPr/>
        </p:nvSpPr>
        <p:spPr>
          <a:xfrm>
            <a:off x="6926784" y="4318042"/>
            <a:ext cx="1394782" cy="381000"/>
          </a:xfrm>
          <a:prstGeom prst="rect">
            <a:avLst/>
          </a:prstGeom>
          <a:no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a:ea typeface="+mn-ea"/>
              <a:cs typeface="+mn-cs"/>
            </a:endParaRPr>
          </a:p>
        </p:txBody>
      </p:sp>
      <p:sp>
        <p:nvSpPr>
          <p:cNvPr id="14" name="Rectangle 13"/>
          <p:cNvSpPr/>
          <p:nvPr/>
        </p:nvSpPr>
        <p:spPr>
          <a:xfrm>
            <a:off x="1615965" y="5143264"/>
            <a:ext cx="10318531" cy="461665"/>
          </a:xfrm>
          <a:prstGeom prst="rect">
            <a:avLst/>
          </a:prstGeom>
        </p:spPr>
        <p:txBody>
          <a:bodyPr wrap="square">
            <a:spAutoFit/>
          </a:bodyPr>
          <a:lstStyle/>
          <a:p>
            <a:pPr algn="just">
              <a:buClr>
                <a:srgbClr val="3DC5C5"/>
              </a:buClr>
              <a:buFontTx/>
              <a:buNone/>
              <a:defRPr/>
            </a:pPr>
            <a:r>
              <a:rPr lang="en-US" sz="2400">
                <a:solidFill>
                  <a:srgbClr val="002060"/>
                </a:solidFill>
                <a:latin typeface="Cambria" panose="02040503050406030204" pitchFamily="18" charset="0"/>
                <a:ea typeface="+mn-ea"/>
                <a:cs typeface="+mn-cs"/>
              </a:rPr>
              <a:t>findViewById accesses the Control/view in memory based on the </a:t>
            </a:r>
            <a:r>
              <a:rPr lang="en-US" sz="2400" b="1">
                <a:solidFill>
                  <a:srgbClr val="FF0000"/>
                </a:solidFill>
                <a:latin typeface="Cambria" panose="02040503050406030204" pitchFamily="18" charset="0"/>
                <a:ea typeface="+mn-ea"/>
                <a:cs typeface="+mn-cs"/>
              </a:rPr>
              <a:t>id</a:t>
            </a:r>
            <a:r>
              <a:rPr lang="en-US" sz="2400">
                <a:solidFill>
                  <a:srgbClr val="002060"/>
                </a:solidFill>
                <a:latin typeface="Cambria" panose="02040503050406030204" pitchFamily="18" charset="0"/>
                <a:ea typeface="+mn-ea"/>
                <a:cs typeface="+mn-cs"/>
              </a:rPr>
              <a:t>.</a:t>
            </a:r>
          </a:p>
        </p:txBody>
      </p:sp>
      <p:sp>
        <p:nvSpPr>
          <p:cNvPr id="15" name="TextBox 14"/>
          <p:cNvSpPr txBox="1"/>
          <p:nvPr/>
        </p:nvSpPr>
        <p:spPr>
          <a:xfrm>
            <a:off x="2891626" y="906322"/>
            <a:ext cx="3340210" cy="461665"/>
          </a:xfrm>
          <a:prstGeom prst="rect">
            <a:avLst/>
          </a:prstGeom>
          <a:noFill/>
        </p:spPr>
        <p:txBody>
          <a:bodyPr wrap="none" rtlCol="0">
            <a:spAutoFit/>
          </a:bodyPr>
          <a:lstStyle/>
          <a:p>
            <a:pPr>
              <a:buClrTx/>
              <a:buFontTx/>
              <a:buNone/>
            </a:pPr>
            <a:r>
              <a:rPr lang="en-US" sz="2400" b="1" kern="1200" smtClean="0">
                <a:solidFill>
                  <a:prstClr val="black"/>
                </a:solidFill>
                <a:latin typeface="Times New Roman" panose="02020603050405020304" pitchFamily="18" charset="0"/>
                <a:ea typeface="+mn-ea"/>
                <a:cs typeface="Times New Roman" panose="02020603050405020304" pitchFamily="18" charset="0"/>
              </a:rPr>
              <a:t>Graphic User Interface:</a:t>
            </a:r>
            <a:endParaRPr lang="en-US" sz="2400" b="1" kern="1200">
              <a:solidFill>
                <a:prstClr val="black"/>
              </a:solidFill>
              <a:latin typeface="Times New Roman" panose="02020603050405020304" pitchFamily="18" charset="0"/>
              <a:ea typeface="+mn-ea"/>
              <a:cs typeface="Times New Roman" panose="02020603050405020304" pitchFamily="18" charset="0"/>
            </a:endParaRPr>
          </a:p>
        </p:txBody>
      </p:sp>
      <p:sp>
        <p:nvSpPr>
          <p:cNvPr id="16" name="TextBox 15"/>
          <p:cNvSpPr txBox="1"/>
          <p:nvPr/>
        </p:nvSpPr>
        <p:spPr>
          <a:xfrm>
            <a:off x="4292922" y="3736797"/>
            <a:ext cx="2529090" cy="461665"/>
          </a:xfrm>
          <a:prstGeom prst="rect">
            <a:avLst/>
          </a:prstGeom>
          <a:noFill/>
        </p:spPr>
        <p:txBody>
          <a:bodyPr wrap="none" rtlCol="0">
            <a:spAutoFit/>
          </a:bodyPr>
          <a:lstStyle/>
          <a:p>
            <a:pPr>
              <a:buClrTx/>
              <a:buFontTx/>
              <a:buNone/>
            </a:pPr>
            <a:r>
              <a:rPr lang="en-US" sz="2400" b="1" kern="1200" smtClean="0">
                <a:solidFill>
                  <a:prstClr val="black"/>
                </a:solidFill>
                <a:latin typeface="Times New Roman" panose="02020603050405020304" pitchFamily="18" charset="0"/>
                <a:ea typeface="+mn-ea"/>
                <a:cs typeface="Times New Roman" panose="02020603050405020304" pitchFamily="18" charset="0"/>
              </a:rPr>
              <a:t>Event Processing:</a:t>
            </a:r>
            <a:endParaRPr lang="en-US" sz="2400" b="1" kern="1200">
              <a:solidFill>
                <a:prstClr val="black"/>
              </a:solidFill>
              <a:latin typeface="Times New Roman" panose="02020603050405020304" pitchFamily="18" charset="0"/>
              <a:ea typeface="+mn-ea"/>
              <a:cs typeface="Times New Roman" panose="02020603050405020304" pitchFamily="18" charset="0"/>
            </a:endParaRPr>
          </a:p>
        </p:txBody>
      </p:sp>
      <p:cxnSp>
        <p:nvCxnSpPr>
          <p:cNvPr id="17" name="Curved Connector 16"/>
          <p:cNvCxnSpPr/>
          <p:nvPr/>
        </p:nvCxnSpPr>
        <p:spPr>
          <a:xfrm>
            <a:off x="5719928" y="1953612"/>
            <a:ext cx="2373037" cy="2364430"/>
          </a:xfrm>
          <a:prstGeom prst="curvedConnector3">
            <a:avLst>
              <a:gd name="adj1" fmla="val 102644"/>
            </a:avLst>
          </a:prstGeom>
          <a:noFill/>
          <a:ln w="28575" cap="flat" cmpd="sng" algn="ctr">
            <a:solidFill>
              <a:sysClr val="windowText" lastClr="000000"/>
            </a:solidFill>
            <a:prstDash val="solid"/>
            <a:tailEnd type="triangle"/>
          </a:ln>
          <a:effectLst/>
        </p:spPr>
      </p:cxnSp>
    </p:spTree>
    <p:extLst>
      <p:ext uri="{BB962C8B-B14F-4D97-AF65-F5344CB8AC3E}">
        <p14:creationId xmlns:p14="http://schemas.microsoft.com/office/powerpoint/2010/main" val="170454905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400" b="1" smtClean="0">
                  <a:latin typeface="Times New Roman" panose="02020603050405020304" pitchFamily="18" charset="0"/>
                  <a:cs typeface="Times New Roman" panose="02020603050405020304" pitchFamily="18" charset="0"/>
                </a:rPr>
                <a:t>8. Basic Views</a:t>
              </a:r>
              <a:endParaRPr lang="en-US" sz="2400" b="1">
                <a:latin typeface="Times New Roman" panose="02020603050405020304" pitchFamily="18" charset="0"/>
                <a:cs typeface="Times New Roman" panose="02020603050405020304" pitchFamily="18" charset="0"/>
              </a:endParaRP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6" name="Content Placeholder 2">
            <a:extLst>
              <a:ext uri="{FF2B5EF4-FFF2-40B4-BE49-F238E27FC236}">
                <a16:creationId xmlns:a16="http://schemas.microsoft.com/office/drawing/2014/main" id="{8E6E6F45-0E21-2332-E20D-00463EF17E7E}"/>
              </a:ext>
            </a:extLst>
          </p:cNvPr>
          <p:cNvSpPr txBox="1">
            <a:spLocks/>
          </p:cNvSpPr>
          <p:nvPr/>
        </p:nvSpPr>
        <p:spPr>
          <a:xfrm>
            <a:off x="458479" y="938079"/>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9538" indent="0">
              <a:lnSpc>
                <a:spcPct val="110000"/>
              </a:lnSpc>
              <a:spcBef>
                <a:spcPts val="600"/>
              </a:spcBef>
              <a:spcAft>
                <a:spcPts val="600"/>
              </a:spcAft>
              <a:buClr>
                <a:schemeClr val="tx1">
                  <a:lumMod val="85000"/>
                  <a:lumOff val="15000"/>
                </a:schemeClr>
              </a:buClr>
              <a:buNone/>
            </a:pPr>
            <a:r>
              <a:rPr lang="en-US" sz="2800" b="1" smtClean="0">
                <a:latin typeface="Times New Roman" panose="02020603050405020304" pitchFamily="18" charset="0"/>
                <a:cs typeface="Times New Roman" panose="02020603050405020304" pitchFamily="18" charset="0"/>
              </a:rPr>
              <a:t>8.1. TextView</a:t>
            </a:r>
          </a:p>
          <a:p>
            <a:pPr marL="109538" indent="0">
              <a:lnSpc>
                <a:spcPct val="110000"/>
              </a:lnSpc>
              <a:spcBef>
                <a:spcPts val="600"/>
              </a:spcBef>
              <a:spcAft>
                <a:spcPts val="600"/>
              </a:spcAft>
              <a:buClr>
                <a:schemeClr val="tx1">
                  <a:lumMod val="85000"/>
                  <a:lumOff val="15000"/>
                </a:schemeClr>
              </a:buClr>
              <a:buNone/>
            </a:pPr>
            <a:r>
              <a:rPr lang="en-US" sz="2800" b="1" smtClean="0">
                <a:latin typeface="Times New Roman" panose="02020603050405020304" pitchFamily="18" charset="0"/>
                <a:cs typeface="Times New Roman" panose="02020603050405020304" pitchFamily="18" charset="0"/>
              </a:rPr>
              <a:t>8.2. EditText</a:t>
            </a:r>
          </a:p>
          <a:p>
            <a:pPr marL="109538" indent="0">
              <a:lnSpc>
                <a:spcPct val="110000"/>
              </a:lnSpc>
              <a:spcBef>
                <a:spcPts val="600"/>
              </a:spcBef>
              <a:spcAft>
                <a:spcPts val="600"/>
              </a:spcAft>
              <a:buClr>
                <a:schemeClr val="tx1">
                  <a:lumMod val="85000"/>
                  <a:lumOff val="15000"/>
                </a:schemeClr>
              </a:buClr>
              <a:buNone/>
            </a:pPr>
            <a:r>
              <a:rPr lang="en-US" sz="2800" b="1" smtClean="0">
                <a:latin typeface="Times New Roman" panose="02020603050405020304" pitchFamily="18" charset="0"/>
                <a:cs typeface="Times New Roman" panose="02020603050405020304" pitchFamily="18" charset="0"/>
              </a:rPr>
              <a:t>8.3. Button</a:t>
            </a:r>
          </a:p>
          <a:p>
            <a:pPr marL="109538" indent="0">
              <a:lnSpc>
                <a:spcPct val="110000"/>
              </a:lnSpc>
              <a:spcBef>
                <a:spcPts val="600"/>
              </a:spcBef>
              <a:spcAft>
                <a:spcPts val="600"/>
              </a:spcAft>
              <a:buClr>
                <a:schemeClr val="tx1">
                  <a:lumMod val="85000"/>
                  <a:lumOff val="15000"/>
                </a:schemeClr>
              </a:buClr>
              <a:buNone/>
            </a:pPr>
            <a:r>
              <a:rPr lang="en-US" sz="2800" b="1" smtClean="0">
                <a:latin typeface="Times New Roman" panose="02020603050405020304" pitchFamily="18" charset="0"/>
                <a:cs typeface="Times New Roman" panose="02020603050405020304" pitchFamily="18" charset="0"/>
              </a:rPr>
              <a:t>8.4. CheckBox</a:t>
            </a:r>
          </a:p>
          <a:p>
            <a:pPr marL="109538" indent="0">
              <a:lnSpc>
                <a:spcPct val="110000"/>
              </a:lnSpc>
              <a:spcBef>
                <a:spcPts val="600"/>
              </a:spcBef>
              <a:spcAft>
                <a:spcPts val="600"/>
              </a:spcAft>
              <a:buClr>
                <a:schemeClr val="tx1">
                  <a:lumMod val="85000"/>
                  <a:lumOff val="15000"/>
                </a:schemeClr>
              </a:buClr>
              <a:buNone/>
            </a:pPr>
            <a:r>
              <a:rPr lang="en-US" sz="2800" b="1" smtClean="0">
                <a:latin typeface="Times New Roman" panose="02020603050405020304" pitchFamily="18" charset="0"/>
                <a:cs typeface="Times New Roman" panose="02020603050405020304" pitchFamily="18" charset="0"/>
              </a:rPr>
              <a:t>8.5. </a:t>
            </a:r>
            <a:r>
              <a:rPr lang="en-US" sz="2800" b="1">
                <a:latin typeface="Times New Roman" panose="02020603050405020304" pitchFamily="18" charset="0"/>
                <a:cs typeface="Times New Roman" panose="02020603050405020304" pitchFamily="18" charset="0"/>
              </a:rPr>
              <a:t>RadioButton</a:t>
            </a:r>
          </a:p>
          <a:p>
            <a:pPr marL="109538" indent="0">
              <a:lnSpc>
                <a:spcPct val="110000"/>
              </a:lnSpc>
              <a:spcBef>
                <a:spcPts val="600"/>
              </a:spcBef>
              <a:spcAft>
                <a:spcPts val="600"/>
              </a:spcAft>
              <a:buClr>
                <a:schemeClr val="tx1">
                  <a:lumMod val="85000"/>
                  <a:lumOff val="15000"/>
                </a:schemeClr>
              </a:buClr>
              <a:buNone/>
            </a:pPr>
            <a:r>
              <a:rPr lang="en-US" sz="2800" b="1" smtClean="0">
                <a:latin typeface="Times New Roman" panose="02020603050405020304" pitchFamily="18" charset="0"/>
                <a:cs typeface="Times New Roman" panose="02020603050405020304" pitchFamily="18" charset="0"/>
              </a:rPr>
              <a:t>8.6. ImageButton</a:t>
            </a:r>
          </a:p>
          <a:p>
            <a:pPr marL="109538" indent="0">
              <a:lnSpc>
                <a:spcPct val="110000"/>
              </a:lnSpc>
              <a:spcBef>
                <a:spcPts val="600"/>
              </a:spcBef>
              <a:spcAft>
                <a:spcPts val="600"/>
              </a:spcAft>
              <a:buClr>
                <a:schemeClr val="tx1">
                  <a:lumMod val="85000"/>
                  <a:lumOff val="15000"/>
                </a:schemeClr>
              </a:buClr>
              <a:buNone/>
            </a:pPr>
            <a:r>
              <a:rPr lang="en-US" sz="2800" b="1" smtClean="0">
                <a:latin typeface="Times New Roman" panose="02020603050405020304" pitchFamily="18" charset="0"/>
                <a:cs typeface="Times New Roman" panose="02020603050405020304" pitchFamily="18" charset="0"/>
              </a:rPr>
              <a:t>8.7. </a:t>
            </a:r>
            <a:r>
              <a:rPr lang="en-US" sz="2800" b="1">
                <a:latin typeface="Times New Roman" panose="02020603050405020304" pitchFamily="18" charset="0"/>
                <a:cs typeface="Times New Roman" panose="02020603050405020304" pitchFamily="18" charset="0"/>
              </a:rPr>
              <a:t>ImageView</a:t>
            </a:r>
          </a:p>
        </p:txBody>
      </p:sp>
    </p:spTree>
    <p:extLst>
      <p:ext uri="{BB962C8B-B14F-4D97-AF65-F5344CB8AC3E}">
        <p14:creationId xmlns:p14="http://schemas.microsoft.com/office/powerpoint/2010/main" val="19851671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indent="0">
                <a:lnSpc>
                  <a:spcPct val="110000"/>
                </a:lnSpc>
                <a:spcBef>
                  <a:spcPts val="600"/>
                </a:spcBef>
                <a:spcAft>
                  <a:spcPts val="600"/>
                </a:spcAft>
                <a:buClr>
                  <a:schemeClr val="tx1">
                    <a:lumMod val="85000"/>
                    <a:lumOff val="15000"/>
                  </a:schemeClr>
                </a:buClr>
                <a:buNone/>
              </a:pPr>
              <a:r>
                <a:rPr lang="en-US" sz="2400" b="1">
                  <a:latin typeface="Times New Roman" panose="02020603050405020304" pitchFamily="18" charset="0"/>
                  <a:cs typeface="Times New Roman" panose="02020603050405020304" pitchFamily="18" charset="0"/>
                </a:rPr>
                <a:t>8.1. TextView</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1" name="Content Placeholder 2"/>
          <p:cNvSpPr txBox="1">
            <a:spLocks/>
          </p:cNvSpPr>
          <p:nvPr/>
        </p:nvSpPr>
        <p:spPr>
          <a:xfrm>
            <a:off x="819806" y="973576"/>
            <a:ext cx="10736317" cy="353536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Aft>
                <a:spcPts val="600"/>
              </a:spcAft>
              <a:buClrTx/>
              <a:buFont typeface="Wingdings" charset="2"/>
              <a:buChar char="ü"/>
            </a:pPr>
            <a:r>
              <a:rPr lang="en-US" sz="2400" i="1">
                <a:solidFill>
                  <a:prstClr val="black"/>
                </a:solidFill>
                <a:latin typeface="Cambria Math" charset="0"/>
                <a:ea typeface="Cambria Math" charset="0"/>
                <a:cs typeface="Cambria Math" charset="0"/>
              </a:rPr>
              <a:t>Used to display text data, not allowing editing, usually named with the prefix </a:t>
            </a:r>
            <a:r>
              <a:rPr lang="en-US" sz="2400" b="1" i="1">
                <a:solidFill>
                  <a:prstClr val="black"/>
                </a:solidFill>
                <a:latin typeface="Cambria Math" charset="0"/>
                <a:ea typeface="Cambria Math" charset="0"/>
                <a:cs typeface="Cambria Math" charset="0"/>
              </a:rPr>
              <a:t>txt</a:t>
            </a:r>
            <a:r>
              <a:rPr lang="en-US" sz="2400" i="1" smtClean="0">
                <a:solidFill>
                  <a:prstClr val="black"/>
                </a:solidFill>
                <a:latin typeface="Cambria Math" charset="0"/>
                <a:ea typeface="Cambria Math" charset="0"/>
                <a:cs typeface="Cambria Math" charset="0"/>
              </a:rPr>
              <a:t>.</a:t>
            </a:r>
            <a:endParaRPr lang="en-US" sz="2400" i="1">
              <a:solidFill>
                <a:prstClr val="black"/>
              </a:solidFill>
              <a:latin typeface="Cambria Math" charset="0"/>
              <a:ea typeface="Cambria Math" charset="0"/>
              <a:cs typeface="Cambria Math" charset="0"/>
            </a:endParaRPr>
          </a:p>
          <a:p>
            <a:pPr algn="just">
              <a:spcAft>
                <a:spcPts val="600"/>
              </a:spcAft>
              <a:buClrTx/>
              <a:buFont typeface="Wingdings" charset="2"/>
              <a:buChar char="ü"/>
            </a:pPr>
            <a:r>
              <a:rPr lang="en-US" sz="2400" i="1">
                <a:solidFill>
                  <a:prstClr val="black"/>
                </a:solidFill>
                <a:latin typeface="Cambria Math" charset="0"/>
                <a:ea typeface="Cambria Math" charset="0"/>
                <a:cs typeface="Cambria Math" charset="0"/>
              </a:rPr>
              <a:t>Set display content</a:t>
            </a:r>
            <a:r>
              <a:rPr lang="en-US" sz="2400" i="1" smtClean="0">
                <a:solidFill>
                  <a:prstClr val="black"/>
                </a:solidFill>
                <a:latin typeface="Cambria Math" charset="0"/>
                <a:ea typeface="Cambria Math" charset="0"/>
                <a:cs typeface="Cambria Math" charset="0"/>
              </a:rPr>
              <a:t>:</a:t>
            </a:r>
            <a:endParaRPr lang="en-US" sz="2400" i="1">
              <a:solidFill>
                <a:prstClr val="black"/>
              </a:solidFill>
              <a:latin typeface="Cambria Math" charset="0"/>
              <a:ea typeface="Cambria Math" charset="0"/>
              <a:cs typeface="Cambria Math" charset="0"/>
            </a:endParaRPr>
          </a:p>
          <a:p>
            <a:pPr marL="574675" indent="-280988" algn="just">
              <a:spcAft>
                <a:spcPts val="600"/>
              </a:spcAft>
              <a:buClrTx/>
              <a:buFont typeface="Wingdings" charset="2"/>
              <a:buChar char="§"/>
            </a:pPr>
            <a:r>
              <a:rPr lang="en-US" sz="2400" i="1" smtClean="0">
                <a:solidFill>
                  <a:prstClr val="black"/>
                </a:solidFill>
                <a:latin typeface="Cambria Math" charset="0"/>
                <a:ea typeface="Cambria Math" charset="0"/>
                <a:cs typeface="Cambria Math" charset="0"/>
              </a:rPr>
              <a:t>Java </a:t>
            </a:r>
            <a:r>
              <a:rPr lang="en-US" sz="2400" i="1">
                <a:solidFill>
                  <a:prstClr val="black"/>
                </a:solidFill>
                <a:latin typeface="Cambria Math" charset="0"/>
                <a:ea typeface="Cambria Math" charset="0"/>
                <a:cs typeface="Cambria Math" charset="0"/>
              </a:rPr>
              <a:t>code (Activity):</a:t>
            </a:r>
          </a:p>
          <a:p>
            <a:pPr marL="0" indent="0" algn="just">
              <a:spcAft>
                <a:spcPts val="600"/>
              </a:spcAft>
              <a:buClrTx/>
              <a:buFont typeface="Arial" pitchFamily="34" charset="0"/>
              <a:buNone/>
            </a:pPr>
            <a:endParaRPr lang="en-US" sz="2400" i="1">
              <a:solidFill>
                <a:prstClr val="black"/>
              </a:solidFill>
              <a:latin typeface="Cambria Math" charset="0"/>
              <a:ea typeface="Cambria Math" charset="0"/>
              <a:cs typeface="Cambria Math" charset="0"/>
            </a:endParaRPr>
          </a:p>
          <a:p>
            <a:pPr marL="641350" indent="-347663" algn="just">
              <a:spcAft>
                <a:spcPts val="600"/>
              </a:spcAft>
              <a:buClrTx/>
              <a:buFont typeface="Wingdings" charset="2"/>
              <a:buChar char="§"/>
            </a:pPr>
            <a:r>
              <a:rPr lang="en-US" sz="2400" i="1" smtClean="0">
                <a:solidFill>
                  <a:prstClr val="black"/>
                </a:solidFill>
                <a:latin typeface="Cambria Math" charset="0"/>
                <a:ea typeface="Cambria Math" charset="0"/>
                <a:cs typeface="Cambria Math" charset="0"/>
              </a:rPr>
              <a:t>XML</a:t>
            </a:r>
            <a:r>
              <a:rPr lang="en-US" sz="2400" i="1">
                <a:solidFill>
                  <a:prstClr val="black"/>
                </a:solidFill>
                <a:latin typeface="Cambria Math" charset="0"/>
                <a:ea typeface="Cambria Math" charset="0"/>
                <a:cs typeface="Cambria Math" charset="0"/>
              </a:rPr>
              <a:t>:</a:t>
            </a:r>
          </a:p>
          <a:p>
            <a:pPr algn="just">
              <a:spcAft>
                <a:spcPts val="600"/>
              </a:spcAft>
              <a:buClrTx/>
              <a:buFont typeface="Wingdings" charset="2"/>
              <a:buChar char="ü"/>
            </a:pPr>
            <a:endParaRPr lang="en-US" sz="2400" b="1" i="1">
              <a:solidFill>
                <a:prstClr val="black"/>
              </a:solidFill>
              <a:latin typeface="Cambria Math" charset="0"/>
              <a:ea typeface="Cambria Math" charset="0"/>
              <a:cs typeface="Cambria Math" charset="0"/>
            </a:endParaRPr>
          </a:p>
        </p:txBody>
      </p:sp>
      <p:sp>
        <p:nvSpPr>
          <p:cNvPr id="12" name="Rectangle 11"/>
          <p:cNvSpPr/>
          <p:nvPr/>
        </p:nvSpPr>
        <p:spPr>
          <a:xfrm>
            <a:off x="2039007" y="3899339"/>
            <a:ext cx="3954929" cy="430887"/>
          </a:xfrm>
          <a:prstGeom prst="rect">
            <a:avLst/>
          </a:prstGeom>
          <a:solidFill>
            <a:sysClr val="windowText" lastClr="000000"/>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2200" b="0" i="0" u="none" strike="noStrike" kern="1200" cap="none" spc="0" normalizeH="0" baseline="0" noProof="0" smtClean="0">
                <a:ln>
                  <a:noFill/>
                </a:ln>
                <a:solidFill>
                  <a:srgbClr val="BABABA"/>
                </a:solidFill>
                <a:effectLst/>
                <a:uLnTx/>
                <a:uFillTx/>
                <a:latin typeface="Georgia"/>
                <a:ea typeface="+mn-ea"/>
                <a:cs typeface="+mn-cs"/>
              </a:rPr>
              <a:t>:text</a:t>
            </a:r>
            <a:r>
              <a:rPr kumimoji="0" lang="en-US" sz="2200" b="0" i="0" u="none" strike="noStrike" kern="1200" cap="none" spc="0" normalizeH="0" baseline="0" noProof="0" smtClean="0">
                <a:ln>
                  <a:noFill/>
                </a:ln>
                <a:solidFill>
                  <a:srgbClr val="6A8759"/>
                </a:solidFill>
                <a:effectLst/>
                <a:uLnTx/>
                <a:uFillTx/>
                <a:latin typeface="Georgia"/>
                <a:ea typeface="+mn-ea"/>
                <a:cs typeface="+mn-cs"/>
              </a:rPr>
              <a:t>="TextView"</a:t>
            </a:r>
            <a:endParaRPr kumimoji="0" lang="en-US" sz="2200" b="0" i="0" u="none" strike="noStrike" kern="1200" cap="none" spc="0" normalizeH="0" baseline="0" noProof="0" smtClean="0">
              <a:ln>
                <a:noFill/>
              </a:ln>
              <a:solidFill>
                <a:prstClr val="black"/>
              </a:solidFill>
              <a:effectLst/>
              <a:uLnTx/>
              <a:uFillTx/>
              <a:latin typeface="Georgia"/>
              <a:ea typeface="+mn-ea"/>
              <a:cs typeface="+mn-cs"/>
            </a:endParaRPr>
          </a:p>
        </p:txBody>
      </p:sp>
      <p:sp>
        <p:nvSpPr>
          <p:cNvPr id="13" name="Rectangle 12"/>
          <p:cNvSpPr/>
          <p:nvPr/>
        </p:nvSpPr>
        <p:spPr>
          <a:xfrm>
            <a:off x="2039008" y="2908739"/>
            <a:ext cx="3954929" cy="430887"/>
          </a:xfrm>
          <a:prstGeom prst="rect">
            <a:avLst/>
          </a:prstGeom>
          <a:ln>
            <a:solidFill>
              <a:srgbClr val="009DD9">
                <a:lumMod val="75000"/>
              </a:srgbClr>
            </a:solidFill>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smtClean="0">
                <a:ln>
                  <a:noFill/>
                </a:ln>
                <a:solidFill>
                  <a:srgbClr val="9876AA"/>
                </a:solidFill>
                <a:effectLst/>
                <a:uLnTx/>
                <a:uFillTx/>
                <a:latin typeface="Georgia"/>
                <a:ea typeface="+mn-ea"/>
                <a:cs typeface="+mn-cs"/>
              </a:rPr>
              <a:t>textView</a:t>
            </a:r>
            <a:r>
              <a:rPr kumimoji="0" lang="en-US" sz="2200" b="0" i="0" u="none" strike="noStrike" kern="1200" cap="none" spc="0" normalizeH="0" baseline="0" noProof="0" smtClean="0">
                <a:ln>
                  <a:noFill/>
                </a:ln>
                <a:solidFill>
                  <a:prstClr val="black"/>
                </a:solidFill>
                <a:effectLst/>
                <a:uLnTx/>
                <a:uFillTx/>
                <a:latin typeface="Georgia"/>
                <a:ea typeface="+mn-ea"/>
                <a:cs typeface="+mn-cs"/>
              </a:rPr>
              <a:t>.setText(</a:t>
            </a:r>
            <a:r>
              <a:rPr kumimoji="0" lang="en-US" sz="2200" b="0" i="0" u="none" strike="noStrike" kern="1200" cap="none" spc="0" normalizeH="0" baseline="0" noProof="0" smtClean="0">
                <a:ln>
                  <a:noFill/>
                </a:ln>
                <a:solidFill>
                  <a:srgbClr val="6A8759"/>
                </a:solidFill>
                <a:effectLst/>
                <a:uLnTx/>
                <a:uFillTx/>
                <a:latin typeface="Georgia"/>
                <a:ea typeface="+mn-ea"/>
                <a:cs typeface="+mn-cs"/>
              </a:rPr>
              <a:t>"TextView"</a:t>
            </a:r>
            <a:r>
              <a:rPr kumimoji="0" lang="en-US" sz="2200" b="0" i="0" u="none" strike="noStrike" kern="1200" cap="none" spc="0" normalizeH="0" baseline="0" noProof="0" smtClean="0">
                <a:ln>
                  <a:noFill/>
                </a:ln>
                <a:solidFill>
                  <a:prstClr val="black"/>
                </a:solidFill>
                <a:effectLst/>
                <a:uLnTx/>
                <a:uFillTx/>
                <a:latin typeface="Georgia"/>
                <a:ea typeface="+mn-ea"/>
                <a:cs typeface="+mn-cs"/>
              </a:rPr>
              <a:t>)</a:t>
            </a:r>
            <a:r>
              <a:rPr kumimoji="0" lang="en-US" sz="2200" b="0" i="0" u="none" strike="noStrike" kern="1200" cap="none" spc="0" normalizeH="0" baseline="0" noProof="0" smtClean="0">
                <a:ln>
                  <a:noFill/>
                </a:ln>
                <a:solidFill>
                  <a:srgbClr val="CC7832"/>
                </a:solidFill>
                <a:effectLst/>
                <a:uLnTx/>
                <a:uFillTx/>
                <a:latin typeface="Georgia"/>
                <a:ea typeface="+mn-ea"/>
                <a:cs typeface="+mn-cs"/>
              </a:rPr>
              <a:t>;</a:t>
            </a:r>
            <a:endParaRPr kumimoji="0" lang="en-US" sz="2200" b="0" i="0" u="none" strike="noStrike" kern="1200" cap="none" spc="0" normalizeH="0" baseline="0" noProof="0" smtClean="0">
              <a:ln>
                <a:noFill/>
              </a:ln>
              <a:solidFill>
                <a:prstClr val="black"/>
              </a:solidFill>
              <a:effectLst/>
              <a:uLnTx/>
              <a:uFillTx/>
              <a:latin typeface="Georgia"/>
              <a:ea typeface="+mn-ea"/>
              <a:cs typeface="+mn-cs"/>
            </a:endParaRPr>
          </a:p>
        </p:txBody>
      </p:sp>
    </p:spTree>
    <p:extLst>
      <p:ext uri="{BB962C8B-B14F-4D97-AF65-F5344CB8AC3E}">
        <p14:creationId xmlns:p14="http://schemas.microsoft.com/office/powerpoint/2010/main" val="141562648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indent="0">
                <a:lnSpc>
                  <a:spcPct val="110000"/>
                </a:lnSpc>
                <a:spcBef>
                  <a:spcPts val="600"/>
                </a:spcBef>
                <a:spcAft>
                  <a:spcPts val="600"/>
                </a:spcAft>
                <a:buClr>
                  <a:schemeClr val="tx1">
                    <a:lumMod val="85000"/>
                    <a:lumOff val="15000"/>
                  </a:schemeClr>
                </a:buClr>
                <a:buNone/>
              </a:pPr>
              <a:r>
                <a:rPr lang="en-US" sz="2400" b="1">
                  <a:latin typeface="Times New Roman" panose="02020603050405020304" pitchFamily="18" charset="0"/>
                  <a:cs typeface="Times New Roman" panose="02020603050405020304" pitchFamily="18" charset="0"/>
                </a:rPr>
                <a:t>8.1. TextView</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14" name="Picture 13"/>
          <p:cNvPicPr>
            <a:picLocks noChangeAspect="1"/>
          </p:cNvPicPr>
          <p:nvPr/>
        </p:nvPicPr>
        <p:blipFill>
          <a:blip r:embed="rId3"/>
          <a:stretch>
            <a:fillRect/>
          </a:stretch>
        </p:blipFill>
        <p:spPr>
          <a:xfrm>
            <a:off x="1749972" y="981478"/>
            <a:ext cx="8686800" cy="5161477"/>
          </a:xfrm>
          <a:prstGeom prst="rect">
            <a:avLst/>
          </a:prstGeom>
        </p:spPr>
      </p:pic>
    </p:spTree>
    <p:extLst>
      <p:ext uri="{BB962C8B-B14F-4D97-AF65-F5344CB8AC3E}">
        <p14:creationId xmlns:p14="http://schemas.microsoft.com/office/powerpoint/2010/main" val="19329681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indent="0">
                <a:lnSpc>
                  <a:spcPct val="110000"/>
                </a:lnSpc>
                <a:spcBef>
                  <a:spcPts val="600"/>
                </a:spcBef>
                <a:spcAft>
                  <a:spcPts val="600"/>
                </a:spcAft>
                <a:buClr>
                  <a:schemeClr val="tx1">
                    <a:lumMod val="85000"/>
                    <a:lumOff val="15000"/>
                  </a:schemeClr>
                </a:buClr>
                <a:buNone/>
              </a:pPr>
              <a:r>
                <a:rPr lang="en-US" sz="2400" b="1">
                  <a:latin typeface="Times New Roman" panose="02020603050405020304" pitchFamily="18" charset="0"/>
                  <a:cs typeface="Times New Roman" panose="02020603050405020304" pitchFamily="18" charset="0"/>
                </a:rPr>
                <a:t>8.2. EditText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1" name="Content Placeholder 2"/>
          <p:cNvSpPr txBox="1">
            <a:spLocks/>
          </p:cNvSpPr>
          <p:nvPr/>
        </p:nvSpPr>
        <p:spPr>
          <a:xfrm>
            <a:off x="728132" y="1002480"/>
            <a:ext cx="11072358" cy="155416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Aft>
                <a:spcPts val="600"/>
              </a:spcAft>
              <a:buClrTx/>
              <a:buFont typeface="Wingdings" charset="2"/>
              <a:buChar char="ü"/>
            </a:pPr>
            <a:r>
              <a:rPr lang="en-US" sz="2400" i="1">
                <a:solidFill>
                  <a:prstClr val="black"/>
                </a:solidFill>
                <a:latin typeface="Cambria Math" charset="0"/>
                <a:ea typeface="Cambria Math" charset="0"/>
                <a:cs typeface="Cambria Math" charset="0"/>
              </a:rPr>
              <a:t>Used to display and change text data, usually named with the prefix edt.</a:t>
            </a:r>
          </a:p>
          <a:p>
            <a:pPr algn="just">
              <a:spcAft>
                <a:spcPts val="600"/>
              </a:spcAft>
              <a:buClrTx/>
              <a:buFont typeface="Wingdings" charset="2"/>
              <a:buChar char="ü"/>
            </a:pPr>
            <a:r>
              <a:rPr lang="en-US" sz="2400" i="1">
                <a:solidFill>
                  <a:prstClr val="black"/>
                </a:solidFill>
                <a:latin typeface="Cambria Math" charset="0"/>
                <a:ea typeface="Cambria Math" charset="0"/>
                <a:cs typeface="Cambria Math" charset="0"/>
              </a:rPr>
              <a:t>Has the same properties as TextView.</a:t>
            </a:r>
            <a:endParaRPr lang="en-US" sz="2400" b="1" i="1">
              <a:solidFill>
                <a:prstClr val="black"/>
              </a:solidFill>
              <a:latin typeface="Cambria Math" charset="0"/>
              <a:ea typeface="Cambria Math" charset="0"/>
              <a:cs typeface="Cambria Math" charset="0"/>
            </a:endParaRPr>
          </a:p>
        </p:txBody>
      </p:sp>
      <p:pic>
        <p:nvPicPr>
          <p:cNvPr id="12" name="Picture 11"/>
          <p:cNvPicPr>
            <a:picLocks noChangeAspect="1"/>
          </p:cNvPicPr>
          <p:nvPr/>
        </p:nvPicPr>
        <p:blipFill>
          <a:blip r:embed="rId3"/>
          <a:stretch>
            <a:fillRect/>
          </a:stretch>
        </p:blipFill>
        <p:spPr>
          <a:xfrm>
            <a:off x="1321476" y="2480442"/>
            <a:ext cx="4127500" cy="2006600"/>
          </a:xfrm>
          <a:prstGeom prst="rect">
            <a:avLst/>
          </a:prstGeom>
        </p:spPr>
      </p:pic>
      <p:pic>
        <p:nvPicPr>
          <p:cNvPr id="13" name="Picture 12"/>
          <p:cNvPicPr>
            <a:picLocks noChangeAspect="1"/>
          </p:cNvPicPr>
          <p:nvPr/>
        </p:nvPicPr>
        <p:blipFill>
          <a:blip r:embed="rId4"/>
          <a:stretch>
            <a:fillRect/>
          </a:stretch>
        </p:blipFill>
        <p:spPr>
          <a:xfrm>
            <a:off x="5571912" y="2480443"/>
            <a:ext cx="4013200" cy="2018835"/>
          </a:xfrm>
          <a:prstGeom prst="rect">
            <a:avLst/>
          </a:prstGeom>
        </p:spPr>
      </p:pic>
    </p:spTree>
    <p:extLst>
      <p:ext uri="{BB962C8B-B14F-4D97-AF65-F5344CB8AC3E}">
        <p14:creationId xmlns:p14="http://schemas.microsoft.com/office/powerpoint/2010/main" val="21669043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indent="0">
                <a:lnSpc>
                  <a:spcPct val="110000"/>
                </a:lnSpc>
                <a:spcBef>
                  <a:spcPts val="600"/>
                </a:spcBef>
                <a:spcAft>
                  <a:spcPts val="600"/>
                </a:spcAft>
                <a:buClr>
                  <a:schemeClr val="tx1">
                    <a:lumMod val="85000"/>
                    <a:lumOff val="15000"/>
                  </a:schemeClr>
                </a:buClr>
                <a:buNone/>
              </a:pPr>
              <a:r>
                <a:rPr lang="en-US" sz="2400" b="1">
                  <a:latin typeface="Times New Roman" panose="02020603050405020304" pitchFamily="18" charset="0"/>
                  <a:cs typeface="Times New Roman" panose="02020603050405020304" pitchFamily="18" charset="0"/>
                </a:rPr>
                <a:t>8.2. EditText</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14" name="Picture 13"/>
          <p:cNvPicPr>
            <a:picLocks noChangeAspect="1"/>
          </p:cNvPicPr>
          <p:nvPr/>
        </p:nvPicPr>
        <p:blipFill>
          <a:blip r:embed="rId3"/>
          <a:stretch>
            <a:fillRect/>
          </a:stretch>
        </p:blipFill>
        <p:spPr>
          <a:xfrm>
            <a:off x="1749972" y="1001903"/>
            <a:ext cx="8686800" cy="5007386"/>
          </a:xfrm>
          <a:prstGeom prst="rect">
            <a:avLst/>
          </a:prstGeom>
        </p:spPr>
      </p:pic>
      <p:sp>
        <p:nvSpPr>
          <p:cNvPr id="15" name="Rectangle 14"/>
          <p:cNvSpPr/>
          <p:nvPr/>
        </p:nvSpPr>
        <p:spPr>
          <a:xfrm>
            <a:off x="2511972" y="1437289"/>
            <a:ext cx="1295400" cy="182880"/>
          </a:xfrm>
          <a:prstGeom prst="rect">
            <a:avLst/>
          </a:prstGeom>
          <a:noFill/>
          <a:ln w="28575"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Georgia"/>
              <a:ea typeface="+mn-ea"/>
              <a:cs typeface="+mn-cs"/>
            </a:endParaRPr>
          </a:p>
        </p:txBody>
      </p:sp>
      <p:sp>
        <p:nvSpPr>
          <p:cNvPr id="16" name="Rectangle 15"/>
          <p:cNvSpPr/>
          <p:nvPr/>
        </p:nvSpPr>
        <p:spPr>
          <a:xfrm>
            <a:off x="8074572" y="1000211"/>
            <a:ext cx="2362200" cy="4932878"/>
          </a:xfrm>
          <a:prstGeom prst="rect">
            <a:avLst/>
          </a:prstGeom>
          <a:noFill/>
          <a:ln w="381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Georgia"/>
              <a:ea typeface="+mn-ea"/>
              <a:cs typeface="+mn-cs"/>
            </a:endParaRPr>
          </a:p>
        </p:txBody>
      </p:sp>
    </p:spTree>
    <p:extLst>
      <p:ext uri="{BB962C8B-B14F-4D97-AF65-F5344CB8AC3E}">
        <p14:creationId xmlns:p14="http://schemas.microsoft.com/office/powerpoint/2010/main" val="3667281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indent="0">
                <a:lnSpc>
                  <a:spcPct val="110000"/>
                </a:lnSpc>
                <a:spcBef>
                  <a:spcPts val="600"/>
                </a:spcBef>
                <a:spcAft>
                  <a:spcPts val="600"/>
                </a:spcAft>
                <a:buClr>
                  <a:schemeClr val="tx1">
                    <a:lumMod val="85000"/>
                    <a:lumOff val="15000"/>
                  </a:schemeClr>
                </a:buClr>
                <a:buNone/>
              </a:pPr>
              <a:r>
                <a:rPr lang="en-US" sz="2400" b="1">
                  <a:latin typeface="Times New Roman" panose="02020603050405020304" pitchFamily="18" charset="0"/>
                  <a:cs typeface="Times New Roman" panose="02020603050405020304" pitchFamily="18" charset="0"/>
                </a:rPr>
                <a:t>8.3. Button</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1" name="Content Placeholder 2"/>
          <p:cNvSpPr txBox="1">
            <a:spLocks/>
          </p:cNvSpPr>
          <p:nvPr/>
        </p:nvSpPr>
        <p:spPr>
          <a:xfrm>
            <a:off x="811924" y="1005107"/>
            <a:ext cx="11201400" cy="201136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Aft>
                <a:spcPts val="600"/>
              </a:spcAft>
              <a:buClrTx/>
              <a:buFont typeface="Wingdings" charset="2"/>
              <a:buChar char="ü"/>
            </a:pPr>
            <a:r>
              <a:rPr lang="en-US" sz="2400" i="1">
                <a:solidFill>
                  <a:prstClr val="black"/>
                </a:solidFill>
                <a:latin typeface="Cambria Math" charset="0"/>
                <a:ea typeface="Cambria Math" charset="0"/>
                <a:cs typeface="Cambria Math" charset="0"/>
              </a:rPr>
              <a:t>Allows displaying text and image data; usually named with the prefix btn.</a:t>
            </a:r>
          </a:p>
          <a:p>
            <a:pPr algn="just">
              <a:spcAft>
                <a:spcPts val="600"/>
              </a:spcAft>
              <a:buClrTx/>
              <a:buFont typeface="Wingdings" charset="2"/>
              <a:buChar char="ü"/>
            </a:pPr>
            <a:r>
              <a:rPr lang="en-US" sz="2400" i="1">
                <a:solidFill>
                  <a:prstClr val="black"/>
                </a:solidFill>
                <a:latin typeface="Cambria Math" charset="0"/>
                <a:ea typeface="Cambria Math" charset="0"/>
                <a:cs typeface="Cambria Math" charset="0"/>
              </a:rPr>
              <a:t>Receive and respond to “tap” interactions from users.</a:t>
            </a:r>
          </a:p>
          <a:p>
            <a:pPr algn="just">
              <a:spcAft>
                <a:spcPts val="600"/>
              </a:spcAft>
              <a:buClrTx/>
              <a:buFont typeface="Wingdings" charset="2"/>
              <a:buChar char="ü"/>
            </a:pPr>
            <a:r>
              <a:rPr lang="en-US" sz="2400" i="1">
                <a:solidFill>
                  <a:prstClr val="black"/>
                </a:solidFill>
                <a:latin typeface="Cambria Math" charset="0"/>
                <a:ea typeface="Cambria Math" charset="0"/>
                <a:cs typeface="Cambria Math" charset="0"/>
              </a:rPr>
              <a:t>Listen to events:</a:t>
            </a:r>
            <a:endParaRPr lang="en-US" sz="2400" b="1" i="1">
              <a:solidFill>
                <a:prstClr val="black"/>
              </a:solidFill>
              <a:latin typeface="Cambria Math" charset="0"/>
              <a:ea typeface="Cambria Math" charset="0"/>
              <a:cs typeface="Cambria Math" charset="0"/>
            </a:endParaRPr>
          </a:p>
        </p:txBody>
      </p:sp>
      <p:grpSp>
        <p:nvGrpSpPr>
          <p:cNvPr id="12" name="Group 11"/>
          <p:cNvGrpSpPr/>
          <p:nvPr/>
        </p:nvGrpSpPr>
        <p:grpSpPr>
          <a:xfrm>
            <a:off x="1421524" y="2553197"/>
            <a:ext cx="6705600" cy="2765524"/>
            <a:chOff x="1066800" y="3352800"/>
            <a:chExt cx="6705600" cy="2765524"/>
          </a:xfrm>
        </p:grpSpPr>
        <p:sp>
          <p:nvSpPr>
            <p:cNvPr id="13" name="Content Placeholder 2"/>
            <p:cNvSpPr txBox="1">
              <a:spLocks/>
            </p:cNvSpPr>
            <p:nvPr/>
          </p:nvSpPr>
          <p:spPr>
            <a:xfrm>
              <a:off x="1066800" y="3352800"/>
              <a:ext cx="6705600" cy="4572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auto" latinLnBrk="0" hangingPunct="1">
                <a:lnSpc>
                  <a:spcPct val="100000"/>
                </a:lnSpc>
                <a:spcBef>
                  <a:spcPct val="20000"/>
                </a:spcBef>
                <a:spcAft>
                  <a:spcPts val="600"/>
                </a:spcAft>
                <a:buClrTx/>
                <a:buSzTx/>
                <a:buFont typeface="Wingdings" charset="2"/>
                <a:buChar char="§"/>
                <a:tabLst/>
                <a:defRPr/>
              </a:pPr>
              <a:r>
                <a:rPr kumimoji="0" lang="en-US" sz="2400" b="0" i="1" u="none" strike="noStrike" kern="1200" cap="none" spc="0" normalizeH="0" baseline="0" noProof="0" smtClean="0">
                  <a:ln>
                    <a:noFill/>
                  </a:ln>
                  <a:solidFill>
                    <a:prstClr val="black"/>
                  </a:solidFill>
                  <a:effectLst/>
                  <a:uLnTx/>
                  <a:uFillTx/>
                  <a:latin typeface="Cambria Math" charset="0"/>
                  <a:ea typeface="Cambria Math" charset="0"/>
                  <a:cs typeface="Cambria Math" charset="0"/>
                </a:rPr>
                <a:t>Java </a:t>
              </a:r>
              <a:r>
                <a:rPr kumimoji="0" lang="en-US" sz="2400" b="0" i="1" u="none" strike="noStrike" kern="1200" cap="none" spc="0" normalizeH="0" baseline="0" noProof="0">
                  <a:ln>
                    <a:noFill/>
                  </a:ln>
                  <a:solidFill>
                    <a:prstClr val="black"/>
                  </a:solidFill>
                  <a:effectLst/>
                  <a:uLnTx/>
                  <a:uFillTx/>
                  <a:latin typeface="Cambria Math" charset="0"/>
                  <a:ea typeface="Cambria Math" charset="0"/>
                  <a:cs typeface="Cambria Math" charset="0"/>
                </a:rPr>
                <a:t>code:</a:t>
              </a:r>
            </a:p>
            <a:p>
              <a:pPr marL="342900" marR="0" lvl="0" indent="-342900" algn="just" defTabSz="914400" rtl="0" eaLnBrk="1" fontAlgn="auto" latinLnBrk="0" hangingPunct="1">
                <a:lnSpc>
                  <a:spcPct val="100000"/>
                </a:lnSpc>
                <a:spcBef>
                  <a:spcPct val="20000"/>
                </a:spcBef>
                <a:spcAft>
                  <a:spcPts val="600"/>
                </a:spcAft>
                <a:buClrTx/>
                <a:buSzTx/>
                <a:buFont typeface="Wingdings" charset="2"/>
                <a:buChar char="§"/>
                <a:tabLst/>
                <a:defRPr/>
              </a:pPr>
              <a:endParaRPr kumimoji="0" lang="en-US" sz="2400" b="1" i="1" u="none" strike="noStrike" kern="1200" cap="none" spc="0" normalizeH="0" baseline="0" noProof="0">
                <a:ln>
                  <a:noFill/>
                </a:ln>
                <a:solidFill>
                  <a:prstClr val="black"/>
                </a:solidFill>
                <a:effectLst/>
                <a:uLnTx/>
                <a:uFillTx/>
                <a:latin typeface="Cambria Math" charset="0"/>
                <a:ea typeface="Cambria Math" charset="0"/>
                <a:cs typeface="Cambria Math" charset="0"/>
              </a:endParaRPr>
            </a:p>
          </p:txBody>
        </p:sp>
        <p:sp>
          <p:nvSpPr>
            <p:cNvPr id="14" name="Rectangle 13"/>
            <p:cNvSpPr/>
            <p:nvPr/>
          </p:nvSpPr>
          <p:spPr>
            <a:xfrm>
              <a:off x="1524000" y="3810000"/>
              <a:ext cx="6248400" cy="2308324"/>
            </a:xfrm>
            <a:prstGeom prst="rect">
              <a:avLst/>
            </a:prstGeom>
            <a:solidFill>
              <a:sysClr val="windowText" lastClr="000000"/>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smtClean="0">
                  <a:ln>
                    <a:noFill/>
                  </a:ln>
                  <a:solidFill>
                    <a:srgbClr val="85609A"/>
                  </a:solidFill>
                  <a:effectLst/>
                  <a:uLnTx/>
                  <a:uFillTx/>
                  <a:latin typeface="Menlo" charset="0"/>
                  <a:ea typeface="+mn-ea"/>
                  <a:cs typeface="+mn-cs"/>
                </a:rPr>
                <a:t>btnSubmit</a:t>
              </a:r>
              <a:r>
                <a:rPr kumimoji="0" lang="en-US" sz="1800" b="0" i="0" u="none" strike="noStrike" kern="1200" cap="none" spc="0" normalizeH="0" baseline="0" noProof="0" dirty="0" smtClean="0">
                  <a:ln>
                    <a:noFill/>
                  </a:ln>
                  <a:solidFill>
                    <a:srgbClr val="85609A"/>
                  </a:solidFill>
                  <a:effectLst/>
                  <a:uLnTx/>
                  <a:uFillTx/>
                  <a:latin typeface="Menlo" charset="0"/>
                  <a:ea typeface="+mn-ea"/>
                  <a:cs typeface="+mn-cs"/>
                </a:rPr>
                <a:t> </a:t>
              </a:r>
              <a:r>
                <a:rPr kumimoji="0" lang="en-US" sz="1800" b="0" i="0" u="none" strike="noStrike" kern="1200" cap="none" spc="0" normalizeH="0" baseline="0" noProof="0" dirty="0" smtClean="0">
                  <a:ln>
                    <a:noFill/>
                  </a:ln>
                  <a:solidFill>
                    <a:srgbClr val="99A8BA"/>
                  </a:solidFill>
                  <a:effectLst/>
                  <a:uLnTx/>
                  <a:uFillTx/>
                  <a:latin typeface="Menlo" charset="0"/>
                  <a:ea typeface="+mn-ea"/>
                  <a:cs typeface="+mn-cs"/>
                </a:rPr>
                <a:t>= </a:t>
              </a:r>
              <a:r>
                <a:rPr kumimoji="0" lang="en-US" sz="1800" b="0" i="0" u="none" strike="noStrike" kern="1200" cap="none" spc="0" normalizeH="0" baseline="0" noProof="0" dirty="0" err="1" smtClean="0">
                  <a:ln>
                    <a:noFill/>
                  </a:ln>
                  <a:solidFill>
                    <a:srgbClr val="99A8BA"/>
                  </a:solidFill>
                  <a:effectLst/>
                  <a:uLnTx/>
                  <a:uFillTx/>
                  <a:latin typeface="Menlo" charset="0"/>
                  <a:ea typeface="+mn-ea"/>
                  <a:cs typeface="+mn-cs"/>
                </a:rPr>
                <a:t>findViewById</a:t>
              </a:r>
              <a:r>
                <a:rPr kumimoji="0" lang="en-US" sz="1800" b="0" i="0" u="none" strike="noStrike" kern="1200" cap="none" spc="0" normalizeH="0" baseline="0" noProof="0" dirty="0" smtClean="0">
                  <a:ln>
                    <a:noFill/>
                  </a:ln>
                  <a:solidFill>
                    <a:srgbClr val="99A8BA"/>
                  </a:solidFill>
                  <a:effectLst/>
                  <a:uLnTx/>
                  <a:uFillTx/>
                  <a:latin typeface="Menlo" charset="0"/>
                  <a:ea typeface="+mn-ea"/>
                  <a:cs typeface="+mn-cs"/>
                </a:rPr>
                <a:t>(</a:t>
              </a:r>
              <a:r>
                <a:rPr kumimoji="0" lang="en-US" sz="1800" b="0" i="0" u="none" strike="noStrike" kern="1200" cap="none" spc="0" normalizeH="0" baseline="0" noProof="0" dirty="0" err="1" smtClean="0">
                  <a:ln>
                    <a:noFill/>
                  </a:ln>
                  <a:solidFill>
                    <a:srgbClr val="99A8BA"/>
                  </a:solidFill>
                  <a:effectLst/>
                  <a:uLnTx/>
                  <a:uFillTx/>
                  <a:latin typeface="Menlo" charset="0"/>
                  <a:ea typeface="+mn-ea"/>
                  <a:cs typeface="+mn-cs"/>
                </a:rPr>
                <a:t>R.id.</a:t>
              </a:r>
              <a:r>
                <a:rPr kumimoji="0" lang="en-US" sz="1800" b="0" i="1" u="none" strike="noStrike" kern="1200" cap="none" spc="0" normalizeH="0" baseline="0" noProof="0" dirty="0" err="1" smtClean="0">
                  <a:ln>
                    <a:noFill/>
                  </a:ln>
                  <a:solidFill>
                    <a:srgbClr val="85609A"/>
                  </a:solidFill>
                  <a:effectLst/>
                  <a:uLnTx/>
                  <a:uFillTx/>
                  <a:latin typeface="Menlo" charset="0"/>
                  <a:ea typeface="+mn-ea"/>
                  <a:cs typeface="+mn-cs"/>
                </a:rPr>
                <a:t>btnSubmit</a:t>
              </a:r>
              <a:r>
                <a:rPr kumimoji="0" lang="en-US" sz="1800" b="0" i="0" u="none" strike="noStrike" kern="1200" cap="none" spc="0" normalizeH="0" baseline="0" noProof="0" dirty="0" smtClean="0">
                  <a:ln>
                    <a:noFill/>
                  </a:ln>
                  <a:solidFill>
                    <a:srgbClr val="99A8BA"/>
                  </a:solidFill>
                  <a:effectLst/>
                  <a:uLnTx/>
                  <a:uFillTx/>
                  <a:latin typeface="Menlo" charset="0"/>
                  <a:ea typeface="+mn-ea"/>
                  <a:cs typeface="+mn-cs"/>
                </a:rPr>
                <a:t>)</a:t>
              </a:r>
              <a:r>
                <a:rPr kumimoji="0" lang="en-US" sz="1800" b="0" i="0" u="none" strike="noStrike" kern="1200" cap="none" spc="0" normalizeH="0" baseline="0" noProof="0" dirty="0" smtClean="0">
                  <a:ln>
                    <a:noFill/>
                  </a:ln>
                  <a:solidFill>
                    <a:srgbClr val="BF6426"/>
                  </a:solidFill>
                  <a:effectLst/>
                  <a:uLnTx/>
                  <a:uFillTx/>
                  <a:latin typeface="Menlo" charset="0"/>
                  <a:ea typeface="+mn-ea"/>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smtClean="0">
                  <a:ln>
                    <a:noFill/>
                  </a:ln>
                  <a:solidFill>
                    <a:srgbClr val="85609A"/>
                  </a:solidFill>
                  <a:effectLst/>
                  <a:uLnTx/>
                  <a:uFillTx/>
                  <a:latin typeface="Menlo" charset="0"/>
                  <a:ea typeface="+mn-ea"/>
                  <a:cs typeface="+mn-cs"/>
                </a:rPr>
                <a:t>btnSubmit</a:t>
              </a:r>
              <a:r>
                <a:rPr kumimoji="0" lang="en-US" sz="1800" b="0" i="0" u="none" strike="noStrike" kern="1200" cap="none" spc="0" normalizeH="0" baseline="0" noProof="0" dirty="0" err="1" smtClean="0">
                  <a:ln>
                    <a:noFill/>
                  </a:ln>
                  <a:solidFill>
                    <a:srgbClr val="99A8BA"/>
                  </a:solidFill>
                  <a:effectLst/>
                  <a:uLnTx/>
                  <a:uFillTx/>
                  <a:latin typeface="Menlo" charset="0"/>
                  <a:ea typeface="+mn-ea"/>
                  <a:cs typeface="+mn-cs"/>
                </a:rPr>
                <a:t>.setOnClickListener</a:t>
              </a:r>
              <a:r>
                <a:rPr kumimoji="0" lang="en-US" sz="1800" b="0" i="0" u="none" strike="noStrike" kern="1200" cap="none" spc="0" normalizeH="0" baseline="0" noProof="0" dirty="0" smtClean="0">
                  <a:ln>
                    <a:noFill/>
                  </a:ln>
                  <a:solidFill>
                    <a:srgbClr val="99A8BA"/>
                  </a:solidFill>
                  <a:effectLst/>
                  <a:uLnTx/>
                  <a:uFillTx/>
                  <a:latin typeface="Menlo" charset="0"/>
                  <a:ea typeface="+mn-ea"/>
                  <a:cs typeface="+mn-cs"/>
                </a:rPr>
                <a:t>(</a:t>
              </a:r>
              <a:r>
                <a:rPr kumimoji="0" lang="en-US" sz="1800" b="0" i="0" u="none" strike="noStrike" kern="1200" cap="none" spc="0" normalizeH="0" baseline="0" noProof="0" dirty="0" smtClean="0">
                  <a:ln>
                    <a:noFill/>
                  </a:ln>
                  <a:solidFill>
                    <a:srgbClr val="BF6426"/>
                  </a:solidFill>
                  <a:effectLst/>
                  <a:uLnTx/>
                  <a:uFillTx/>
                  <a:latin typeface="Menlo" charset="0"/>
                  <a:ea typeface="+mn-ea"/>
                  <a:cs typeface="+mn-cs"/>
                </a:rPr>
                <a:t>new </a:t>
              </a:r>
              <a:r>
                <a:rPr kumimoji="0" lang="en-US" sz="1800" b="0" i="0" u="none" strike="noStrike" kern="1200" cap="none" spc="0" normalizeH="0" baseline="0" noProof="0" dirty="0" err="1" smtClean="0">
                  <a:ln>
                    <a:noFill/>
                  </a:ln>
                  <a:solidFill>
                    <a:srgbClr val="99A8BA"/>
                  </a:solidFill>
                  <a:effectLst/>
                  <a:uLnTx/>
                  <a:uFillTx/>
                  <a:latin typeface="Menlo" charset="0"/>
                  <a:ea typeface="+mn-ea"/>
                  <a:cs typeface="+mn-cs"/>
                </a:rPr>
                <a:t>View.OnClickListener</a:t>
              </a:r>
              <a:r>
                <a:rPr kumimoji="0" lang="en-US" sz="1800" b="0" i="0" u="none" strike="noStrike" kern="1200" cap="none" spc="0" normalizeH="0" baseline="0" noProof="0" dirty="0" smtClean="0">
                  <a:ln>
                    <a:noFill/>
                  </a:ln>
                  <a:solidFill>
                    <a:srgbClr val="99A8BA"/>
                  </a:solidFill>
                  <a:effectLst/>
                  <a:uLnTx/>
                  <a:uFillTx/>
                  <a:latin typeface="Menlo" charset="0"/>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99A8BA"/>
                  </a:solidFill>
                  <a:effectLst/>
                  <a:uLnTx/>
                  <a:uFillTx/>
                  <a:latin typeface="Menlo" charset="0"/>
                  <a:ea typeface="+mn-ea"/>
                  <a:cs typeface="+mn-cs"/>
                </a:rPr>
                <a:t>    </a:t>
              </a:r>
              <a:r>
                <a:rPr kumimoji="0" lang="en-US" sz="1800" b="0" i="0" u="none" strike="noStrike" kern="1200" cap="none" spc="0" normalizeH="0" baseline="0" noProof="0" dirty="0" smtClean="0">
                  <a:ln>
                    <a:noFill/>
                  </a:ln>
                  <a:solidFill>
                    <a:srgbClr val="ADA920"/>
                  </a:solidFill>
                  <a:effectLst/>
                  <a:uLnTx/>
                  <a:uFillTx/>
                  <a:latin typeface="Menlo" charset="0"/>
                  <a:ea typeface="+mn-ea"/>
                  <a:cs typeface="+mn-cs"/>
                </a:rPr>
                <a:t>@Override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ADA920"/>
                  </a:solidFill>
                  <a:effectLst/>
                  <a:uLnTx/>
                  <a:uFillTx/>
                  <a:latin typeface="Menlo" charset="0"/>
                  <a:ea typeface="+mn-ea"/>
                  <a:cs typeface="+mn-cs"/>
                </a:rPr>
                <a:t>    </a:t>
              </a:r>
              <a:r>
                <a:rPr kumimoji="0" lang="en-US" sz="1800" b="0" i="0" u="none" strike="noStrike" kern="1200" cap="none" spc="0" normalizeH="0" baseline="0" noProof="0" dirty="0" smtClean="0">
                  <a:ln>
                    <a:noFill/>
                  </a:ln>
                  <a:solidFill>
                    <a:srgbClr val="BF6426"/>
                  </a:solidFill>
                  <a:effectLst/>
                  <a:uLnTx/>
                  <a:uFillTx/>
                  <a:latin typeface="Menlo" charset="0"/>
                  <a:ea typeface="+mn-ea"/>
                  <a:cs typeface="+mn-cs"/>
                </a:rPr>
                <a:t>public void </a:t>
              </a:r>
              <a:r>
                <a:rPr kumimoji="0" lang="en-US" sz="1800" b="0" i="0" u="none" strike="noStrike" kern="1200" cap="none" spc="0" normalizeH="0" baseline="0" noProof="0" dirty="0" err="1" smtClean="0">
                  <a:ln>
                    <a:noFill/>
                  </a:ln>
                  <a:solidFill>
                    <a:srgbClr val="FEBB5B"/>
                  </a:solidFill>
                  <a:effectLst/>
                  <a:uLnTx/>
                  <a:uFillTx/>
                  <a:latin typeface="Menlo" charset="0"/>
                  <a:ea typeface="+mn-ea"/>
                  <a:cs typeface="+mn-cs"/>
                </a:rPr>
                <a:t>onClick</a:t>
              </a:r>
              <a:r>
                <a:rPr kumimoji="0" lang="en-US" sz="1800" b="0" i="0" u="none" strike="noStrike" kern="1200" cap="none" spc="0" normalizeH="0" baseline="0" noProof="0" dirty="0" smtClean="0">
                  <a:ln>
                    <a:noFill/>
                  </a:ln>
                  <a:solidFill>
                    <a:srgbClr val="99A8BA"/>
                  </a:solidFill>
                  <a:effectLst/>
                  <a:uLnTx/>
                  <a:uFillTx/>
                  <a:latin typeface="Menlo" charset="0"/>
                  <a:ea typeface="+mn-ea"/>
                  <a:cs typeface="+mn-cs"/>
                </a:rPr>
                <a:t>(View view) {</a:t>
              </a:r>
            </a:p>
            <a:p>
              <a:pPr marL="0" marR="0" lvl="0" indent="0" defTabSz="91440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smtClean="0">
                  <a:ln>
                    <a:noFill/>
                  </a:ln>
                  <a:solidFill>
                    <a:srgbClr val="99A8BA"/>
                  </a:solidFill>
                  <a:effectLst/>
                  <a:uLnTx/>
                  <a:uFillTx/>
                  <a:latin typeface="Menlo" charset="0"/>
                  <a:ea typeface="+mn-ea"/>
                  <a:cs typeface="+mn-cs"/>
                </a:rPr>
                <a:t>        </a:t>
              </a:r>
              <a:r>
                <a:rPr kumimoji="0" lang="vi-VN" sz="1800" b="0" i="0" u="none" strike="noStrike" kern="1200" cap="none" spc="0" normalizeH="0" baseline="0" noProof="0" dirty="0" smtClean="0">
                  <a:ln>
                    <a:noFill/>
                  </a:ln>
                  <a:solidFill>
                    <a:srgbClr val="6D6D6D"/>
                  </a:solidFill>
                  <a:effectLst/>
                  <a:uLnTx/>
                  <a:uFillTx/>
                  <a:latin typeface="Menlo" charset="0"/>
                  <a:ea typeface="+mn-ea"/>
                  <a:cs typeface="+mn-cs"/>
                </a:rPr>
                <a:t>//</a:t>
              </a:r>
              <a:r>
                <a:rPr kumimoji="0" lang="en-US" sz="1800" b="0" i="0" u="none" strike="noStrike" kern="1200" cap="none" spc="0" normalizeH="0" baseline="0" noProof="0" dirty="0" smtClean="0">
                  <a:ln>
                    <a:noFill/>
                  </a:ln>
                  <a:solidFill>
                    <a:srgbClr val="6D6D6D"/>
                  </a:solidFill>
                  <a:effectLst/>
                  <a:uLnTx/>
                  <a:uFillTx/>
                  <a:latin typeface="Menlo" charset="0"/>
                  <a:ea typeface="+mn-ea"/>
                  <a:cs typeface="+mn-cs"/>
                </a:rPr>
                <a:t>Process here</a:t>
              </a:r>
              <a:r>
                <a:rPr kumimoji="0" lang="vi-VN" sz="1800" b="0" i="0" u="none" strike="noStrike" kern="1200" cap="none" spc="0" normalizeH="0" baseline="0" noProof="0" dirty="0" smtClean="0">
                  <a:ln>
                    <a:noFill/>
                  </a:ln>
                  <a:solidFill>
                    <a:srgbClr val="6D6D6D"/>
                  </a:solidFill>
                  <a:effectLst/>
                  <a:uLnTx/>
                  <a:uFillTx/>
                  <a:latin typeface="Menlo" charset="0"/>
                  <a:ea typeface="+mn-ea"/>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mr-IN" sz="1800" b="0" i="0" u="none" strike="noStrike" kern="1200" cap="none" spc="0" normalizeH="0" baseline="0" noProof="0" dirty="0" smtClean="0">
                  <a:ln>
                    <a:noFill/>
                  </a:ln>
                  <a:solidFill>
                    <a:srgbClr val="6D6D6D"/>
                  </a:solidFill>
                  <a:effectLst/>
                  <a:uLnTx/>
                  <a:uFillTx/>
                  <a:latin typeface="Menlo" charset="0"/>
                  <a:ea typeface="+mn-ea"/>
                  <a:cs typeface="Mangal" panose="00000400000000000000" pitchFamily="2"/>
                </a:rPr>
                <a:t>    </a:t>
              </a:r>
              <a:r>
                <a:rPr kumimoji="0" lang="mr-IN" sz="1800" b="0" i="0" u="none" strike="noStrike" kern="1200" cap="none" spc="0" normalizeH="0" baseline="0" noProof="0" dirty="0" smtClean="0">
                  <a:ln>
                    <a:noFill/>
                  </a:ln>
                  <a:solidFill>
                    <a:srgbClr val="99A8BA"/>
                  </a:solidFill>
                  <a:effectLst/>
                  <a:uLnTx/>
                  <a:uFillTx/>
                  <a:latin typeface="Menlo" charset="0"/>
                  <a:ea typeface="+mn-ea"/>
                  <a:cs typeface="Mangal" panose="00000400000000000000" pitchFamily="2"/>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smtClean="0">
                  <a:ln>
                    <a:noFill/>
                  </a:ln>
                  <a:solidFill>
                    <a:srgbClr val="99A8BA"/>
                  </a:solidFill>
                  <a:effectLst/>
                  <a:uLnTx/>
                  <a:uFillTx/>
                  <a:latin typeface="Menlo" charset="0"/>
                  <a:ea typeface="+mn-ea"/>
                  <a:cs typeface="+mn-cs"/>
                </a:rPr>
                <a:t>})</a:t>
              </a:r>
              <a:r>
                <a:rPr kumimoji="0" lang="it-IT" sz="1800" b="0" i="0" u="none" strike="noStrike" kern="1200" cap="none" spc="0" normalizeH="0" baseline="0" noProof="0" dirty="0" smtClean="0">
                  <a:ln>
                    <a:noFill/>
                  </a:ln>
                  <a:solidFill>
                    <a:srgbClr val="BF6426"/>
                  </a:solidFill>
                  <a:effectLst/>
                  <a:uLnTx/>
                  <a:uFillTx/>
                  <a:latin typeface="Menlo" charset="0"/>
                  <a:ea typeface="+mn-ea"/>
                  <a:cs typeface="+mn-cs"/>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smtClean="0">
                <a:ln>
                  <a:noFill/>
                </a:ln>
                <a:solidFill>
                  <a:srgbClr val="BF6426"/>
                </a:solidFill>
                <a:effectLst/>
                <a:uLnTx/>
                <a:uFillTx/>
                <a:latin typeface="Menlo" charset="0"/>
                <a:ea typeface="+mn-ea"/>
                <a:cs typeface="+mn-cs"/>
              </a:endParaRPr>
            </a:p>
          </p:txBody>
        </p:sp>
      </p:grpSp>
      <p:grpSp>
        <p:nvGrpSpPr>
          <p:cNvPr id="15" name="Group 14"/>
          <p:cNvGrpSpPr/>
          <p:nvPr/>
        </p:nvGrpSpPr>
        <p:grpSpPr>
          <a:xfrm>
            <a:off x="1421524" y="5318721"/>
            <a:ext cx="6705600" cy="826294"/>
            <a:chOff x="1066800" y="5486638"/>
            <a:chExt cx="6705600" cy="826294"/>
          </a:xfrm>
        </p:grpSpPr>
        <p:sp>
          <p:nvSpPr>
            <p:cNvPr id="17" name="Rectangle 16"/>
            <p:cNvSpPr/>
            <p:nvPr/>
          </p:nvSpPr>
          <p:spPr>
            <a:xfrm>
              <a:off x="1523999" y="5943600"/>
              <a:ext cx="4495801" cy="369332"/>
            </a:xfrm>
            <a:prstGeom prst="rect">
              <a:avLst/>
            </a:prstGeom>
            <a:solidFill>
              <a:sysClr val="windowText" lastClr="000000"/>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smtClean="0">
                  <a:ln>
                    <a:noFill/>
                  </a:ln>
                  <a:solidFill>
                    <a:srgbClr val="9876AA"/>
                  </a:solidFill>
                  <a:effectLst/>
                  <a:uLnTx/>
                  <a:uFillTx/>
                  <a:latin typeface="Georgia"/>
                  <a:ea typeface="+mn-ea"/>
                  <a:cs typeface="+mn-cs"/>
                </a:rPr>
                <a:t>android</a:t>
              </a:r>
              <a:r>
                <a:rPr kumimoji="0" lang="en-US" sz="1800" b="0" i="0" u="none" strike="noStrike" kern="1200" cap="none" spc="0" normalizeH="0" baseline="0" noProof="0" smtClean="0">
                  <a:ln>
                    <a:noFill/>
                  </a:ln>
                  <a:solidFill>
                    <a:srgbClr val="BABABA"/>
                  </a:solidFill>
                  <a:effectLst/>
                  <a:uLnTx/>
                  <a:uFillTx/>
                  <a:latin typeface="Georgia"/>
                  <a:ea typeface="+mn-ea"/>
                  <a:cs typeface="+mn-cs"/>
                </a:rPr>
                <a:t>:onClick</a:t>
              </a:r>
              <a:r>
                <a:rPr kumimoji="0" lang="en-US" sz="1800" b="0" i="0" u="none" strike="noStrike" kern="1200" cap="none" spc="0" normalizeH="0" baseline="0" noProof="0" smtClean="0">
                  <a:ln>
                    <a:noFill/>
                  </a:ln>
                  <a:solidFill>
                    <a:srgbClr val="6A8759"/>
                  </a:solidFill>
                  <a:effectLst/>
                  <a:uLnTx/>
                  <a:uFillTx/>
                  <a:latin typeface="Georgia"/>
                  <a:ea typeface="+mn-ea"/>
                  <a:cs typeface="+mn-cs"/>
                </a:rPr>
                <a:t>=“MethodName”</a:t>
              </a:r>
              <a:endParaRPr kumimoji="0" lang="en-US" sz="1800" b="0" i="0" u="none" strike="noStrike" kern="1200" cap="none" spc="0" normalizeH="0" baseline="0" noProof="0" smtClean="0">
                <a:ln>
                  <a:noFill/>
                </a:ln>
                <a:solidFill>
                  <a:prstClr val="black"/>
                </a:solidFill>
                <a:effectLst/>
                <a:uLnTx/>
                <a:uFillTx/>
                <a:latin typeface="Georgia"/>
                <a:ea typeface="+mn-ea"/>
                <a:cs typeface="+mn-cs"/>
              </a:endParaRPr>
            </a:p>
          </p:txBody>
        </p:sp>
        <p:sp>
          <p:nvSpPr>
            <p:cNvPr id="18" name="Content Placeholder 2"/>
            <p:cNvSpPr txBox="1">
              <a:spLocks/>
            </p:cNvSpPr>
            <p:nvPr/>
          </p:nvSpPr>
          <p:spPr>
            <a:xfrm>
              <a:off x="1066800" y="5486638"/>
              <a:ext cx="6705600" cy="4572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auto" latinLnBrk="0" hangingPunct="1">
                <a:lnSpc>
                  <a:spcPct val="100000"/>
                </a:lnSpc>
                <a:spcBef>
                  <a:spcPct val="20000"/>
                </a:spcBef>
                <a:spcAft>
                  <a:spcPts val="600"/>
                </a:spcAft>
                <a:buClrTx/>
                <a:buSzTx/>
                <a:buFont typeface="Wingdings" charset="2"/>
                <a:buChar char="§"/>
                <a:tabLst/>
                <a:defRPr/>
              </a:pPr>
              <a:r>
                <a:rPr kumimoji="0" lang="en-US" sz="2400" b="0" i="1" u="none" strike="noStrike" kern="1200" cap="none" spc="0" normalizeH="0" baseline="0" noProof="0" smtClean="0">
                  <a:ln>
                    <a:noFill/>
                  </a:ln>
                  <a:solidFill>
                    <a:prstClr val="black"/>
                  </a:solidFill>
                  <a:effectLst/>
                  <a:uLnTx/>
                  <a:uFillTx/>
                  <a:latin typeface="Cambria Math" charset="0"/>
                  <a:ea typeface="Cambria Math" charset="0"/>
                  <a:cs typeface="Cambria Math" charset="0"/>
                </a:rPr>
                <a:t>XML</a:t>
              </a:r>
              <a:r>
                <a:rPr kumimoji="0" lang="en-US" sz="2400" b="0" i="1" u="none" strike="noStrike" kern="1200" cap="none" spc="0" normalizeH="0" baseline="0" noProof="0">
                  <a:ln>
                    <a:noFill/>
                  </a:ln>
                  <a:solidFill>
                    <a:prstClr val="black"/>
                  </a:solidFill>
                  <a:effectLst/>
                  <a:uLnTx/>
                  <a:uFillTx/>
                  <a:latin typeface="Cambria Math" charset="0"/>
                  <a:ea typeface="Cambria Math" charset="0"/>
                  <a:cs typeface="Cambria Math" charset="0"/>
                </a:rPr>
                <a:t>:</a:t>
              </a:r>
            </a:p>
            <a:p>
              <a:pPr marL="342900" marR="0" lvl="0" indent="-342900" algn="just" defTabSz="914400" rtl="0" eaLnBrk="1" fontAlgn="auto" latinLnBrk="0" hangingPunct="1">
                <a:lnSpc>
                  <a:spcPct val="100000"/>
                </a:lnSpc>
                <a:spcBef>
                  <a:spcPct val="20000"/>
                </a:spcBef>
                <a:spcAft>
                  <a:spcPts val="600"/>
                </a:spcAft>
                <a:buClrTx/>
                <a:buSzTx/>
                <a:buFont typeface="Wingdings" charset="2"/>
                <a:buChar char="§"/>
                <a:tabLst/>
                <a:defRPr/>
              </a:pPr>
              <a:endParaRPr kumimoji="0" lang="en-US" sz="2400" b="1" i="1" u="none" strike="noStrike" kern="1200" cap="none" spc="0" normalizeH="0" baseline="0" noProof="0">
                <a:ln>
                  <a:noFill/>
                </a:ln>
                <a:solidFill>
                  <a:prstClr val="black"/>
                </a:solidFill>
                <a:effectLst/>
                <a:uLnTx/>
                <a:uFillTx/>
                <a:latin typeface="Cambria Math" charset="0"/>
                <a:ea typeface="Cambria Math" charset="0"/>
                <a:cs typeface="Cambria Math" charset="0"/>
              </a:endParaRPr>
            </a:p>
          </p:txBody>
        </p:sp>
      </p:grpSp>
    </p:spTree>
    <p:extLst>
      <p:ext uri="{BB962C8B-B14F-4D97-AF65-F5344CB8AC3E}">
        <p14:creationId xmlns:p14="http://schemas.microsoft.com/office/powerpoint/2010/main" val="668709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linds(horizont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linds(horizontal)">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linds(horizontal)">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indent="0">
                <a:lnSpc>
                  <a:spcPct val="110000"/>
                </a:lnSpc>
                <a:spcBef>
                  <a:spcPts val="600"/>
                </a:spcBef>
                <a:spcAft>
                  <a:spcPts val="600"/>
                </a:spcAft>
                <a:buClr>
                  <a:schemeClr val="tx1">
                    <a:lumMod val="85000"/>
                    <a:lumOff val="15000"/>
                  </a:schemeClr>
                </a:buClr>
                <a:buNone/>
              </a:pPr>
              <a:r>
                <a:rPr lang="en-US" sz="2400" b="1">
                  <a:latin typeface="Times New Roman" panose="02020603050405020304" pitchFamily="18" charset="0"/>
                  <a:cs typeface="Times New Roman" panose="02020603050405020304" pitchFamily="18" charset="0"/>
                </a:rPr>
                <a:t>8.3. Button</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19" name="Picture 18"/>
          <p:cNvPicPr>
            <a:picLocks noChangeAspect="1"/>
          </p:cNvPicPr>
          <p:nvPr/>
        </p:nvPicPr>
        <p:blipFill>
          <a:blip r:embed="rId3"/>
          <a:stretch>
            <a:fillRect/>
          </a:stretch>
        </p:blipFill>
        <p:spPr>
          <a:xfrm>
            <a:off x="1006365" y="850644"/>
            <a:ext cx="8839200" cy="5269574"/>
          </a:xfrm>
          <a:prstGeom prst="rect">
            <a:avLst/>
          </a:prstGeom>
        </p:spPr>
      </p:pic>
    </p:spTree>
    <p:extLst>
      <p:ext uri="{BB962C8B-B14F-4D97-AF65-F5344CB8AC3E}">
        <p14:creationId xmlns:p14="http://schemas.microsoft.com/office/powerpoint/2010/main" val="20432888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indent="0">
                <a:lnSpc>
                  <a:spcPct val="110000"/>
                </a:lnSpc>
                <a:spcBef>
                  <a:spcPts val="600"/>
                </a:spcBef>
                <a:spcAft>
                  <a:spcPts val="600"/>
                </a:spcAft>
                <a:buClr>
                  <a:schemeClr val="tx1">
                    <a:lumMod val="85000"/>
                    <a:lumOff val="15000"/>
                  </a:schemeClr>
                </a:buClr>
                <a:buNone/>
              </a:pPr>
              <a:r>
                <a:rPr lang="en-US" sz="2400" b="1">
                  <a:latin typeface="Times New Roman" panose="02020603050405020304" pitchFamily="18" charset="0"/>
                  <a:cs typeface="Times New Roman" panose="02020603050405020304" pitchFamily="18" charset="0"/>
                </a:rPr>
                <a:t>8.4. CheckBox</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11" name="Picture 10"/>
          <p:cNvPicPr>
            <a:picLocks noChangeAspect="1"/>
          </p:cNvPicPr>
          <p:nvPr/>
        </p:nvPicPr>
        <p:blipFill>
          <a:blip r:embed="rId3"/>
          <a:stretch>
            <a:fillRect/>
          </a:stretch>
        </p:blipFill>
        <p:spPr>
          <a:xfrm>
            <a:off x="3014132" y="1910255"/>
            <a:ext cx="4152900" cy="3162300"/>
          </a:xfrm>
          <a:prstGeom prst="rect">
            <a:avLst/>
          </a:prstGeom>
        </p:spPr>
      </p:pic>
      <p:sp>
        <p:nvSpPr>
          <p:cNvPr id="12" name="Content Placeholder 2"/>
          <p:cNvSpPr txBox="1">
            <a:spLocks/>
          </p:cNvSpPr>
          <p:nvPr/>
        </p:nvSpPr>
        <p:spPr>
          <a:xfrm>
            <a:off x="728131" y="965693"/>
            <a:ext cx="10772813" cy="86836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Aft>
                <a:spcPts val="600"/>
              </a:spcAft>
              <a:buClrTx/>
              <a:buFont typeface="Wingdings" charset="2"/>
              <a:buChar char="ü"/>
            </a:pPr>
            <a:r>
              <a:rPr lang="en-US" sz="2400" i="1">
                <a:solidFill>
                  <a:prstClr val="black"/>
                </a:solidFill>
                <a:latin typeface="Cambria Math" charset="0"/>
                <a:ea typeface="Cambria Math" charset="0"/>
                <a:cs typeface="Cambria Math" charset="0"/>
              </a:rPr>
              <a:t>Allows multiple options to be selected, usually named with the </a:t>
            </a:r>
            <a:r>
              <a:rPr lang="en-US" sz="2400" b="1" i="1">
                <a:solidFill>
                  <a:prstClr val="black"/>
                </a:solidFill>
                <a:latin typeface="Cambria Math" charset="0"/>
                <a:ea typeface="Cambria Math" charset="0"/>
                <a:cs typeface="Cambria Math" charset="0"/>
              </a:rPr>
              <a:t>chk</a:t>
            </a:r>
            <a:r>
              <a:rPr lang="en-US" sz="2400" i="1">
                <a:solidFill>
                  <a:prstClr val="black"/>
                </a:solidFill>
                <a:latin typeface="Cambria Math" charset="0"/>
                <a:ea typeface="Cambria Math" charset="0"/>
                <a:cs typeface="Cambria Math" charset="0"/>
              </a:rPr>
              <a:t> prefix.</a:t>
            </a:r>
          </a:p>
        </p:txBody>
      </p:sp>
    </p:spTree>
    <p:extLst>
      <p:ext uri="{BB962C8B-B14F-4D97-AF65-F5344CB8AC3E}">
        <p14:creationId xmlns:p14="http://schemas.microsoft.com/office/powerpoint/2010/main" val="901820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linds(horizontal)">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indent="0">
                <a:lnSpc>
                  <a:spcPct val="110000"/>
                </a:lnSpc>
                <a:spcBef>
                  <a:spcPts val="600"/>
                </a:spcBef>
                <a:spcAft>
                  <a:spcPts val="600"/>
                </a:spcAft>
                <a:buClr>
                  <a:schemeClr val="tx1">
                    <a:lumMod val="85000"/>
                    <a:lumOff val="15000"/>
                  </a:schemeClr>
                </a:buClr>
                <a:buNone/>
              </a:pPr>
              <a:r>
                <a:rPr lang="en-US" sz="2400" b="1">
                  <a:latin typeface="Times New Roman" panose="02020603050405020304" pitchFamily="18" charset="0"/>
                  <a:cs typeface="Times New Roman" panose="02020603050405020304" pitchFamily="18" charset="0"/>
                </a:rPr>
                <a:t>8.5. RadioButton</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1" name="Content Placeholder 2"/>
          <p:cNvSpPr txBox="1">
            <a:spLocks/>
          </p:cNvSpPr>
          <p:nvPr/>
        </p:nvSpPr>
        <p:spPr>
          <a:xfrm>
            <a:off x="586012" y="902723"/>
            <a:ext cx="11364249" cy="86836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Aft>
                <a:spcPts val="600"/>
              </a:spcAft>
              <a:buClrTx/>
              <a:buFont typeface="Wingdings" charset="2"/>
              <a:buChar char="ü"/>
            </a:pPr>
            <a:r>
              <a:rPr lang="en-US" sz="2400" i="1">
                <a:solidFill>
                  <a:prstClr val="black"/>
                </a:solidFill>
                <a:latin typeface="Cambria Math" charset="0"/>
                <a:ea typeface="Cambria Math" charset="0"/>
                <a:cs typeface="Cambria Math" charset="0"/>
              </a:rPr>
              <a:t>Allows the selection of only one option, usually named with the prefix </a:t>
            </a:r>
            <a:r>
              <a:rPr lang="en-US" sz="2400" b="1" i="1">
                <a:solidFill>
                  <a:prstClr val="black"/>
                </a:solidFill>
                <a:latin typeface="Cambria Math" charset="0"/>
                <a:ea typeface="Cambria Math" charset="0"/>
                <a:cs typeface="Cambria Math" charset="0"/>
              </a:rPr>
              <a:t>rad</a:t>
            </a:r>
            <a:r>
              <a:rPr lang="en-US" sz="2400" i="1">
                <a:solidFill>
                  <a:prstClr val="black"/>
                </a:solidFill>
                <a:latin typeface="Cambria Math" charset="0"/>
                <a:ea typeface="Cambria Math" charset="0"/>
                <a:cs typeface="Cambria Math" charset="0"/>
              </a:rPr>
              <a:t>.</a:t>
            </a:r>
          </a:p>
        </p:txBody>
      </p:sp>
      <p:pic>
        <p:nvPicPr>
          <p:cNvPr id="12" name="Picture 11"/>
          <p:cNvPicPr>
            <a:picLocks noChangeAspect="1"/>
          </p:cNvPicPr>
          <p:nvPr/>
        </p:nvPicPr>
        <p:blipFill>
          <a:blip r:embed="rId3"/>
          <a:stretch>
            <a:fillRect/>
          </a:stretch>
        </p:blipFill>
        <p:spPr>
          <a:xfrm>
            <a:off x="2770413" y="1847285"/>
            <a:ext cx="4165600" cy="3390900"/>
          </a:xfrm>
          <a:prstGeom prst="rect">
            <a:avLst/>
          </a:prstGeom>
        </p:spPr>
      </p:pic>
    </p:spTree>
    <p:extLst>
      <p:ext uri="{BB962C8B-B14F-4D97-AF65-F5344CB8AC3E}">
        <p14:creationId xmlns:p14="http://schemas.microsoft.com/office/powerpoint/2010/main" val="3709307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indent="0">
                <a:lnSpc>
                  <a:spcPct val="110000"/>
                </a:lnSpc>
                <a:spcBef>
                  <a:spcPts val="600"/>
                </a:spcBef>
                <a:spcAft>
                  <a:spcPts val="600"/>
                </a:spcAft>
                <a:buClr>
                  <a:schemeClr val="tx1">
                    <a:lumMod val="85000"/>
                    <a:lumOff val="15000"/>
                  </a:schemeClr>
                </a:buClr>
                <a:buNone/>
              </a:pPr>
              <a:r>
                <a:rPr lang="en-US" sz="2400" b="1">
                  <a:latin typeface="Times New Roman" panose="02020603050405020304" pitchFamily="18" charset="0"/>
                  <a:cs typeface="Times New Roman" panose="02020603050405020304" pitchFamily="18" charset="0"/>
                </a:rPr>
                <a:t>8.6. ImageButton</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7" name="Content Placeholder 2"/>
          <p:cNvSpPr txBox="1">
            <a:spLocks/>
          </p:cNvSpPr>
          <p:nvPr/>
        </p:nvSpPr>
        <p:spPr bwMode="auto">
          <a:xfrm>
            <a:off x="518735" y="977462"/>
            <a:ext cx="11195044" cy="1143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0000FF"/>
              </a:buClr>
              <a:defRPr/>
            </a:pPr>
            <a:r>
              <a:rPr lang="en-US" sz="2400">
                <a:solidFill>
                  <a:srgbClr val="002060"/>
                </a:solidFill>
                <a:latin typeface="Cambria" panose="02040503050406030204" pitchFamily="18" charset="0"/>
              </a:rPr>
              <a:t>ImageButton is a Button that can contain images, can set prefix </a:t>
            </a:r>
            <a:r>
              <a:rPr lang="en-US" sz="2400" b="1">
                <a:solidFill>
                  <a:srgbClr val="002060"/>
                </a:solidFill>
                <a:latin typeface="Cambria" panose="02040503050406030204" pitchFamily="18" charset="0"/>
              </a:rPr>
              <a:t>btn</a:t>
            </a:r>
            <a:r>
              <a:rPr lang="en-US" sz="2400">
                <a:solidFill>
                  <a:srgbClr val="002060"/>
                </a:solidFill>
                <a:latin typeface="Cambria" panose="02040503050406030204" pitchFamily="18" charset="0"/>
              </a:rPr>
              <a:t>, </a:t>
            </a:r>
            <a:r>
              <a:rPr lang="en-US" sz="2400" b="1">
                <a:solidFill>
                  <a:srgbClr val="002060"/>
                </a:solidFill>
                <a:latin typeface="Cambria" panose="02040503050406030204" pitchFamily="18" charset="0"/>
              </a:rPr>
              <a:t>imgBtn</a:t>
            </a:r>
            <a:endParaRPr lang="en-US" sz="6000" b="1" dirty="0">
              <a:solidFill>
                <a:srgbClr val="FF0000"/>
              </a:solidFill>
              <a:latin typeface="Cambria" panose="02040503050406030204" pitchFamily="18" charset="0"/>
            </a:endParaRPr>
          </a:p>
        </p:txBody>
      </p:sp>
      <p:pic>
        <p:nvPicPr>
          <p:cNvPr id="18" name="Picture 17"/>
          <p:cNvPicPr>
            <a:picLocks noChangeAspect="1"/>
          </p:cNvPicPr>
          <p:nvPr/>
        </p:nvPicPr>
        <p:blipFill>
          <a:blip r:embed="rId3"/>
          <a:stretch>
            <a:fillRect/>
          </a:stretch>
        </p:blipFill>
        <p:spPr>
          <a:xfrm>
            <a:off x="4691951" y="1926020"/>
            <a:ext cx="3115455" cy="2415151"/>
          </a:xfrm>
          <a:prstGeom prst="rect">
            <a:avLst/>
          </a:prstGeom>
          <a:ln>
            <a:solidFill>
              <a:sysClr val="windowText" lastClr="000000"/>
            </a:solidFill>
          </a:ln>
        </p:spPr>
      </p:pic>
    </p:spTree>
    <p:extLst>
      <p:ext uri="{BB962C8B-B14F-4D97-AF65-F5344CB8AC3E}">
        <p14:creationId xmlns:p14="http://schemas.microsoft.com/office/powerpoint/2010/main" val="420449327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indent="0">
                <a:lnSpc>
                  <a:spcPct val="110000"/>
                </a:lnSpc>
                <a:spcBef>
                  <a:spcPts val="600"/>
                </a:spcBef>
                <a:spcAft>
                  <a:spcPts val="600"/>
                </a:spcAft>
                <a:buClr>
                  <a:schemeClr val="tx1">
                    <a:lumMod val="85000"/>
                    <a:lumOff val="15000"/>
                  </a:schemeClr>
                </a:buClr>
                <a:buNone/>
              </a:pPr>
              <a:r>
                <a:rPr lang="en-US" sz="2400" b="1">
                  <a:latin typeface="Times New Roman" panose="02020603050405020304" pitchFamily="18" charset="0"/>
                  <a:cs typeface="Times New Roman" panose="02020603050405020304" pitchFamily="18" charset="0"/>
                </a:rPr>
                <a:t>8.6. ImageButton</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11" name="Picture 10"/>
          <p:cNvPicPr>
            <a:picLocks noChangeAspect="1"/>
          </p:cNvPicPr>
          <p:nvPr/>
        </p:nvPicPr>
        <p:blipFill>
          <a:blip r:embed="rId3"/>
          <a:stretch>
            <a:fillRect/>
          </a:stretch>
        </p:blipFill>
        <p:spPr>
          <a:xfrm>
            <a:off x="2992821" y="1475930"/>
            <a:ext cx="3660745" cy="4052568"/>
          </a:xfrm>
          <a:prstGeom prst="rect">
            <a:avLst/>
          </a:prstGeom>
        </p:spPr>
      </p:pic>
      <p:pic>
        <p:nvPicPr>
          <p:cNvPr id="12" name="Picture 11"/>
          <p:cNvPicPr>
            <a:picLocks noChangeAspect="1"/>
          </p:cNvPicPr>
          <p:nvPr/>
        </p:nvPicPr>
        <p:blipFill>
          <a:blip r:embed="rId4"/>
          <a:stretch>
            <a:fillRect/>
          </a:stretch>
        </p:blipFill>
        <p:spPr>
          <a:xfrm>
            <a:off x="6938458" y="1471448"/>
            <a:ext cx="3747465" cy="4056888"/>
          </a:xfrm>
          <a:prstGeom prst="rect">
            <a:avLst/>
          </a:prstGeom>
        </p:spPr>
      </p:pic>
      <p:sp>
        <p:nvSpPr>
          <p:cNvPr id="13" name="Curved Left Arrow 12"/>
          <p:cNvSpPr/>
          <p:nvPr/>
        </p:nvSpPr>
        <p:spPr>
          <a:xfrm rot="16200000" flipH="1">
            <a:off x="6653596" y="5372762"/>
            <a:ext cx="381000" cy="996950"/>
          </a:xfrm>
          <a:prstGeom prst="curvedLeftArrow">
            <a:avLst/>
          </a:prstGeom>
          <a:solidFill>
            <a:srgbClr val="17406D">
              <a:lumMod val="75000"/>
            </a:srgbClr>
          </a:solidFill>
          <a:ln>
            <a:noFill/>
          </a:ln>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rgbClr val="009DD9">
                <a:satMod val="115000"/>
              </a:srgbClr>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black"/>
              </a:solidFill>
              <a:effectLst/>
              <a:uLnTx/>
              <a:uFillTx/>
              <a:latin typeface="Georgia"/>
              <a:ea typeface="+mn-ea"/>
              <a:cs typeface="+mn-cs"/>
            </a:endParaRPr>
          </a:p>
        </p:txBody>
      </p:sp>
      <p:sp>
        <p:nvSpPr>
          <p:cNvPr id="14" name="Rounded Rectangular Callout 13"/>
          <p:cNvSpPr/>
          <p:nvPr/>
        </p:nvSpPr>
        <p:spPr>
          <a:xfrm>
            <a:off x="2383221" y="5739319"/>
            <a:ext cx="2209800" cy="349312"/>
          </a:xfrm>
          <a:prstGeom prst="wedgeRoundRectCallout">
            <a:avLst>
              <a:gd name="adj1" fmla="val 40253"/>
              <a:gd name="adj2" fmla="val -153677"/>
              <a:gd name="adj3" fmla="val 16667"/>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smtClean="0">
                <a:ln>
                  <a:noFill/>
                </a:ln>
                <a:solidFill>
                  <a:prstClr val="white"/>
                </a:solidFill>
                <a:effectLst/>
                <a:uLnTx/>
                <a:uFillTx/>
                <a:latin typeface="Georgia"/>
                <a:ea typeface="+mn-ea"/>
                <a:cs typeface="+mn-cs"/>
              </a:rPr>
              <a:t>Change Image</a:t>
            </a:r>
          </a:p>
        </p:txBody>
      </p:sp>
      <p:sp>
        <p:nvSpPr>
          <p:cNvPr id="15" name="Rounded Rectangular Callout 14"/>
          <p:cNvSpPr/>
          <p:nvPr/>
        </p:nvSpPr>
        <p:spPr>
          <a:xfrm>
            <a:off x="4935921" y="5739319"/>
            <a:ext cx="1066800" cy="349312"/>
          </a:xfrm>
          <a:prstGeom prst="wedgeRoundRectCallout">
            <a:avLst>
              <a:gd name="adj1" fmla="val -31596"/>
              <a:gd name="adj2" fmla="val -153677"/>
              <a:gd name="adj3" fmla="val 16667"/>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smtClean="0">
                <a:ln>
                  <a:noFill/>
                </a:ln>
                <a:solidFill>
                  <a:prstClr val="white"/>
                </a:solidFill>
                <a:effectLst/>
                <a:uLnTx/>
                <a:uFillTx/>
                <a:latin typeface="Georgia"/>
                <a:ea typeface="+mn-ea"/>
                <a:cs typeface="+mn-cs"/>
              </a:rPr>
              <a:t>Close</a:t>
            </a:r>
          </a:p>
        </p:txBody>
      </p:sp>
    </p:spTree>
    <p:extLst>
      <p:ext uri="{BB962C8B-B14F-4D97-AF65-F5344CB8AC3E}">
        <p14:creationId xmlns:p14="http://schemas.microsoft.com/office/powerpoint/2010/main" val="1177321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linds(horizontal)">
                                      <p:cBhvr>
                                        <p:cTn id="15" dur="500"/>
                                        <p:tgtEl>
                                          <p:spTgt spid="13"/>
                                        </p:tgtEl>
                                      </p:cBhvr>
                                    </p:animEffect>
                                  </p:childTnLst>
                                </p:cTn>
                              </p:par>
                              <p:par>
                                <p:cTn id="16" presetID="3" presetClass="entr" presetSubtype="1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linds(horizontal)">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linds(horizontal)">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indent="0">
                <a:lnSpc>
                  <a:spcPct val="110000"/>
                </a:lnSpc>
                <a:spcBef>
                  <a:spcPts val="600"/>
                </a:spcBef>
                <a:spcAft>
                  <a:spcPts val="600"/>
                </a:spcAft>
                <a:buClr>
                  <a:schemeClr val="tx1">
                    <a:lumMod val="85000"/>
                    <a:lumOff val="15000"/>
                  </a:schemeClr>
                </a:buClr>
                <a:buNone/>
              </a:pPr>
              <a:r>
                <a:rPr lang="en-US" sz="2400" b="1">
                  <a:latin typeface="Times New Roman" panose="02020603050405020304" pitchFamily="18" charset="0"/>
                  <a:cs typeface="Times New Roman" panose="02020603050405020304" pitchFamily="18" charset="0"/>
                </a:rPr>
                <a:t>8.7. ImageView</a:t>
              </a: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sp>
        <p:nvSpPr>
          <p:cNvPr id="11" name="Content Placeholder 2"/>
          <p:cNvSpPr txBox="1">
            <a:spLocks/>
          </p:cNvSpPr>
          <p:nvPr/>
        </p:nvSpPr>
        <p:spPr bwMode="auto">
          <a:xfrm>
            <a:off x="586013" y="902723"/>
            <a:ext cx="11293304" cy="13716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0000FF"/>
              </a:buClr>
              <a:defRPr/>
            </a:pPr>
            <a:r>
              <a:rPr lang="en-US" sz="2400">
                <a:solidFill>
                  <a:srgbClr val="002060"/>
                </a:solidFill>
                <a:latin typeface="Cambria" panose="02040503050406030204" pitchFamily="18" charset="0"/>
              </a:rPr>
              <a:t>ImageView is a control/view used to display images, allowing interaction. You can always replace ImageButton by designing beautiful 3D images</a:t>
            </a:r>
            <a:endParaRPr lang="en-US" sz="2400" smtClean="0">
              <a:solidFill>
                <a:srgbClr val="002060"/>
              </a:solidFill>
              <a:latin typeface="Cambria" panose="02040503050406030204" pitchFamily="18" charset="0"/>
            </a:endParaRPr>
          </a:p>
        </p:txBody>
      </p:sp>
      <p:pic>
        <p:nvPicPr>
          <p:cNvPr id="12" name="Picture 11"/>
          <p:cNvPicPr>
            <a:picLocks noChangeAspect="1"/>
          </p:cNvPicPr>
          <p:nvPr/>
        </p:nvPicPr>
        <p:blipFill>
          <a:blip r:embed="rId3"/>
          <a:stretch>
            <a:fillRect/>
          </a:stretch>
        </p:blipFill>
        <p:spPr>
          <a:xfrm>
            <a:off x="4807443" y="2129806"/>
            <a:ext cx="3115455" cy="2415151"/>
          </a:xfrm>
          <a:prstGeom prst="rect">
            <a:avLst/>
          </a:prstGeom>
          <a:ln>
            <a:solidFill>
              <a:sysClr val="windowText" lastClr="000000"/>
            </a:solidFill>
          </a:ln>
        </p:spPr>
      </p:pic>
    </p:spTree>
    <p:extLst>
      <p:ext uri="{BB962C8B-B14F-4D97-AF65-F5344CB8AC3E}">
        <p14:creationId xmlns:p14="http://schemas.microsoft.com/office/powerpoint/2010/main" val="212294680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grpSp>
        <p:nvGrpSpPr>
          <p:cNvPr id="4" name="Group 3"/>
          <p:cNvGrpSpPr/>
          <p:nvPr/>
        </p:nvGrpSpPr>
        <p:grpSpPr>
          <a:xfrm>
            <a:off x="257503" y="290786"/>
            <a:ext cx="4620576" cy="508000"/>
            <a:chOff x="789624" y="1191463"/>
            <a:chExt cx="4620576" cy="508000"/>
          </a:xfrm>
        </p:grpSpPr>
        <p:sp>
          <p:nvSpPr>
            <p:cNvPr id="5"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indent="0">
                <a:lnSpc>
                  <a:spcPct val="110000"/>
                </a:lnSpc>
                <a:spcBef>
                  <a:spcPts val="600"/>
                </a:spcBef>
                <a:spcAft>
                  <a:spcPts val="600"/>
                </a:spcAft>
                <a:buClr>
                  <a:schemeClr val="tx1">
                    <a:lumMod val="85000"/>
                    <a:lumOff val="15000"/>
                  </a:schemeClr>
                </a:buClr>
                <a:buNone/>
              </a:pPr>
              <a:r>
                <a:rPr lang="en-US" sz="2400" b="1" smtClean="0">
                  <a:latin typeface="Times New Roman" panose="02020603050405020304" pitchFamily="18" charset="0"/>
                  <a:cs typeface="Times New Roman" panose="02020603050405020304" pitchFamily="18" charset="0"/>
                </a:rPr>
                <a:t>Demo</a:t>
              </a:r>
              <a:endParaRPr lang="en-US" sz="2400" b="1">
                <a:latin typeface="Times New Roman" panose="02020603050405020304" pitchFamily="18" charset="0"/>
                <a:cs typeface="Times New Roman" panose="02020603050405020304" pitchFamily="18" charset="0"/>
              </a:endParaRPr>
            </a:p>
          </p:txBody>
        </p:sp>
        <p:grpSp>
          <p:nvGrpSpPr>
            <p:cNvPr id="6" name="Group 17"/>
            <p:cNvGrpSpPr>
              <a:grpSpLocks/>
            </p:cNvGrpSpPr>
            <p:nvPr/>
          </p:nvGrpSpPr>
          <p:grpSpPr bwMode="auto">
            <a:xfrm>
              <a:off x="789624" y="1295400"/>
              <a:ext cx="353376" cy="272472"/>
              <a:chOff x="1110" y="2656"/>
              <a:chExt cx="1549" cy="1351"/>
            </a:xfrm>
          </p:grpSpPr>
          <p:sp>
            <p:nvSpPr>
              <p:cNvPr id="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smtClean="0">
                  <a:ln>
                    <a:noFill/>
                  </a:ln>
                  <a:solidFill>
                    <a:srgbClr val="000000"/>
                  </a:solidFill>
                  <a:effectLst/>
                  <a:uLnTx/>
                  <a:uFillTx/>
                  <a:latin typeface="Arial" panose="020B0604020202020204" pitchFamily="34" charset="0"/>
                </a:endParaRPr>
              </a:p>
            </p:txBody>
          </p:sp>
        </p:grpSp>
      </p:gr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6109" y="973308"/>
            <a:ext cx="2881440" cy="5090307"/>
          </a:xfrm>
          <a:prstGeom prst="rect">
            <a:avLst/>
          </a:prstGeom>
        </p:spPr>
      </p:pic>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1419" y="973308"/>
            <a:ext cx="2891792" cy="5108595"/>
          </a:xfrm>
          <a:prstGeom prst="rect">
            <a:avLst/>
          </a:prstGeom>
        </p:spPr>
      </p:pic>
    </p:spTree>
    <p:extLst>
      <p:ext uri="{BB962C8B-B14F-4D97-AF65-F5344CB8AC3E}">
        <p14:creationId xmlns:p14="http://schemas.microsoft.com/office/powerpoint/2010/main" val="407355956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Switch UI for Android Studio</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ü"/>
            </a:pPr>
            <a:r>
              <a:rPr lang="en-US" sz="2800" dirty="0" smtClean="0">
                <a:latin typeface="Cambria" panose="02040503050406030204" pitchFamily="18" charset="0"/>
              </a:rPr>
              <a:t>We can switch the UI for Android Studio </a:t>
            </a:r>
            <a:endParaRPr lang="en-US" sz="2800" dirty="0">
              <a:latin typeface="Cambria" panose="02040503050406030204" pitchFamily="18" charset="0"/>
            </a:endParaRPr>
          </a:p>
        </p:txBody>
      </p:sp>
      <p:pic>
        <p:nvPicPr>
          <p:cNvPr id="9" name="Picture 8"/>
          <p:cNvPicPr>
            <a:picLocks noChangeAspect="1"/>
          </p:cNvPicPr>
          <p:nvPr/>
        </p:nvPicPr>
        <p:blipFill>
          <a:blip r:embed="rId3"/>
          <a:stretch>
            <a:fillRect/>
          </a:stretch>
        </p:blipFill>
        <p:spPr>
          <a:xfrm>
            <a:off x="6180083" y="1763975"/>
            <a:ext cx="5530856" cy="3612066"/>
          </a:xfrm>
          <a:prstGeom prst="rect">
            <a:avLst/>
          </a:prstGeom>
        </p:spPr>
      </p:pic>
      <p:pic>
        <p:nvPicPr>
          <p:cNvPr id="10" name="Picture 9"/>
          <p:cNvPicPr>
            <a:picLocks noChangeAspect="1"/>
          </p:cNvPicPr>
          <p:nvPr/>
        </p:nvPicPr>
        <p:blipFill>
          <a:blip r:embed="rId4"/>
          <a:stretch>
            <a:fillRect/>
          </a:stretch>
        </p:blipFill>
        <p:spPr>
          <a:xfrm>
            <a:off x="502810" y="1763975"/>
            <a:ext cx="5501012" cy="3530002"/>
          </a:xfrm>
          <a:prstGeom prst="rect">
            <a:avLst/>
          </a:prstGeom>
        </p:spPr>
      </p:pic>
      <p:sp>
        <p:nvSpPr>
          <p:cNvPr id="12" name="TextBox 11"/>
          <p:cNvSpPr txBox="1"/>
          <p:nvPr/>
        </p:nvSpPr>
        <p:spPr>
          <a:xfrm>
            <a:off x="2136227" y="5398740"/>
            <a:ext cx="1475084"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Classic UI</a:t>
            </a:r>
            <a:endParaRPr lang="en-US" sz="2400"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8426668" y="5456449"/>
            <a:ext cx="1168910"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New UI</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566671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a:latin typeface="Cambria" panose="02040503050406030204" pitchFamily="18" charset="0"/>
                </a:rPr>
                <a:t>Switch UI for Android Studio</a:t>
              </a:r>
              <a:endParaRPr lang="en-US" sz="2800" b="1" dirty="0">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ü"/>
            </a:pPr>
            <a:r>
              <a:rPr lang="en-US" sz="2800" dirty="0" smtClean="0">
                <a:latin typeface="Cambria" panose="02040503050406030204" pitchFamily="18" charset="0"/>
              </a:rPr>
              <a:t>Switch to new UI</a:t>
            </a:r>
            <a:endParaRPr lang="en-US" sz="2800" dirty="0">
              <a:latin typeface="Cambria" panose="02040503050406030204" pitchFamily="18" charset="0"/>
            </a:endParaRPr>
          </a:p>
        </p:txBody>
      </p:sp>
      <p:pic>
        <p:nvPicPr>
          <p:cNvPr id="12" name="Picture 11"/>
          <p:cNvPicPr>
            <a:picLocks noChangeAspect="1"/>
          </p:cNvPicPr>
          <p:nvPr/>
        </p:nvPicPr>
        <p:blipFill>
          <a:blip r:embed="rId3"/>
          <a:stretch>
            <a:fillRect/>
          </a:stretch>
        </p:blipFill>
        <p:spPr>
          <a:xfrm>
            <a:off x="953813" y="1586610"/>
            <a:ext cx="8544558" cy="4711713"/>
          </a:xfrm>
          <a:prstGeom prst="rect">
            <a:avLst/>
          </a:prstGeom>
        </p:spPr>
      </p:pic>
      <p:pic>
        <p:nvPicPr>
          <p:cNvPr id="15" name="Picture 14"/>
          <p:cNvPicPr>
            <a:picLocks noChangeAspect="1"/>
          </p:cNvPicPr>
          <p:nvPr/>
        </p:nvPicPr>
        <p:blipFill>
          <a:blip r:embed="rId4"/>
          <a:stretch>
            <a:fillRect/>
          </a:stretch>
        </p:blipFill>
        <p:spPr>
          <a:xfrm>
            <a:off x="8805040" y="3850235"/>
            <a:ext cx="2922533" cy="1138649"/>
          </a:xfrm>
          <a:prstGeom prst="rect">
            <a:avLst/>
          </a:prstGeom>
        </p:spPr>
      </p:pic>
    </p:spTree>
    <p:extLst>
      <p:ext uri="{BB962C8B-B14F-4D97-AF65-F5344CB8AC3E}">
        <p14:creationId xmlns:p14="http://schemas.microsoft.com/office/powerpoint/2010/main" val="303882859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a:latin typeface="Cambria" panose="02040503050406030204" pitchFamily="18" charset="0"/>
                </a:rPr>
                <a:t>Switch UI for Android Studio</a:t>
              </a:r>
              <a:endParaRPr lang="en-US" sz="2800" b="1" dirty="0">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ü"/>
            </a:pPr>
            <a:r>
              <a:rPr lang="en-US" sz="2800" dirty="0" smtClean="0">
                <a:latin typeface="Cambria" panose="02040503050406030204" pitchFamily="18" charset="0"/>
              </a:rPr>
              <a:t>Switch to Classic UI….</a:t>
            </a:r>
            <a:endParaRPr lang="en-US" sz="2800" dirty="0">
              <a:latin typeface="Cambria" panose="02040503050406030204" pitchFamily="18" charset="0"/>
            </a:endParaRPr>
          </a:p>
        </p:txBody>
      </p:sp>
      <p:pic>
        <p:nvPicPr>
          <p:cNvPr id="9" name="Picture 8"/>
          <p:cNvPicPr>
            <a:picLocks noChangeAspect="1"/>
          </p:cNvPicPr>
          <p:nvPr/>
        </p:nvPicPr>
        <p:blipFill>
          <a:blip r:embed="rId3"/>
          <a:stretch>
            <a:fillRect/>
          </a:stretch>
        </p:blipFill>
        <p:spPr>
          <a:xfrm>
            <a:off x="661129" y="1515318"/>
            <a:ext cx="8294708" cy="4888116"/>
          </a:xfrm>
          <a:prstGeom prst="rect">
            <a:avLst/>
          </a:prstGeom>
        </p:spPr>
      </p:pic>
      <p:sp>
        <p:nvSpPr>
          <p:cNvPr id="14" name="Rectangle 13"/>
          <p:cNvSpPr/>
          <p:nvPr/>
        </p:nvSpPr>
        <p:spPr>
          <a:xfrm>
            <a:off x="7126014" y="1420722"/>
            <a:ext cx="465082" cy="391637"/>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4"/>
          <a:stretch>
            <a:fillRect/>
          </a:stretch>
        </p:blipFill>
        <p:spPr>
          <a:xfrm>
            <a:off x="8797157" y="3636331"/>
            <a:ext cx="2922533" cy="1138649"/>
          </a:xfrm>
          <a:prstGeom prst="rect">
            <a:avLst/>
          </a:prstGeom>
        </p:spPr>
      </p:pic>
    </p:spTree>
    <p:extLst>
      <p:ext uri="{BB962C8B-B14F-4D97-AF65-F5344CB8AC3E}">
        <p14:creationId xmlns:p14="http://schemas.microsoft.com/office/powerpoint/2010/main" val="117786137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smtClean="0">
                  <a:latin typeface="Cambria" panose="02040503050406030204" pitchFamily="18" charset="0"/>
                </a:rPr>
                <a:t>Discussions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ü"/>
            </a:pPr>
            <a:r>
              <a:rPr lang="en-US" sz="2800" dirty="0">
                <a:latin typeface="Cambria" panose="02040503050406030204" pitchFamily="18" charset="0"/>
              </a:rPr>
              <a:t>Q1: Why must we use Layout when designing interfaces?</a:t>
            </a:r>
          </a:p>
          <a:p>
            <a:pPr algn="just">
              <a:buFont typeface="Wingdings" panose="05000000000000000000" pitchFamily="2" charset="2"/>
              <a:buChar char="ü"/>
            </a:pPr>
            <a:r>
              <a:rPr lang="en-US" sz="2800" dirty="0">
                <a:latin typeface="Cambria" panose="02040503050406030204" pitchFamily="18" charset="0"/>
              </a:rPr>
              <a:t>Q2: Distinguish between Margin and Padding</a:t>
            </a:r>
          </a:p>
          <a:p>
            <a:pPr algn="just">
              <a:buFont typeface="Wingdings" panose="05000000000000000000" pitchFamily="2" charset="2"/>
              <a:buChar char="ü"/>
            </a:pPr>
            <a:r>
              <a:rPr lang="en-US" sz="2800" dirty="0">
                <a:latin typeface="Cambria" panose="02040503050406030204" pitchFamily="18" charset="0"/>
              </a:rPr>
              <a:t>Q3: Present the working mechanism of Table Layout</a:t>
            </a:r>
          </a:p>
          <a:p>
            <a:pPr algn="just">
              <a:buFont typeface="Wingdings" panose="05000000000000000000" pitchFamily="2" charset="2"/>
              <a:buChar char="ü"/>
            </a:pPr>
            <a:r>
              <a:rPr lang="en-US" sz="2800" dirty="0">
                <a:latin typeface="Cambria" panose="02040503050406030204" pitchFamily="18" charset="0"/>
              </a:rPr>
              <a:t>Q3: Present the working mechanism of Constraint Layout</a:t>
            </a:r>
          </a:p>
          <a:p>
            <a:pPr algn="just">
              <a:buFont typeface="Wingdings" panose="05000000000000000000" pitchFamily="2" charset="2"/>
              <a:buChar char="ü"/>
            </a:pPr>
            <a:r>
              <a:rPr lang="en-US" sz="2800" dirty="0">
                <a:latin typeface="Cambria" panose="02040503050406030204" pitchFamily="18" charset="0"/>
              </a:rPr>
              <a:t>Q4: Present the working mechanism of </a:t>
            </a:r>
            <a:r>
              <a:rPr lang="en-US" sz="2800" dirty="0" err="1">
                <a:latin typeface="Cambria" panose="02040503050406030204" pitchFamily="18" charset="0"/>
              </a:rPr>
              <a:t>findViewById</a:t>
            </a:r>
            <a:r>
              <a:rPr lang="en-US" sz="2800" dirty="0">
                <a:latin typeface="Cambria" panose="02040503050406030204" pitchFamily="18" charset="0"/>
              </a:rPr>
              <a:t> function</a:t>
            </a:r>
          </a:p>
          <a:p>
            <a:pPr algn="just">
              <a:buFont typeface="Wingdings" panose="05000000000000000000" pitchFamily="2" charset="2"/>
              <a:buChar char="ü"/>
            </a:pPr>
            <a:r>
              <a:rPr lang="en-US" sz="2800" dirty="0">
                <a:latin typeface="Cambria" panose="02040503050406030204" pitchFamily="18" charset="0"/>
              </a:rPr>
              <a:t>Q5: How do we assign events to Button?</a:t>
            </a:r>
          </a:p>
          <a:p>
            <a:pPr algn="just">
              <a:buFont typeface="Wingdings" panose="05000000000000000000" pitchFamily="2" charset="2"/>
              <a:buChar char="ü"/>
            </a:pPr>
            <a:r>
              <a:rPr lang="en-US" sz="2800" dirty="0">
                <a:latin typeface="Cambria" panose="02040503050406030204" pitchFamily="18" charset="0"/>
              </a:rPr>
              <a:t>Q6: When do we use </a:t>
            </a:r>
            <a:r>
              <a:rPr lang="en-US" sz="2800" dirty="0" err="1">
                <a:latin typeface="Cambria" panose="02040503050406030204" pitchFamily="18" charset="0"/>
              </a:rPr>
              <a:t>CheckBox</a:t>
            </a:r>
            <a:r>
              <a:rPr lang="en-US" sz="2800" dirty="0">
                <a:latin typeface="Cambria" panose="02040503050406030204" pitchFamily="18" charset="0"/>
              </a:rPr>
              <a:t>, When do we use </a:t>
            </a:r>
            <a:r>
              <a:rPr lang="en-US" sz="2800" dirty="0" err="1" smtClean="0">
                <a:latin typeface="Cambria" panose="02040503050406030204" pitchFamily="18" charset="0"/>
              </a:rPr>
              <a:t>RadioButton</a:t>
            </a:r>
            <a:r>
              <a:rPr lang="en-US" sz="2800" dirty="0" smtClean="0">
                <a:latin typeface="Cambria" panose="02040503050406030204" pitchFamily="18" charset="0"/>
              </a:rPr>
              <a:t>?</a:t>
            </a:r>
            <a:endParaRPr lang="en-US" sz="2800" dirty="0">
              <a:latin typeface="Cambria" panose="02040503050406030204" pitchFamily="18" charset="0"/>
            </a:endParaRPr>
          </a:p>
        </p:txBody>
      </p:sp>
    </p:spTree>
    <p:extLst>
      <p:ext uri="{BB962C8B-B14F-4D97-AF65-F5344CB8AC3E}">
        <p14:creationId xmlns:p14="http://schemas.microsoft.com/office/powerpoint/2010/main" val="293439793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83931" y="30539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Next Lesson</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66738" indent="-457200">
              <a:lnSpc>
                <a:spcPct val="110000"/>
              </a:lnSpc>
              <a:spcBef>
                <a:spcPts val="600"/>
              </a:spcBef>
              <a:spcAft>
                <a:spcPts val="600"/>
              </a:spcAft>
              <a:buClr>
                <a:schemeClr val="tx1">
                  <a:lumMod val="85000"/>
                  <a:lumOff val="15000"/>
                </a:schemeClr>
              </a:buClr>
              <a:buFont typeface="Wingdings" panose="05000000000000000000" pitchFamily="2" charset="2"/>
              <a:buChar char="v"/>
            </a:pPr>
            <a:r>
              <a:rPr lang="en-US" sz="2800" dirty="0" smtClean="0">
                <a:latin typeface="Times New Roman" panose="02020603050405020304" pitchFamily="18" charset="0"/>
                <a:cs typeface="Times New Roman" panose="02020603050405020304" pitchFamily="18" charset="0"/>
              </a:rPr>
              <a:t>Events </a:t>
            </a:r>
            <a:r>
              <a:rPr lang="en-US" sz="2800" dirty="0">
                <a:latin typeface="Times New Roman" panose="02020603050405020304" pitchFamily="18" charset="0"/>
                <a:cs typeface="Times New Roman" panose="02020603050405020304" pitchFamily="18" charset="0"/>
              </a:rPr>
              <a:t>Handling in Android</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dirty="0" err="1" smtClean="0">
                <a:latin typeface="Times New Roman" panose="02020603050405020304" pitchFamily="18" charset="0"/>
                <a:cs typeface="Times New Roman" panose="02020603050405020304" pitchFamily="18" charset="0"/>
              </a:rPr>
              <a:t>Onclick</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XML</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dirty="0">
                <a:latin typeface="Times New Roman" panose="02020603050405020304" pitchFamily="18" charset="0"/>
                <a:cs typeface="Times New Roman" panose="02020603050405020304" pitchFamily="18" charset="0"/>
              </a:rPr>
              <a:t>Anonymous Listener</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dirty="0">
                <a:latin typeface="Times New Roman" panose="02020603050405020304" pitchFamily="18" charset="0"/>
                <a:cs typeface="Times New Roman" panose="02020603050405020304" pitchFamily="18" charset="0"/>
              </a:rPr>
              <a:t>Variable as Listener</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dirty="0">
                <a:latin typeface="Times New Roman" panose="02020603050405020304" pitchFamily="18" charset="0"/>
                <a:cs typeface="Times New Roman" panose="02020603050405020304" pitchFamily="18" charset="0"/>
              </a:rPr>
              <a:t>Activity as Listener</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dirty="0">
                <a:latin typeface="Times New Roman" panose="02020603050405020304" pitchFamily="18" charset="0"/>
                <a:cs typeface="Times New Roman" panose="02020603050405020304" pitchFamily="18" charset="0"/>
              </a:rPr>
              <a:t>Explicit class Listener</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dirty="0">
                <a:latin typeface="Times New Roman" panose="02020603050405020304" pitchFamily="18" charset="0"/>
                <a:cs typeface="Times New Roman" panose="02020603050405020304" pitchFamily="18" charset="0"/>
              </a:rPr>
              <a:t>View </a:t>
            </a:r>
            <a:r>
              <a:rPr lang="en-US" sz="2800" dirty="0" err="1">
                <a:latin typeface="Times New Roman" panose="02020603050405020304" pitchFamily="18" charset="0"/>
                <a:cs typeface="Times New Roman" panose="02020603050405020304" pitchFamily="18" charset="0"/>
              </a:rPr>
              <a:t>Subclassing</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616091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a:t>THANK YOU!</a:t>
            </a:r>
            <a:endParaRPr/>
          </a:p>
        </p:txBody>
      </p:sp>
    </p:spTree>
    <p:extLst>
      <p:ext uri="{BB962C8B-B14F-4D97-AF65-F5344CB8AC3E}">
        <p14:creationId xmlns:p14="http://schemas.microsoft.com/office/powerpoint/2010/main" val="93896864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SUBSTITUTION_ID" val="{031F3C5D-DC4C-4722-A037-77EEE008FF89}"/>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718</TotalTime>
  <Words>1541</Words>
  <Application>Microsoft Office PowerPoint</Application>
  <PresentationFormat>Widescreen</PresentationFormat>
  <Paragraphs>319</Paragraphs>
  <Slides>52</Slides>
  <Notes>52</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52</vt:i4>
      </vt:variant>
    </vt:vector>
  </HeadingPairs>
  <TitlesOfParts>
    <vt:vector size="67" baseType="lpstr">
      <vt:lpstr>MS PGothic</vt:lpstr>
      <vt:lpstr>Georgia</vt:lpstr>
      <vt:lpstr>Segoe UI</vt:lpstr>
      <vt:lpstr>Lato Black</vt:lpstr>
      <vt:lpstr>Mangal</vt:lpstr>
      <vt:lpstr>Menlo</vt:lpstr>
      <vt:lpstr>Times New Roman</vt:lpstr>
      <vt:lpstr>Wingdings</vt:lpstr>
      <vt:lpstr>Calibri</vt:lpstr>
      <vt:lpstr>Cambria Math</vt:lpstr>
      <vt:lpstr>Arial</vt:lpstr>
      <vt:lpstr>Cambria</vt:lpstr>
      <vt:lpstr>Lato</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thanhtd</cp:lastModifiedBy>
  <cp:revision>234</cp:revision>
  <dcterms:created xsi:type="dcterms:W3CDTF">2022-12-02T04:21:00Z</dcterms:created>
  <dcterms:modified xsi:type="dcterms:W3CDTF">2024-01-25T15:25:49Z</dcterms:modified>
</cp:coreProperties>
</file>