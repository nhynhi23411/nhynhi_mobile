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48" r:id="rId1"/>
    <p:sldMasterId id="2147483659" r:id="rId2"/>
  </p:sldMasterIdLst>
  <p:notesMasterIdLst>
    <p:notesMasterId r:id="rId39"/>
  </p:notesMasterIdLst>
  <p:sldIdLst>
    <p:sldId id="256" r:id="rId3"/>
    <p:sldId id="301" r:id="rId4"/>
    <p:sldId id="267" r:id="rId5"/>
    <p:sldId id="270" r:id="rId6"/>
    <p:sldId id="273" r:id="rId7"/>
    <p:sldId id="276" r:id="rId8"/>
    <p:sldId id="274" r:id="rId9"/>
    <p:sldId id="277" r:id="rId10"/>
    <p:sldId id="271" r:id="rId11"/>
    <p:sldId id="283" r:id="rId12"/>
    <p:sldId id="284" r:id="rId13"/>
    <p:sldId id="285" r:id="rId14"/>
    <p:sldId id="286" r:id="rId15"/>
    <p:sldId id="287" r:id="rId16"/>
    <p:sldId id="288" r:id="rId17"/>
    <p:sldId id="289" r:id="rId18"/>
    <p:sldId id="272" r:id="rId19"/>
    <p:sldId id="278" r:id="rId20"/>
    <p:sldId id="290" r:id="rId21"/>
    <p:sldId id="280" r:id="rId22"/>
    <p:sldId id="281" r:id="rId23"/>
    <p:sldId id="282" r:id="rId24"/>
    <p:sldId id="279" r:id="rId25"/>
    <p:sldId id="291" r:id="rId26"/>
    <p:sldId id="292" r:id="rId27"/>
    <p:sldId id="293" r:id="rId28"/>
    <p:sldId id="294" r:id="rId29"/>
    <p:sldId id="295" r:id="rId30"/>
    <p:sldId id="296" r:id="rId31"/>
    <p:sldId id="297" r:id="rId32"/>
    <p:sldId id="298" r:id="rId33"/>
    <p:sldId id="299" r:id="rId34"/>
    <p:sldId id="300" r:id="rId35"/>
    <p:sldId id="275" r:id="rId36"/>
    <p:sldId id="302" r:id="rId37"/>
    <p:sldId id="269" r:id="rId38"/>
  </p:sldIdLst>
  <p:sldSz cx="12192000" cy="6858000"/>
  <p:notesSz cx="6858000" cy="9144000"/>
  <p:embeddedFontLst>
    <p:embeddedFont>
      <p:font typeface="Lato Black" panose="020B0604020202020204" charset="0"/>
      <p:bold r:id="rId40"/>
      <p:boldItalic r:id="rId41"/>
    </p:embeddedFont>
    <p:embeddedFont>
      <p:font typeface="Times" panose="02020603050405020304" pitchFamily="18" charset="0"/>
      <p:regular r:id="rId42"/>
      <p:bold r:id="rId43"/>
      <p:italic r:id="rId44"/>
      <p:boldItalic r:id="rId45"/>
    </p:embeddedFont>
    <p:embeddedFont>
      <p:font typeface="Lato" panose="020B0604020202020204" charset="0"/>
      <p:regular r:id="rId46"/>
      <p:bold r:id="rId47"/>
      <p:italic r:id="rId48"/>
      <p:boldItalic r:id="rId49"/>
    </p:embeddedFont>
    <p:embeddedFont>
      <p:font typeface="Cambria" panose="02040503050406030204" pitchFamily="18" charset="0"/>
      <p:regular r:id="rId50"/>
      <p:bold r:id="rId51"/>
      <p:italic r:id="rId52"/>
      <p:boldItalic r:id="rId53"/>
    </p:embeddedFont>
    <p:embeddedFont>
      <p:font typeface="Calibri" panose="020F0502020204030204" pitchFamily="34" charset="0"/>
      <p:regular r:id="rId54"/>
      <p:bold r:id="rId55"/>
      <p:italic r:id="rId56"/>
      <p:boldItalic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8" roundtripDataSignature="AMtx7mh4VrLQLvjXUsQeVJWWu9hsLYoG6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326" autoAdjust="0"/>
    <p:restoredTop sz="71967" autoAdjust="0"/>
  </p:normalViewPr>
  <p:slideViewPr>
    <p:cSldViewPr snapToGrid="0">
      <p:cViewPr varScale="1">
        <p:scale>
          <a:sx n="90" d="100"/>
          <a:sy n="90" d="100"/>
        </p:scale>
        <p:origin x="989" y="53"/>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font" Target="fonts/font11.fntdata"/><Relationship Id="rId55" Type="http://schemas.openxmlformats.org/officeDocument/2006/relationships/font" Target="fonts/font16.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font" Target="fonts/font14.fntdata"/><Relationship Id="rId58" Type="http://customschemas.google.com/relationships/presentationmetadata" Target="metadata"/><Relationship Id="rId5" Type="http://schemas.openxmlformats.org/officeDocument/2006/relationships/slide" Target="slides/slide3.xml"/><Relationship Id="rId61"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4.fntdata"/><Relationship Id="rId48" Type="http://schemas.openxmlformats.org/officeDocument/2006/relationships/font" Target="fonts/font9.fntdata"/><Relationship Id="rId56" Type="http://schemas.openxmlformats.org/officeDocument/2006/relationships/font" Target="fonts/font17.fntdata"/><Relationship Id="rId8" Type="http://schemas.openxmlformats.org/officeDocument/2006/relationships/slide" Target="slides/slide6.xml"/><Relationship Id="rId51" Type="http://schemas.openxmlformats.org/officeDocument/2006/relationships/font" Target="fonts/font12.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7.fntdata"/><Relationship Id="rId59"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font" Target="fonts/font2.fntdata"/><Relationship Id="rId54" Type="http://schemas.openxmlformats.org/officeDocument/2006/relationships/font" Target="fonts/font15.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10.fntdata"/><Relationship Id="rId57" Type="http://schemas.openxmlformats.org/officeDocument/2006/relationships/font" Target="fonts/font18.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5.fntdata"/><Relationship Id="rId52" Type="http://schemas.openxmlformats.org/officeDocument/2006/relationships/font" Target="fonts/font13.fntdata"/><Relationship Id="rId6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3515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82133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83666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14773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47481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10881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96381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03675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48612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91643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000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41904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17961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460734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17811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23578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30537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209763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70075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02919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39284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49558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390656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53424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93142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25369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14933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01780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4034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0860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963177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07864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43483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63897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28143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Blank">
  <p:cSld name="2_Blank">
    <p:spTree>
      <p:nvGrpSpPr>
        <p:cNvPr id="1" name="Shape 15"/>
        <p:cNvGrpSpPr/>
        <p:nvPr/>
      </p:nvGrpSpPr>
      <p:grpSpPr>
        <a:xfrm>
          <a:off x="0" y="0"/>
          <a:ext cx="0" cy="0"/>
          <a:chOff x="0" y="0"/>
          <a:chExt cx="0" cy="0"/>
        </a:xfrm>
      </p:grpSpPr>
      <p:pic>
        <p:nvPicPr>
          <p:cNvPr id="16" name="Google Shape;16;p10"/>
          <p:cNvPicPr preferRelativeResize="0"/>
          <p:nvPr/>
        </p:nvPicPr>
        <p:blipFill rotWithShape="1">
          <a:blip r:embed="rId2">
            <a:alphaModFix/>
          </a:blip>
          <a:srcRect r="21016"/>
          <a:stretch/>
        </p:blipFill>
        <p:spPr>
          <a:xfrm>
            <a:off x="0" y="880629"/>
            <a:ext cx="8673353" cy="6176876"/>
          </a:xfrm>
          <a:prstGeom prst="rect">
            <a:avLst/>
          </a:prstGeom>
          <a:noFill/>
          <a:ln>
            <a:noFill/>
          </a:ln>
        </p:spPr>
      </p:pic>
      <p:pic>
        <p:nvPicPr>
          <p:cNvPr id="17" name="Google Shape;17;p10"/>
          <p:cNvPicPr preferRelativeResize="0"/>
          <p:nvPr/>
        </p:nvPicPr>
        <p:blipFill rotWithShape="1">
          <a:blip r:embed="rId3">
            <a:alphaModFix/>
          </a:blip>
          <a:srcRect r="-3333" b="87407"/>
          <a:stretch/>
        </p:blipFill>
        <p:spPr>
          <a:xfrm>
            <a:off x="0" y="0"/>
            <a:ext cx="12598400" cy="431800"/>
          </a:xfrm>
          <a:prstGeom prst="rect">
            <a:avLst/>
          </a:prstGeom>
          <a:noFill/>
          <a:ln>
            <a:noFill/>
          </a:ln>
        </p:spPr>
      </p:pic>
      <p:sp>
        <p:nvSpPr>
          <p:cNvPr id="18" name="Google Shape;18;p10"/>
          <p:cNvSpPr txBox="1">
            <a:spLocks noGrp="1"/>
          </p:cNvSpPr>
          <p:nvPr>
            <p:ph type="title"/>
          </p:nvPr>
        </p:nvSpPr>
        <p:spPr>
          <a:xfrm>
            <a:off x="1595351" y="2187196"/>
            <a:ext cx="9001297" cy="77858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4400"/>
              <a:buFont typeface="Lato Black"/>
              <a:buNone/>
              <a:defRPr sz="44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9" name="Google Shape;19;p10"/>
          <p:cNvPicPr preferRelativeResize="0"/>
          <p:nvPr userDrawn="1"/>
        </p:nvPicPr>
        <p:blipFill rotWithShape="1">
          <a:blip r:embed="rId4">
            <a:alphaModFix/>
          </a:blip>
          <a:srcRect/>
          <a:stretch/>
        </p:blipFill>
        <p:spPr>
          <a:xfrm>
            <a:off x="4847885" y="210692"/>
            <a:ext cx="2496230" cy="1015802"/>
          </a:xfrm>
          <a:prstGeom prst="rect">
            <a:avLst/>
          </a:prstGeom>
          <a:noFill/>
          <a:ln>
            <a:noFill/>
          </a:ln>
        </p:spPr>
      </p:pic>
      <p:sp>
        <p:nvSpPr>
          <p:cNvPr id="20" name="Google Shape;20;p10"/>
          <p:cNvSpPr txBox="1"/>
          <p:nvPr userDrawn="1"/>
        </p:nvSpPr>
        <p:spPr>
          <a:xfrm>
            <a:off x="1595350" y="1017973"/>
            <a:ext cx="9144000" cy="778583"/>
          </a:xfrm>
          <a:prstGeom prst="rect">
            <a:avLst/>
          </a:prstGeom>
          <a:noFill/>
          <a:ln>
            <a:noFill/>
          </a:ln>
        </p:spPr>
        <p:txBody>
          <a:bodyPr spcFirstLastPara="1" wrap="square" lIns="91425" tIns="45700" rIns="91425" bIns="45700" anchor="b" anchorCtr="0">
            <a:normAutofit fontScale="92500" lnSpcReduction="20000"/>
          </a:bodyPr>
          <a:lstStyle/>
          <a:p>
            <a:pPr marL="0" marR="0" lvl="0" indent="0" algn="ctr" rtl="0">
              <a:lnSpc>
                <a:spcPct val="120000"/>
              </a:lnSpc>
              <a:spcBef>
                <a:spcPts val="0"/>
              </a:spcBef>
              <a:spcAft>
                <a:spcPts val="0"/>
              </a:spcAft>
              <a:buClr>
                <a:srgbClr val="144E8C"/>
              </a:buClr>
              <a:buSzPts val="2000"/>
              <a:buFont typeface="Lato Black"/>
              <a:buNone/>
            </a:pPr>
            <a:r>
              <a:rPr lang="en-US" sz="2400" b="1" i="0" u="none" strike="noStrike" cap="none">
                <a:solidFill>
                  <a:srgbClr val="144E8C"/>
                </a:solidFill>
                <a:latin typeface="Cambria" panose="02040503050406030204" pitchFamily="18" charset="0"/>
                <a:ea typeface="Cambria" panose="02040503050406030204" pitchFamily="18" charset="0"/>
                <a:cs typeface="Lato Black"/>
                <a:sym typeface="Lato Black"/>
              </a:rPr>
              <a:t>VIETNAM NATIONAL UNIVERSITY HO CHI MINH CITY</a:t>
            </a:r>
            <a:br>
              <a:rPr lang="en-US" sz="2400" b="1" i="0" u="none" strike="noStrike" cap="none">
                <a:solidFill>
                  <a:srgbClr val="144E8C"/>
                </a:solidFill>
                <a:latin typeface="Cambria" panose="02040503050406030204" pitchFamily="18" charset="0"/>
                <a:ea typeface="Cambria" panose="02040503050406030204" pitchFamily="18" charset="0"/>
                <a:cs typeface="Lato Black"/>
                <a:sym typeface="Lato Black"/>
              </a:rPr>
            </a:br>
            <a:r>
              <a:rPr lang="en-US" sz="2400" b="1" i="0" u="none" strike="noStrike" cap="none">
                <a:solidFill>
                  <a:srgbClr val="144E8C"/>
                </a:solidFill>
                <a:latin typeface="Cambria" panose="02040503050406030204" pitchFamily="18" charset="0"/>
                <a:ea typeface="Cambria" panose="02040503050406030204" pitchFamily="18" charset="0"/>
                <a:cs typeface="Lato Black"/>
                <a:sym typeface="Lato Black"/>
              </a:rPr>
              <a:t>University of Economics and Law</a:t>
            </a:r>
            <a:endParaRPr sz="1600">
              <a:latin typeface="Cambria" panose="02040503050406030204" pitchFamily="18" charset="0"/>
              <a:ea typeface="Cambria" panose="020405030504060302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0"/>
        <p:cNvGrpSpPr/>
        <p:nvPr/>
      </p:nvGrpSpPr>
      <p:grpSpPr>
        <a:xfrm>
          <a:off x="0" y="0"/>
          <a:ext cx="0" cy="0"/>
          <a:chOff x="0" y="0"/>
          <a:chExt cx="0" cy="0"/>
        </a:xfrm>
      </p:grpSpPr>
      <p:sp>
        <p:nvSpPr>
          <p:cNvPr id="31" name="Google Shape;31;p12"/>
          <p:cNvSpPr txBox="1">
            <a:spLocks noGrp="1"/>
          </p:cNvSpPr>
          <p:nvPr>
            <p:ph type="title"/>
          </p:nvPr>
        </p:nvSpPr>
        <p:spPr>
          <a:xfrm>
            <a:off x="839788" y="659342"/>
            <a:ext cx="3932237" cy="10702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2"/>
          <p:cNvSpPr>
            <a:spLocks noGrp="1"/>
          </p:cNvSpPr>
          <p:nvPr>
            <p:ph type="pic" idx="2"/>
          </p:nvPr>
        </p:nvSpPr>
        <p:spPr>
          <a:xfrm>
            <a:off x="5183188" y="987425"/>
            <a:ext cx="6172200" cy="4873625"/>
          </a:xfrm>
          <a:prstGeom prst="rect">
            <a:avLst/>
          </a:prstGeom>
          <a:noFill/>
          <a:ln>
            <a:noFill/>
          </a:ln>
        </p:spPr>
      </p:sp>
      <p:sp>
        <p:nvSpPr>
          <p:cNvPr id="33" name="Google Shape;33;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34" name="Google Shape;34;p12"/>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35" name="Google Shape;35;p12"/>
          <p:cNvPicPr preferRelativeResize="0"/>
          <p:nvPr/>
        </p:nvPicPr>
        <p:blipFill rotWithShape="1">
          <a:blip r:embed="rId3">
            <a:alphaModFix/>
          </a:blip>
          <a:srcRect l="15000" t="43307" r="32291" b="37052"/>
          <a:stretch/>
        </p:blipFill>
        <p:spPr>
          <a:xfrm>
            <a:off x="211666" y="6201820"/>
            <a:ext cx="3590248" cy="656180"/>
          </a:xfrm>
          <a:prstGeom prst="rect">
            <a:avLst/>
          </a:prstGeom>
          <a:noFill/>
          <a:ln>
            <a:noFill/>
          </a:ln>
        </p:spPr>
      </p:pic>
      <p:sp>
        <p:nvSpPr>
          <p:cNvPr id="36" name="Google Shape;36;p12"/>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2"/>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6"/>
        <p:cNvGrpSpPr/>
        <p:nvPr/>
      </p:nvGrpSpPr>
      <p:grpSpPr>
        <a:xfrm>
          <a:off x="0" y="0"/>
          <a:ext cx="0" cy="0"/>
          <a:chOff x="0" y="0"/>
          <a:chExt cx="0" cy="0"/>
        </a:xfrm>
      </p:grpSpPr>
      <p:sp>
        <p:nvSpPr>
          <p:cNvPr id="77" name="Google Shape;77;p18"/>
          <p:cNvSpPr txBox="1">
            <a:spLocks noGrp="1"/>
          </p:cNvSpPr>
          <p:nvPr>
            <p:ph type="title"/>
          </p:nvPr>
        </p:nvSpPr>
        <p:spPr>
          <a:xfrm>
            <a:off x="839788" y="577547"/>
            <a:ext cx="3932237" cy="129225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9" name="Google Shape;79;p18"/>
          <p:cNvSpPr txBox="1">
            <a:spLocks noGrp="1"/>
          </p:cNvSpPr>
          <p:nvPr>
            <p:ph type="body" idx="2"/>
          </p:nvPr>
        </p:nvSpPr>
        <p:spPr>
          <a:xfrm>
            <a:off x="839788" y="2201630"/>
            <a:ext cx="3932237" cy="366735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80" name="Google Shape;80;p18"/>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81" name="Google Shape;81;p18"/>
          <p:cNvPicPr preferRelativeResize="0"/>
          <p:nvPr/>
        </p:nvPicPr>
        <p:blipFill rotWithShape="1">
          <a:blip r:embed="rId3">
            <a:alphaModFix/>
          </a:blip>
          <a:srcRect l="24127" t="66898" r="25919" b="25925"/>
          <a:stretch/>
        </p:blipFill>
        <p:spPr>
          <a:xfrm>
            <a:off x="810734" y="1911095"/>
            <a:ext cx="2855494" cy="115369"/>
          </a:xfrm>
          <a:prstGeom prst="rect">
            <a:avLst/>
          </a:prstGeom>
          <a:noFill/>
          <a:ln>
            <a:noFill/>
          </a:ln>
        </p:spPr>
      </p:pic>
      <p:pic>
        <p:nvPicPr>
          <p:cNvPr id="82" name="Google Shape;82;p18"/>
          <p:cNvPicPr preferRelativeResize="0"/>
          <p:nvPr/>
        </p:nvPicPr>
        <p:blipFill rotWithShape="1">
          <a:blip r:embed="rId4">
            <a:alphaModFix/>
          </a:blip>
          <a:srcRect l="15000" t="43307" r="32291" b="37052"/>
          <a:stretch/>
        </p:blipFill>
        <p:spPr>
          <a:xfrm>
            <a:off x="211666" y="6160255"/>
            <a:ext cx="3590248" cy="656180"/>
          </a:xfrm>
          <a:prstGeom prst="rect">
            <a:avLst/>
          </a:prstGeom>
          <a:noFill/>
          <a:ln>
            <a:noFill/>
          </a:ln>
        </p:spPr>
      </p:pic>
      <p:sp>
        <p:nvSpPr>
          <p:cNvPr id="83" name="Google Shape;83;p18"/>
          <p:cNvSpPr txBox="1">
            <a:spLocks noGrp="1"/>
          </p:cNvSpPr>
          <p:nvPr>
            <p:ph type="ftr" idx="11"/>
          </p:nvPr>
        </p:nvSpPr>
        <p:spPr>
          <a:xfrm>
            <a:off x="728132" y="6387798"/>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8"/>
          <p:cNvSpPr txBox="1">
            <a:spLocks noGrp="1"/>
          </p:cNvSpPr>
          <p:nvPr>
            <p:ph type="sldNum" idx="12"/>
          </p:nvPr>
        </p:nvSpPr>
        <p:spPr>
          <a:xfrm>
            <a:off x="3098799" y="6335940"/>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85"/>
        <p:cNvGrpSpPr/>
        <p:nvPr/>
      </p:nvGrpSpPr>
      <p:grpSpPr>
        <a:xfrm>
          <a:off x="0" y="0"/>
          <a:ext cx="0" cy="0"/>
          <a:chOff x="0" y="0"/>
          <a:chExt cx="0" cy="0"/>
        </a:xfrm>
      </p:grpSpPr>
      <p:sp>
        <p:nvSpPr>
          <p:cNvPr id="86" name="Google Shape;86;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Blank">
  <p:cSld name="2_Blank">
    <p:spTree>
      <p:nvGrpSpPr>
        <p:cNvPr id="1" name="Shape 15"/>
        <p:cNvGrpSpPr/>
        <p:nvPr/>
      </p:nvGrpSpPr>
      <p:grpSpPr>
        <a:xfrm>
          <a:off x="0" y="0"/>
          <a:ext cx="0" cy="0"/>
          <a:chOff x="0" y="0"/>
          <a:chExt cx="0" cy="0"/>
        </a:xfrm>
      </p:grpSpPr>
      <p:pic>
        <p:nvPicPr>
          <p:cNvPr id="16" name="Google Shape;16;p10"/>
          <p:cNvPicPr preferRelativeResize="0"/>
          <p:nvPr/>
        </p:nvPicPr>
        <p:blipFill rotWithShape="1">
          <a:blip r:embed="rId2">
            <a:alphaModFix/>
          </a:blip>
          <a:srcRect r="21016"/>
          <a:stretch/>
        </p:blipFill>
        <p:spPr>
          <a:xfrm>
            <a:off x="0" y="880629"/>
            <a:ext cx="8673353" cy="6176876"/>
          </a:xfrm>
          <a:prstGeom prst="rect">
            <a:avLst/>
          </a:prstGeom>
          <a:noFill/>
          <a:ln>
            <a:noFill/>
          </a:ln>
        </p:spPr>
      </p:pic>
      <p:pic>
        <p:nvPicPr>
          <p:cNvPr id="17" name="Google Shape;17;p10"/>
          <p:cNvPicPr preferRelativeResize="0"/>
          <p:nvPr/>
        </p:nvPicPr>
        <p:blipFill rotWithShape="1">
          <a:blip r:embed="rId3">
            <a:alphaModFix/>
          </a:blip>
          <a:srcRect r="-3333" b="87407"/>
          <a:stretch/>
        </p:blipFill>
        <p:spPr>
          <a:xfrm>
            <a:off x="0" y="0"/>
            <a:ext cx="12598400" cy="431800"/>
          </a:xfrm>
          <a:prstGeom prst="rect">
            <a:avLst/>
          </a:prstGeom>
          <a:noFill/>
          <a:ln>
            <a:noFill/>
          </a:ln>
        </p:spPr>
      </p:pic>
      <p:sp>
        <p:nvSpPr>
          <p:cNvPr id="18" name="Google Shape;18;p10"/>
          <p:cNvSpPr txBox="1">
            <a:spLocks noGrp="1"/>
          </p:cNvSpPr>
          <p:nvPr>
            <p:ph type="title"/>
          </p:nvPr>
        </p:nvSpPr>
        <p:spPr>
          <a:xfrm>
            <a:off x="1595351" y="2187196"/>
            <a:ext cx="9001297" cy="77858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4400"/>
              <a:buFont typeface="Lato Black"/>
              <a:buNone/>
              <a:defRPr sz="44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9" name="Google Shape;19;p10"/>
          <p:cNvPicPr preferRelativeResize="0"/>
          <p:nvPr userDrawn="1"/>
        </p:nvPicPr>
        <p:blipFill rotWithShape="1">
          <a:blip r:embed="rId4">
            <a:alphaModFix/>
          </a:blip>
          <a:srcRect/>
          <a:stretch/>
        </p:blipFill>
        <p:spPr>
          <a:xfrm>
            <a:off x="4847885" y="210692"/>
            <a:ext cx="2496230" cy="1015802"/>
          </a:xfrm>
          <a:prstGeom prst="rect">
            <a:avLst/>
          </a:prstGeom>
          <a:noFill/>
          <a:ln>
            <a:noFill/>
          </a:ln>
        </p:spPr>
      </p:pic>
      <p:sp>
        <p:nvSpPr>
          <p:cNvPr id="20" name="Google Shape;20;p10"/>
          <p:cNvSpPr txBox="1"/>
          <p:nvPr userDrawn="1"/>
        </p:nvSpPr>
        <p:spPr>
          <a:xfrm>
            <a:off x="1595350" y="1017973"/>
            <a:ext cx="9144000" cy="778583"/>
          </a:xfrm>
          <a:prstGeom prst="rect">
            <a:avLst/>
          </a:prstGeom>
          <a:noFill/>
          <a:ln>
            <a:noFill/>
          </a:ln>
        </p:spPr>
        <p:txBody>
          <a:bodyPr spcFirstLastPara="1" wrap="square" lIns="91425" tIns="45700" rIns="91425" bIns="45700" anchor="b" anchorCtr="0">
            <a:normAutofit fontScale="92500" lnSpcReduction="20000"/>
          </a:bodyPr>
          <a:lstStyle/>
          <a:p>
            <a:pPr marL="0" marR="0" lvl="0" indent="0" algn="ctr" defTabSz="914400" rtl="0" eaLnBrk="1" fontAlgn="auto" latinLnBrk="0" hangingPunct="1">
              <a:lnSpc>
                <a:spcPct val="120000"/>
              </a:lnSpc>
              <a:spcBef>
                <a:spcPts val="0"/>
              </a:spcBef>
              <a:spcAft>
                <a:spcPts val="0"/>
              </a:spcAft>
              <a:buClr>
                <a:srgbClr val="144E8C"/>
              </a:buClr>
              <a:buSzPts val="2000"/>
              <a:buFont typeface="Lato Black"/>
              <a:buNone/>
              <a:tabLst/>
              <a:defRPr/>
            </a:pPr>
            <a:r>
              <a:rPr kumimoji="0" lang="en-US" sz="2400" b="1" i="0" u="none" strike="noStrike" kern="0" cap="none" spc="0" normalizeH="0" baseline="0" noProof="0">
                <a:ln>
                  <a:noFill/>
                </a:ln>
                <a:solidFill>
                  <a:srgbClr val="144E8C"/>
                </a:solidFill>
                <a:effectLst/>
                <a:uLnTx/>
                <a:uFillTx/>
                <a:latin typeface="Cambria" panose="02040503050406030204" pitchFamily="18" charset="0"/>
                <a:ea typeface="Cambria" panose="02040503050406030204" pitchFamily="18" charset="0"/>
                <a:cs typeface="Lato Black"/>
                <a:sym typeface="Lato Black"/>
              </a:rPr>
              <a:t>VIETNAM NATIONAL UNIVERSITY HO CHI MINH CITY</a:t>
            </a:r>
            <a:br>
              <a:rPr kumimoji="0" lang="en-US" sz="2400" b="1" i="0" u="none" strike="noStrike" kern="0" cap="none" spc="0" normalizeH="0" baseline="0" noProof="0">
                <a:ln>
                  <a:noFill/>
                </a:ln>
                <a:solidFill>
                  <a:srgbClr val="144E8C"/>
                </a:solidFill>
                <a:effectLst/>
                <a:uLnTx/>
                <a:uFillTx/>
                <a:latin typeface="Cambria" panose="02040503050406030204" pitchFamily="18" charset="0"/>
                <a:ea typeface="Cambria" panose="02040503050406030204" pitchFamily="18" charset="0"/>
                <a:cs typeface="Lato Black"/>
                <a:sym typeface="Lato Black"/>
              </a:rPr>
            </a:br>
            <a:r>
              <a:rPr kumimoji="0" lang="en-US" sz="2400" b="1" i="0" u="none" strike="noStrike" kern="0" cap="none" spc="0" normalizeH="0" baseline="0" noProof="0">
                <a:ln>
                  <a:noFill/>
                </a:ln>
                <a:solidFill>
                  <a:srgbClr val="144E8C"/>
                </a:solidFill>
                <a:effectLst/>
                <a:uLnTx/>
                <a:uFillTx/>
                <a:latin typeface="Cambria" panose="02040503050406030204" pitchFamily="18" charset="0"/>
                <a:ea typeface="Cambria" panose="02040503050406030204" pitchFamily="18" charset="0"/>
                <a:cs typeface="Lato Black"/>
                <a:sym typeface="Lato Black"/>
              </a:rPr>
              <a:t>University of Economics and Law</a:t>
            </a:r>
            <a:endParaRPr kumimoji="0" sz="1600" b="0" i="0" u="none" strike="noStrike" kern="0" cap="none" spc="0" normalizeH="0" baseline="0" noProof="0">
              <a:ln>
                <a:noFill/>
              </a:ln>
              <a:solidFill>
                <a:srgbClr val="000000"/>
              </a:solidFill>
              <a:effectLst/>
              <a:uLnTx/>
              <a:uFillTx/>
              <a:latin typeface="Cambria" panose="02040503050406030204" pitchFamily="18" charset="0"/>
              <a:ea typeface="Cambria" panose="02040503050406030204" pitchFamily="18" charset="0"/>
              <a:cs typeface="Arial"/>
              <a:sym typeface="Arial"/>
            </a:endParaRPr>
          </a:p>
        </p:txBody>
      </p:sp>
    </p:spTree>
    <p:extLst>
      <p:ext uri="{BB962C8B-B14F-4D97-AF65-F5344CB8AC3E}">
        <p14:creationId xmlns:p14="http://schemas.microsoft.com/office/powerpoint/2010/main" val="2950978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30"/>
        <p:cNvGrpSpPr/>
        <p:nvPr/>
      </p:nvGrpSpPr>
      <p:grpSpPr>
        <a:xfrm>
          <a:off x="0" y="0"/>
          <a:ext cx="0" cy="0"/>
          <a:chOff x="0" y="0"/>
          <a:chExt cx="0" cy="0"/>
        </a:xfrm>
      </p:grpSpPr>
      <p:sp>
        <p:nvSpPr>
          <p:cNvPr id="31" name="Google Shape;31;p12"/>
          <p:cNvSpPr txBox="1">
            <a:spLocks noGrp="1"/>
          </p:cNvSpPr>
          <p:nvPr>
            <p:ph type="title"/>
          </p:nvPr>
        </p:nvSpPr>
        <p:spPr>
          <a:xfrm>
            <a:off x="839788" y="659342"/>
            <a:ext cx="3932237" cy="10702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2"/>
          <p:cNvSpPr>
            <a:spLocks noGrp="1"/>
          </p:cNvSpPr>
          <p:nvPr>
            <p:ph type="pic" idx="2"/>
          </p:nvPr>
        </p:nvSpPr>
        <p:spPr>
          <a:xfrm>
            <a:off x="5183188" y="987425"/>
            <a:ext cx="6172200" cy="4873625"/>
          </a:xfrm>
          <a:prstGeom prst="rect">
            <a:avLst/>
          </a:prstGeom>
          <a:noFill/>
          <a:ln>
            <a:noFill/>
          </a:ln>
        </p:spPr>
      </p:sp>
      <p:sp>
        <p:nvSpPr>
          <p:cNvPr id="33" name="Google Shape;33;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34" name="Google Shape;34;p12"/>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35" name="Google Shape;35;p12"/>
          <p:cNvPicPr preferRelativeResize="0"/>
          <p:nvPr/>
        </p:nvPicPr>
        <p:blipFill rotWithShape="1">
          <a:blip r:embed="rId3">
            <a:alphaModFix/>
          </a:blip>
          <a:srcRect l="15000" t="43307" r="32291" b="37052"/>
          <a:stretch/>
        </p:blipFill>
        <p:spPr>
          <a:xfrm>
            <a:off x="211666" y="6201820"/>
            <a:ext cx="3590248" cy="656180"/>
          </a:xfrm>
          <a:prstGeom prst="rect">
            <a:avLst/>
          </a:prstGeom>
          <a:noFill/>
          <a:ln>
            <a:noFill/>
          </a:ln>
        </p:spPr>
      </p:pic>
      <p:sp>
        <p:nvSpPr>
          <p:cNvPr id="36" name="Google Shape;36;p12"/>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1" i="1" u="none" strike="noStrike" kern="0" cap="none" spc="0" normalizeH="0" baseline="0" noProof="0" smtClean="0">
                <a:ln>
                  <a:noFill/>
                </a:ln>
                <a:solidFill>
                  <a:srgbClr val="E7E6E6"/>
                </a:solidFill>
                <a:effectLst/>
                <a:uLnTx/>
                <a:uFillTx/>
                <a:latin typeface="Lato"/>
                <a:ea typeface="Lato"/>
                <a:cs typeface="Lato"/>
                <a:sym typeface="Lato"/>
              </a:rPr>
              <a:t>Faculty of Information Systems</a:t>
            </a:r>
            <a:endParaRPr kumimoji="0" lang="en-US" sz="1200" b="1" i="1" u="none" strike="noStrike" kern="0" cap="none" spc="0" normalizeH="0" baseline="0" noProof="0">
              <a:ln>
                <a:noFill/>
              </a:ln>
              <a:solidFill>
                <a:srgbClr val="E7E6E6"/>
              </a:solidFill>
              <a:effectLst/>
              <a:uLnTx/>
              <a:uFillTx/>
              <a:latin typeface="Lato"/>
              <a:ea typeface="Lato"/>
              <a:cs typeface="Lato"/>
              <a:sym typeface="Lato"/>
            </a:endParaRPr>
          </a:p>
        </p:txBody>
      </p:sp>
      <p:sp>
        <p:nvSpPr>
          <p:cNvPr id="37" name="Google Shape;37;p12"/>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1" i="0" u="none" strike="noStrike" kern="0" cap="none" spc="0" normalizeH="0" baseline="0" noProof="0">
                <a:ln>
                  <a:noFill/>
                </a:ln>
                <a:solidFill>
                  <a:srgbClr val="FFFFFF"/>
                </a:solidFill>
                <a:effectLst/>
                <a:uLnTx/>
                <a:uFillTx/>
                <a:latin typeface="Lato"/>
                <a:ea typeface="Lato"/>
                <a:cs typeface="Lato"/>
                <a:sym typeface="Lato"/>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200" b="1" i="0" u="none" strike="noStrike" kern="0" cap="none" spc="0" normalizeH="0" baseline="0" noProof="0">
              <a:ln>
                <a:noFill/>
              </a:ln>
              <a:solidFill>
                <a:srgbClr val="FFFFFF"/>
              </a:solidFill>
              <a:effectLst/>
              <a:uLnTx/>
              <a:uFillTx/>
              <a:latin typeface="Lato"/>
              <a:ea typeface="Lato"/>
              <a:cs typeface="Lato"/>
              <a:sym typeface="Lato"/>
            </a:endParaRPr>
          </a:p>
        </p:txBody>
      </p:sp>
    </p:spTree>
    <p:extLst>
      <p:ext uri="{BB962C8B-B14F-4D97-AF65-F5344CB8AC3E}">
        <p14:creationId xmlns:p14="http://schemas.microsoft.com/office/powerpoint/2010/main" val="3300363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70"/>
        <p:cNvGrpSpPr/>
        <p:nvPr/>
      </p:nvGrpSpPr>
      <p:grpSpPr>
        <a:xfrm>
          <a:off x="0" y="0"/>
          <a:ext cx="0" cy="0"/>
          <a:chOff x="0" y="0"/>
          <a:chExt cx="0" cy="0"/>
        </a:xfrm>
      </p:grpSpPr>
      <p:pic>
        <p:nvPicPr>
          <p:cNvPr id="71" name="Google Shape;71;p17"/>
          <p:cNvPicPr preferRelativeResize="0"/>
          <p:nvPr/>
        </p:nvPicPr>
        <p:blipFill rotWithShape="1">
          <a:blip r:embed="rId2">
            <a:alphaModFix/>
          </a:blip>
          <a:srcRect r="-3333" b="87407"/>
          <a:stretch/>
        </p:blipFill>
        <p:spPr>
          <a:xfrm>
            <a:off x="0" y="0"/>
            <a:ext cx="12598400" cy="431800"/>
          </a:xfrm>
          <a:prstGeom prst="rect">
            <a:avLst/>
          </a:prstGeom>
          <a:noFill/>
          <a:ln>
            <a:noFill/>
          </a:ln>
        </p:spPr>
      </p:pic>
      <p:pic>
        <p:nvPicPr>
          <p:cNvPr id="72" name="Google Shape;72;p17"/>
          <p:cNvPicPr preferRelativeResize="0"/>
          <p:nvPr/>
        </p:nvPicPr>
        <p:blipFill rotWithShape="1">
          <a:blip r:embed="rId3">
            <a:alphaModFix/>
          </a:blip>
          <a:srcRect/>
          <a:stretch/>
        </p:blipFill>
        <p:spPr>
          <a:xfrm>
            <a:off x="-85306" y="-330860"/>
            <a:ext cx="12192000" cy="6858000"/>
          </a:xfrm>
          <a:prstGeom prst="rect">
            <a:avLst/>
          </a:prstGeom>
          <a:noFill/>
          <a:ln>
            <a:noFill/>
          </a:ln>
        </p:spPr>
      </p:pic>
      <p:sp>
        <p:nvSpPr>
          <p:cNvPr id="73" name="Google Shape;73;p17"/>
          <p:cNvSpPr txBox="1">
            <a:spLocks noGrp="1"/>
          </p:cNvSpPr>
          <p:nvPr>
            <p:ph type="title"/>
          </p:nvPr>
        </p:nvSpPr>
        <p:spPr>
          <a:xfrm>
            <a:off x="838200" y="2581306"/>
            <a:ext cx="10515600" cy="156674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9600"/>
              <a:buFont typeface="Lato Black"/>
              <a:buNone/>
              <a:defRPr sz="96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74" name="Google Shape;74;p17"/>
          <p:cNvPicPr preferRelativeResize="0"/>
          <p:nvPr/>
        </p:nvPicPr>
        <p:blipFill rotWithShape="1">
          <a:blip r:embed="rId4">
            <a:alphaModFix/>
          </a:blip>
          <a:srcRect/>
          <a:stretch/>
        </p:blipFill>
        <p:spPr>
          <a:xfrm>
            <a:off x="4357944" y="330860"/>
            <a:ext cx="2890753" cy="1176347"/>
          </a:xfrm>
          <a:prstGeom prst="rect">
            <a:avLst/>
          </a:prstGeom>
          <a:noFill/>
          <a:ln>
            <a:noFill/>
          </a:ln>
        </p:spPr>
      </p:pic>
      <p:sp>
        <p:nvSpPr>
          <p:cNvPr id="75" name="Google Shape;75;p17"/>
          <p:cNvSpPr txBox="1"/>
          <p:nvPr/>
        </p:nvSpPr>
        <p:spPr>
          <a:xfrm>
            <a:off x="2805445" y="1354975"/>
            <a:ext cx="6410498" cy="68841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20000"/>
              </a:lnSpc>
              <a:spcBef>
                <a:spcPts val="0"/>
              </a:spcBef>
              <a:spcAft>
                <a:spcPts val="0"/>
              </a:spcAft>
              <a:buClr>
                <a:srgbClr val="144E8C"/>
              </a:buClr>
              <a:buSzPts val="2000"/>
              <a:buFont typeface="Lato Black"/>
              <a:buNone/>
              <a:tabLst/>
              <a:defRPr/>
            </a:pPr>
            <a:r>
              <a:rPr kumimoji="0" lang="en-US" sz="2000" b="1" i="0" u="none" strike="noStrike" kern="0" cap="none" spc="0" normalizeH="0" baseline="0" noProof="0" smtClean="0">
                <a:ln>
                  <a:noFill/>
                </a:ln>
                <a:solidFill>
                  <a:srgbClr val="144E8C"/>
                </a:solidFill>
                <a:effectLst/>
                <a:uLnTx/>
                <a:uFillTx/>
                <a:latin typeface="Cambria" panose="02040503050406030204" pitchFamily="18" charset="0"/>
                <a:ea typeface="Cambria" panose="02040503050406030204" pitchFamily="18" charset="0"/>
                <a:cs typeface="Lato Black"/>
                <a:sym typeface="Lato Black"/>
              </a:rPr>
              <a:t>VIETNAM NATIONAL UNIVERSITY HO CHI MINH CITY</a:t>
            </a:r>
            <a:br>
              <a:rPr kumimoji="0" lang="en-US" sz="2000" b="1" i="0" u="none" strike="noStrike" kern="0" cap="none" spc="0" normalizeH="0" baseline="0" noProof="0" smtClean="0">
                <a:ln>
                  <a:noFill/>
                </a:ln>
                <a:solidFill>
                  <a:srgbClr val="144E8C"/>
                </a:solidFill>
                <a:effectLst/>
                <a:uLnTx/>
                <a:uFillTx/>
                <a:latin typeface="Cambria" panose="02040503050406030204" pitchFamily="18" charset="0"/>
                <a:ea typeface="Cambria" panose="02040503050406030204" pitchFamily="18" charset="0"/>
                <a:cs typeface="Lato Black"/>
                <a:sym typeface="Lato Black"/>
              </a:rPr>
            </a:br>
            <a:r>
              <a:rPr kumimoji="0" lang="en-US" sz="2000" b="1" i="0" u="none" strike="noStrike" kern="0" cap="none" spc="0" normalizeH="0" baseline="0" noProof="0" smtClean="0">
                <a:ln>
                  <a:noFill/>
                </a:ln>
                <a:solidFill>
                  <a:srgbClr val="144E8C"/>
                </a:solidFill>
                <a:effectLst/>
                <a:uLnTx/>
                <a:uFillTx/>
                <a:latin typeface="Cambria" panose="02040503050406030204" pitchFamily="18" charset="0"/>
                <a:ea typeface="Cambria" panose="02040503050406030204" pitchFamily="18" charset="0"/>
                <a:cs typeface="Lato Black"/>
                <a:sym typeface="Lato Black"/>
              </a:rPr>
              <a:t>University of Economics and Law</a:t>
            </a:r>
            <a:endParaRPr kumimoji="0" lang="en-US" sz="1400" b="0" i="0" u="none" strike="noStrike" kern="0" cap="none" spc="0" normalizeH="0" baseline="0" noProof="0">
              <a:ln>
                <a:noFill/>
              </a:ln>
              <a:solidFill>
                <a:srgbClr val="000000"/>
              </a:solidFill>
              <a:effectLst/>
              <a:uLnTx/>
              <a:uFillTx/>
              <a:latin typeface="Cambria" panose="02040503050406030204" pitchFamily="18" charset="0"/>
              <a:ea typeface="Cambria" panose="02040503050406030204" pitchFamily="18" charset="0"/>
              <a:cs typeface="Arial"/>
              <a:sym typeface="Arial"/>
            </a:endParaRPr>
          </a:p>
        </p:txBody>
      </p:sp>
    </p:spTree>
    <p:extLst>
      <p:ext uri="{BB962C8B-B14F-4D97-AF65-F5344CB8AC3E}">
        <p14:creationId xmlns:p14="http://schemas.microsoft.com/office/powerpoint/2010/main" val="3681330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76"/>
        <p:cNvGrpSpPr/>
        <p:nvPr/>
      </p:nvGrpSpPr>
      <p:grpSpPr>
        <a:xfrm>
          <a:off x="0" y="0"/>
          <a:ext cx="0" cy="0"/>
          <a:chOff x="0" y="0"/>
          <a:chExt cx="0" cy="0"/>
        </a:xfrm>
      </p:grpSpPr>
      <p:sp>
        <p:nvSpPr>
          <p:cNvPr id="77" name="Google Shape;77;p18"/>
          <p:cNvSpPr txBox="1">
            <a:spLocks noGrp="1"/>
          </p:cNvSpPr>
          <p:nvPr>
            <p:ph type="title"/>
          </p:nvPr>
        </p:nvSpPr>
        <p:spPr>
          <a:xfrm>
            <a:off x="839788" y="577547"/>
            <a:ext cx="3932237" cy="129225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9" name="Google Shape;79;p18"/>
          <p:cNvSpPr txBox="1">
            <a:spLocks noGrp="1"/>
          </p:cNvSpPr>
          <p:nvPr>
            <p:ph type="body" idx="2"/>
          </p:nvPr>
        </p:nvSpPr>
        <p:spPr>
          <a:xfrm>
            <a:off x="839788" y="2201630"/>
            <a:ext cx="3932237" cy="366735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80" name="Google Shape;80;p18"/>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81" name="Google Shape;81;p18"/>
          <p:cNvPicPr preferRelativeResize="0"/>
          <p:nvPr/>
        </p:nvPicPr>
        <p:blipFill rotWithShape="1">
          <a:blip r:embed="rId3">
            <a:alphaModFix/>
          </a:blip>
          <a:srcRect l="24127" t="66898" r="25919" b="25925"/>
          <a:stretch/>
        </p:blipFill>
        <p:spPr>
          <a:xfrm>
            <a:off x="810734" y="1911095"/>
            <a:ext cx="2855494" cy="115369"/>
          </a:xfrm>
          <a:prstGeom prst="rect">
            <a:avLst/>
          </a:prstGeom>
          <a:noFill/>
          <a:ln>
            <a:noFill/>
          </a:ln>
        </p:spPr>
      </p:pic>
      <p:pic>
        <p:nvPicPr>
          <p:cNvPr id="82" name="Google Shape;82;p18"/>
          <p:cNvPicPr preferRelativeResize="0"/>
          <p:nvPr/>
        </p:nvPicPr>
        <p:blipFill rotWithShape="1">
          <a:blip r:embed="rId4">
            <a:alphaModFix/>
          </a:blip>
          <a:srcRect l="15000" t="43307" r="32291" b="37052"/>
          <a:stretch/>
        </p:blipFill>
        <p:spPr>
          <a:xfrm>
            <a:off x="211666" y="6160255"/>
            <a:ext cx="3590248" cy="656180"/>
          </a:xfrm>
          <a:prstGeom prst="rect">
            <a:avLst/>
          </a:prstGeom>
          <a:noFill/>
          <a:ln>
            <a:noFill/>
          </a:ln>
        </p:spPr>
      </p:pic>
      <p:sp>
        <p:nvSpPr>
          <p:cNvPr id="83" name="Google Shape;83;p18"/>
          <p:cNvSpPr txBox="1">
            <a:spLocks noGrp="1"/>
          </p:cNvSpPr>
          <p:nvPr>
            <p:ph type="ftr" idx="11"/>
          </p:nvPr>
        </p:nvSpPr>
        <p:spPr>
          <a:xfrm>
            <a:off x="728132" y="6387798"/>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1" i="1" u="none" strike="noStrike" kern="0" cap="none" spc="0" normalizeH="0" baseline="0" noProof="0" smtClean="0">
                <a:ln>
                  <a:noFill/>
                </a:ln>
                <a:solidFill>
                  <a:srgbClr val="E7E6E6"/>
                </a:solidFill>
                <a:effectLst/>
                <a:uLnTx/>
                <a:uFillTx/>
                <a:latin typeface="Lato"/>
                <a:ea typeface="Lato"/>
                <a:cs typeface="Lato"/>
                <a:sym typeface="Lato"/>
              </a:rPr>
              <a:t>Faculty of Information Systems</a:t>
            </a:r>
            <a:endParaRPr kumimoji="0" lang="en-US" sz="1200" b="1" i="1" u="none" strike="noStrike" kern="0" cap="none" spc="0" normalizeH="0" baseline="0" noProof="0">
              <a:ln>
                <a:noFill/>
              </a:ln>
              <a:solidFill>
                <a:srgbClr val="E7E6E6"/>
              </a:solidFill>
              <a:effectLst/>
              <a:uLnTx/>
              <a:uFillTx/>
              <a:latin typeface="Lato"/>
              <a:ea typeface="Lato"/>
              <a:cs typeface="Lato"/>
              <a:sym typeface="Lato"/>
            </a:endParaRPr>
          </a:p>
        </p:txBody>
      </p:sp>
      <p:sp>
        <p:nvSpPr>
          <p:cNvPr id="84" name="Google Shape;84;p18"/>
          <p:cNvSpPr txBox="1">
            <a:spLocks noGrp="1"/>
          </p:cNvSpPr>
          <p:nvPr>
            <p:ph type="sldNum" idx="12"/>
          </p:nvPr>
        </p:nvSpPr>
        <p:spPr>
          <a:xfrm>
            <a:off x="3098799" y="6335940"/>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1" i="0" u="none" strike="noStrike" kern="0" cap="none" spc="0" normalizeH="0" baseline="0" noProof="0">
                <a:ln>
                  <a:noFill/>
                </a:ln>
                <a:solidFill>
                  <a:srgbClr val="FFFFFF"/>
                </a:solidFill>
                <a:effectLst/>
                <a:uLnTx/>
                <a:uFillTx/>
                <a:latin typeface="Lato"/>
                <a:ea typeface="Lato"/>
                <a:cs typeface="Lato"/>
                <a:sym typeface="Lato"/>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200" b="1" i="0" u="none" strike="noStrike" kern="0" cap="none" spc="0" normalizeH="0" baseline="0" noProof="0">
              <a:ln>
                <a:noFill/>
              </a:ln>
              <a:solidFill>
                <a:srgbClr val="FFFFFF"/>
              </a:solidFill>
              <a:effectLst/>
              <a:uLnTx/>
              <a:uFillTx/>
              <a:latin typeface="Lato"/>
              <a:ea typeface="Lato"/>
              <a:cs typeface="Lato"/>
              <a:sym typeface="Lato"/>
            </a:endParaRPr>
          </a:p>
        </p:txBody>
      </p:sp>
    </p:spTree>
    <p:extLst>
      <p:ext uri="{BB962C8B-B14F-4D97-AF65-F5344CB8AC3E}">
        <p14:creationId xmlns:p14="http://schemas.microsoft.com/office/powerpoint/2010/main" val="2529039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Blank" type="blank">
  <p:cSld name="1_Blank">
    <p:spTree>
      <p:nvGrpSpPr>
        <p:cNvPr id="1" name="Shape 85"/>
        <p:cNvGrpSpPr/>
        <p:nvPr/>
      </p:nvGrpSpPr>
      <p:grpSpPr>
        <a:xfrm>
          <a:off x="0" y="0"/>
          <a:ext cx="0" cy="0"/>
          <a:chOff x="0" y="0"/>
          <a:chExt cx="0" cy="0"/>
        </a:xfrm>
      </p:grpSpPr>
      <p:sp>
        <p:nvSpPr>
          <p:cNvPr id="86" name="Google Shape;86;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87" name="Google Shape;87;p1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Lato"/>
              <a:ea typeface="Lato"/>
              <a:cs typeface="Lato"/>
              <a:sym typeface="Lato"/>
            </a:endParaRPr>
          </a:p>
        </p:txBody>
      </p:sp>
      <p:sp>
        <p:nvSpPr>
          <p:cNvPr id="88" name="Google Shape;8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2303219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144E8C"/>
              </a:buClr>
              <a:buSzPts val="4400"/>
              <a:buFont typeface="Lato Black"/>
              <a:buNone/>
              <a:defRPr sz="4400" b="1" i="0" u="none" strike="noStrike" cap="none">
                <a:solidFill>
                  <a:srgbClr val="144E8C"/>
                </a:solidFill>
                <a:latin typeface="Lato Black"/>
                <a:ea typeface="Lato Black"/>
                <a:cs typeface="Lato Black"/>
                <a:sym typeface="Lato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1"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1"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1"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7" r:id="rId3"/>
    <p:sldLayoutId id="2147483658"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144E8C"/>
              </a:buClr>
              <a:buSzPts val="4400"/>
              <a:buFont typeface="Lato Black"/>
              <a:buNone/>
              <a:defRPr sz="4400" b="1" i="0" u="none" strike="noStrike" cap="none">
                <a:solidFill>
                  <a:srgbClr val="144E8C"/>
                </a:solidFill>
                <a:latin typeface="Lato Black"/>
                <a:ea typeface="Lato Black"/>
                <a:cs typeface="Lato Black"/>
                <a:sym typeface="Lato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1"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1"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1"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3" name="Google Shape;13;p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Lato"/>
              <a:ea typeface="Lato"/>
              <a:cs typeface="Lato"/>
              <a:sym typeface="Lato"/>
            </a:endParaRPr>
          </a:p>
        </p:txBody>
      </p:sp>
      <p:sp>
        <p:nvSpPr>
          <p:cNvPr id="14" name="Google Shape;1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819202890"/>
      </p:ext>
    </p:extLst>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hanhtd@uel.edu.v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tranduythanh.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www.outerboxdesign.com/web-design-articles/mobile-ecommerce-statistics"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www.vnetwork.vn/news/internet-viet-nam-2023-so-lieu-moi-nhat-va-xu-huong-phat-trien/"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developer.android.com/"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6" name="Title 1">
            <a:extLst>
              <a:ext uri="{FF2B5EF4-FFF2-40B4-BE49-F238E27FC236}">
                <a16:creationId xmlns:a16="http://schemas.microsoft.com/office/drawing/2014/main" id="{7F9BAC58-9AA6-A91A-085E-F1421DCCF43A}"/>
              </a:ext>
            </a:extLst>
          </p:cNvPr>
          <p:cNvSpPr txBox="1">
            <a:spLocks/>
          </p:cNvSpPr>
          <p:nvPr/>
        </p:nvSpPr>
        <p:spPr bwMode="auto">
          <a:xfrm>
            <a:off x="2132317" y="1977662"/>
            <a:ext cx="8763000"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3200" kern="0">
                <a:solidFill>
                  <a:srgbClr val="002060"/>
                </a:solidFill>
                <a:latin typeface="Times New Roman" panose="02020603050405020304" pitchFamily="18" charset="0"/>
                <a:cs typeface="Times New Roman" panose="02020603050405020304" pitchFamily="18" charset="0"/>
              </a:rPr>
              <a:t>Mobile-Commerce </a:t>
            </a:r>
            <a:r>
              <a:rPr lang="en-US" sz="3200" kern="0" smtClean="0">
                <a:solidFill>
                  <a:srgbClr val="002060"/>
                </a:solidFill>
                <a:latin typeface="Times New Roman" panose="02020603050405020304" pitchFamily="18" charset="0"/>
                <a:cs typeface="Times New Roman" panose="02020603050405020304" pitchFamily="18" charset="0"/>
              </a:rPr>
              <a:t>Development</a:t>
            </a:r>
          </a:p>
          <a:p>
            <a:pPr>
              <a:defRPr/>
            </a:pPr>
            <a:r>
              <a:rPr lang="en-US" sz="3200" u="sng" smtClean="0">
                <a:solidFill>
                  <a:srgbClr val="002060"/>
                </a:solidFill>
                <a:latin typeface="Times New Roman" panose="02020603050405020304" pitchFamily="18" charset="0"/>
                <a:cs typeface="Times New Roman" panose="02020603050405020304" pitchFamily="18" charset="0"/>
              </a:rPr>
              <a:t>Lesson</a:t>
            </a:r>
            <a:r>
              <a:rPr lang="en-US" sz="3200" smtClean="0">
                <a:solidFill>
                  <a:srgbClr val="002060"/>
                </a:solidFill>
                <a:latin typeface="Times New Roman" panose="02020603050405020304" pitchFamily="18" charset="0"/>
                <a:cs typeface="Times New Roman" panose="02020603050405020304" pitchFamily="18" charset="0"/>
              </a:rPr>
              <a:t> </a:t>
            </a:r>
            <a:endParaRPr lang="en-US" sz="3200" kern="0" smtClean="0">
              <a:solidFill>
                <a:srgbClr val="002060"/>
              </a:solidFill>
              <a:latin typeface="Times New Roman" panose="02020603050405020304" pitchFamily="18" charset="0"/>
              <a:cs typeface="Times New Roman" panose="02020603050405020304" pitchFamily="18" charset="0"/>
            </a:endParaRPr>
          </a:p>
          <a:p>
            <a:pPr>
              <a:defRPr/>
            </a:pPr>
            <a:r>
              <a:rPr lang="en-US" sz="3200" smtClean="0">
                <a:solidFill>
                  <a:srgbClr val="002060"/>
                </a:solidFill>
                <a:latin typeface="Times New Roman" panose="02020603050405020304" pitchFamily="18" charset="0"/>
                <a:cs typeface="Times New Roman" panose="02020603050405020304" pitchFamily="18" charset="0"/>
              </a:rPr>
              <a:t>Overview of mobile commerce</a:t>
            </a:r>
            <a:endParaRPr lang="en-US" sz="3200" kern="0">
              <a:solidFill>
                <a:srgbClr val="00206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2F97E3A-A23C-B018-8E45-86B8BF858946}"/>
              </a:ext>
            </a:extLst>
          </p:cNvPr>
          <p:cNvSpPr txBox="1"/>
          <p:nvPr/>
        </p:nvSpPr>
        <p:spPr>
          <a:xfrm>
            <a:off x="7958878" y="4079089"/>
            <a:ext cx="3781805" cy="2123658"/>
          </a:xfrm>
          <a:prstGeom prst="rect">
            <a:avLst/>
          </a:prstGeom>
          <a:noFill/>
        </p:spPr>
        <p:txBody>
          <a:bodyPr wrap="none" rtlCol="0">
            <a:spAutoFit/>
          </a:bodyPr>
          <a:lstStyle/>
          <a:p>
            <a:pPr algn="ctr"/>
            <a:r>
              <a:rPr lang="en-US" sz="2200" u="sng">
                <a:latin typeface="Times New Roman" panose="02020603050405020304" pitchFamily="18" charset="0"/>
                <a:cs typeface="Times New Roman" panose="02020603050405020304" pitchFamily="18" charset="0"/>
              </a:rPr>
              <a:t>Lecturer:</a:t>
            </a:r>
          </a:p>
          <a:p>
            <a:pPr algn="ctr"/>
            <a:r>
              <a:rPr lang="en-US" sz="2200" b="1">
                <a:solidFill>
                  <a:srgbClr val="002060"/>
                </a:solidFill>
                <a:latin typeface="Times New Roman" panose="02020603050405020304" pitchFamily="18" charset="0"/>
                <a:cs typeface="Times New Roman" panose="02020603050405020304" pitchFamily="18" charset="0"/>
              </a:rPr>
              <a:t>Tran Duy Thanh, </a:t>
            </a:r>
            <a:r>
              <a:rPr lang="en-US" sz="2200" b="1" smtClean="0">
                <a:solidFill>
                  <a:srgbClr val="002060"/>
                </a:solidFill>
                <a:latin typeface="Times New Roman" panose="02020603050405020304" pitchFamily="18" charset="0"/>
                <a:cs typeface="Times New Roman" panose="02020603050405020304" pitchFamily="18" charset="0"/>
              </a:rPr>
              <a:t>Phd</a:t>
            </a:r>
          </a:p>
          <a:p>
            <a:pPr algn="ctr"/>
            <a:r>
              <a:rPr lang="en-US" sz="2200" b="1">
                <a:solidFill>
                  <a:srgbClr val="002060"/>
                </a:solidFill>
                <a:latin typeface="Times New Roman" panose="02020603050405020304" pitchFamily="18" charset="0"/>
                <a:cs typeface="Times New Roman" panose="02020603050405020304" pitchFamily="18" charset="0"/>
              </a:rPr>
              <a:t>Nguyen Quang Phuc, </a:t>
            </a:r>
            <a:r>
              <a:rPr lang="en-US" sz="2200" b="1" smtClean="0">
                <a:solidFill>
                  <a:srgbClr val="002060"/>
                </a:solidFill>
                <a:latin typeface="Times New Roman" panose="02020603050405020304" pitchFamily="18" charset="0"/>
                <a:cs typeface="Times New Roman" panose="02020603050405020304" pitchFamily="18" charset="0"/>
              </a:rPr>
              <a:t>Msc</a:t>
            </a:r>
            <a:endParaRPr lang="en-US" sz="2200" b="1">
              <a:solidFill>
                <a:srgbClr val="002060"/>
              </a:solidFill>
              <a:latin typeface="Times New Roman" panose="02020603050405020304" pitchFamily="18" charset="0"/>
              <a:cs typeface="Times New Roman" panose="02020603050405020304" pitchFamily="18" charset="0"/>
            </a:endParaRPr>
          </a:p>
          <a:p>
            <a:r>
              <a:rPr lang="en-US" sz="2200">
                <a:latin typeface="Times New Roman" panose="02020603050405020304" pitchFamily="18" charset="0"/>
                <a:cs typeface="Times New Roman" panose="02020603050405020304" pitchFamily="18" charset="0"/>
              </a:rPr>
              <a:t>Email: </a:t>
            </a:r>
            <a:r>
              <a:rPr lang="en-US" sz="2200">
                <a:latin typeface="Times New Roman" panose="02020603050405020304" pitchFamily="18" charset="0"/>
                <a:cs typeface="Times New Roman" panose="02020603050405020304" pitchFamily="18" charset="0"/>
                <a:hlinkClick r:id="rId3"/>
              </a:rPr>
              <a:t>thanhtd@uel.edu.vn</a:t>
            </a:r>
            <a:endParaRPr lang="en-US" sz="2200">
              <a:latin typeface="Times New Roman" panose="02020603050405020304" pitchFamily="18" charset="0"/>
              <a:cs typeface="Times New Roman" panose="02020603050405020304" pitchFamily="18" charset="0"/>
            </a:endParaRPr>
          </a:p>
          <a:p>
            <a:r>
              <a:rPr lang="en-US" sz="2200">
                <a:latin typeface="Times New Roman" panose="02020603050405020304" pitchFamily="18" charset="0"/>
                <a:cs typeface="Times New Roman" panose="02020603050405020304" pitchFamily="18" charset="0"/>
              </a:rPr>
              <a:t>Blog: </a:t>
            </a:r>
            <a:r>
              <a:rPr lang="en-US" sz="2200">
                <a:latin typeface="Times New Roman" panose="02020603050405020304" pitchFamily="18" charset="0"/>
                <a:cs typeface="Times New Roman" panose="02020603050405020304" pitchFamily="18" charset="0"/>
                <a:hlinkClick r:id="rId4"/>
              </a:rPr>
              <a:t>https://tranduythanh.com</a:t>
            </a:r>
            <a:r>
              <a:rPr lang="en-US" sz="2200">
                <a:latin typeface="Times New Roman" panose="02020603050405020304" pitchFamily="18" charset="0"/>
                <a:cs typeface="Times New Roman" panose="02020603050405020304" pitchFamily="18" charset="0"/>
              </a:rPr>
              <a:t> </a:t>
            </a:r>
          </a:p>
          <a:p>
            <a:r>
              <a:rPr lang="en-US" sz="2200">
                <a:latin typeface="Times New Roman" panose="02020603050405020304" pitchFamily="18" charset="0"/>
                <a:cs typeface="Times New Roman" panose="02020603050405020304" pitchFamily="18" charset="0"/>
              </a:rPr>
              <a:t>Phone: 0987773061</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4620576" cy="508000"/>
            <a:chOff x="789624" y="1191463"/>
            <a:chExt cx="4620576"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smtClean="0">
                  <a:latin typeface="Cambria" panose="02040503050406030204" pitchFamily="18" charset="0"/>
                </a:rPr>
                <a:t>Lesson Objective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9538" indent="0" algn="just">
              <a:lnSpc>
                <a:spcPct val="110000"/>
              </a:lnSpc>
              <a:spcBef>
                <a:spcPts val="600"/>
              </a:spcBef>
              <a:spcAft>
                <a:spcPts val="600"/>
              </a:spcAft>
              <a:buClr>
                <a:schemeClr val="tx1">
                  <a:lumMod val="85000"/>
                  <a:lumOff val="15000"/>
                </a:schemeClr>
              </a:buClr>
              <a:buNone/>
            </a:pPr>
            <a:r>
              <a:rPr lang="en-US" sz="2800">
                <a:latin typeface="Times New Roman" panose="02020603050405020304" pitchFamily="18" charset="0"/>
                <a:cs typeface="Times New Roman" panose="02020603050405020304" pitchFamily="18" charset="0"/>
              </a:rPr>
              <a:t>-Students know the trends of M-Commerce</a:t>
            </a:r>
          </a:p>
          <a:p>
            <a:pPr marL="109538" indent="0" algn="just">
              <a:lnSpc>
                <a:spcPct val="110000"/>
              </a:lnSpc>
              <a:spcBef>
                <a:spcPts val="600"/>
              </a:spcBef>
              <a:spcAft>
                <a:spcPts val="600"/>
              </a:spcAft>
              <a:buClr>
                <a:schemeClr val="tx1">
                  <a:lumMod val="85000"/>
                  <a:lumOff val="15000"/>
                </a:schemeClr>
              </a:buClr>
              <a:buNone/>
            </a:pPr>
            <a:r>
              <a:rPr lang="en-US" sz="2800">
                <a:latin typeface="Times New Roman" panose="02020603050405020304" pitchFamily="18" charset="0"/>
                <a:cs typeface="Times New Roman" panose="02020603050405020304" pitchFamily="18" charset="0"/>
              </a:rPr>
              <a:t>-Know the key features of M-Commerce, such as: Widespreadness, Accessibilty, Personalized, Convenient, etc.</a:t>
            </a:r>
          </a:p>
          <a:p>
            <a:pPr marL="109538" indent="0" algn="just">
              <a:lnSpc>
                <a:spcPct val="110000"/>
              </a:lnSpc>
              <a:spcBef>
                <a:spcPts val="600"/>
              </a:spcBef>
              <a:spcAft>
                <a:spcPts val="600"/>
              </a:spcAft>
              <a:buClr>
                <a:schemeClr val="tx1">
                  <a:lumMod val="85000"/>
                  <a:lumOff val="15000"/>
                </a:schemeClr>
              </a:buClr>
              <a:buNone/>
            </a:pPr>
            <a:r>
              <a:rPr lang="en-US" sz="2800">
                <a:latin typeface="Times New Roman" panose="02020603050405020304" pitchFamily="18" charset="0"/>
                <a:cs typeface="Times New Roman" panose="02020603050405020304" pitchFamily="18" charset="0"/>
              </a:rPr>
              <a:t>-Know the Applications of M-Commerce and thinking about idea for final project</a:t>
            </a:r>
          </a:p>
          <a:p>
            <a:pPr marL="109538" indent="0" algn="just">
              <a:lnSpc>
                <a:spcPct val="110000"/>
              </a:lnSpc>
              <a:spcBef>
                <a:spcPts val="600"/>
              </a:spcBef>
              <a:spcAft>
                <a:spcPts val="600"/>
              </a:spcAft>
              <a:buClr>
                <a:schemeClr val="tx1">
                  <a:lumMod val="85000"/>
                  <a:lumOff val="15000"/>
                </a:schemeClr>
              </a:buClr>
              <a:buNone/>
            </a:pPr>
            <a:r>
              <a:rPr lang="en-US" sz="2800">
                <a:latin typeface="Times New Roman" panose="02020603050405020304" pitchFamily="18" charset="0"/>
                <a:cs typeface="Times New Roman" panose="02020603050405020304" pitchFamily="18" charset="0"/>
              </a:rPr>
              <a:t>-Know the attentions when implementing mobile commerce</a:t>
            </a:r>
          </a:p>
          <a:p>
            <a:pPr marL="109538" indent="0" algn="just">
              <a:lnSpc>
                <a:spcPct val="110000"/>
              </a:lnSpc>
              <a:spcBef>
                <a:spcPts val="600"/>
              </a:spcBef>
              <a:spcAft>
                <a:spcPts val="600"/>
              </a:spcAft>
              <a:buClr>
                <a:schemeClr val="tx1">
                  <a:lumMod val="85000"/>
                  <a:lumOff val="15000"/>
                </a:schemeClr>
              </a:buClr>
              <a:buNone/>
            </a:pPr>
            <a:r>
              <a:rPr lang="en-US" sz="2800">
                <a:latin typeface="Times New Roman" panose="02020603050405020304" pitchFamily="18" charset="0"/>
                <a:cs typeface="Times New Roman" panose="02020603050405020304" pitchFamily="18" charset="0"/>
              </a:rPr>
              <a:t>-Explained why we choose Android</a:t>
            </a:r>
          </a:p>
          <a:p>
            <a:pPr marL="109538" indent="0" algn="just">
              <a:lnSpc>
                <a:spcPct val="110000"/>
              </a:lnSpc>
              <a:spcBef>
                <a:spcPts val="600"/>
              </a:spcBef>
              <a:spcAft>
                <a:spcPts val="600"/>
              </a:spcAft>
              <a:buClr>
                <a:schemeClr val="tx1">
                  <a:lumMod val="85000"/>
                  <a:lumOff val="15000"/>
                </a:schemeClr>
              </a:buClr>
              <a:buNone/>
            </a:pPr>
            <a:r>
              <a:rPr lang="en-US" sz="2800">
                <a:latin typeface="Times New Roman" panose="02020603050405020304" pitchFamily="18" charset="0"/>
                <a:cs typeface="Times New Roman" panose="02020603050405020304" pitchFamily="18" charset="0"/>
              </a:rPr>
              <a:t>-Install Android Studio and create a sample mobile Project</a:t>
            </a:r>
          </a:p>
        </p:txBody>
      </p:sp>
    </p:spTree>
    <p:extLst>
      <p:ext uri="{BB962C8B-B14F-4D97-AF65-F5344CB8AC3E}">
        <p14:creationId xmlns:p14="http://schemas.microsoft.com/office/powerpoint/2010/main" val="3342939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4620576" cy="508000"/>
            <a:chOff x="789624" y="1191463"/>
            <a:chExt cx="4620576"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smtClean="0">
                  <a:latin typeface="Cambria" panose="02040503050406030204" pitchFamily="18" charset="0"/>
                </a:rPr>
                <a:t>Outlines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ü"/>
            </a:pPr>
            <a:r>
              <a:rPr lang="en-US" sz="2800" b="1" smtClean="0">
                <a:latin typeface="Cambria" panose="02040503050406030204" pitchFamily="18" charset="0"/>
              </a:rPr>
              <a:t>Introduction M-Commerce</a:t>
            </a:r>
          </a:p>
          <a:p>
            <a:pPr algn="just">
              <a:buFont typeface="Wingdings" panose="05000000000000000000" pitchFamily="2" charset="2"/>
              <a:buChar char="ü"/>
            </a:pPr>
            <a:r>
              <a:rPr lang="en-US" sz="2800" b="1" smtClean="0">
                <a:latin typeface="Cambria" panose="02040503050406030204" pitchFamily="18" charset="0"/>
              </a:rPr>
              <a:t>Features of M-Commerce</a:t>
            </a:r>
          </a:p>
          <a:p>
            <a:pPr algn="just">
              <a:buFont typeface="Wingdings" panose="05000000000000000000" pitchFamily="2" charset="2"/>
              <a:buChar char="ü"/>
            </a:pPr>
            <a:r>
              <a:rPr lang="en-US" sz="2800" b="1" smtClean="0">
                <a:latin typeface="Cambria" panose="02040503050406030204" pitchFamily="18" charset="0"/>
              </a:rPr>
              <a:t>Applications of M-Commerce</a:t>
            </a:r>
          </a:p>
          <a:p>
            <a:pPr algn="just">
              <a:buFont typeface="Wingdings" panose="05000000000000000000" pitchFamily="2" charset="2"/>
              <a:buChar char="ü"/>
            </a:pPr>
            <a:r>
              <a:rPr lang="en-US" sz="2800" b="1">
                <a:latin typeface="Cambria" panose="02040503050406030204" pitchFamily="18" charset="0"/>
              </a:rPr>
              <a:t>Implementing mobile commerce </a:t>
            </a:r>
            <a:r>
              <a:rPr lang="en-US" sz="2800" b="1" smtClean="0">
                <a:latin typeface="Cambria" panose="02040503050406030204" pitchFamily="18" charset="0"/>
              </a:rPr>
              <a:t>attentions</a:t>
            </a:r>
          </a:p>
          <a:p>
            <a:pPr algn="just">
              <a:buFont typeface="Wingdings" panose="05000000000000000000" pitchFamily="2" charset="2"/>
              <a:buChar char="ü"/>
            </a:pPr>
            <a:r>
              <a:rPr lang="en-US" sz="2800" b="1" smtClean="0">
                <a:latin typeface="Cambria" panose="02040503050406030204" pitchFamily="18" charset="0"/>
              </a:rPr>
              <a:t>Development Mobile Applications, why Android? </a:t>
            </a:r>
          </a:p>
          <a:p>
            <a:pPr algn="just">
              <a:buFont typeface="Wingdings" panose="05000000000000000000" pitchFamily="2" charset="2"/>
              <a:buChar char="ü"/>
            </a:pPr>
            <a:r>
              <a:rPr lang="en-US" sz="2800" b="1" smtClean="0">
                <a:latin typeface="Cambria" panose="02040503050406030204" pitchFamily="18" charset="0"/>
              </a:rPr>
              <a:t>Discussions</a:t>
            </a:r>
            <a:endParaRPr lang="en-US" sz="2800" b="1">
              <a:latin typeface="Cambria" panose="02040503050406030204" pitchFamily="18" charset="0"/>
            </a:endParaRPr>
          </a:p>
        </p:txBody>
      </p:sp>
    </p:spTree>
    <p:extLst>
      <p:ext uri="{BB962C8B-B14F-4D97-AF65-F5344CB8AC3E}">
        <p14:creationId xmlns:p14="http://schemas.microsoft.com/office/powerpoint/2010/main" val="370314553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6350000" cy="508000"/>
            <a:chOff x="789624" y="1191463"/>
            <a:chExt cx="6350000"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en-US" sz="2800" b="1">
                  <a:latin typeface="Cambria" panose="02040503050406030204" pitchFamily="18" charset="0"/>
                </a:rPr>
                <a:t>Introduction M-Commerce</a:t>
              </a: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6612467"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400050" algn="just">
              <a:spcBef>
                <a:spcPts val="600"/>
              </a:spcBef>
              <a:spcAft>
                <a:spcPts val="600"/>
              </a:spcAft>
              <a:buNone/>
            </a:pPr>
            <a:r>
              <a:rPr lang="en-US" sz="2800">
                <a:latin typeface="Times New Roman" panose="02020603050405020304" pitchFamily="18" charset="0"/>
                <a:cs typeface="Times New Roman" panose="02020603050405020304" pitchFamily="18" charset="0"/>
              </a:rPr>
              <a:t>Mobile commerce or M-commerce refers to activities of buying and selling goods online, paying bills via mobile devices such as phones, tablets, etc</a:t>
            </a:r>
            <a:r>
              <a:rPr lang="en-US" sz="2800" smtClean="0">
                <a:latin typeface="Times New Roman" panose="02020603050405020304" pitchFamily="18" charset="0"/>
                <a:cs typeface="Times New Roman" panose="02020603050405020304" pitchFamily="18" charset="0"/>
              </a:rPr>
              <a:t>.</a:t>
            </a:r>
            <a:endParaRPr lang="en-US" sz="2800">
              <a:latin typeface="Times New Roman" panose="02020603050405020304" pitchFamily="18" charset="0"/>
              <a:cs typeface="Times New Roman" panose="02020603050405020304" pitchFamily="18" charset="0"/>
            </a:endParaRPr>
          </a:p>
          <a:p>
            <a:pPr marL="0" indent="400050" algn="just">
              <a:spcBef>
                <a:spcPts val="600"/>
              </a:spcBef>
              <a:spcAft>
                <a:spcPts val="600"/>
              </a:spcAft>
              <a:buNone/>
            </a:pPr>
            <a:r>
              <a:rPr lang="en-US" sz="2800">
                <a:latin typeface="Times New Roman" panose="02020603050405020304" pitchFamily="18" charset="0"/>
                <a:cs typeface="Times New Roman" panose="02020603050405020304" pitchFamily="18" charset="0"/>
              </a:rPr>
              <a:t>Mobile commerce helps businesses get closer to customers online. It also brings convenience to customers with many product options, payment methods, and delivery methods from different brands and sellers</a:t>
            </a:r>
            <a:r>
              <a:rPr lang="en-US" sz="2800" smtClean="0">
                <a:latin typeface="Times New Roman" panose="02020603050405020304" pitchFamily="18" charset="0"/>
                <a:cs typeface="Times New Roman" panose="02020603050405020304" pitchFamily="18" charset="0"/>
              </a:rPr>
              <a:t>.</a:t>
            </a:r>
            <a:endParaRPr lang="vi-VN" sz="2800" smtClean="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89317378-D5E4-4A46-8CF5-F0FB9B068D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0312" y="2192867"/>
            <a:ext cx="4549453" cy="2480740"/>
          </a:xfrm>
          <a:prstGeom prst="rect">
            <a:avLst/>
          </a:prstGeom>
        </p:spPr>
      </p:pic>
    </p:spTree>
    <p:extLst>
      <p:ext uri="{BB962C8B-B14F-4D97-AF65-F5344CB8AC3E}">
        <p14:creationId xmlns:p14="http://schemas.microsoft.com/office/powerpoint/2010/main" val="14742767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6350000" cy="508000"/>
            <a:chOff x="789624" y="1191463"/>
            <a:chExt cx="6350000"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en-US" sz="2800" b="1">
                  <a:latin typeface="Cambria" panose="02040503050406030204" pitchFamily="18" charset="0"/>
                </a:rPr>
                <a:t>Introduction M-Commerce</a:t>
              </a: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Content Placeholder 2">
            <a:extLst>
              <a:ext uri="{FF2B5EF4-FFF2-40B4-BE49-F238E27FC236}">
                <a16:creationId xmlns:a16="http://schemas.microsoft.com/office/drawing/2014/main" id="{E6D1E86E-1B39-0845-A659-A3C0C5AAE86A}"/>
              </a:ext>
            </a:extLst>
          </p:cNvPr>
          <p:cNvSpPr txBox="1">
            <a:spLocks/>
          </p:cNvSpPr>
          <p:nvPr/>
        </p:nvSpPr>
        <p:spPr>
          <a:xfrm>
            <a:off x="5071533" y="1117599"/>
            <a:ext cx="6722534" cy="562503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ü"/>
            </a:pPr>
            <a:r>
              <a:rPr lang="en-US" sz="2200">
                <a:latin typeface="Times" pitchFamily="2" charset="0"/>
              </a:rPr>
              <a:t>84% of American households own a smart phone</a:t>
            </a:r>
          </a:p>
          <a:p>
            <a:pPr algn="just">
              <a:buFont typeface="Wingdings" panose="05000000000000000000" pitchFamily="2" charset="2"/>
              <a:buChar char="ü"/>
            </a:pPr>
            <a:r>
              <a:rPr lang="en-US" sz="2200">
                <a:latin typeface="Times" pitchFamily="2" charset="0"/>
              </a:rPr>
              <a:t>Over 270 million U.S. consumers own smartphones</a:t>
            </a:r>
          </a:p>
          <a:p>
            <a:pPr algn="just">
              <a:buFont typeface="Wingdings" panose="05000000000000000000" pitchFamily="2" charset="2"/>
              <a:buChar char="ü"/>
            </a:pPr>
            <a:r>
              <a:rPr lang="en-US" sz="2200">
                <a:latin typeface="Times" pitchFamily="2" charset="0"/>
              </a:rPr>
              <a:t>At least 79% of smartphone users have made a purchase online using their mobile device in the last 6 months</a:t>
            </a:r>
          </a:p>
          <a:p>
            <a:pPr algn="just">
              <a:buFont typeface="Wingdings" panose="05000000000000000000" pitchFamily="2" charset="2"/>
              <a:buChar char="ü"/>
            </a:pPr>
            <a:r>
              <a:rPr lang="en-US" sz="2200">
                <a:latin typeface="Times" pitchFamily="2" charset="0"/>
              </a:rPr>
              <a:t>It’s estimated over 50% of all eCommerce purchases during the 2022 holiday season were made on a smartphone</a:t>
            </a:r>
          </a:p>
          <a:p>
            <a:pPr algn="just">
              <a:buFont typeface="Wingdings" panose="05000000000000000000" pitchFamily="2" charset="2"/>
              <a:buChar char="ü"/>
            </a:pPr>
            <a:r>
              <a:rPr lang="en-US" sz="2200">
                <a:latin typeface="Times" pitchFamily="2" charset="0"/>
              </a:rPr>
              <a:t>eCommerce dollars now comprise 15% of ALL retail revenue</a:t>
            </a:r>
          </a:p>
          <a:p>
            <a:pPr algn="just">
              <a:buFont typeface="Wingdings" panose="05000000000000000000" pitchFamily="2" charset="2"/>
              <a:buChar char="ü"/>
            </a:pPr>
            <a:r>
              <a:rPr lang="en-US" sz="2200">
                <a:latin typeface="Times" pitchFamily="2" charset="0"/>
              </a:rPr>
              <a:t>80% of shoppers used a mobile phone inside of a physical store to either look up product reviews, compare prices or find alternative store locations</a:t>
            </a:r>
          </a:p>
          <a:p>
            <a:pPr algn="just">
              <a:buFont typeface="Wingdings" panose="05000000000000000000" pitchFamily="2" charset="2"/>
              <a:buChar char="ü"/>
            </a:pPr>
            <a:r>
              <a:rPr lang="en-US" sz="2200">
                <a:latin typeface="Times" pitchFamily="2" charset="0"/>
              </a:rPr>
              <a:t>An estimated 15 billion mobile connected devices are currently in use</a:t>
            </a:r>
          </a:p>
        </p:txBody>
      </p:sp>
      <p:pic>
        <p:nvPicPr>
          <p:cNvPr id="14" name="Picture 13"/>
          <p:cNvPicPr>
            <a:picLocks noChangeAspect="1"/>
          </p:cNvPicPr>
          <p:nvPr/>
        </p:nvPicPr>
        <p:blipFill>
          <a:blip r:embed="rId3"/>
          <a:stretch>
            <a:fillRect/>
          </a:stretch>
        </p:blipFill>
        <p:spPr>
          <a:xfrm>
            <a:off x="728132" y="1235075"/>
            <a:ext cx="4199467" cy="4339956"/>
          </a:xfrm>
          <a:prstGeom prst="rect">
            <a:avLst/>
          </a:prstGeom>
        </p:spPr>
      </p:pic>
      <p:sp>
        <p:nvSpPr>
          <p:cNvPr id="15" name="Rectangle 14"/>
          <p:cNvSpPr/>
          <p:nvPr/>
        </p:nvSpPr>
        <p:spPr>
          <a:xfrm>
            <a:off x="668865" y="5740587"/>
            <a:ext cx="4402668" cy="523220"/>
          </a:xfrm>
          <a:prstGeom prst="rect">
            <a:avLst/>
          </a:prstGeom>
        </p:spPr>
        <p:txBody>
          <a:bodyPr wrap="square">
            <a:spAutoFit/>
          </a:bodyPr>
          <a:lstStyle/>
          <a:p>
            <a:r>
              <a:rPr lang="en-US" smtClean="0"/>
              <a:t>Source: </a:t>
            </a:r>
            <a:r>
              <a:rPr lang="en-US" smtClean="0">
                <a:hlinkClick r:id="rId4"/>
              </a:rPr>
              <a:t>https</a:t>
            </a:r>
            <a:r>
              <a:rPr lang="en-US">
                <a:hlinkClick r:id="rId4"/>
              </a:rPr>
              <a:t>://</a:t>
            </a:r>
            <a:r>
              <a:rPr lang="en-US" smtClean="0">
                <a:hlinkClick r:id="rId4"/>
              </a:rPr>
              <a:t>www.outerboxdesign.com/web-design-articles/mobile-ecommerce-statistics</a:t>
            </a:r>
            <a:r>
              <a:rPr lang="en-US" smtClean="0"/>
              <a:t> </a:t>
            </a:r>
            <a:endParaRPr lang="en-US"/>
          </a:p>
        </p:txBody>
      </p:sp>
    </p:spTree>
    <p:extLst>
      <p:ext uri="{BB962C8B-B14F-4D97-AF65-F5344CB8AC3E}">
        <p14:creationId xmlns:p14="http://schemas.microsoft.com/office/powerpoint/2010/main" val="3226847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6350000" cy="508000"/>
            <a:chOff x="789624" y="1191463"/>
            <a:chExt cx="6350000"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en-US" sz="2800" b="1">
                  <a:latin typeface="Cambria" panose="02040503050406030204" pitchFamily="18" charset="0"/>
                </a:rPr>
                <a:t>Introduction M-Commerce</a:t>
              </a: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3074" name="Picture 2" descr="doanh thu từ thương mại di động tại thị trường Mỹ"/>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4865" y="1465357"/>
            <a:ext cx="6038850" cy="3771901"/>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2077106" y="5379528"/>
            <a:ext cx="7425431" cy="523220"/>
          </a:xfrm>
          <a:prstGeom prst="rect">
            <a:avLst/>
          </a:prstGeom>
        </p:spPr>
        <p:txBody>
          <a:bodyPr wrap="none">
            <a:spAutoFit/>
          </a:bodyPr>
          <a:lstStyle/>
          <a:p>
            <a:r>
              <a:rPr lang="en-US" sz="2800">
                <a:latin typeface="Times New Roman" panose="02020603050405020304" pitchFamily="18" charset="0"/>
                <a:cs typeface="Times New Roman" panose="02020603050405020304" pitchFamily="18" charset="0"/>
              </a:rPr>
              <a:t>Revenue from mobile commerce in the US market</a:t>
            </a:r>
          </a:p>
        </p:txBody>
      </p:sp>
    </p:spTree>
    <p:extLst>
      <p:ext uri="{BB962C8B-B14F-4D97-AF65-F5344CB8AC3E}">
        <p14:creationId xmlns:p14="http://schemas.microsoft.com/office/powerpoint/2010/main" val="28967733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6350000" cy="508000"/>
            <a:chOff x="789624" y="1191463"/>
            <a:chExt cx="6350000"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en-US" sz="2800" b="1">
                  <a:latin typeface="Cambria" panose="02040503050406030204" pitchFamily="18" charset="0"/>
                </a:rPr>
                <a:t>Introduction M-Commerce</a:t>
              </a: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2050" name="Picture 2" descr="Xu hướng phát triển Internet Việt Nam 20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5519" y="1618189"/>
            <a:ext cx="7014150" cy="394546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567267" y="1043111"/>
            <a:ext cx="6899646" cy="523220"/>
          </a:xfrm>
          <a:prstGeom prst="rect">
            <a:avLst/>
          </a:prstGeom>
          <a:noFill/>
        </p:spPr>
        <p:txBody>
          <a:bodyPr wrap="none" rtlCol="0">
            <a:spAutoFit/>
          </a:bodyPr>
          <a:lstStyle/>
          <a:p>
            <a:r>
              <a:rPr lang="en-US" sz="2800" b="1">
                <a:latin typeface="Times New Roman" panose="02020603050405020304" pitchFamily="18" charset="0"/>
                <a:cs typeface="Times New Roman" panose="02020603050405020304" pitchFamily="18" charset="0"/>
              </a:rPr>
              <a:t>Statistics on mobile </a:t>
            </a:r>
            <a:r>
              <a:rPr lang="en-US" sz="2800" b="1" smtClean="0">
                <a:latin typeface="Times New Roman" panose="02020603050405020304" pitchFamily="18" charset="0"/>
                <a:cs typeface="Times New Roman" panose="02020603050405020304" pitchFamily="18" charset="0"/>
              </a:rPr>
              <a:t>connectivity </a:t>
            </a:r>
            <a:r>
              <a:rPr lang="en-US" sz="2800" b="1">
                <a:latin typeface="Times New Roman" panose="02020603050405020304" pitchFamily="18" charset="0"/>
                <a:cs typeface="Times New Roman" panose="02020603050405020304" pitchFamily="18" charset="0"/>
              </a:rPr>
              <a:t>in Vietnam</a:t>
            </a:r>
          </a:p>
        </p:txBody>
      </p:sp>
      <p:sp>
        <p:nvSpPr>
          <p:cNvPr id="9" name="Rectangle 8"/>
          <p:cNvSpPr/>
          <p:nvPr/>
        </p:nvSpPr>
        <p:spPr>
          <a:xfrm>
            <a:off x="1778000" y="5756276"/>
            <a:ext cx="8509000" cy="307777"/>
          </a:xfrm>
          <a:prstGeom prst="rect">
            <a:avLst/>
          </a:prstGeom>
        </p:spPr>
        <p:txBody>
          <a:bodyPr wrap="square">
            <a:spAutoFit/>
          </a:bodyPr>
          <a:lstStyle/>
          <a:p>
            <a:r>
              <a:rPr lang="en-US" smtClean="0"/>
              <a:t>Source: </a:t>
            </a:r>
            <a:r>
              <a:rPr lang="en-US" smtClean="0">
                <a:hlinkClick r:id="rId4"/>
              </a:rPr>
              <a:t>https</a:t>
            </a:r>
            <a:r>
              <a:rPr lang="en-US">
                <a:hlinkClick r:id="rId4"/>
              </a:rPr>
              <a:t>://www.vnetwork.vn/news/internet-viet-nam-2023-so-lieu-moi-nhat-va-xu-huong-phat-trien</a:t>
            </a:r>
            <a:r>
              <a:rPr lang="en-US" smtClean="0">
                <a:hlinkClick r:id="rId4"/>
              </a:rPr>
              <a:t>/</a:t>
            </a:r>
            <a:r>
              <a:rPr lang="en-US" smtClean="0"/>
              <a:t> </a:t>
            </a:r>
            <a:endParaRPr lang="en-US"/>
          </a:p>
        </p:txBody>
      </p:sp>
    </p:spTree>
    <p:extLst>
      <p:ext uri="{BB962C8B-B14F-4D97-AF65-F5344CB8AC3E}">
        <p14:creationId xmlns:p14="http://schemas.microsoft.com/office/powerpoint/2010/main" val="46068910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6350000" cy="508000"/>
            <a:chOff x="789624" y="1191463"/>
            <a:chExt cx="6350000"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en-US" sz="2800" b="1">
                  <a:latin typeface="Cambria" panose="02040503050406030204" pitchFamily="18" charset="0"/>
                </a:rPr>
                <a:t>Introduction M-Commerce</a:t>
              </a: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p:cNvSpPr txBox="1"/>
          <p:nvPr/>
        </p:nvSpPr>
        <p:spPr>
          <a:xfrm>
            <a:off x="6023829" y="1323076"/>
            <a:ext cx="5846472" cy="400110"/>
          </a:xfrm>
          <a:prstGeom prst="rect">
            <a:avLst/>
          </a:prstGeom>
          <a:noFill/>
        </p:spPr>
        <p:txBody>
          <a:bodyPr wrap="none" rtlCol="0">
            <a:spAutoFit/>
          </a:bodyPr>
          <a:lstStyle/>
          <a:p>
            <a:r>
              <a:rPr lang="en-US" sz="2000" b="1">
                <a:latin typeface="Times New Roman" panose="02020603050405020304" pitchFamily="18" charset="0"/>
                <a:cs typeface="Times New Roman" panose="02020603050405020304" pitchFamily="18" charset="0"/>
              </a:rPr>
              <a:t>Scale of mobile e-commerce in </a:t>
            </a:r>
            <a:r>
              <a:rPr lang="en-US" sz="2000" b="1" smtClean="0">
                <a:latin typeface="Times New Roman" panose="02020603050405020304" pitchFamily="18" charset="0"/>
                <a:cs typeface="Times New Roman" panose="02020603050405020304" pitchFamily="18" charset="0"/>
              </a:rPr>
              <a:t>Vietnam (2019-2023)</a:t>
            </a:r>
            <a:endParaRPr lang="en-US" sz="2000" b="1">
              <a:latin typeface="Times New Roman" panose="02020603050405020304" pitchFamily="18" charset="0"/>
              <a:cs typeface="Times New Roman" panose="02020603050405020304" pitchFamily="18" charset="0"/>
            </a:endParaRPr>
          </a:p>
        </p:txBody>
      </p:sp>
      <p:sp>
        <p:nvSpPr>
          <p:cNvPr id="9" name="Rectangle 8"/>
          <p:cNvSpPr/>
          <p:nvPr/>
        </p:nvSpPr>
        <p:spPr>
          <a:xfrm>
            <a:off x="7772400" y="5190706"/>
            <a:ext cx="2082800" cy="307777"/>
          </a:xfrm>
          <a:prstGeom prst="rect">
            <a:avLst/>
          </a:prstGeom>
        </p:spPr>
        <p:txBody>
          <a:bodyPr wrap="square">
            <a:spAutoFit/>
          </a:bodyPr>
          <a:lstStyle/>
          <a:p>
            <a:r>
              <a:rPr lang="en-US" smtClean="0"/>
              <a:t>Source: JP. Morgan</a:t>
            </a:r>
            <a:endParaRPr lang="en-US"/>
          </a:p>
        </p:txBody>
      </p:sp>
      <p:pic>
        <p:nvPicPr>
          <p:cNvPr id="10" name="Picture 9"/>
          <p:cNvPicPr>
            <a:picLocks noChangeAspect="1"/>
          </p:cNvPicPr>
          <p:nvPr/>
        </p:nvPicPr>
        <p:blipFill>
          <a:blip r:embed="rId3"/>
          <a:stretch>
            <a:fillRect/>
          </a:stretch>
        </p:blipFill>
        <p:spPr>
          <a:xfrm>
            <a:off x="5757298" y="1772180"/>
            <a:ext cx="6113003" cy="3326193"/>
          </a:xfrm>
          <a:prstGeom prst="rect">
            <a:avLst/>
          </a:prstGeom>
        </p:spPr>
      </p:pic>
      <p:sp>
        <p:nvSpPr>
          <p:cNvPr id="11" name="Rectangle 10"/>
          <p:cNvSpPr/>
          <p:nvPr/>
        </p:nvSpPr>
        <p:spPr>
          <a:xfrm>
            <a:off x="644136" y="1772180"/>
            <a:ext cx="4909325" cy="3108543"/>
          </a:xfrm>
          <a:prstGeom prst="rect">
            <a:avLst/>
          </a:prstGeom>
        </p:spPr>
        <p:txBody>
          <a:bodyPr wrap="square">
            <a:spAutoFit/>
          </a:bodyPr>
          <a:lstStyle/>
          <a:p>
            <a:pPr algn="just"/>
            <a:r>
              <a:rPr lang="en-US" sz="2800">
                <a:latin typeface="Times New Roman" panose="02020603050405020304" pitchFamily="18" charset="0"/>
                <a:cs typeface="Times New Roman" panose="02020603050405020304" pitchFamily="18" charset="0"/>
              </a:rPr>
              <a:t>In the past few years, mobile commerce (M-Commerce) has changed dramatically in the Vietnamese market. The following figures demonstrate the explosion of mobile commerce.</a:t>
            </a:r>
          </a:p>
        </p:txBody>
      </p:sp>
    </p:spTree>
    <p:extLst>
      <p:ext uri="{BB962C8B-B14F-4D97-AF65-F5344CB8AC3E}">
        <p14:creationId xmlns:p14="http://schemas.microsoft.com/office/powerpoint/2010/main" val="4086048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6350000" cy="508000"/>
            <a:chOff x="789624" y="1191463"/>
            <a:chExt cx="6350000"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en-US" sz="2800" b="1">
                  <a:latin typeface="Cambria" panose="02040503050406030204" pitchFamily="18" charset="0"/>
                </a:rPr>
                <a:t>Features of M-Commerce</a:t>
              </a: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v"/>
            </a:pPr>
            <a:r>
              <a:rPr lang="en-US" sz="2800" smtClean="0">
                <a:latin typeface="Cambria" panose="02040503050406030204" pitchFamily="18" charset="0"/>
              </a:rPr>
              <a:t>Widespreadness</a:t>
            </a:r>
          </a:p>
          <a:p>
            <a:pPr algn="just">
              <a:buFont typeface="Wingdings" panose="05000000000000000000" pitchFamily="2" charset="2"/>
              <a:buChar char="v"/>
            </a:pPr>
            <a:r>
              <a:rPr lang="en-US" sz="2800" smtClean="0">
                <a:latin typeface="Cambria" panose="02040503050406030204" pitchFamily="18" charset="0"/>
              </a:rPr>
              <a:t>Accessibility</a:t>
            </a:r>
          </a:p>
          <a:p>
            <a:pPr algn="just">
              <a:buFont typeface="Wingdings" panose="05000000000000000000" pitchFamily="2" charset="2"/>
              <a:buChar char="v"/>
            </a:pPr>
            <a:r>
              <a:rPr lang="en-US" sz="2800" smtClean="0">
                <a:latin typeface="Cambria" panose="02040503050406030204" pitchFamily="18" charset="0"/>
              </a:rPr>
              <a:t>Personalized</a:t>
            </a:r>
          </a:p>
          <a:p>
            <a:pPr algn="just">
              <a:buFont typeface="Wingdings" panose="05000000000000000000" pitchFamily="2" charset="2"/>
              <a:buChar char="v"/>
            </a:pPr>
            <a:r>
              <a:rPr lang="en-US" sz="2800" smtClean="0">
                <a:latin typeface="Cambria" panose="02040503050406030204" pitchFamily="18" charset="0"/>
              </a:rPr>
              <a:t>Convenient</a:t>
            </a:r>
          </a:p>
          <a:p>
            <a:pPr algn="just">
              <a:buFont typeface="Wingdings" panose="05000000000000000000" pitchFamily="2" charset="2"/>
              <a:buChar char="v"/>
            </a:pPr>
            <a:r>
              <a:rPr lang="en-US" sz="2800" smtClean="0">
                <a:latin typeface="Cambria" panose="02040503050406030204" pitchFamily="18" charset="0"/>
              </a:rPr>
              <a:t>Customization</a:t>
            </a:r>
          </a:p>
          <a:p>
            <a:pPr algn="just">
              <a:buFont typeface="Wingdings" panose="05000000000000000000" pitchFamily="2" charset="2"/>
              <a:buChar char="v"/>
            </a:pPr>
            <a:r>
              <a:rPr lang="en-US" sz="2800" smtClean="0">
                <a:latin typeface="Cambria" panose="02040503050406030204" pitchFamily="18" charset="0"/>
              </a:rPr>
              <a:t>Determine customer location</a:t>
            </a:r>
          </a:p>
          <a:p>
            <a:pPr algn="just">
              <a:buFont typeface="Wingdings" panose="05000000000000000000" pitchFamily="2" charset="2"/>
              <a:buChar char="v"/>
            </a:pPr>
            <a:r>
              <a:rPr lang="en-US" sz="2800" smtClean="0">
                <a:latin typeface="Cambria" panose="02040503050406030204" pitchFamily="18" charset="0"/>
              </a:rPr>
              <a:t>Telephony interaction</a:t>
            </a:r>
            <a:endParaRPr lang="en-US" sz="2800">
              <a:latin typeface="Cambria" panose="02040503050406030204" pitchFamily="18" charset="0"/>
            </a:endParaRPr>
          </a:p>
        </p:txBody>
      </p:sp>
    </p:spTree>
    <p:extLst>
      <p:ext uri="{BB962C8B-B14F-4D97-AF65-F5344CB8AC3E}">
        <p14:creationId xmlns:p14="http://schemas.microsoft.com/office/powerpoint/2010/main" val="75317797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6350000" cy="508000"/>
            <a:chOff x="789624" y="1191463"/>
            <a:chExt cx="6350000"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en-US" sz="2800" b="1">
                  <a:latin typeface="Cambria" panose="02040503050406030204" pitchFamily="18" charset="0"/>
                </a:rPr>
                <a:t>Features of M-Commerce</a:t>
              </a: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v"/>
            </a:pPr>
            <a:r>
              <a:rPr lang="en-US" sz="2800" b="1" smtClean="0">
                <a:latin typeface="Cambria" panose="02040503050406030204" pitchFamily="18" charset="0"/>
              </a:rPr>
              <a:t>Widespreadness</a:t>
            </a:r>
          </a:p>
          <a:p>
            <a:pPr marL="0" indent="0" algn="just">
              <a:buNone/>
            </a:pPr>
            <a:r>
              <a:rPr lang="en-US" sz="2800">
                <a:latin typeface="Cambria" panose="02040503050406030204" pitchFamily="18" charset="0"/>
              </a:rPr>
              <a:t>The coverage of Mobile Commerce is unquestionable. M-commerce allows users to easily find information, exchange, and shop via mobile devices with Internet connection no matter where they are. This helps save time and effort for users.</a:t>
            </a:r>
          </a:p>
        </p:txBody>
      </p:sp>
      <p:pic>
        <p:nvPicPr>
          <p:cNvPr id="14338" name="Picture 2" descr="apps, mobile, smartphones, phones, software, development, technology, data, intern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78618" y="3344332"/>
            <a:ext cx="4047564" cy="2278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772951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6350000" cy="508000"/>
            <a:chOff x="789624" y="1191463"/>
            <a:chExt cx="6350000"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en-US" sz="2800" b="1">
                  <a:latin typeface="Cambria" panose="02040503050406030204" pitchFamily="18" charset="0"/>
                </a:rPr>
                <a:t>Features of M-Commerce</a:t>
              </a: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v"/>
            </a:pPr>
            <a:r>
              <a:rPr lang="en-US" sz="2800" b="1" smtClean="0">
                <a:latin typeface="Cambria" panose="02040503050406030204" pitchFamily="18" charset="0"/>
              </a:rPr>
              <a:t>Accessibility</a:t>
            </a:r>
          </a:p>
          <a:p>
            <a:pPr marL="0" indent="0" algn="just">
              <a:buNone/>
            </a:pPr>
            <a:r>
              <a:rPr lang="en-US" sz="2800">
                <a:latin typeface="Cambria" panose="02040503050406030204" pitchFamily="18" charset="0"/>
              </a:rPr>
              <a:t>Nowadays, the proportion of smart mobile device users is increasing. Therefore, the customer base participating in mobile commerce is getting larger and larger, bringing great opportunities for businesses.</a:t>
            </a:r>
          </a:p>
        </p:txBody>
      </p:sp>
      <p:pic>
        <p:nvPicPr>
          <p:cNvPr id="15364" name="Picture 4" descr="App vs Web: Is it time to shift your focu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3732" y="3259654"/>
            <a:ext cx="5376333" cy="2822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549526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6350000" cy="508000"/>
            <a:chOff x="789624" y="1191463"/>
            <a:chExt cx="6350000"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en-US" sz="2800" b="1">
                  <a:latin typeface="Cambria" panose="02040503050406030204" pitchFamily="18" charset="0"/>
                </a:rPr>
                <a:t>Features of M-Commerce</a:t>
              </a: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v"/>
            </a:pPr>
            <a:r>
              <a:rPr lang="en-US" sz="2800" b="1" smtClean="0">
                <a:latin typeface="Cambria" panose="02040503050406030204" pitchFamily="18" charset="0"/>
              </a:rPr>
              <a:t>Personalized</a:t>
            </a:r>
          </a:p>
          <a:p>
            <a:pPr marL="0" indent="0" algn="just">
              <a:buNone/>
            </a:pPr>
            <a:r>
              <a:rPr lang="en-US" sz="2800" smtClean="0">
                <a:latin typeface="Cambria" panose="02040503050406030204" pitchFamily="18" charset="0"/>
              </a:rPr>
              <a:t>With </a:t>
            </a:r>
            <a:r>
              <a:rPr lang="en-US" sz="2800">
                <a:latin typeface="Cambria" panose="02040503050406030204" pitchFamily="18" charset="0"/>
              </a:rPr>
              <a:t>basic information when registering for mobile commerce services, manufacturers can provide personalized experiences for users, creating maximum convenience for customers.</a:t>
            </a:r>
          </a:p>
        </p:txBody>
      </p:sp>
      <p:pic>
        <p:nvPicPr>
          <p:cNvPr id="10" name="Picture 9"/>
          <p:cNvPicPr>
            <a:picLocks noChangeAspect="1"/>
          </p:cNvPicPr>
          <p:nvPr/>
        </p:nvPicPr>
        <p:blipFill>
          <a:blip r:embed="rId3"/>
          <a:stretch>
            <a:fillRect/>
          </a:stretch>
        </p:blipFill>
        <p:spPr>
          <a:xfrm>
            <a:off x="3496732" y="3007347"/>
            <a:ext cx="5173134" cy="3175424"/>
          </a:xfrm>
          <a:prstGeom prst="rect">
            <a:avLst/>
          </a:prstGeom>
        </p:spPr>
      </p:pic>
    </p:spTree>
    <p:extLst>
      <p:ext uri="{BB962C8B-B14F-4D97-AF65-F5344CB8AC3E}">
        <p14:creationId xmlns:p14="http://schemas.microsoft.com/office/powerpoint/2010/main" val="5507194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6350000" cy="508000"/>
            <a:chOff x="789624" y="1191463"/>
            <a:chExt cx="6350000"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en-US" sz="2800" b="1">
                  <a:latin typeface="Cambria" panose="02040503050406030204" pitchFamily="18" charset="0"/>
                </a:rPr>
                <a:t>Features of M-Commerce</a:t>
              </a: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v"/>
            </a:pPr>
            <a:r>
              <a:rPr lang="en-US" sz="2800" b="1" smtClean="0">
                <a:latin typeface="Cambria" panose="02040503050406030204" pitchFamily="18" charset="0"/>
              </a:rPr>
              <a:t>Convenient</a:t>
            </a:r>
          </a:p>
          <a:p>
            <a:pPr marL="0" indent="0" algn="just">
              <a:buNone/>
            </a:pPr>
            <a:r>
              <a:rPr lang="en-US" sz="2800">
                <a:latin typeface="Cambria" panose="02040503050406030204" pitchFamily="18" charset="0"/>
              </a:rPr>
              <a:t>With just a phone in hand, customers can immediately participate in mobile commerce activities, anywhere at any time.</a:t>
            </a:r>
          </a:p>
        </p:txBody>
      </p:sp>
      <p:pic>
        <p:nvPicPr>
          <p:cNvPr id="9" name="Picture 8"/>
          <p:cNvPicPr>
            <a:picLocks noChangeAspect="1"/>
          </p:cNvPicPr>
          <p:nvPr/>
        </p:nvPicPr>
        <p:blipFill>
          <a:blip r:embed="rId3"/>
          <a:stretch>
            <a:fillRect/>
          </a:stretch>
        </p:blipFill>
        <p:spPr>
          <a:xfrm>
            <a:off x="898002" y="2802467"/>
            <a:ext cx="4659161" cy="2923104"/>
          </a:xfrm>
          <a:prstGeom prst="rect">
            <a:avLst/>
          </a:prstGeom>
        </p:spPr>
      </p:pic>
      <p:pic>
        <p:nvPicPr>
          <p:cNvPr id="10" name="Picture 9"/>
          <p:cNvPicPr>
            <a:picLocks noChangeAspect="1"/>
          </p:cNvPicPr>
          <p:nvPr/>
        </p:nvPicPr>
        <p:blipFill>
          <a:blip r:embed="rId4"/>
          <a:stretch>
            <a:fillRect/>
          </a:stretch>
        </p:blipFill>
        <p:spPr>
          <a:xfrm>
            <a:off x="6635557" y="2802467"/>
            <a:ext cx="4023976" cy="3012823"/>
          </a:xfrm>
          <a:prstGeom prst="rect">
            <a:avLst/>
          </a:prstGeom>
        </p:spPr>
      </p:pic>
    </p:spTree>
    <p:extLst>
      <p:ext uri="{BB962C8B-B14F-4D97-AF65-F5344CB8AC3E}">
        <p14:creationId xmlns:p14="http://schemas.microsoft.com/office/powerpoint/2010/main" val="98609195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6350000" cy="508000"/>
            <a:chOff x="789624" y="1191463"/>
            <a:chExt cx="6350000"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en-US" sz="2800" b="1">
                  <a:latin typeface="Cambria" panose="02040503050406030204" pitchFamily="18" charset="0"/>
                </a:rPr>
                <a:t>Features of M-Commerce</a:t>
              </a: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v"/>
            </a:pPr>
            <a:r>
              <a:rPr lang="en-US" sz="2800" b="1" smtClean="0">
                <a:latin typeface="Cambria" panose="02040503050406030204" pitchFamily="18" charset="0"/>
              </a:rPr>
              <a:t>Customization</a:t>
            </a:r>
          </a:p>
          <a:p>
            <a:pPr marL="0" indent="0" algn="just">
              <a:buNone/>
            </a:pPr>
            <a:r>
              <a:rPr lang="en-US" sz="2800">
                <a:latin typeface="Cambria" panose="02040503050406030204" pitchFamily="18" charset="0"/>
              </a:rPr>
              <a:t>We can easily customize the functions on the mobile application to send appropriate notifications to customers, as well as help manage information better.</a:t>
            </a:r>
          </a:p>
        </p:txBody>
      </p:sp>
      <p:pic>
        <p:nvPicPr>
          <p:cNvPr id="10" name="Picture 9"/>
          <p:cNvPicPr>
            <a:picLocks noChangeAspect="1"/>
          </p:cNvPicPr>
          <p:nvPr/>
        </p:nvPicPr>
        <p:blipFill>
          <a:blip r:embed="rId3"/>
          <a:stretch>
            <a:fillRect/>
          </a:stretch>
        </p:blipFill>
        <p:spPr>
          <a:xfrm>
            <a:off x="2887695" y="3031367"/>
            <a:ext cx="6569009" cy="2827265"/>
          </a:xfrm>
          <a:prstGeom prst="rect">
            <a:avLst/>
          </a:prstGeom>
        </p:spPr>
      </p:pic>
    </p:spTree>
    <p:extLst>
      <p:ext uri="{BB962C8B-B14F-4D97-AF65-F5344CB8AC3E}">
        <p14:creationId xmlns:p14="http://schemas.microsoft.com/office/powerpoint/2010/main" val="260278905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6350000" cy="508000"/>
            <a:chOff x="789624" y="1191463"/>
            <a:chExt cx="6350000"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en-US" sz="2800" b="1">
                  <a:latin typeface="Cambria" panose="02040503050406030204" pitchFamily="18" charset="0"/>
                </a:rPr>
                <a:t>Features of M-Commerce</a:t>
              </a: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v"/>
            </a:pPr>
            <a:r>
              <a:rPr lang="en-US" sz="2800" b="1" smtClean="0">
                <a:latin typeface="Cambria" panose="02040503050406030204" pitchFamily="18" charset="0"/>
              </a:rPr>
              <a:t>Determine customer location</a:t>
            </a:r>
          </a:p>
          <a:p>
            <a:pPr marL="0" indent="0" algn="just">
              <a:buNone/>
            </a:pPr>
            <a:r>
              <a:rPr lang="en-US" sz="2800">
                <a:latin typeface="Cambria" panose="02040503050406030204" pitchFamily="18" charset="0"/>
              </a:rPr>
              <a:t>This feature shows where users are physically at any given time, which is key to delivering relevant products and services.</a:t>
            </a:r>
          </a:p>
        </p:txBody>
      </p:sp>
      <p:pic>
        <p:nvPicPr>
          <p:cNvPr id="17410" name="Picture 2" descr="How mobile geo-targeting can help businesses - Smart Insigh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8375" y="2992967"/>
            <a:ext cx="3486150" cy="2781300"/>
          </a:xfrm>
          <a:prstGeom prst="rect">
            <a:avLst/>
          </a:prstGeom>
          <a:noFill/>
          <a:extLst>
            <a:ext uri="{909E8E84-426E-40DD-AFC4-6F175D3DCCD1}">
              <a14:hiddenFill xmlns:a14="http://schemas.microsoft.com/office/drawing/2010/main">
                <a:solidFill>
                  <a:srgbClr val="FFFFFF"/>
                </a:solidFill>
              </a14:hiddenFill>
            </a:ext>
          </a:extLst>
        </p:spPr>
      </p:pic>
      <p:pic>
        <p:nvPicPr>
          <p:cNvPr id="17414" name="Picture 6" descr="Is geofencing the future of targeted marketing? | Smart Insight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2200" y="2873905"/>
            <a:ext cx="5156199" cy="2900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8478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6350000" cy="508000"/>
            <a:chOff x="789624" y="1191463"/>
            <a:chExt cx="6350000"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en-US" sz="2800" b="1">
                  <a:latin typeface="Cambria" panose="02040503050406030204" pitchFamily="18" charset="0"/>
                </a:rPr>
                <a:t>Features of M-Commerce</a:t>
              </a: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v"/>
            </a:pPr>
            <a:r>
              <a:rPr lang="en-US" sz="2800" b="1" smtClean="0">
                <a:latin typeface="Cambria" panose="02040503050406030204" pitchFamily="18" charset="0"/>
              </a:rPr>
              <a:t>Telephony interaction</a:t>
            </a:r>
          </a:p>
          <a:p>
            <a:pPr marL="0" indent="0" algn="just">
              <a:buNone/>
            </a:pPr>
            <a:r>
              <a:rPr lang="en-US" sz="2800">
                <a:latin typeface="Cambria" panose="02040503050406030204" pitchFamily="18" charset="0"/>
              </a:rPr>
              <a:t>For mobile, especially Android, we can easily develop mobile commerce software that integrates Telephony features.</a:t>
            </a:r>
          </a:p>
        </p:txBody>
      </p:sp>
      <p:pic>
        <p:nvPicPr>
          <p:cNvPr id="18434" name="Picture 2" descr="Plans &amp; Pricing for Zoom Phone | Zo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0843" y="3124200"/>
            <a:ext cx="3614276" cy="2717800"/>
          </a:xfrm>
          <a:prstGeom prst="rect">
            <a:avLst/>
          </a:prstGeom>
          <a:noFill/>
          <a:extLst>
            <a:ext uri="{909E8E84-426E-40DD-AFC4-6F175D3DCCD1}">
              <a14:hiddenFill xmlns:a14="http://schemas.microsoft.com/office/drawing/2010/main">
                <a:solidFill>
                  <a:srgbClr val="FFFFFF"/>
                </a:solidFill>
              </a14:hiddenFill>
            </a:ext>
          </a:extLst>
        </p:spPr>
      </p:pic>
      <p:pic>
        <p:nvPicPr>
          <p:cNvPr id="18436" name="Picture 4" descr="Top 15 accessories that every mobile phone needs - Gizchina.co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598" y="3124200"/>
            <a:ext cx="5528735" cy="2764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78850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6350000" cy="508000"/>
            <a:chOff x="789624" y="1191463"/>
            <a:chExt cx="6350000"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Applications of M-Commerce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1" name="TextBox 10">
            <a:extLst>
              <a:ext uri="{FF2B5EF4-FFF2-40B4-BE49-F238E27FC236}">
                <a16:creationId xmlns:a16="http://schemas.microsoft.com/office/drawing/2014/main" id="{1D0B0BEC-E596-0B49-BA49-8C4B8289E78D}"/>
              </a:ext>
            </a:extLst>
          </p:cNvPr>
          <p:cNvSpPr txBox="1"/>
          <p:nvPr/>
        </p:nvSpPr>
        <p:spPr>
          <a:xfrm>
            <a:off x="728132" y="1210733"/>
            <a:ext cx="4982873" cy="3861570"/>
          </a:xfrm>
          <a:prstGeom prst="rect">
            <a:avLst/>
          </a:prstGeom>
          <a:noFill/>
        </p:spPr>
        <p:txBody>
          <a:bodyPr wrap="square" rtlCol="0">
            <a:spAutoFit/>
          </a:bodyPr>
          <a:lstStyle/>
          <a:p>
            <a:pPr marL="11113" indent="-11113">
              <a:lnSpc>
                <a:spcPct val="150000"/>
              </a:lnSpc>
              <a:spcBef>
                <a:spcPts val="600"/>
              </a:spcBef>
              <a:spcAft>
                <a:spcPts val="600"/>
              </a:spcAft>
            </a:pPr>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M-Commerce for Finance</a:t>
            </a:r>
            <a:endParaRPr lang="vi-VN" sz="2800">
              <a:latin typeface="Times New Roman" panose="02020603050405020304" pitchFamily="18" charset="0"/>
              <a:cs typeface="Times New Roman" panose="02020603050405020304" pitchFamily="18" charset="0"/>
            </a:endParaRPr>
          </a:p>
          <a:p>
            <a:pPr lvl="0">
              <a:lnSpc>
                <a:spcPct val="150000"/>
              </a:lnSpc>
              <a:spcBef>
                <a:spcPts val="600"/>
              </a:spcBef>
              <a:spcAft>
                <a:spcPts val="600"/>
              </a:spcAft>
            </a:pPr>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Retail and After sale Services</a:t>
            </a:r>
          </a:p>
          <a:p>
            <a:pPr lvl="0">
              <a:lnSpc>
                <a:spcPct val="150000"/>
              </a:lnSpc>
              <a:spcBef>
                <a:spcPts val="600"/>
              </a:spcBef>
              <a:spcAft>
                <a:spcPts val="600"/>
              </a:spcAft>
            </a:pPr>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Mobile Marketing</a:t>
            </a:r>
          </a:p>
          <a:p>
            <a:pPr lvl="0">
              <a:lnSpc>
                <a:spcPct val="150000"/>
              </a:lnSpc>
              <a:spcBef>
                <a:spcPts val="600"/>
              </a:spcBef>
              <a:spcAft>
                <a:spcPts val="600"/>
              </a:spcAft>
            </a:pPr>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Mobile Ticketing</a:t>
            </a:r>
          </a:p>
          <a:p>
            <a:pPr marL="11113" indent="-11113">
              <a:lnSpc>
                <a:spcPct val="150000"/>
              </a:lnSpc>
              <a:spcBef>
                <a:spcPts val="600"/>
              </a:spcBef>
              <a:spcAft>
                <a:spcPts val="600"/>
              </a:spcAft>
            </a:pPr>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Mobile Entertainment</a:t>
            </a:r>
          </a:p>
        </p:txBody>
      </p:sp>
      <p:sp>
        <p:nvSpPr>
          <p:cNvPr id="12" name="TextBox 11">
            <a:extLst>
              <a:ext uri="{FF2B5EF4-FFF2-40B4-BE49-F238E27FC236}">
                <a16:creationId xmlns:a16="http://schemas.microsoft.com/office/drawing/2014/main" id="{6F0339DB-9ADC-3E49-9C1C-ABC4AFD4EB64}"/>
              </a:ext>
            </a:extLst>
          </p:cNvPr>
          <p:cNvSpPr txBox="1"/>
          <p:nvPr/>
        </p:nvSpPr>
        <p:spPr>
          <a:xfrm>
            <a:off x="6616460" y="1126067"/>
            <a:ext cx="4982873" cy="4662302"/>
          </a:xfrm>
          <a:prstGeom prst="rect">
            <a:avLst/>
          </a:prstGeom>
          <a:noFill/>
        </p:spPr>
        <p:txBody>
          <a:bodyPr wrap="square" rtlCol="0">
            <a:spAutoFit/>
          </a:bodyPr>
          <a:lstStyle/>
          <a:p>
            <a:pPr marL="11113" indent="-11113">
              <a:lnSpc>
                <a:spcPct val="150000"/>
              </a:lnSpc>
              <a:spcBef>
                <a:spcPts val="600"/>
              </a:spcBef>
              <a:spcAft>
                <a:spcPts val="600"/>
              </a:spcAft>
            </a:pPr>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Hotel Reservations</a:t>
            </a:r>
          </a:p>
          <a:p>
            <a:pPr marL="11113" indent="-11113">
              <a:lnSpc>
                <a:spcPct val="150000"/>
              </a:lnSpc>
              <a:spcBef>
                <a:spcPts val="600"/>
              </a:spcBef>
              <a:spcAft>
                <a:spcPts val="600"/>
              </a:spcAft>
            </a:pPr>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Healthcare and Medicine</a:t>
            </a:r>
          </a:p>
          <a:p>
            <a:pPr marL="11113" indent="-11113">
              <a:lnSpc>
                <a:spcPct val="150000"/>
              </a:lnSpc>
              <a:spcBef>
                <a:spcPts val="600"/>
              </a:spcBef>
              <a:spcAft>
                <a:spcPts val="600"/>
              </a:spcAft>
            </a:pPr>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Intra-Office Communication</a:t>
            </a:r>
          </a:p>
          <a:p>
            <a:pPr marL="11113" indent="-11113">
              <a:lnSpc>
                <a:spcPct val="150000"/>
              </a:lnSpc>
              <a:spcBef>
                <a:spcPts val="600"/>
              </a:spcBef>
              <a:spcAft>
                <a:spcPts val="600"/>
              </a:spcAft>
            </a:pPr>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M-Commerce for Information</a:t>
            </a:r>
          </a:p>
          <a:p>
            <a:pPr marL="11113" indent="-11113">
              <a:lnSpc>
                <a:spcPct val="150000"/>
              </a:lnSpc>
              <a:spcBef>
                <a:spcPts val="600"/>
              </a:spcBef>
              <a:spcAft>
                <a:spcPts val="600"/>
              </a:spcAft>
            </a:pPr>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M-Commerce for Gaming</a:t>
            </a:r>
          </a:p>
          <a:p>
            <a:pPr marL="11113" indent="-11113">
              <a:lnSpc>
                <a:spcPct val="150000"/>
              </a:lnSpc>
              <a:spcBef>
                <a:spcPts val="600"/>
              </a:spcBef>
              <a:spcAft>
                <a:spcPts val="600"/>
              </a:spcAft>
            </a:pPr>
            <a:r>
              <a:rPr lang="en-US" sz="280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52991377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8144933" cy="508000"/>
            <a:chOff x="789624" y="1191463"/>
            <a:chExt cx="8144933"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794395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Implementing mobile commerce attentions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v"/>
            </a:pPr>
            <a:r>
              <a:rPr lang="en-US" sz="2800" smtClean="0">
                <a:latin typeface="Cambria" panose="02040503050406030204" pitchFamily="18" charset="0"/>
              </a:rPr>
              <a:t>Methods to </a:t>
            </a:r>
            <a:r>
              <a:rPr lang="en-US" sz="2800">
                <a:latin typeface="Cambria" panose="02040503050406030204" pitchFamily="18" charset="0"/>
              </a:rPr>
              <a:t>increase mobile </a:t>
            </a:r>
            <a:r>
              <a:rPr lang="en-US" sz="2800" smtClean="0">
                <a:latin typeface="Cambria" panose="02040503050406030204" pitchFamily="18" charset="0"/>
              </a:rPr>
              <a:t>commerce</a:t>
            </a:r>
          </a:p>
          <a:p>
            <a:pPr algn="just">
              <a:buFont typeface="Wingdings" panose="05000000000000000000" pitchFamily="2" charset="2"/>
              <a:buChar char="v"/>
            </a:pPr>
            <a:r>
              <a:rPr lang="en-US" sz="2800">
                <a:latin typeface="Cambria" panose="02040503050406030204" pitchFamily="18" charset="0"/>
              </a:rPr>
              <a:t>Video and marketing in mobile </a:t>
            </a:r>
            <a:r>
              <a:rPr lang="en-US" sz="2800" smtClean="0">
                <a:latin typeface="Cambria" panose="02040503050406030204" pitchFamily="18" charset="0"/>
              </a:rPr>
              <a:t>commerce</a:t>
            </a:r>
          </a:p>
          <a:p>
            <a:pPr algn="just">
              <a:buFont typeface="Wingdings" panose="05000000000000000000" pitchFamily="2" charset="2"/>
              <a:buChar char="v"/>
            </a:pPr>
            <a:r>
              <a:rPr lang="en-US" sz="2800">
                <a:latin typeface="Cambria" panose="02040503050406030204" pitchFamily="18" charset="0"/>
              </a:rPr>
              <a:t>Websites and </a:t>
            </a:r>
            <a:r>
              <a:rPr lang="en-US" sz="2800" smtClean="0">
                <a:latin typeface="Cambria" panose="02040503050406030204" pitchFamily="18" charset="0"/>
              </a:rPr>
              <a:t>applications</a:t>
            </a:r>
          </a:p>
          <a:p>
            <a:pPr algn="just">
              <a:buFont typeface="Wingdings" panose="05000000000000000000" pitchFamily="2" charset="2"/>
              <a:buChar char="v"/>
            </a:pPr>
            <a:r>
              <a:rPr lang="en-US" sz="2800" smtClean="0">
                <a:latin typeface="Cambria" panose="02040503050406030204" pitchFamily="18" charset="0"/>
              </a:rPr>
              <a:t>Multi-platform</a:t>
            </a:r>
            <a:r>
              <a:rPr lang="en-US" sz="2800">
                <a:latin typeface="Cambria" panose="02040503050406030204" pitchFamily="18" charset="0"/>
              </a:rPr>
              <a:t>s</a:t>
            </a:r>
          </a:p>
          <a:p>
            <a:pPr algn="just">
              <a:buFont typeface="Wingdings" panose="05000000000000000000" pitchFamily="2" charset="2"/>
              <a:buChar char="v"/>
            </a:pPr>
            <a:endParaRPr lang="en-US" sz="2800" smtClean="0">
              <a:latin typeface="Cambria" panose="02040503050406030204" pitchFamily="18" charset="0"/>
            </a:endParaRPr>
          </a:p>
        </p:txBody>
      </p:sp>
    </p:spTree>
    <p:extLst>
      <p:ext uri="{BB962C8B-B14F-4D97-AF65-F5344CB8AC3E}">
        <p14:creationId xmlns:p14="http://schemas.microsoft.com/office/powerpoint/2010/main" val="271161115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8144933" cy="508000"/>
            <a:chOff x="789624" y="1191463"/>
            <a:chExt cx="8144933"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794395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Implementing mobile commerce attentions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v"/>
            </a:pPr>
            <a:r>
              <a:rPr lang="en-US" sz="2800" smtClean="0">
                <a:latin typeface="Cambria" panose="02040503050406030204" pitchFamily="18" charset="0"/>
              </a:rPr>
              <a:t>Methods to </a:t>
            </a:r>
            <a:r>
              <a:rPr lang="en-US" sz="2800">
                <a:latin typeface="Cambria" panose="02040503050406030204" pitchFamily="18" charset="0"/>
              </a:rPr>
              <a:t>increase mobile </a:t>
            </a:r>
            <a:r>
              <a:rPr lang="en-US" sz="2800" smtClean="0">
                <a:latin typeface="Cambria" panose="02040503050406030204" pitchFamily="18" charset="0"/>
              </a:rPr>
              <a:t>commerce:</a:t>
            </a:r>
          </a:p>
          <a:p>
            <a:pPr marL="0" indent="0" algn="just">
              <a:buNone/>
            </a:pPr>
            <a:r>
              <a:rPr lang="en-US" sz="2800" smtClean="0">
                <a:latin typeface="Cambria" panose="02040503050406030204" pitchFamily="18" charset="0"/>
              </a:rPr>
              <a:t>	Mobile </a:t>
            </a:r>
            <a:r>
              <a:rPr lang="en-US" sz="2800">
                <a:latin typeface="Cambria" panose="02040503050406030204" pitchFamily="18" charset="0"/>
              </a:rPr>
              <a:t>commerce takes place through websites or mobile applications, so fast page/app loading speed is one of the deciding factors in customer experience. In addition, operations and processes must be designed to be simple and suitable for all customers so that users can use it most conveniently.</a:t>
            </a:r>
          </a:p>
        </p:txBody>
      </p:sp>
    </p:spTree>
    <p:extLst>
      <p:ext uri="{BB962C8B-B14F-4D97-AF65-F5344CB8AC3E}">
        <p14:creationId xmlns:p14="http://schemas.microsoft.com/office/powerpoint/2010/main" val="386648318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8144933" cy="508000"/>
            <a:chOff x="789624" y="1191463"/>
            <a:chExt cx="8144933"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794395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Implementing mobile commerce attentions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v"/>
            </a:pPr>
            <a:r>
              <a:rPr lang="en-US" sz="2800">
                <a:latin typeface="Cambria" panose="02040503050406030204" pitchFamily="18" charset="0"/>
              </a:rPr>
              <a:t>Video and marketing in mobile </a:t>
            </a:r>
            <a:r>
              <a:rPr lang="en-US" sz="2800" smtClean="0">
                <a:latin typeface="Cambria" panose="02040503050406030204" pitchFamily="18" charset="0"/>
              </a:rPr>
              <a:t>commerce:</a:t>
            </a:r>
          </a:p>
          <a:p>
            <a:pPr marL="0" indent="0" algn="just">
              <a:buNone/>
            </a:pPr>
            <a:r>
              <a:rPr lang="en-US" sz="2800" smtClean="0">
                <a:latin typeface="Cambria" panose="02040503050406030204" pitchFamily="18" charset="0"/>
              </a:rPr>
              <a:t>	Mobile </a:t>
            </a:r>
            <a:r>
              <a:rPr lang="en-US" sz="2800">
                <a:latin typeface="Cambria" panose="02040503050406030204" pitchFamily="18" charset="0"/>
              </a:rPr>
              <a:t>commerce activities are the leading trend today, so businesses need to focus on promoting marketing and advertising activities to attract more new customers to use the </a:t>
            </a:r>
            <a:r>
              <a:rPr lang="en-US" sz="2800" smtClean="0">
                <a:latin typeface="Cambria" panose="02040503050406030204" pitchFamily="18" charset="0"/>
              </a:rPr>
              <a:t>services.</a:t>
            </a:r>
            <a:endParaRPr lang="en-US" sz="2800">
              <a:latin typeface="Cambria" panose="02040503050406030204" pitchFamily="18" charset="0"/>
            </a:endParaRPr>
          </a:p>
        </p:txBody>
      </p:sp>
    </p:spTree>
    <p:extLst>
      <p:ext uri="{BB962C8B-B14F-4D97-AF65-F5344CB8AC3E}">
        <p14:creationId xmlns:p14="http://schemas.microsoft.com/office/powerpoint/2010/main" val="64904628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8144933" cy="508000"/>
            <a:chOff x="789624" y="1191463"/>
            <a:chExt cx="8144933"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794395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Implementing mobile commerce attentions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v"/>
            </a:pPr>
            <a:r>
              <a:rPr lang="en-US" sz="2800">
                <a:latin typeface="Cambria" panose="02040503050406030204" pitchFamily="18" charset="0"/>
              </a:rPr>
              <a:t>Websites and </a:t>
            </a:r>
            <a:r>
              <a:rPr lang="en-US" sz="2800" smtClean="0">
                <a:latin typeface="Cambria" panose="02040503050406030204" pitchFamily="18" charset="0"/>
              </a:rPr>
              <a:t>applications:</a:t>
            </a:r>
            <a:endParaRPr lang="en-US" sz="2800">
              <a:latin typeface="Cambria" panose="02040503050406030204" pitchFamily="18" charset="0"/>
            </a:endParaRPr>
          </a:p>
          <a:p>
            <a:pPr marL="0" indent="0" algn="just">
              <a:buNone/>
            </a:pPr>
            <a:r>
              <a:rPr lang="en-US" sz="2800">
                <a:latin typeface="Cambria" panose="02040503050406030204" pitchFamily="18" charset="0"/>
              </a:rPr>
              <a:t>	Businesses should combine the purchase journey on websites and applications flexibly. Normally, consumers often research products through </a:t>
            </a:r>
            <a:r>
              <a:rPr lang="en-US" sz="2800" b="1">
                <a:solidFill>
                  <a:srgbClr val="FF0000"/>
                </a:solidFill>
                <a:latin typeface="Cambria" panose="02040503050406030204" pitchFamily="18" charset="0"/>
              </a:rPr>
              <a:t>Google</a:t>
            </a:r>
            <a:r>
              <a:rPr lang="en-US" sz="2800">
                <a:latin typeface="Cambria" panose="02040503050406030204" pitchFamily="18" charset="0"/>
              </a:rPr>
              <a:t> and go to the business's website. So applications need to start from the website and then lead to another application to </a:t>
            </a:r>
            <a:r>
              <a:rPr lang="en-US" sz="2800" smtClean="0">
                <a:latin typeface="Cambria" panose="02040503050406030204" pitchFamily="18" charset="0"/>
              </a:rPr>
              <a:t>compare </a:t>
            </a:r>
            <a:r>
              <a:rPr lang="en-US" sz="2800">
                <a:latin typeface="Cambria" panose="02040503050406030204" pitchFamily="18" charset="0"/>
              </a:rPr>
              <a:t>more or place an order</a:t>
            </a:r>
            <a:r>
              <a:rPr lang="en-US" sz="2800" smtClean="0">
                <a:latin typeface="Cambria" panose="02040503050406030204" pitchFamily="18" charset="0"/>
              </a:rPr>
              <a:t>.</a:t>
            </a:r>
            <a:endParaRPr lang="en-US" sz="2800">
              <a:latin typeface="Cambria" panose="02040503050406030204" pitchFamily="18" charset="0"/>
            </a:endParaRPr>
          </a:p>
        </p:txBody>
      </p:sp>
    </p:spTree>
    <p:extLst>
      <p:ext uri="{BB962C8B-B14F-4D97-AF65-F5344CB8AC3E}">
        <p14:creationId xmlns:p14="http://schemas.microsoft.com/office/powerpoint/2010/main" val="225732732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8144933" cy="508000"/>
            <a:chOff x="789624" y="1191463"/>
            <a:chExt cx="8144933"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794395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Implementing mobile commerce attentions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v"/>
            </a:pPr>
            <a:r>
              <a:rPr lang="en-US" sz="2800" smtClean="0">
                <a:latin typeface="Cambria" panose="02040503050406030204" pitchFamily="18" charset="0"/>
              </a:rPr>
              <a:t>Multi-platforms:</a:t>
            </a:r>
            <a:endParaRPr lang="en-US" sz="2800">
              <a:latin typeface="Cambria" panose="02040503050406030204" pitchFamily="18" charset="0"/>
            </a:endParaRPr>
          </a:p>
          <a:p>
            <a:pPr marL="0" indent="0" algn="just">
              <a:buNone/>
            </a:pPr>
            <a:r>
              <a:rPr lang="en-US" sz="2800">
                <a:latin typeface="Cambria" panose="02040503050406030204" pitchFamily="18" charset="0"/>
              </a:rPr>
              <a:t>	 Mobile applications can run on different operating systems, or for each operating system we must have corresponding applications.</a:t>
            </a:r>
          </a:p>
        </p:txBody>
      </p:sp>
      <p:pic>
        <p:nvPicPr>
          <p:cNvPr id="13314" name="Picture 2" descr="The Benefits And Risks Of Developing A Cross-Platform App | AppSamura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3250" y="2604028"/>
            <a:ext cx="6057900" cy="327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788690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8525933" cy="508000"/>
            <a:chOff x="789624" y="1191463"/>
            <a:chExt cx="8525933"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832495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en-US" sz="2800" b="1">
                  <a:latin typeface="Cambria" panose="02040503050406030204" pitchFamily="18" charset="0"/>
                </a:rPr>
                <a:t>Development Mobile Applications, why Android? </a:t>
              </a: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ü"/>
            </a:pPr>
            <a:r>
              <a:rPr lang="en-US" sz="2800" b="1" smtClean="0">
                <a:latin typeface="Cambria" panose="02040503050406030204" pitchFamily="18" charset="0"/>
              </a:rPr>
              <a:t>Android: Java + Kotlin</a:t>
            </a:r>
          </a:p>
          <a:p>
            <a:pPr algn="just">
              <a:buFont typeface="Wingdings" panose="05000000000000000000" pitchFamily="2" charset="2"/>
              <a:buChar char="ü"/>
            </a:pPr>
            <a:endParaRPr lang="en-US" sz="2800" b="1">
              <a:latin typeface="Cambria" panose="02040503050406030204" pitchFamily="18" charset="0"/>
            </a:endParaRPr>
          </a:p>
          <a:p>
            <a:pPr algn="just">
              <a:buFont typeface="Wingdings" panose="05000000000000000000" pitchFamily="2" charset="2"/>
              <a:buChar char="ü"/>
            </a:pPr>
            <a:endParaRPr lang="en-US" sz="2800" b="1" smtClean="0">
              <a:latin typeface="Cambria" panose="02040503050406030204" pitchFamily="18" charset="0"/>
            </a:endParaRPr>
          </a:p>
          <a:p>
            <a:pPr marL="0" indent="0" algn="just">
              <a:buNone/>
            </a:pPr>
            <a:endParaRPr lang="en-US" sz="2800" b="1">
              <a:latin typeface="Cambria" panose="02040503050406030204" pitchFamily="18" charset="0"/>
            </a:endParaRPr>
          </a:p>
          <a:p>
            <a:pPr marL="0" indent="0" algn="just">
              <a:buNone/>
            </a:pPr>
            <a:endParaRPr lang="en-US" sz="2800" b="1">
              <a:latin typeface="Cambria" panose="02040503050406030204" pitchFamily="18" charset="0"/>
            </a:endParaRPr>
          </a:p>
          <a:p>
            <a:pPr algn="just">
              <a:buFont typeface="Wingdings" panose="05000000000000000000" pitchFamily="2" charset="2"/>
              <a:buChar char="ü"/>
            </a:pPr>
            <a:r>
              <a:rPr lang="en-US" sz="2800" b="1" smtClean="0">
                <a:latin typeface="Cambria" panose="02040503050406030204" pitchFamily="18" charset="0"/>
              </a:rPr>
              <a:t>Ios: Objective C+ Swift</a:t>
            </a:r>
          </a:p>
          <a:p>
            <a:pPr algn="just">
              <a:buFont typeface="Wingdings" panose="05000000000000000000" pitchFamily="2" charset="2"/>
              <a:buChar char="ü"/>
            </a:pPr>
            <a:endParaRPr lang="en-US" sz="2800">
              <a:latin typeface="Cambria" panose="02040503050406030204" pitchFamily="18" charset="0"/>
            </a:endParaRPr>
          </a:p>
        </p:txBody>
      </p:sp>
      <p:pic>
        <p:nvPicPr>
          <p:cNvPr id="11" name="Picture 10"/>
          <p:cNvPicPr>
            <a:picLocks noChangeAspect="1"/>
          </p:cNvPicPr>
          <p:nvPr/>
        </p:nvPicPr>
        <p:blipFill>
          <a:blip r:embed="rId3"/>
          <a:stretch>
            <a:fillRect/>
          </a:stretch>
        </p:blipFill>
        <p:spPr>
          <a:xfrm>
            <a:off x="3733800" y="1662545"/>
            <a:ext cx="4944533" cy="1761229"/>
          </a:xfrm>
          <a:prstGeom prst="rect">
            <a:avLst/>
          </a:prstGeom>
        </p:spPr>
      </p:pic>
      <p:pic>
        <p:nvPicPr>
          <p:cNvPr id="12" name="Picture 11"/>
          <p:cNvPicPr>
            <a:picLocks noChangeAspect="1"/>
          </p:cNvPicPr>
          <p:nvPr/>
        </p:nvPicPr>
        <p:blipFill>
          <a:blip r:embed="rId4"/>
          <a:stretch>
            <a:fillRect/>
          </a:stretch>
        </p:blipFill>
        <p:spPr>
          <a:xfrm>
            <a:off x="3733800" y="4291668"/>
            <a:ext cx="4902201" cy="1502099"/>
          </a:xfrm>
          <a:prstGeom prst="rect">
            <a:avLst/>
          </a:prstGeom>
        </p:spPr>
      </p:pic>
    </p:spTree>
    <p:extLst>
      <p:ext uri="{BB962C8B-B14F-4D97-AF65-F5344CB8AC3E}">
        <p14:creationId xmlns:p14="http://schemas.microsoft.com/office/powerpoint/2010/main" val="341214980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8525933" cy="508000"/>
            <a:chOff x="789624" y="1191463"/>
            <a:chExt cx="8525933"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832495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en-US" sz="2800" b="1">
                  <a:latin typeface="Cambria" panose="02040503050406030204" pitchFamily="18" charset="0"/>
                </a:rPr>
                <a:t>Development Mobile Applications, why Android? </a:t>
              </a: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v"/>
            </a:pPr>
            <a:r>
              <a:rPr lang="en-US" sz="2800" b="1" smtClean="0">
                <a:latin typeface="Cambria" panose="02040503050406030204" pitchFamily="18" charset="0"/>
              </a:rPr>
              <a:t>Why Android?</a:t>
            </a:r>
          </a:p>
          <a:p>
            <a:pPr marL="0" indent="0" algn="just">
              <a:buNone/>
            </a:pPr>
            <a:r>
              <a:rPr lang="en-US" sz="2800">
                <a:latin typeface="Cambria" panose="02040503050406030204" pitchFamily="18" charset="0"/>
              </a:rPr>
              <a:t>The Android system gives you a lot of flexibility, allowing you to </a:t>
            </a:r>
            <a:r>
              <a:rPr lang="en-US" sz="2800" smtClean="0">
                <a:latin typeface="Cambria" panose="02040503050406030204" pitchFamily="18" charset="0"/>
              </a:rPr>
              <a:t>customize </a:t>
            </a:r>
            <a:r>
              <a:rPr lang="en-US" sz="2800">
                <a:latin typeface="Cambria" panose="02040503050406030204" pitchFamily="18" charset="0"/>
              </a:rPr>
              <a:t>your device interface and is simple to use. You can choose from a variety of themes, icons, fonts, keyboards, and more to personalise your Android so it looks exactly how you want. Some Android devices, including Samsung phones and tablets, even allow you to change the navigation settings so you can use your device to make the experience your own.</a:t>
            </a:r>
          </a:p>
        </p:txBody>
      </p:sp>
    </p:spTree>
    <p:extLst>
      <p:ext uri="{BB962C8B-B14F-4D97-AF65-F5344CB8AC3E}">
        <p14:creationId xmlns:p14="http://schemas.microsoft.com/office/powerpoint/2010/main" val="169453717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8525933" cy="508000"/>
            <a:chOff x="789624" y="1191463"/>
            <a:chExt cx="8525933"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832495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en-US" sz="2800" b="1">
                  <a:latin typeface="Cambria" panose="02040503050406030204" pitchFamily="18" charset="0"/>
                </a:rPr>
                <a:t>Development Mobile Applications, why Android? </a:t>
              </a: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v"/>
            </a:pPr>
            <a:r>
              <a:rPr lang="en-US" sz="2800" b="1" smtClean="0">
                <a:latin typeface="Cambria" panose="02040503050406030204" pitchFamily="18" charset="0"/>
              </a:rPr>
              <a:t>Why Android?</a:t>
            </a:r>
          </a:p>
        </p:txBody>
      </p:sp>
      <p:pic>
        <p:nvPicPr>
          <p:cNvPr id="4098" name="Picture 2" descr="Samsung Galaxy smartphone showing photo gallery on scree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932" y="2464329"/>
            <a:ext cx="5352800" cy="2260072"/>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5392818" y="2042874"/>
            <a:ext cx="6571030" cy="523220"/>
          </a:xfrm>
          <a:prstGeom prst="rect">
            <a:avLst/>
          </a:prstGeom>
        </p:spPr>
        <p:txBody>
          <a:bodyPr wrap="none">
            <a:spAutoFit/>
          </a:bodyPr>
          <a:lstStyle/>
          <a:p>
            <a:pPr marL="0" indent="0" algn="just">
              <a:buNone/>
            </a:pPr>
            <a:r>
              <a:rPr lang="en-US" sz="2800" b="1">
                <a:latin typeface="Cambria" panose="02040503050406030204" pitchFamily="18" charset="0"/>
              </a:rPr>
              <a:t>Enjoy double the standard refresh rate</a:t>
            </a:r>
          </a:p>
        </p:txBody>
      </p:sp>
      <p:sp>
        <p:nvSpPr>
          <p:cNvPr id="10" name="Rectangle 9"/>
          <p:cNvSpPr/>
          <p:nvPr/>
        </p:nvSpPr>
        <p:spPr>
          <a:xfrm>
            <a:off x="5392818" y="3060351"/>
            <a:ext cx="6096000" cy="1384995"/>
          </a:xfrm>
          <a:prstGeom prst="rect">
            <a:avLst/>
          </a:prstGeom>
        </p:spPr>
        <p:txBody>
          <a:bodyPr>
            <a:spAutoFit/>
          </a:bodyPr>
          <a:lstStyle/>
          <a:p>
            <a:pPr algn="just"/>
            <a:r>
              <a:rPr lang="en-US" sz="2800">
                <a:latin typeface="Times New Roman" panose="02020603050405020304" pitchFamily="18" charset="0"/>
                <a:cs typeface="Times New Roman" panose="02020603050405020304" pitchFamily="18" charset="0"/>
              </a:rPr>
              <a:t>The high refresh rate provides noticeably smoother transitions, animations, and scrolling. </a:t>
            </a:r>
          </a:p>
        </p:txBody>
      </p:sp>
    </p:spTree>
    <p:extLst>
      <p:ext uri="{BB962C8B-B14F-4D97-AF65-F5344CB8AC3E}">
        <p14:creationId xmlns:p14="http://schemas.microsoft.com/office/powerpoint/2010/main" val="309270457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8525933" cy="508000"/>
            <a:chOff x="789624" y="1191463"/>
            <a:chExt cx="8525933"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832495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en-US" sz="2800" b="1">
                  <a:latin typeface="Cambria" panose="02040503050406030204" pitchFamily="18" charset="0"/>
                </a:rPr>
                <a:t>Development Mobile Applications, why Android? </a:t>
              </a: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v"/>
            </a:pPr>
            <a:r>
              <a:rPr lang="en-US" sz="2800" b="1" smtClean="0">
                <a:latin typeface="Cambria" panose="02040503050406030204" pitchFamily="18" charset="0"/>
              </a:rPr>
              <a:t>Why Android?</a:t>
            </a:r>
          </a:p>
        </p:txBody>
      </p:sp>
      <p:sp>
        <p:nvSpPr>
          <p:cNvPr id="9" name="Rectangle 8"/>
          <p:cNvSpPr/>
          <p:nvPr/>
        </p:nvSpPr>
        <p:spPr>
          <a:xfrm>
            <a:off x="4968855" y="1941109"/>
            <a:ext cx="7202613" cy="523220"/>
          </a:xfrm>
          <a:prstGeom prst="rect">
            <a:avLst/>
          </a:prstGeom>
        </p:spPr>
        <p:txBody>
          <a:bodyPr wrap="none">
            <a:spAutoFit/>
          </a:bodyPr>
          <a:lstStyle/>
          <a:p>
            <a:pPr marL="0" indent="0" algn="just">
              <a:buNone/>
            </a:pPr>
            <a:r>
              <a:rPr lang="en-US" sz="2800" b="1" smtClean="0">
                <a:latin typeface="Cambria" panose="02040503050406030204" pitchFamily="18" charset="0"/>
              </a:rPr>
              <a:t>Organize </a:t>
            </a:r>
            <a:r>
              <a:rPr lang="en-US" sz="2800" b="1">
                <a:latin typeface="Cambria" panose="02040503050406030204" pitchFamily="18" charset="0"/>
              </a:rPr>
              <a:t>your files using the folder system</a:t>
            </a:r>
          </a:p>
        </p:txBody>
      </p:sp>
      <p:sp>
        <p:nvSpPr>
          <p:cNvPr id="10" name="Rectangle 9"/>
          <p:cNvSpPr/>
          <p:nvPr/>
        </p:nvSpPr>
        <p:spPr>
          <a:xfrm>
            <a:off x="5460552" y="2620237"/>
            <a:ext cx="6096000" cy="2677656"/>
          </a:xfrm>
          <a:prstGeom prst="rect">
            <a:avLst/>
          </a:prstGeom>
        </p:spPr>
        <p:txBody>
          <a:bodyPr>
            <a:spAutoFit/>
          </a:bodyPr>
          <a:lstStyle/>
          <a:p>
            <a:pPr algn="just"/>
            <a:r>
              <a:rPr lang="en-US" sz="2800">
                <a:latin typeface="Times New Roman" panose="02020603050405020304" pitchFamily="18" charset="0"/>
                <a:cs typeface="Times New Roman" panose="02020603050405020304" pitchFamily="18" charset="0"/>
              </a:rPr>
              <a:t>It’s never been easier to transfer data or charge in a flash. USB type-C gives you faster data transfer speeds than previous USB types. It also allows for increased charging capability, enabling Fast Charging </a:t>
            </a:r>
          </a:p>
        </p:txBody>
      </p:sp>
      <p:pic>
        <p:nvPicPr>
          <p:cNvPr id="6146" name="Picture 2" descr="Samsung Galaxy smartphone connected to USB type C charging c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130" y="2634994"/>
            <a:ext cx="5280024" cy="2229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859063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8525933" cy="508000"/>
            <a:chOff x="789624" y="1191463"/>
            <a:chExt cx="8525933"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832495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en-US" sz="2800" b="1">
                  <a:latin typeface="Cambria" panose="02040503050406030204" pitchFamily="18" charset="0"/>
                </a:rPr>
                <a:t>Development Mobile Applications, why Android? </a:t>
              </a: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v"/>
            </a:pPr>
            <a:r>
              <a:rPr lang="en-US" sz="2800" b="1" smtClean="0">
                <a:latin typeface="Cambria" panose="02040503050406030204" pitchFamily="18" charset="0"/>
              </a:rPr>
              <a:t>Why Android?</a:t>
            </a:r>
          </a:p>
        </p:txBody>
      </p:sp>
      <p:sp>
        <p:nvSpPr>
          <p:cNvPr id="9" name="Rectangle 8"/>
          <p:cNvSpPr/>
          <p:nvPr/>
        </p:nvSpPr>
        <p:spPr>
          <a:xfrm>
            <a:off x="6899672" y="1941109"/>
            <a:ext cx="3340979" cy="523220"/>
          </a:xfrm>
          <a:prstGeom prst="rect">
            <a:avLst/>
          </a:prstGeom>
        </p:spPr>
        <p:txBody>
          <a:bodyPr wrap="none">
            <a:spAutoFit/>
          </a:bodyPr>
          <a:lstStyle/>
          <a:p>
            <a:pPr marL="0" indent="0" algn="just">
              <a:buNone/>
            </a:pPr>
            <a:r>
              <a:rPr lang="en-US" sz="2800" b="1">
                <a:latin typeface="Cambria" panose="02040503050406030204" pitchFamily="18" charset="0"/>
              </a:rPr>
              <a:t>Memory expansion</a:t>
            </a:r>
          </a:p>
        </p:txBody>
      </p:sp>
      <p:sp>
        <p:nvSpPr>
          <p:cNvPr id="10" name="Rectangle 9"/>
          <p:cNvSpPr/>
          <p:nvPr/>
        </p:nvSpPr>
        <p:spPr>
          <a:xfrm>
            <a:off x="5460552" y="2620237"/>
            <a:ext cx="6096000" cy="2246769"/>
          </a:xfrm>
          <a:prstGeom prst="rect">
            <a:avLst/>
          </a:prstGeom>
        </p:spPr>
        <p:txBody>
          <a:bodyPr>
            <a:spAutoFit/>
          </a:bodyPr>
          <a:lstStyle/>
          <a:p>
            <a:pPr algn="just"/>
            <a:r>
              <a:rPr lang="en-US" sz="2800">
                <a:latin typeface="Times New Roman" panose="02020603050405020304" pitchFamily="18" charset="0"/>
                <a:cs typeface="Times New Roman" panose="02020603050405020304" pitchFamily="18" charset="0"/>
              </a:rPr>
              <a:t>Running out of space for files? No need to delete your beloved photos, videos, and apps. Many Android smartphones come with the option to expand your memory using a microSD card.</a:t>
            </a:r>
          </a:p>
        </p:txBody>
      </p:sp>
      <p:pic>
        <p:nvPicPr>
          <p:cNvPr id="7170" name="Picture 2" descr="A smartphone vector with microSD memory cards in different sizes"/>
          <p:cNvPicPr>
            <a:picLocks noChangeAspect="1" noChangeArrowheads="1"/>
          </p:cNvPicPr>
          <p:nvPr/>
        </p:nvPicPr>
        <p:blipFill rotWithShape="1">
          <a:blip r:embed="rId3">
            <a:extLst>
              <a:ext uri="{28A0092B-C50C-407E-A947-70E740481C1C}">
                <a14:useLocalDpi xmlns:a14="http://schemas.microsoft.com/office/drawing/2010/main" val="0"/>
              </a:ext>
            </a:extLst>
          </a:blip>
          <a:srcRect l="22361" r="9661"/>
          <a:stretch/>
        </p:blipFill>
        <p:spPr bwMode="auto">
          <a:xfrm>
            <a:off x="1032710" y="2504096"/>
            <a:ext cx="3852333" cy="2392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497743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8525933" cy="508000"/>
            <a:chOff x="789624" y="1191463"/>
            <a:chExt cx="8525933"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832495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en-US" sz="2800" b="1">
                  <a:latin typeface="Cambria" panose="02040503050406030204" pitchFamily="18" charset="0"/>
                </a:rPr>
                <a:t>Development Mobile Applications, why Android? </a:t>
              </a: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v"/>
            </a:pPr>
            <a:r>
              <a:rPr lang="en-US" sz="2800" b="1" smtClean="0">
                <a:latin typeface="Cambria" panose="02040503050406030204" pitchFamily="18" charset="0"/>
              </a:rPr>
              <a:t>Why Android?</a:t>
            </a:r>
          </a:p>
        </p:txBody>
      </p:sp>
      <p:sp>
        <p:nvSpPr>
          <p:cNvPr id="9" name="Rectangle 8"/>
          <p:cNvSpPr/>
          <p:nvPr/>
        </p:nvSpPr>
        <p:spPr>
          <a:xfrm>
            <a:off x="7411831" y="1941109"/>
            <a:ext cx="2316660" cy="523220"/>
          </a:xfrm>
          <a:prstGeom prst="rect">
            <a:avLst/>
          </a:prstGeom>
        </p:spPr>
        <p:txBody>
          <a:bodyPr wrap="none">
            <a:spAutoFit/>
          </a:bodyPr>
          <a:lstStyle/>
          <a:p>
            <a:pPr marL="0" indent="0" algn="just">
              <a:buNone/>
            </a:pPr>
            <a:r>
              <a:rPr lang="en-US" sz="2800" b="1">
                <a:latin typeface="Cambria" panose="02040503050406030204" pitchFamily="18" charset="0"/>
              </a:rPr>
              <a:t>Easy settings</a:t>
            </a:r>
          </a:p>
        </p:txBody>
      </p:sp>
      <p:sp>
        <p:nvSpPr>
          <p:cNvPr id="10" name="Rectangle 9"/>
          <p:cNvSpPr/>
          <p:nvPr/>
        </p:nvSpPr>
        <p:spPr>
          <a:xfrm>
            <a:off x="5460552" y="2620237"/>
            <a:ext cx="6096000" cy="2677656"/>
          </a:xfrm>
          <a:prstGeom prst="rect">
            <a:avLst/>
          </a:prstGeom>
        </p:spPr>
        <p:txBody>
          <a:bodyPr>
            <a:spAutoFit/>
          </a:bodyPr>
          <a:lstStyle/>
          <a:p>
            <a:pPr algn="just"/>
            <a:r>
              <a:rPr lang="en-US" sz="2800" smtClean="0">
                <a:latin typeface="Times New Roman" panose="02020603050405020304" pitchFamily="18" charset="0"/>
                <a:cs typeface="Times New Roman" panose="02020603050405020304" pitchFamily="18" charset="0"/>
              </a:rPr>
              <a:t>The </a:t>
            </a:r>
            <a:r>
              <a:rPr lang="en-US" sz="2800">
                <a:latin typeface="Times New Roman" panose="02020603050405020304" pitchFamily="18" charset="0"/>
                <a:cs typeface="Times New Roman" panose="02020603050405020304" pitchFamily="18" charset="0"/>
              </a:rPr>
              <a:t>Android notification bar makes it easy to find and change settings on the fly. Swipe down and you can press &amp; hold any icon to access its settings, including WiFi, Bluetooth, brightness and more.</a:t>
            </a:r>
          </a:p>
        </p:txBody>
      </p:sp>
      <p:pic>
        <p:nvPicPr>
          <p:cNvPr id="8194" name="Picture 2" descr="A hand holding Samsung smartphone showing application icons on scree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4866" y="2734732"/>
            <a:ext cx="5175764" cy="21853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250254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8525933" cy="508000"/>
            <a:chOff x="789624" y="1191463"/>
            <a:chExt cx="8525933"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832495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en-US" sz="2800" b="1">
                  <a:latin typeface="Cambria" panose="02040503050406030204" pitchFamily="18" charset="0"/>
                </a:rPr>
                <a:t>Development Mobile Applications, why Android? </a:t>
              </a: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v"/>
            </a:pPr>
            <a:r>
              <a:rPr lang="en-US" sz="2800" b="1" smtClean="0">
                <a:latin typeface="Cambria" panose="02040503050406030204" pitchFamily="18" charset="0"/>
              </a:rPr>
              <a:t>Why Android?</a:t>
            </a:r>
          </a:p>
        </p:txBody>
      </p:sp>
      <p:sp>
        <p:nvSpPr>
          <p:cNvPr id="9" name="Rectangle 8"/>
          <p:cNvSpPr/>
          <p:nvPr/>
        </p:nvSpPr>
        <p:spPr>
          <a:xfrm>
            <a:off x="5681133" y="1580405"/>
            <a:ext cx="5994400" cy="954107"/>
          </a:xfrm>
          <a:prstGeom prst="rect">
            <a:avLst/>
          </a:prstGeom>
        </p:spPr>
        <p:txBody>
          <a:bodyPr wrap="square">
            <a:spAutoFit/>
          </a:bodyPr>
          <a:lstStyle/>
          <a:p>
            <a:pPr marL="0" indent="0" algn="just">
              <a:buNone/>
            </a:pPr>
            <a:r>
              <a:rPr lang="en-US" sz="2800" b="1">
                <a:latin typeface="Cambria" panose="02040503050406030204" pitchFamily="18" charset="0"/>
              </a:rPr>
              <a:t>Access app info from your homepage with Widgets</a:t>
            </a:r>
          </a:p>
        </p:txBody>
      </p:sp>
      <p:sp>
        <p:nvSpPr>
          <p:cNvPr id="10" name="Rectangle 9"/>
          <p:cNvSpPr/>
          <p:nvPr/>
        </p:nvSpPr>
        <p:spPr>
          <a:xfrm>
            <a:off x="5460552" y="2620237"/>
            <a:ext cx="6096000" cy="2677656"/>
          </a:xfrm>
          <a:prstGeom prst="rect">
            <a:avLst/>
          </a:prstGeom>
        </p:spPr>
        <p:txBody>
          <a:bodyPr>
            <a:spAutoFit/>
          </a:bodyPr>
          <a:lstStyle/>
          <a:p>
            <a:pPr algn="just"/>
            <a:r>
              <a:rPr lang="en-US" sz="2800" smtClean="0">
                <a:latin typeface="Times New Roman" panose="02020603050405020304" pitchFamily="18" charset="0"/>
                <a:cs typeface="Times New Roman" panose="02020603050405020304" pitchFamily="18" charset="0"/>
              </a:rPr>
              <a:t>The </a:t>
            </a:r>
            <a:r>
              <a:rPr lang="en-US" sz="2800">
                <a:latin typeface="Times New Roman" panose="02020603050405020304" pitchFamily="18" charset="0"/>
                <a:cs typeface="Times New Roman" panose="02020603050405020304" pitchFamily="18" charset="0"/>
              </a:rPr>
              <a:t>Android notification bar makes it easy to find and change settings on the fly. Swipe down and you can press &amp; hold any icon to access its settings, including WiFi, Bluetooth, brightness and more.</a:t>
            </a:r>
          </a:p>
        </p:txBody>
      </p:sp>
      <p:pic>
        <p:nvPicPr>
          <p:cNvPr id="9218" name="Picture 2" descr="Three Samsung smartphone interface showing custom widgets"/>
          <p:cNvPicPr>
            <a:picLocks noChangeAspect="1" noChangeArrowheads="1"/>
          </p:cNvPicPr>
          <p:nvPr/>
        </p:nvPicPr>
        <p:blipFill rotWithShape="1">
          <a:blip r:embed="rId3">
            <a:extLst>
              <a:ext uri="{28A0092B-C50C-407E-A947-70E740481C1C}">
                <a14:useLocalDpi xmlns:a14="http://schemas.microsoft.com/office/drawing/2010/main" val="0"/>
              </a:ext>
            </a:extLst>
          </a:blip>
          <a:srcRect l="25262" r="25972"/>
          <a:stretch/>
        </p:blipFill>
        <p:spPr bwMode="auto">
          <a:xfrm>
            <a:off x="1286710" y="2178912"/>
            <a:ext cx="3344333" cy="2895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719268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8525933" cy="508000"/>
            <a:chOff x="789624" y="1191463"/>
            <a:chExt cx="8525933"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832495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en-US" sz="2800" b="1">
                  <a:latin typeface="Cambria" panose="02040503050406030204" pitchFamily="18" charset="0"/>
                </a:rPr>
                <a:t>Development Mobile Applications, why Android? </a:t>
              </a: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v"/>
            </a:pPr>
            <a:r>
              <a:rPr lang="en-US" sz="2800" b="1" smtClean="0">
                <a:latin typeface="Cambria" panose="02040503050406030204" pitchFamily="18" charset="0"/>
              </a:rPr>
              <a:t>Why Android?</a:t>
            </a:r>
          </a:p>
        </p:txBody>
      </p:sp>
      <p:sp>
        <p:nvSpPr>
          <p:cNvPr id="9" name="Rectangle 8"/>
          <p:cNvSpPr/>
          <p:nvPr/>
        </p:nvSpPr>
        <p:spPr>
          <a:xfrm>
            <a:off x="5681133" y="1580405"/>
            <a:ext cx="5994400" cy="954107"/>
          </a:xfrm>
          <a:prstGeom prst="rect">
            <a:avLst/>
          </a:prstGeom>
        </p:spPr>
        <p:txBody>
          <a:bodyPr wrap="square">
            <a:spAutoFit/>
          </a:bodyPr>
          <a:lstStyle/>
          <a:p>
            <a:pPr marL="0" indent="0" algn="just">
              <a:buNone/>
            </a:pPr>
            <a:r>
              <a:rPr lang="en-US" sz="2800" b="1">
                <a:latin typeface="Cambria" panose="02040503050406030204" pitchFamily="18" charset="0"/>
              </a:rPr>
              <a:t>Sync your devices with the Samsung Galaxy ecosystem</a:t>
            </a:r>
          </a:p>
        </p:txBody>
      </p:sp>
      <p:sp>
        <p:nvSpPr>
          <p:cNvPr id="10" name="Rectangle 9"/>
          <p:cNvSpPr/>
          <p:nvPr/>
        </p:nvSpPr>
        <p:spPr>
          <a:xfrm>
            <a:off x="5460552" y="2620237"/>
            <a:ext cx="6096000" cy="1384995"/>
          </a:xfrm>
          <a:prstGeom prst="rect">
            <a:avLst/>
          </a:prstGeom>
        </p:spPr>
        <p:txBody>
          <a:bodyPr>
            <a:spAutoFit/>
          </a:bodyPr>
          <a:lstStyle/>
          <a:p>
            <a:pPr algn="just"/>
            <a:r>
              <a:rPr lang="en-US" sz="2800">
                <a:latin typeface="Times New Roman" panose="02020603050405020304" pitchFamily="18" charset="0"/>
                <a:cs typeface="Times New Roman" panose="02020603050405020304" pitchFamily="18" charset="0"/>
              </a:rPr>
              <a:t>Connect your Samsung devices with the Samsung ecosystem to control apps and notifications across multiple devices. </a:t>
            </a:r>
          </a:p>
        </p:txBody>
      </p:sp>
      <p:pic>
        <p:nvPicPr>
          <p:cNvPr id="10242" name="Picture 2" descr="Samsung Galaxy Tab S8 tablet, Samsung Galaxy S21 FE 5G and Samsung Galaxy Buds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880" y="2413522"/>
            <a:ext cx="4671024" cy="19722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103564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8525933" cy="508000"/>
            <a:chOff x="789624" y="1191463"/>
            <a:chExt cx="8525933"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832495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en-US" sz="2800" b="1">
                  <a:latin typeface="Cambria" panose="02040503050406030204" pitchFamily="18" charset="0"/>
                </a:rPr>
                <a:t>Development Mobile Applications, why Android? </a:t>
              </a: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v"/>
            </a:pPr>
            <a:r>
              <a:rPr lang="en-US" sz="2800" b="1" smtClean="0">
                <a:latin typeface="Cambria" panose="02040503050406030204" pitchFamily="18" charset="0"/>
              </a:rPr>
              <a:t>Why development applications on Android?</a:t>
            </a:r>
          </a:p>
          <a:p>
            <a:pPr algn="just">
              <a:buFont typeface="Wingdings" panose="05000000000000000000" pitchFamily="2" charset="2"/>
              <a:buChar char="ü"/>
            </a:pPr>
            <a:r>
              <a:rPr lang="en-US" sz="2800">
                <a:latin typeface="Cambria" panose="02040503050406030204" pitchFamily="18" charset="0"/>
              </a:rPr>
              <a:t>It is an Open Source </a:t>
            </a:r>
            <a:r>
              <a:rPr lang="en-US" sz="2800" smtClean="0">
                <a:latin typeface="Cambria" panose="02040503050406030204" pitchFamily="18" charset="0"/>
              </a:rPr>
              <a:t>Technology</a:t>
            </a:r>
          </a:p>
          <a:p>
            <a:pPr algn="just">
              <a:buFont typeface="Wingdings" panose="05000000000000000000" pitchFamily="2" charset="2"/>
              <a:buChar char="ü"/>
            </a:pPr>
            <a:r>
              <a:rPr lang="en-US" sz="2800">
                <a:latin typeface="Cambria" panose="02040503050406030204" pitchFamily="18" charset="0"/>
              </a:rPr>
              <a:t>Huge Device Market </a:t>
            </a:r>
            <a:r>
              <a:rPr lang="en-US" sz="2800" smtClean="0">
                <a:latin typeface="Cambria" panose="02040503050406030204" pitchFamily="18" charset="0"/>
              </a:rPr>
              <a:t>Share</a:t>
            </a:r>
          </a:p>
          <a:p>
            <a:pPr algn="just">
              <a:buFont typeface="Wingdings" panose="05000000000000000000" pitchFamily="2" charset="2"/>
              <a:buChar char="ü"/>
            </a:pPr>
            <a:r>
              <a:rPr lang="en-US" sz="2800">
                <a:latin typeface="Cambria" panose="02040503050406030204" pitchFamily="18" charset="0"/>
              </a:rPr>
              <a:t>Easier Entry to </a:t>
            </a:r>
            <a:r>
              <a:rPr lang="en-US" sz="2800" smtClean="0">
                <a:latin typeface="Cambria" panose="02040503050406030204" pitchFamily="18" charset="0"/>
              </a:rPr>
              <a:t>Market</a:t>
            </a:r>
          </a:p>
          <a:p>
            <a:pPr algn="just">
              <a:buFont typeface="Wingdings" panose="05000000000000000000" pitchFamily="2" charset="2"/>
              <a:buChar char="ü"/>
            </a:pPr>
            <a:r>
              <a:rPr lang="en-US" sz="2800">
                <a:latin typeface="Cambria" panose="02040503050406030204" pitchFamily="18" charset="0"/>
              </a:rPr>
              <a:t>Enormous Market Share of </a:t>
            </a:r>
            <a:r>
              <a:rPr lang="en-US" sz="2800" smtClean="0">
                <a:latin typeface="Cambria" panose="02040503050406030204" pitchFamily="18" charset="0"/>
              </a:rPr>
              <a:t>Apps</a:t>
            </a:r>
          </a:p>
          <a:p>
            <a:pPr algn="just">
              <a:buFont typeface="Wingdings" panose="05000000000000000000" pitchFamily="2" charset="2"/>
              <a:buChar char="ü"/>
            </a:pPr>
            <a:r>
              <a:rPr lang="en-US" sz="2800">
                <a:latin typeface="Cambria" panose="02040503050406030204" pitchFamily="18" charset="0"/>
              </a:rPr>
              <a:t>Numerous &amp; Variety of Job Opportunities to Choose from</a:t>
            </a:r>
          </a:p>
          <a:p>
            <a:pPr algn="just">
              <a:buFont typeface="Wingdings" panose="05000000000000000000" pitchFamily="2" charset="2"/>
              <a:buChar char="ü"/>
            </a:pPr>
            <a:r>
              <a:rPr lang="en-US" sz="2800" smtClean="0">
                <a:latin typeface="Cambria" panose="02040503050406030204" pitchFamily="18" charset="0"/>
              </a:rPr>
              <a:t>Freedom &amp; freelancer Job</a:t>
            </a:r>
          </a:p>
          <a:p>
            <a:pPr algn="just">
              <a:buFont typeface="Wingdings" panose="05000000000000000000" pitchFamily="2" charset="2"/>
              <a:buChar char="ü"/>
            </a:pPr>
            <a:r>
              <a:rPr lang="en-US" sz="2800">
                <a:latin typeface="Cambria" panose="02040503050406030204" pitchFamily="18" charset="0"/>
              </a:rPr>
              <a:t>Easy to </a:t>
            </a:r>
            <a:r>
              <a:rPr lang="en-US" sz="2800" smtClean="0">
                <a:latin typeface="Cambria" panose="02040503050406030204" pitchFamily="18" charset="0"/>
              </a:rPr>
              <a:t>Learn</a:t>
            </a:r>
          </a:p>
          <a:p>
            <a:pPr algn="just">
              <a:buFont typeface="Wingdings" panose="05000000000000000000" pitchFamily="2" charset="2"/>
              <a:buChar char="ü"/>
            </a:pPr>
            <a:r>
              <a:rPr lang="en-US" sz="2800">
                <a:latin typeface="Cambria" panose="02040503050406030204" pitchFamily="18" charset="0"/>
              </a:rPr>
              <a:t>Numerous Online </a:t>
            </a:r>
            <a:r>
              <a:rPr lang="en-US" sz="2800" smtClean="0">
                <a:latin typeface="Cambria" panose="02040503050406030204" pitchFamily="18" charset="0"/>
              </a:rPr>
              <a:t>Courses</a:t>
            </a:r>
          </a:p>
          <a:p>
            <a:pPr algn="just">
              <a:buFont typeface="Wingdings" panose="05000000000000000000" pitchFamily="2" charset="2"/>
              <a:buChar char="ü"/>
            </a:pPr>
            <a:r>
              <a:rPr lang="en-US" sz="2800">
                <a:latin typeface="Cambria" panose="02040503050406030204" pitchFamily="18" charset="0"/>
              </a:rPr>
              <a:t>Requires minimal computer resources</a:t>
            </a:r>
          </a:p>
        </p:txBody>
      </p:sp>
    </p:spTree>
    <p:extLst>
      <p:ext uri="{BB962C8B-B14F-4D97-AF65-F5344CB8AC3E}">
        <p14:creationId xmlns:p14="http://schemas.microsoft.com/office/powerpoint/2010/main" val="88046623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8525933" cy="508000"/>
            <a:chOff x="789624" y="1191463"/>
            <a:chExt cx="8525933"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832495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en-US" sz="2800" b="1">
                  <a:latin typeface="Cambria" panose="02040503050406030204" pitchFamily="18" charset="0"/>
                </a:rPr>
                <a:t>Development Mobile Applications, why Android? </a:t>
              </a: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a:latin typeface="Cambria" panose="02040503050406030204" pitchFamily="18" charset="0"/>
                <a:hlinkClick r:id="rId3"/>
              </a:rPr>
              <a:t>https://developer.android.com</a:t>
            </a:r>
            <a:r>
              <a:rPr lang="en-US" sz="2800" smtClean="0">
                <a:latin typeface="Cambria" panose="02040503050406030204" pitchFamily="18" charset="0"/>
                <a:hlinkClick r:id="rId3"/>
              </a:rPr>
              <a:t>/</a:t>
            </a:r>
            <a:r>
              <a:rPr lang="en-US" sz="2800" smtClean="0">
                <a:latin typeface="Cambria" panose="02040503050406030204" pitchFamily="18" charset="0"/>
              </a:rPr>
              <a:t> </a:t>
            </a:r>
            <a:endParaRPr lang="en-US" sz="2800">
              <a:latin typeface="Cambria" panose="02040503050406030204" pitchFamily="18" charset="0"/>
            </a:endParaRPr>
          </a:p>
        </p:txBody>
      </p:sp>
      <p:pic>
        <p:nvPicPr>
          <p:cNvPr id="9" name="Picture 8"/>
          <p:cNvPicPr>
            <a:picLocks noChangeAspect="1"/>
          </p:cNvPicPr>
          <p:nvPr/>
        </p:nvPicPr>
        <p:blipFill>
          <a:blip r:embed="rId4"/>
          <a:stretch>
            <a:fillRect/>
          </a:stretch>
        </p:blipFill>
        <p:spPr>
          <a:xfrm>
            <a:off x="1078168" y="1789853"/>
            <a:ext cx="9276437" cy="2350940"/>
          </a:xfrm>
          <a:prstGeom prst="rect">
            <a:avLst/>
          </a:prstGeom>
        </p:spPr>
      </p:pic>
    </p:spTree>
    <p:extLst>
      <p:ext uri="{BB962C8B-B14F-4D97-AF65-F5344CB8AC3E}">
        <p14:creationId xmlns:p14="http://schemas.microsoft.com/office/powerpoint/2010/main" val="229424789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8525933" cy="508000"/>
            <a:chOff x="789624" y="1191463"/>
            <a:chExt cx="8525933"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832495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en-US" sz="2800" b="1">
                  <a:latin typeface="Cambria" panose="02040503050406030204" pitchFamily="18" charset="0"/>
                </a:rPr>
                <a:t>Development Mobile Applications, why Android? </a:t>
              </a: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0" name="Picture 9"/>
          <p:cNvPicPr>
            <a:picLocks noChangeAspect="1"/>
          </p:cNvPicPr>
          <p:nvPr/>
        </p:nvPicPr>
        <p:blipFill>
          <a:blip r:embed="rId3"/>
          <a:stretch>
            <a:fillRect/>
          </a:stretch>
        </p:blipFill>
        <p:spPr>
          <a:xfrm>
            <a:off x="7513638" y="1231629"/>
            <a:ext cx="3374758" cy="4402666"/>
          </a:xfrm>
          <a:prstGeom prst="rect">
            <a:avLst/>
          </a:prstGeom>
        </p:spPr>
      </p:pic>
      <p:pic>
        <p:nvPicPr>
          <p:cNvPr id="11" name="Picture 10"/>
          <p:cNvPicPr>
            <a:picLocks noChangeAspect="1"/>
          </p:cNvPicPr>
          <p:nvPr/>
        </p:nvPicPr>
        <p:blipFill>
          <a:blip r:embed="rId4"/>
          <a:stretch>
            <a:fillRect/>
          </a:stretch>
        </p:blipFill>
        <p:spPr>
          <a:xfrm>
            <a:off x="798728" y="1231629"/>
            <a:ext cx="5396007" cy="4728904"/>
          </a:xfrm>
          <a:prstGeom prst="rect">
            <a:avLst/>
          </a:prstGeom>
        </p:spPr>
      </p:pic>
    </p:spTree>
    <p:extLst>
      <p:ext uri="{BB962C8B-B14F-4D97-AF65-F5344CB8AC3E}">
        <p14:creationId xmlns:p14="http://schemas.microsoft.com/office/powerpoint/2010/main" val="61456641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6350000" cy="508000"/>
            <a:chOff x="789624" y="1191463"/>
            <a:chExt cx="6350000"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smtClean="0">
                  <a:latin typeface="Cambria" panose="02040503050406030204" pitchFamily="18" charset="0"/>
                </a:rPr>
                <a:t>Discussions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ü"/>
            </a:pPr>
            <a:r>
              <a:rPr lang="en-US" sz="2800" smtClean="0">
                <a:latin typeface="Cambria" panose="02040503050406030204" pitchFamily="18" charset="0"/>
              </a:rPr>
              <a:t>Q1: What are </a:t>
            </a:r>
            <a:r>
              <a:rPr lang="en-US" sz="2800">
                <a:latin typeface="Cambria" panose="02040503050406030204" pitchFamily="18" charset="0"/>
              </a:rPr>
              <a:t>the difference between E-commerce and M-Commerce</a:t>
            </a:r>
            <a:r>
              <a:rPr lang="en-US" sz="2800" smtClean="0">
                <a:latin typeface="Cambria" panose="02040503050406030204" pitchFamily="18" charset="0"/>
              </a:rPr>
              <a:t>?</a:t>
            </a:r>
          </a:p>
          <a:p>
            <a:pPr algn="just">
              <a:buFont typeface="Wingdings" panose="05000000000000000000" pitchFamily="2" charset="2"/>
              <a:buChar char="ü"/>
            </a:pPr>
            <a:r>
              <a:rPr lang="en-US" sz="2800" smtClean="0">
                <a:latin typeface="Cambria" panose="02040503050406030204" pitchFamily="18" charset="0"/>
              </a:rPr>
              <a:t>Q2: What </a:t>
            </a:r>
            <a:r>
              <a:rPr lang="en-US" sz="2800">
                <a:latin typeface="Cambria" panose="02040503050406030204" pitchFamily="18" charset="0"/>
              </a:rPr>
              <a:t>are the growth</a:t>
            </a:r>
            <a:r>
              <a:rPr lang="en-US" sz="2800" smtClean="0">
                <a:latin typeface="Cambria" panose="02040503050406030204" pitchFamily="18" charset="0"/>
              </a:rPr>
              <a:t> </a:t>
            </a:r>
            <a:r>
              <a:rPr lang="en-US" sz="2800">
                <a:latin typeface="Cambria" panose="02040503050406030204" pitchFamily="18" charset="0"/>
              </a:rPr>
              <a:t>potentials of mobile commerce in Vietnam</a:t>
            </a:r>
            <a:r>
              <a:rPr lang="en-US" sz="2800" smtClean="0">
                <a:latin typeface="Cambria" panose="02040503050406030204" pitchFamily="18" charset="0"/>
              </a:rPr>
              <a:t>?</a:t>
            </a:r>
          </a:p>
          <a:p>
            <a:pPr algn="just">
              <a:buFont typeface="Wingdings" panose="05000000000000000000" pitchFamily="2" charset="2"/>
              <a:buChar char="ü"/>
            </a:pPr>
            <a:r>
              <a:rPr lang="en-US" sz="2800" smtClean="0">
                <a:latin typeface="Cambria" panose="02040503050406030204" pitchFamily="18" charset="0"/>
              </a:rPr>
              <a:t>Q3: The ways </a:t>
            </a:r>
            <a:r>
              <a:rPr lang="en-US" sz="2800">
                <a:latin typeface="Cambria" panose="02040503050406030204" pitchFamily="18" charset="0"/>
              </a:rPr>
              <a:t>to increase mobile commerce </a:t>
            </a:r>
            <a:r>
              <a:rPr lang="en-US" sz="2800" smtClean="0">
                <a:latin typeface="Cambria" panose="02040503050406030204" pitchFamily="18" charset="0"/>
              </a:rPr>
              <a:t>sales?</a:t>
            </a:r>
          </a:p>
          <a:p>
            <a:pPr algn="just">
              <a:buFont typeface="Wingdings" panose="05000000000000000000" pitchFamily="2" charset="2"/>
              <a:buChar char="ü"/>
            </a:pPr>
            <a:r>
              <a:rPr lang="en-US" sz="2800" smtClean="0">
                <a:latin typeface="Cambria" panose="02040503050406030204" pitchFamily="18" charset="0"/>
              </a:rPr>
              <a:t>Q4: Discussion </a:t>
            </a:r>
            <a:r>
              <a:rPr lang="en-US" sz="2800">
                <a:latin typeface="Cambria" panose="02040503050406030204" pitchFamily="18" charset="0"/>
              </a:rPr>
              <a:t>about user experiences on Mobile and Desktop. Please give advice when developing the </a:t>
            </a:r>
            <a:r>
              <a:rPr lang="en-US" sz="2800" u="sng">
                <a:latin typeface="Cambria" panose="02040503050406030204" pitchFamily="18" charset="0"/>
              </a:rPr>
              <a:t>same application </a:t>
            </a:r>
            <a:r>
              <a:rPr lang="en-US" sz="2800">
                <a:latin typeface="Cambria" panose="02040503050406030204" pitchFamily="18" charset="0"/>
              </a:rPr>
              <a:t>but </a:t>
            </a:r>
            <a:r>
              <a:rPr lang="en-US" sz="2800" u="sng">
                <a:latin typeface="Cambria" panose="02040503050406030204" pitchFamily="18" charset="0"/>
              </a:rPr>
              <a:t>running</a:t>
            </a:r>
            <a:r>
              <a:rPr lang="en-US" sz="2800">
                <a:latin typeface="Cambria" panose="02040503050406030204" pitchFamily="18" charset="0"/>
              </a:rPr>
              <a:t> on </a:t>
            </a:r>
            <a:r>
              <a:rPr lang="en-US" sz="2800" u="sng">
                <a:latin typeface="Cambria" panose="02040503050406030204" pitchFamily="18" charset="0"/>
              </a:rPr>
              <a:t>both Mobile and Desktop</a:t>
            </a:r>
            <a:r>
              <a:rPr lang="en-US" sz="2800" smtClean="0">
                <a:latin typeface="Cambria" panose="02040503050406030204" pitchFamily="18" charset="0"/>
              </a:rPr>
              <a:t>.</a:t>
            </a:r>
          </a:p>
          <a:p>
            <a:pPr algn="just">
              <a:buFont typeface="Wingdings" panose="05000000000000000000" pitchFamily="2" charset="2"/>
              <a:buChar char="ü"/>
            </a:pPr>
            <a:r>
              <a:rPr lang="en-US" sz="2800" smtClean="0">
                <a:latin typeface="Cambria" panose="02040503050406030204" pitchFamily="18" charset="0"/>
              </a:rPr>
              <a:t>Q5: What </a:t>
            </a:r>
            <a:r>
              <a:rPr lang="en-US" sz="2800">
                <a:latin typeface="Cambria" panose="02040503050406030204" pitchFamily="18" charset="0"/>
              </a:rPr>
              <a:t>is Mobile Payment? What are the popular types of Mobile Payment</a:t>
            </a:r>
            <a:r>
              <a:rPr lang="en-US" sz="2800" smtClean="0">
                <a:latin typeface="Cambria" panose="02040503050406030204" pitchFamily="18" charset="0"/>
              </a:rPr>
              <a:t>?</a:t>
            </a:r>
          </a:p>
          <a:p>
            <a:pPr algn="just">
              <a:buFont typeface="Wingdings" panose="05000000000000000000" pitchFamily="2" charset="2"/>
              <a:buChar char="ü"/>
            </a:pPr>
            <a:r>
              <a:rPr lang="en-US" sz="2800">
                <a:latin typeface="Cambria" panose="02040503050406030204" pitchFamily="18" charset="0"/>
              </a:rPr>
              <a:t>Q6: </a:t>
            </a:r>
            <a:r>
              <a:rPr lang="en-US" sz="2800" smtClean="0">
                <a:latin typeface="Cambria" panose="02040503050406030204" pitchFamily="18" charset="0"/>
              </a:rPr>
              <a:t>What are the main functions </a:t>
            </a:r>
            <a:r>
              <a:rPr lang="en-US" sz="2800">
                <a:latin typeface="Cambria" panose="02040503050406030204" pitchFamily="18" charset="0"/>
              </a:rPr>
              <a:t>that need to be designed in a mobile commerce </a:t>
            </a:r>
            <a:r>
              <a:rPr lang="en-US" sz="2800" smtClean="0">
                <a:latin typeface="Cambria" panose="02040503050406030204" pitchFamily="18" charset="0"/>
              </a:rPr>
              <a:t>application (Food service)?</a:t>
            </a:r>
            <a:endParaRPr lang="en-US" sz="2800">
              <a:latin typeface="Cambria" panose="02040503050406030204" pitchFamily="18" charset="0"/>
            </a:endParaRPr>
          </a:p>
          <a:p>
            <a:pPr algn="just">
              <a:buFont typeface="Wingdings" panose="05000000000000000000" pitchFamily="2" charset="2"/>
              <a:buChar char="ü"/>
            </a:pPr>
            <a:endParaRPr lang="en-US" sz="2800">
              <a:latin typeface="Cambria" panose="02040503050406030204" pitchFamily="18" charset="0"/>
            </a:endParaRPr>
          </a:p>
        </p:txBody>
      </p:sp>
    </p:spTree>
    <p:extLst>
      <p:ext uri="{BB962C8B-B14F-4D97-AF65-F5344CB8AC3E}">
        <p14:creationId xmlns:p14="http://schemas.microsoft.com/office/powerpoint/2010/main" val="125566671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69333" y="287873"/>
            <a:ext cx="4620576" cy="508000"/>
            <a:chOff x="789624" y="1191463"/>
            <a:chExt cx="4620576"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smtClean="0">
                  <a:latin typeface="Cambria" panose="02040503050406030204" pitchFamily="18" charset="0"/>
                </a:rPr>
                <a:t>Next Lesson</a:t>
              </a:r>
              <a:endParaRPr lang="en-US" sz="28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80908" y="936623"/>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23888" indent="-514350">
              <a:lnSpc>
                <a:spcPct val="110000"/>
              </a:lnSpc>
              <a:spcBef>
                <a:spcPts val="600"/>
              </a:spcBef>
              <a:spcAft>
                <a:spcPts val="600"/>
              </a:spcAft>
              <a:buClr>
                <a:schemeClr val="tx1">
                  <a:lumMod val="85000"/>
                  <a:lumOff val="15000"/>
                </a:schemeClr>
              </a:buClr>
              <a:buFont typeface="Wingdings" panose="05000000000000000000" pitchFamily="2" charset="2"/>
              <a:buChar char="v"/>
            </a:pPr>
            <a:r>
              <a:rPr lang="en-US" sz="2800" b="1" dirty="0">
                <a:latin typeface="Times New Roman" panose="02020603050405020304" pitchFamily="18" charset="0"/>
                <a:cs typeface="Times New Roman" panose="02020603050405020304" pitchFamily="18" charset="0"/>
              </a:rPr>
              <a:t>Android OS and Android Studio Tool</a:t>
            </a:r>
          </a:p>
          <a:p>
            <a:pPr marL="623888" indent="-514350">
              <a:lnSpc>
                <a:spcPct val="110000"/>
              </a:lnSpc>
              <a:spcBef>
                <a:spcPts val="600"/>
              </a:spcBef>
              <a:spcAft>
                <a:spcPts val="600"/>
              </a:spcAft>
              <a:buClr>
                <a:schemeClr val="tx1">
                  <a:lumMod val="85000"/>
                  <a:lumOff val="15000"/>
                </a:schemeClr>
              </a:buClr>
              <a:buFont typeface="+mj-lt"/>
              <a:buAutoNum type="arabicPeriod"/>
            </a:pPr>
            <a:r>
              <a:rPr lang="en-US" sz="2800" b="1" dirty="0" smtClean="0">
                <a:latin typeface="Times New Roman" panose="02020603050405020304" pitchFamily="18" charset="0"/>
                <a:cs typeface="Times New Roman" panose="02020603050405020304" pitchFamily="18" charset="0"/>
              </a:rPr>
              <a:t>Overview </a:t>
            </a:r>
            <a:r>
              <a:rPr lang="en-US" sz="2800" b="1" dirty="0">
                <a:latin typeface="Times New Roman" panose="02020603050405020304" pitchFamily="18" charset="0"/>
                <a:cs typeface="Times New Roman" panose="02020603050405020304" pitchFamily="18" charset="0"/>
              </a:rPr>
              <a:t>of the Android OS</a:t>
            </a:r>
          </a:p>
          <a:p>
            <a:pPr marL="623888" indent="-514350">
              <a:lnSpc>
                <a:spcPct val="110000"/>
              </a:lnSpc>
              <a:spcBef>
                <a:spcPts val="600"/>
              </a:spcBef>
              <a:spcAft>
                <a:spcPts val="600"/>
              </a:spcAft>
              <a:buClr>
                <a:schemeClr val="tx1">
                  <a:lumMod val="85000"/>
                  <a:lumOff val="15000"/>
                </a:schemeClr>
              </a:buClr>
              <a:buFont typeface="+mj-lt"/>
              <a:buAutoNum type="arabicPeriod"/>
            </a:pPr>
            <a:r>
              <a:rPr lang="en-US" sz="2800" b="1" dirty="0">
                <a:latin typeface="Times New Roman" panose="02020603050405020304" pitchFamily="18" charset="0"/>
                <a:cs typeface="Times New Roman" panose="02020603050405020304" pitchFamily="18" charset="0"/>
              </a:rPr>
              <a:t>Android application programming environment</a:t>
            </a:r>
          </a:p>
          <a:p>
            <a:pPr marL="623888" indent="-514350">
              <a:lnSpc>
                <a:spcPct val="110000"/>
              </a:lnSpc>
              <a:spcBef>
                <a:spcPts val="600"/>
              </a:spcBef>
              <a:spcAft>
                <a:spcPts val="600"/>
              </a:spcAft>
              <a:buClr>
                <a:schemeClr val="tx1">
                  <a:lumMod val="85000"/>
                  <a:lumOff val="15000"/>
                </a:schemeClr>
              </a:buClr>
              <a:buFont typeface="+mj-lt"/>
              <a:buAutoNum type="arabicPeriod"/>
            </a:pPr>
            <a:r>
              <a:rPr lang="en-US" sz="2800" b="1" dirty="0" smtClean="0">
                <a:latin typeface="Times New Roman" panose="02020603050405020304" pitchFamily="18" charset="0"/>
                <a:cs typeface="Times New Roman" panose="02020603050405020304" pitchFamily="18" charset="0"/>
              </a:rPr>
              <a:t>Android </a:t>
            </a:r>
            <a:r>
              <a:rPr lang="en-US" sz="2800" b="1" dirty="0">
                <a:latin typeface="Times New Roman" panose="02020603050405020304" pitchFamily="18" charset="0"/>
                <a:cs typeface="Times New Roman" panose="02020603050405020304" pitchFamily="18" charset="0"/>
              </a:rPr>
              <a:t>Studio tools</a:t>
            </a:r>
          </a:p>
          <a:p>
            <a:pPr marL="623888" indent="-514350">
              <a:lnSpc>
                <a:spcPct val="110000"/>
              </a:lnSpc>
              <a:spcBef>
                <a:spcPts val="600"/>
              </a:spcBef>
              <a:spcAft>
                <a:spcPts val="600"/>
              </a:spcAft>
              <a:buClr>
                <a:schemeClr val="tx1">
                  <a:lumMod val="85000"/>
                  <a:lumOff val="15000"/>
                </a:schemeClr>
              </a:buClr>
              <a:buFont typeface="+mj-lt"/>
              <a:buAutoNum type="arabicPeriod"/>
            </a:pPr>
            <a:r>
              <a:rPr lang="en-US" sz="2800" b="1" dirty="0">
                <a:latin typeface="Times New Roman" panose="02020603050405020304" pitchFamily="18" charset="0"/>
                <a:cs typeface="Times New Roman" panose="02020603050405020304" pitchFamily="18" charset="0"/>
              </a:rPr>
              <a:t>Execute Android application</a:t>
            </a:r>
          </a:p>
        </p:txBody>
      </p:sp>
    </p:spTree>
    <p:extLst>
      <p:ext uri="{BB962C8B-B14F-4D97-AF65-F5344CB8AC3E}">
        <p14:creationId xmlns:p14="http://schemas.microsoft.com/office/powerpoint/2010/main" val="386843077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a:spLocks noGrp="1"/>
          </p:cNvSpPr>
          <p:nvPr>
            <p:ph type="title"/>
          </p:nvPr>
        </p:nvSpPr>
        <p:spPr>
          <a:xfrm>
            <a:off x="838200" y="2581306"/>
            <a:ext cx="10515600" cy="156674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44E8C"/>
              </a:buClr>
              <a:buSzPts val="9600"/>
              <a:buFont typeface="Lato Black"/>
              <a:buNone/>
            </a:pPr>
            <a:r>
              <a:rPr lang="en-US"/>
              <a:t>THANK YOU!</a:t>
            </a:r>
            <a:endParaRPr/>
          </a:p>
        </p:txBody>
      </p:sp>
    </p:spTree>
    <p:extLst>
      <p:ext uri="{BB962C8B-B14F-4D97-AF65-F5344CB8AC3E}">
        <p14:creationId xmlns:p14="http://schemas.microsoft.com/office/powerpoint/2010/main" val="93896864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472</TotalTime>
  <Words>1440</Words>
  <Application>Microsoft Office PowerPoint</Application>
  <PresentationFormat>Widescreen</PresentationFormat>
  <Paragraphs>232</Paragraphs>
  <Slides>36</Slides>
  <Notes>36</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36</vt:i4>
      </vt:variant>
    </vt:vector>
  </HeadingPairs>
  <TitlesOfParts>
    <vt:vector size="46" baseType="lpstr">
      <vt:lpstr>Lato Black</vt:lpstr>
      <vt:lpstr>Times</vt:lpstr>
      <vt:lpstr>Times New Roman</vt:lpstr>
      <vt:lpstr>Lato</vt:lpstr>
      <vt:lpstr>Arial</vt:lpstr>
      <vt:lpstr>Cambria</vt:lpstr>
      <vt:lpstr>Calibri</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Pí Yeah</dc:creator>
  <cp:lastModifiedBy>thanhtd</cp:lastModifiedBy>
  <cp:revision>127</cp:revision>
  <dcterms:created xsi:type="dcterms:W3CDTF">2022-12-02T04:21:00Z</dcterms:created>
  <dcterms:modified xsi:type="dcterms:W3CDTF">2024-01-25T13:27:48Z</dcterms:modified>
</cp:coreProperties>
</file>