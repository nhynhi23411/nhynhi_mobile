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1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9" r:id="rId2"/>
  </p:sldMasterIdLst>
  <p:notesMasterIdLst>
    <p:notesMasterId r:id="rId35"/>
  </p:notesMasterIdLst>
  <p:sldIdLst>
    <p:sldId id="256" r:id="rId3"/>
    <p:sldId id="267" r:id="rId4"/>
    <p:sldId id="281" r:id="rId5"/>
    <p:sldId id="309" r:id="rId6"/>
    <p:sldId id="310" r:id="rId7"/>
    <p:sldId id="311" r:id="rId8"/>
    <p:sldId id="312" r:id="rId9"/>
    <p:sldId id="313" r:id="rId10"/>
    <p:sldId id="314" r:id="rId11"/>
    <p:sldId id="316" r:id="rId12"/>
    <p:sldId id="315" r:id="rId13"/>
    <p:sldId id="323" r:id="rId14"/>
    <p:sldId id="317" r:id="rId15"/>
    <p:sldId id="324" r:id="rId16"/>
    <p:sldId id="325" r:id="rId17"/>
    <p:sldId id="326" r:id="rId18"/>
    <p:sldId id="327" r:id="rId19"/>
    <p:sldId id="318" r:id="rId20"/>
    <p:sldId id="319" r:id="rId21"/>
    <p:sldId id="321" r:id="rId22"/>
    <p:sldId id="322" r:id="rId23"/>
    <p:sldId id="320" r:id="rId24"/>
    <p:sldId id="328" r:id="rId25"/>
    <p:sldId id="329" r:id="rId26"/>
    <p:sldId id="330" r:id="rId27"/>
    <p:sldId id="331" r:id="rId28"/>
    <p:sldId id="332" r:id="rId29"/>
    <p:sldId id="333" r:id="rId30"/>
    <p:sldId id="334" r:id="rId31"/>
    <p:sldId id="275" r:id="rId32"/>
    <p:sldId id="308" r:id="rId33"/>
    <p:sldId id="269" r:id="rId34"/>
  </p:sldIdLst>
  <p:sldSz cx="12192000" cy="6858000"/>
  <p:notesSz cx="6858000" cy="9144000"/>
  <p:embeddedFontLst>
    <p:embeddedFont>
      <p:font typeface="Lato Black" panose="020B0604020202020204" charset="0"/>
      <p:bold r:id="rId36"/>
      <p:boldItalic r:id="rId37"/>
    </p:embeddedFont>
    <p:embeddedFont>
      <p:font typeface="Muli" panose="02000503040000090004" pitchFamily="2" charset="0"/>
      <p:regular r:id="rId38"/>
      <p:italic r:id="rId39"/>
    </p:embeddedFont>
    <p:embeddedFont>
      <p:font typeface="Calibri" panose="020F0502020204030204" pitchFamily="34" charset="0"/>
      <p:regular r:id="rId40"/>
      <p:bold r:id="rId41"/>
      <p:italic r:id="rId42"/>
      <p:boldItalic r:id="rId43"/>
    </p:embeddedFont>
    <p:embeddedFont>
      <p:font typeface="MS PGothic" panose="020B0600070205080204" pitchFamily="34" charset="-128"/>
      <p:regular r:id="rId44"/>
    </p:embeddedFont>
    <p:embeddedFont>
      <p:font typeface="Cambria" panose="02040503050406030204" pitchFamily="18" charset="0"/>
      <p:regular r:id="rId45"/>
      <p:bold r:id="rId46"/>
      <p:italic r:id="rId47"/>
      <p:boldItalic r:id="rId48"/>
    </p:embeddedFont>
    <p:embeddedFont>
      <p:font typeface="Lato" panose="020B0604020202020204" charset="0"/>
      <p:regular r:id="rId49"/>
      <p:bold r:id="rId50"/>
      <p:italic r:id="rId51"/>
      <p:boldItalic r:id="rId52"/>
    </p:embeddedFont>
    <p:embeddedFont>
      <p:font typeface="MS PGothic" panose="020B0600070205080204" pitchFamily="34" charset="-128"/>
      <p:regular r:id="rId44"/>
    </p:embeddedFont>
    <p:embeddedFont>
      <p:font typeface="Georgia" panose="02040502050405020303" pitchFamily="18" charset="0"/>
      <p:regular r:id="rId53"/>
      <p:bold r:id="rId54"/>
      <p:italic r:id="rId55"/>
      <p:boldItalic r:id="rId5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92" roundtripDataSignature="AMtx7mh4VrLQLvjXUsQeVJWWu9hsLYoG6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315" autoAdjust="0"/>
    <p:restoredTop sz="85825" autoAdjust="0"/>
  </p:normalViewPr>
  <p:slideViewPr>
    <p:cSldViewPr snapToGrid="0">
      <p:cViewPr varScale="1">
        <p:scale>
          <a:sx n="108" d="100"/>
          <a:sy n="108" d="100"/>
        </p:scale>
        <p:origin x="461" y="77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4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font" Target="fonts/font20.fntdata"/><Relationship Id="rId7" Type="http://schemas.openxmlformats.org/officeDocument/2006/relationships/slide" Target="slides/slide5.xml"/><Relationship Id="rId92" Type="http://customschemas.google.com/relationships/presentationmetadata" Target="metadata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font" Target="fonts/font18.fntdata"/><Relationship Id="rId5" Type="http://schemas.openxmlformats.org/officeDocument/2006/relationships/slide" Target="slides/slide3.xml"/><Relationship Id="rId95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font" Target="fonts/font21.fntdata"/><Relationship Id="rId8" Type="http://schemas.openxmlformats.org/officeDocument/2006/relationships/slide" Target="slides/slide6.xml"/><Relationship Id="rId51" Type="http://schemas.openxmlformats.org/officeDocument/2006/relationships/font" Target="fonts/font16.fntdata"/><Relationship Id="rId93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8.xml"/><Relationship Id="rId41" Type="http://schemas.openxmlformats.org/officeDocument/2006/relationships/font" Target="fonts/font6.fntdata"/><Relationship Id="rId54" Type="http://schemas.openxmlformats.org/officeDocument/2006/relationships/font" Target="fonts/font19.fntdata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9.fntdata"/><Relationship Id="rId52" Type="http://schemas.openxmlformats.org/officeDocument/2006/relationships/font" Target="fonts/font17.fntdata"/><Relationship Id="rId94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82133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120551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60287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098023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608977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599409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2244276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7527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17202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297883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115502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029105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154081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632018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221955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1407630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429654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86073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6610393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467290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730763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77014945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7017917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69030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2926590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01335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87933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5301277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67434839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08312605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28143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</a:pP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lang="en-US" sz="2400" b="1" i="0" u="none" strike="noStrike" cap="none">
                <a:solidFill>
                  <a:srgbClr val="144E8C"/>
                </a:solidFill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sz="160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Blank">
  <p:cSld name="2_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10"/>
          <p:cNvPicPr preferRelativeResize="0"/>
          <p:nvPr/>
        </p:nvPicPr>
        <p:blipFill rotWithShape="1">
          <a:blip r:embed="rId2">
            <a:alphaModFix/>
          </a:blip>
          <a:srcRect r="21016"/>
          <a:stretch/>
        </p:blipFill>
        <p:spPr>
          <a:xfrm>
            <a:off x="0" y="880629"/>
            <a:ext cx="8673353" cy="61768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10"/>
          <p:cNvPicPr preferRelativeResize="0"/>
          <p:nvPr/>
        </p:nvPicPr>
        <p:blipFill rotWithShape="1">
          <a:blip r:embed="rId3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10"/>
          <p:cNvSpPr txBox="1">
            <a:spLocks noGrp="1"/>
          </p:cNvSpPr>
          <p:nvPr>
            <p:ph type="title"/>
          </p:nvPr>
        </p:nvSpPr>
        <p:spPr>
          <a:xfrm>
            <a:off x="1595351" y="2187196"/>
            <a:ext cx="9001297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19" name="Google Shape;19;p10"/>
          <p:cNvPicPr preferRelativeResize="0"/>
          <p:nvPr userDrawn="1"/>
        </p:nvPicPr>
        <p:blipFill rotWithShape="1">
          <a:blip r:embed="rId4">
            <a:alphaModFix/>
          </a:blip>
          <a:srcRect/>
          <a:stretch/>
        </p:blipFill>
        <p:spPr>
          <a:xfrm>
            <a:off x="4847885" y="210692"/>
            <a:ext cx="2496230" cy="1015802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10"/>
          <p:cNvSpPr txBox="1"/>
          <p:nvPr userDrawn="1"/>
        </p:nvSpPr>
        <p:spPr>
          <a:xfrm>
            <a:off x="1595350" y="1017973"/>
            <a:ext cx="9144000" cy="778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400" b="1" i="0" u="none" strike="noStrike" kern="0" cap="none" spc="0" normalizeH="0" baseline="0" noProof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50978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 with Captio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>
            <a:spLocks noGrp="1"/>
          </p:cNvSpPr>
          <p:nvPr>
            <p:ph type="title"/>
          </p:nvPr>
        </p:nvSpPr>
        <p:spPr>
          <a:xfrm>
            <a:off x="839788" y="659342"/>
            <a:ext cx="3932237" cy="10702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33" name="Google Shape;33;p1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34" name="Google Shape;34;p12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" name="Google Shape;35;p12"/>
          <p:cNvPicPr preferRelativeResize="0"/>
          <p:nvPr/>
        </p:nvPicPr>
        <p:blipFill rotWithShape="1">
          <a:blip r:embed="rId3">
            <a:alphaModFix/>
          </a:blip>
          <a:srcRect l="15000" t="43307" r="32291" b="37052"/>
          <a:stretch/>
        </p:blipFill>
        <p:spPr>
          <a:xfrm>
            <a:off x="211666" y="6201820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12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smtClean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7" name="Google Shape;37;p12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33003634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7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>
            <a:off x="0" y="0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85306" y="-33086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  <a:defRPr sz="9600"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74" name="Google Shape;74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57944" y="330860"/>
            <a:ext cx="2890753" cy="1176347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7"/>
          <p:cNvSpPr txBox="1"/>
          <p:nvPr/>
        </p:nvSpPr>
        <p:spPr>
          <a:xfrm>
            <a:off x="2805445" y="1354975"/>
            <a:ext cx="6410498" cy="6884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2000"/>
              <a:buFont typeface="Lato Black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VIETNAM NATIONAL UNIVERSITY HO CHI MINH CITY</a:t>
            </a:r>
            <a:b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</a:br>
            <a:r>
              <a:rPr kumimoji="0" lang="en-US" sz="2000" b="1" i="0" u="none" strike="noStrike" kern="0" cap="none" spc="0" normalizeH="0" baseline="0" noProof="0" smtClean="0">
                <a:ln>
                  <a:noFill/>
                </a:ln>
                <a:solidFill>
                  <a:srgbClr val="144E8C"/>
                </a:solidFill>
                <a:effectLst/>
                <a:uLnTx/>
                <a:uFillTx/>
                <a:latin typeface="Cambria" panose="02040503050406030204" pitchFamily="18" charset="0"/>
                <a:ea typeface="Cambria" panose="02040503050406030204" pitchFamily="18" charset="0"/>
                <a:cs typeface="Lato Black"/>
                <a:sym typeface="Lato Black"/>
              </a:rPr>
              <a:t>University of Economics and Law</a:t>
            </a:r>
            <a:endParaRPr kumimoji="0" lang="en-US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mbria" panose="02040503050406030204" pitchFamily="18" charset="0"/>
              <a:ea typeface="Cambria" panose="02040503050406030204" pitchFamily="18" charset="0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13302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Content with 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title"/>
          </p:nvPr>
        </p:nvSpPr>
        <p:spPr>
          <a:xfrm>
            <a:off x="839788" y="577547"/>
            <a:ext cx="3932237" cy="12922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3200"/>
              <a:buFont typeface="Lato Black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2"/>
          </p:nvPr>
        </p:nvSpPr>
        <p:spPr>
          <a:xfrm>
            <a:off x="839788" y="2201630"/>
            <a:ext cx="3932237" cy="36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pic>
        <p:nvPicPr>
          <p:cNvPr id="80" name="Google Shape;80;p18"/>
          <p:cNvPicPr preferRelativeResize="0"/>
          <p:nvPr/>
        </p:nvPicPr>
        <p:blipFill rotWithShape="1">
          <a:blip r:embed="rId2">
            <a:alphaModFix/>
          </a:blip>
          <a:srcRect r="-3333" b="87407"/>
          <a:stretch/>
        </p:blipFill>
        <p:spPr>
          <a:xfrm flipH="1">
            <a:off x="-406400" y="-1"/>
            <a:ext cx="12598400" cy="43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8"/>
          <p:cNvPicPr preferRelativeResize="0"/>
          <p:nvPr/>
        </p:nvPicPr>
        <p:blipFill rotWithShape="1">
          <a:blip r:embed="rId3">
            <a:alphaModFix/>
          </a:blip>
          <a:srcRect l="24127" t="66898" r="25919" b="25925"/>
          <a:stretch/>
        </p:blipFill>
        <p:spPr>
          <a:xfrm>
            <a:off x="810734" y="1911095"/>
            <a:ext cx="2855494" cy="115369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8"/>
          <p:cNvPicPr preferRelativeResize="0"/>
          <p:nvPr/>
        </p:nvPicPr>
        <p:blipFill rotWithShape="1">
          <a:blip r:embed="rId4">
            <a:alphaModFix/>
          </a:blip>
          <a:srcRect l="15000" t="43307" r="32291" b="37052"/>
          <a:stretch/>
        </p:blipFill>
        <p:spPr>
          <a:xfrm>
            <a:off x="211666" y="6160255"/>
            <a:ext cx="3590248" cy="65618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8"/>
          <p:cNvSpPr txBox="1">
            <a:spLocks noGrp="1"/>
          </p:cNvSpPr>
          <p:nvPr>
            <p:ph type="ftr" idx="11"/>
          </p:nvPr>
        </p:nvSpPr>
        <p:spPr>
          <a:xfrm>
            <a:off x="728132" y="6387798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1" i="1">
                <a:solidFill>
                  <a:schemeClr val="lt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kumimoji="0" lang="en-US" sz="1200" b="1" i="1" u="none" strike="noStrike" kern="0" cap="none" spc="0" normalizeH="0" baseline="0" noProof="0" smtClean="0">
                <a:ln>
                  <a:noFill/>
                </a:ln>
                <a:solidFill>
                  <a:srgbClr val="E7E6E6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t>Faculty of Information Systems</a:t>
            </a:r>
            <a:endParaRPr kumimoji="0" lang="en-US" sz="1200" b="1" i="1" u="none" strike="noStrike" kern="0" cap="none" spc="0" normalizeH="0" baseline="0" noProof="0">
              <a:ln>
                <a:noFill/>
              </a:ln>
              <a:solidFill>
                <a:srgbClr val="E7E6E6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4" name="Google Shape;84;p18"/>
          <p:cNvSpPr txBox="1">
            <a:spLocks noGrp="1"/>
          </p:cNvSpPr>
          <p:nvPr>
            <p:ph type="sldNum" idx="12"/>
          </p:nvPr>
        </p:nvSpPr>
        <p:spPr>
          <a:xfrm>
            <a:off x="3098799" y="6335940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0" lvl="1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0" lvl="2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0" lvl="3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0" lvl="4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0" lvl="5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0" lvl="6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0" lvl="7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0" lvl="8" indent="0" algn="r">
              <a:spcBef>
                <a:spcPts val="0"/>
              </a:spcBef>
              <a:buNone/>
              <a:defRPr sz="1200" b="1" i="0" u="none" strike="noStrike" cap="non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Lato"/>
                <a:cs typeface="Lato"/>
                <a:sym typeface="Lato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</p:spTree>
    <p:extLst>
      <p:ext uri="{BB962C8B-B14F-4D97-AF65-F5344CB8AC3E}">
        <p14:creationId xmlns:p14="http://schemas.microsoft.com/office/powerpoint/2010/main" val="25290390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Blank" type="blank">
  <p:cSld name="1_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88" name="Google Shape;88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230321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7" r:id="rId3"/>
    <p:sldLayoutId id="2147483658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4400"/>
              <a:buFont typeface="Lato Black"/>
              <a:buNone/>
              <a:defRPr sz="4400" b="1" i="0" u="none" strike="noStrike" cap="none">
                <a:solidFill>
                  <a:srgbClr val="144E8C"/>
                </a:solidFill>
                <a:latin typeface="Lato Black"/>
                <a:ea typeface="Lato Black"/>
                <a:cs typeface="Lato Black"/>
                <a:sym typeface="Lato Black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1" i="0" u="none" strike="noStrike" cap="non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9"/>
          <p:cNvSpPr txBox="1">
            <a:spLocks noGrp="1"/>
          </p:cNvSpPr>
          <p:nvPr>
            <p:ph type="ftr" idx="11"/>
          </p:nvPr>
        </p:nvSpPr>
        <p:spPr>
          <a:xfrm>
            <a:off x="3581400" y="6356350"/>
            <a:ext cx="5029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Lato"/>
                <a:ea typeface="Lato"/>
                <a:cs typeface="Lato"/>
                <a:sym typeface="Lato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4" name="Google Shape;1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888888"/>
                </a:solidFill>
                <a:effectLst/>
                <a:uLnTx/>
                <a:uFillTx/>
                <a:latin typeface="Calibri"/>
                <a:ea typeface="Calibri"/>
                <a:cs typeface="Calibri"/>
                <a:sym typeface="Calibri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‹#›</a:t>
            </a:fld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888888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1920289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thanhtd@uel.edu.vn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tranduythanh.com/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tif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7F9BAC58-9AA6-A91A-085E-F1421DCCF43A}"/>
              </a:ext>
            </a:extLst>
          </p:cNvPr>
          <p:cNvSpPr txBox="1">
            <a:spLocks/>
          </p:cNvSpPr>
          <p:nvPr/>
        </p:nvSpPr>
        <p:spPr bwMode="auto">
          <a:xfrm>
            <a:off x="2132317" y="1977662"/>
            <a:ext cx="8763000" cy="1904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1" fontAlgn="base" hangingPunct="1">
              <a:spcBef>
                <a:spcPct val="0"/>
              </a:spcBef>
              <a:spcAft>
                <a:spcPct val="0"/>
              </a:spcAft>
              <a:defRPr sz="48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2pPr>
            <a:lvl3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3pPr>
            <a:lvl4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4pPr>
            <a:lvl5pPr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5pPr>
            <a:lvl6pPr marL="4572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6pPr>
            <a:lvl7pPr marL="9144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7pPr>
            <a:lvl8pPr marL="13716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8pPr>
            <a:lvl9pPr marL="1828800" algn="ctr" rtl="0" eaLnBrk="1" fontAlgn="base" hangingPunct="1">
              <a:spcBef>
                <a:spcPct val="0"/>
              </a:spcBef>
              <a:spcAft>
                <a:spcPct val="0"/>
              </a:spcAft>
              <a:defRPr sz="3600" b="1">
                <a:solidFill>
                  <a:schemeClr val="bg1"/>
                </a:solidFill>
                <a:latin typeface="Arial" charset="0"/>
              </a:defRPr>
            </a:lvl9pPr>
          </a:lstStyle>
          <a:p>
            <a:pPr>
              <a:defRPr/>
            </a:pPr>
            <a:r>
              <a:rPr lang="en-US" sz="3200" kern="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Mobile-Commerce </a:t>
            </a:r>
            <a:r>
              <a:rPr lang="en-US" sz="3200" kern="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</a:p>
          <a:p>
            <a:pPr>
              <a:defRPr/>
            </a:pPr>
            <a:r>
              <a:rPr lang="en-US" sz="3200" u="sng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Lesson</a:t>
            </a:r>
            <a:r>
              <a:rPr lang="en-US" sz="32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kern="0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Activity and Intent</a:t>
            </a:r>
            <a:endParaRPr lang="en-US" sz="3200" kern="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2F97E3A-A23C-B018-8E45-86B8BF858946}"/>
              </a:ext>
            </a:extLst>
          </p:cNvPr>
          <p:cNvSpPr txBox="1"/>
          <p:nvPr/>
        </p:nvSpPr>
        <p:spPr>
          <a:xfrm>
            <a:off x="7958878" y="4079089"/>
            <a:ext cx="3781805" cy="212365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200" u="sng">
                <a:latin typeface="Times New Roman" panose="02020603050405020304" pitchFamily="18" charset="0"/>
                <a:cs typeface="Times New Roman" panose="02020603050405020304" pitchFamily="18" charset="0"/>
              </a:rPr>
              <a:t>Lecturer:</a:t>
            </a:r>
          </a:p>
          <a:p>
            <a:pPr algn="ctr"/>
            <a:r>
              <a:rPr lang="en-US" sz="22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 Duy Thanh, </a:t>
            </a:r>
            <a:r>
              <a:rPr lang="en-US" sz="22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Phd</a:t>
            </a:r>
          </a:p>
          <a:p>
            <a:pPr algn="ctr"/>
            <a:r>
              <a:rPr lang="en-US" sz="2200" b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Nguyen Quang Phuc, Msc</a:t>
            </a:r>
            <a:endParaRPr lang="en-US" sz="2200" b="1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Email: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hlinkClick r:id="rId3"/>
              </a:rPr>
              <a:t>thanhtd@uel.edu.vn</a:t>
            </a:r>
            <a:endParaRPr lang="en-US" sz="22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Blog: 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https://tranduythanh.com</a:t>
            </a:r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>
                <a:latin typeface="Times New Roman" panose="02020603050405020304" pitchFamily="18" charset="0"/>
                <a:cs typeface="Times New Roman" panose="02020603050405020304" pitchFamily="18" charset="0"/>
              </a:rPr>
              <a:t>Phone: 0987773061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Lesson Objective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Students understand Activity and Activity lifecycle states</a:t>
            </a:r>
          </a:p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 Intent to open Activities</a:t>
            </a:r>
          </a:p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Know how to transfer data back and forth between Activities</a:t>
            </a:r>
          </a:p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Can use some Implicit Intents, such as Dial Up, Direct Call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145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2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Intent</a:t>
            </a: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Transfer data between Activities</a:t>
            </a:r>
            <a:endParaRPr lang="en-US" sz="28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Font typeface="+mj-lt"/>
              <a:buAutoNum type="arabicPeriod"/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Implicit intent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Outlines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947944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526858" y="935452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i="1" dirty="0">
                <a:latin typeface="Cambria" panose="02040503050406030204" pitchFamily="18" charset="0"/>
              </a:rPr>
              <a:t>In an application there can be many Activities, each Activity can be understood as an application screen.</a:t>
            </a:r>
          </a:p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i="1" dirty="0">
                <a:latin typeface="Cambria" panose="02040503050406030204" pitchFamily="18" charset="0"/>
              </a:rPr>
              <a:t>Each Activity will have its own life cycle completely independent of other Activities.</a:t>
            </a:r>
          </a:p>
          <a:p>
            <a:pPr marL="109538" indent="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chemeClr val="tx1">
                  <a:lumMod val="85000"/>
                  <a:lumOff val="15000"/>
                </a:schemeClr>
              </a:buClr>
              <a:buNone/>
            </a:pPr>
            <a:r>
              <a:rPr lang="en-US" sz="2800" i="1" dirty="0">
                <a:latin typeface="Cambria" panose="02040503050406030204" pitchFamily="18" charset="0"/>
              </a:rPr>
              <a:t>Each Activity called in the application must be declared in the Manifest.</a:t>
            </a:r>
            <a:endParaRPr lang="en-US" sz="2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Activity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51301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Activity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44FF763-E9AF-854F-A57E-32B59EC40E63}"/>
              </a:ext>
            </a:extLst>
          </p:cNvPr>
          <p:cNvGrpSpPr/>
          <p:nvPr/>
        </p:nvGrpSpPr>
        <p:grpSpPr>
          <a:xfrm>
            <a:off x="636182" y="845389"/>
            <a:ext cx="9144000" cy="451694"/>
            <a:chOff x="533400" y="1066618"/>
            <a:chExt cx="8382000" cy="451694"/>
          </a:xfrm>
        </p:grpSpPr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11ED1DAC-9318-6E4C-BBEC-3C31286CE1F1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A7CF58C4-6FC3-9E42-B53B-6D1D6582F586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B8B3E302-0C9D-5F43-916B-829741A6363F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Activity Stack</a:t>
              </a:r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CFE6F3F-2C85-8949-A8A9-CCB5676AE38F}"/>
              </a:ext>
            </a:extLst>
          </p:cNvPr>
          <p:cNvGrpSpPr/>
          <p:nvPr/>
        </p:nvGrpSpPr>
        <p:grpSpPr>
          <a:xfrm>
            <a:off x="1597404" y="1607571"/>
            <a:ext cx="7877978" cy="4504068"/>
            <a:chOff x="381000" y="2125332"/>
            <a:chExt cx="7877978" cy="4504068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235E75B-F611-F94E-9914-21B0DEDAEA7E}"/>
                </a:ext>
              </a:extLst>
            </p:cNvPr>
            <p:cNvSpPr/>
            <p:nvPr/>
          </p:nvSpPr>
          <p:spPr>
            <a:xfrm>
              <a:off x="2709951" y="3124200"/>
              <a:ext cx="2882027" cy="3505200"/>
            </a:xfrm>
            <a:prstGeom prst="rect">
              <a:avLst/>
            </a:prstGeom>
            <a:solidFill>
              <a:srgbClr val="008000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C1DEE92-5B7D-2F4F-A716-A8C406436EC0}"/>
                </a:ext>
              </a:extLst>
            </p:cNvPr>
            <p:cNvSpPr/>
            <p:nvPr/>
          </p:nvSpPr>
          <p:spPr>
            <a:xfrm>
              <a:off x="2924978" y="4479304"/>
              <a:ext cx="2441886" cy="357117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 . .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5F85B93B-FDB0-0041-A85D-3A4E9E4F4058}"/>
                </a:ext>
              </a:extLst>
            </p:cNvPr>
            <p:cNvSpPr/>
            <p:nvPr/>
          </p:nvSpPr>
          <p:spPr>
            <a:xfrm>
              <a:off x="2924979" y="6172200"/>
              <a:ext cx="2441886" cy="357117"/>
            </a:xfrm>
            <a:prstGeom prst="rect">
              <a:avLst/>
            </a:prstGeom>
            <a:solidFill>
              <a:srgbClr val="003300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Activity 1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45A78BA2-9256-E748-BF40-311AFC67582D}"/>
                </a:ext>
              </a:extLst>
            </p:cNvPr>
            <p:cNvSpPr/>
            <p:nvPr/>
          </p:nvSpPr>
          <p:spPr>
            <a:xfrm>
              <a:off x="457200" y="2125332"/>
              <a:ext cx="1755157" cy="451694"/>
            </a:xfrm>
            <a:prstGeom prst="rect">
              <a:avLst/>
            </a:prstGeom>
            <a:solidFill>
              <a:srgbClr val="0F6FC6">
                <a:lumMod val="75000"/>
              </a:srgbClr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New Activity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C9907365-9833-F648-A26C-2B18D3C2E49B}"/>
                </a:ext>
              </a:extLst>
            </p:cNvPr>
            <p:cNvSpPr/>
            <p:nvPr/>
          </p:nvSpPr>
          <p:spPr>
            <a:xfrm>
              <a:off x="2924979" y="5607902"/>
              <a:ext cx="2441886" cy="357117"/>
            </a:xfrm>
            <a:prstGeom prst="rect">
              <a:avLst/>
            </a:prstGeom>
            <a:solidFill>
              <a:srgbClr val="003300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Activity 2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7DEB7E8-DEEF-1342-9B38-395EBD05D769}"/>
                </a:ext>
              </a:extLst>
            </p:cNvPr>
            <p:cNvSpPr/>
            <p:nvPr/>
          </p:nvSpPr>
          <p:spPr>
            <a:xfrm>
              <a:off x="2924979" y="5043603"/>
              <a:ext cx="2441886" cy="357117"/>
            </a:xfrm>
            <a:prstGeom prst="rect">
              <a:avLst/>
            </a:prstGeom>
            <a:solidFill>
              <a:srgbClr val="003300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Activity 3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728D2C8E-D5DB-3C4B-80CF-2F0CC55BE088}"/>
                </a:ext>
              </a:extLst>
            </p:cNvPr>
            <p:cNvSpPr/>
            <p:nvPr/>
          </p:nvSpPr>
          <p:spPr>
            <a:xfrm>
              <a:off x="2924979" y="3915005"/>
              <a:ext cx="2441886" cy="357117"/>
            </a:xfrm>
            <a:prstGeom prst="rect">
              <a:avLst/>
            </a:prstGeom>
            <a:solidFill>
              <a:srgbClr val="003300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Activity n-1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D1C5F27-99C3-FE42-9FA2-BC3CDB9FA1E3}"/>
                </a:ext>
              </a:extLst>
            </p:cNvPr>
            <p:cNvSpPr/>
            <p:nvPr/>
          </p:nvSpPr>
          <p:spPr>
            <a:xfrm>
              <a:off x="2924979" y="3350706"/>
              <a:ext cx="2441886" cy="357117"/>
            </a:xfrm>
            <a:prstGeom prst="rect">
              <a:avLst/>
            </a:prstGeom>
            <a:solidFill>
              <a:srgbClr val="003300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Last Running Activity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D1D63F62-642C-804E-80B9-AE5C35E9848A}"/>
                </a:ext>
              </a:extLst>
            </p:cNvPr>
            <p:cNvSpPr/>
            <p:nvPr/>
          </p:nvSpPr>
          <p:spPr>
            <a:xfrm>
              <a:off x="3019545" y="2143593"/>
              <a:ext cx="2252751" cy="451694"/>
            </a:xfrm>
            <a:prstGeom prst="rect">
              <a:avLst/>
            </a:prstGeom>
            <a:solidFill>
              <a:srgbClr val="941651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Running Activity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9F167DB-2E9B-7148-933F-DA19CBDAC1F6}"/>
                </a:ext>
              </a:extLst>
            </p:cNvPr>
            <p:cNvSpPr txBox="1"/>
            <p:nvPr/>
          </p:nvSpPr>
          <p:spPr>
            <a:xfrm>
              <a:off x="1371600" y="2667000"/>
              <a:ext cx="175515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New Activity started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0F6B74D-959B-3144-8B25-9120FAF163EC}"/>
                </a:ext>
              </a:extLst>
            </p:cNvPr>
            <p:cNvSpPr txBox="1"/>
            <p:nvPr/>
          </p:nvSpPr>
          <p:spPr>
            <a:xfrm>
              <a:off x="5562600" y="2630269"/>
              <a:ext cx="2680572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Back Button pushed or Running Activity closed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8344824-6444-1644-A9E8-1C28B777FC6A}"/>
                </a:ext>
              </a:extLst>
            </p:cNvPr>
            <p:cNvSpPr txBox="1"/>
            <p:nvPr/>
          </p:nvSpPr>
          <p:spPr>
            <a:xfrm>
              <a:off x="1062308" y="5320745"/>
              <a:ext cx="14906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Previous activities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7F3C2637-2D7D-7843-8725-0583FB5BBFAF}"/>
                </a:ext>
              </a:extLst>
            </p:cNvPr>
            <p:cNvSpPr txBox="1"/>
            <p:nvPr/>
          </p:nvSpPr>
          <p:spPr>
            <a:xfrm>
              <a:off x="381000" y="4657862"/>
              <a:ext cx="218297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200" b="1" i="0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Activity Stack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15428C65-22CC-C54C-8C25-44A70E16B6DF}"/>
                </a:ext>
              </a:extLst>
            </p:cNvPr>
            <p:cNvSpPr txBox="1"/>
            <p:nvPr/>
          </p:nvSpPr>
          <p:spPr>
            <a:xfrm>
              <a:off x="5943600" y="5400720"/>
              <a:ext cx="231537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Removed to free resources</a:t>
              </a:r>
            </a:p>
          </p:txBody>
        </p:sp>
        <p:sp>
          <p:nvSpPr>
            <p:cNvPr id="36" name="Right Arrow 35">
              <a:extLst>
                <a:ext uri="{FF2B5EF4-FFF2-40B4-BE49-F238E27FC236}">
                  <a16:creationId xmlns:a16="http://schemas.microsoft.com/office/drawing/2014/main" id="{B5EE5C03-CE75-E049-BA34-1EF5A51F1DDC}"/>
                </a:ext>
              </a:extLst>
            </p:cNvPr>
            <p:cNvSpPr/>
            <p:nvPr/>
          </p:nvSpPr>
          <p:spPr>
            <a:xfrm>
              <a:off x="2332822" y="2286000"/>
              <a:ext cx="562778" cy="161881"/>
            </a:xfrm>
            <a:prstGeom prst="rightArrow">
              <a:avLst/>
            </a:prstGeom>
            <a:solidFill>
              <a:sysClr val="windowText" lastClr="000000">
                <a:lumMod val="95000"/>
                <a:lumOff val="5000"/>
              </a:sysClr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37" name="Right Arrow 36">
              <a:extLst>
                <a:ext uri="{FF2B5EF4-FFF2-40B4-BE49-F238E27FC236}">
                  <a16:creationId xmlns:a16="http://schemas.microsoft.com/office/drawing/2014/main" id="{94728B4E-B91A-9342-A4F0-8A89FA9FBEF2}"/>
                </a:ext>
              </a:extLst>
            </p:cNvPr>
            <p:cNvSpPr/>
            <p:nvPr/>
          </p:nvSpPr>
          <p:spPr>
            <a:xfrm rot="5400000">
              <a:off x="2956297" y="2760645"/>
              <a:ext cx="451693" cy="172797"/>
            </a:xfrm>
            <a:prstGeom prst="rightArrow">
              <a:avLst/>
            </a:prstGeom>
            <a:solidFill>
              <a:sysClr val="windowText" lastClr="000000">
                <a:lumMod val="95000"/>
                <a:lumOff val="5000"/>
              </a:sysClr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38" name="Right Arrow 37">
              <a:extLst>
                <a:ext uri="{FF2B5EF4-FFF2-40B4-BE49-F238E27FC236}">
                  <a16:creationId xmlns:a16="http://schemas.microsoft.com/office/drawing/2014/main" id="{64D98BDF-FEC2-0741-B774-F7F7D5B43213}"/>
                </a:ext>
              </a:extLst>
            </p:cNvPr>
            <p:cNvSpPr/>
            <p:nvPr/>
          </p:nvSpPr>
          <p:spPr>
            <a:xfrm rot="16200000">
              <a:off x="4960051" y="2773345"/>
              <a:ext cx="451693" cy="172797"/>
            </a:xfrm>
            <a:prstGeom prst="rightArrow">
              <a:avLst/>
            </a:prstGeom>
            <a:solidFill>
              <a:sysClr val="windowText" lastClr="000000">
                <a:lumMod val="95000"/>
                <a:lumOff val="5000"/>
              </a:sysClr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39" name="Right Arrow 38">
              <a:extLst>
                <a:ext uri="{FF2B5EF4-FFF2-40B4-BE49-F238E27FC236}">
                  <a16:creationId xmlns:a16="http://schemas.microsoft.com/office/drawing/2014/main" id="{72BDE365-D46F-0345-B411-6393F3864150}"/>
                </a:ext>
              </a:extLst>
            </p:cNvPr>
            <p:cNvSpPr/>
            <p:nvPr/>
          </p:nvSpPr>
          <p:spPr>
            <a:xfrm>
              <a:off x="5664361" y="5723885"/>
              <a:ext cx="562778" cy="161881"/>
            </a:xfrm>
            <a:prstGeom prst="rightArrow">
              <a:avLst/>
            </a:prstGeom>
            <a:solidFill>
              <a:sysClr val="windowText" lastClr="000000">
                <a:lumMod val="95000"/>
                <a:lumOff val="5000"/>
              </a:sysClr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55764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5078270" cy="508000"/>
            <a:chOff x="789624" y="1191463"/>
            <a:chExt cx="507827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487729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1. Activity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4FF763-E9AF-854F-A57E-32B59EC40E63}"/>
              </a:ext>
            </a:extLst>
          </p:cNvPr>
          <p:cNvGrpSpPr/>
          <p:nvPr/>
        </p:nvGrpSpPr>
        <p:grpSpPr>
          <a:xfrm>
            <a:off x="643270" y="860530"/>
            <a:ext cx="91440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11ED1DAC-9318-6E4C-BBEC-3C31286CE1F1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A7CF58C4-6FC3-9E42-B53B-6D1D6582F586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B8B3E302-0C9D-5F43-916B-829741A6363F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tabLst/>
                <a:defRPr/>
              </a:pPr>
              <a:r>
                <a:rPr kumimoji="0" lang="en-US" sz="2600" b="1" i="0" u="none" strike="noStrike" kern="1200" cap="none" spc="0" normalizeH="0" baseline="0" noProof="0">
                  <a:ln>
                    <a:noFill/>
                  </a:ln>
                  <a:solidFill>
                    <a:srgbClr val="009DD9">
                      <a:lumMod val="75000"/>
                    </a:srgbClr>
                  </a:solidFill>
                  <a:effectLst/>
                  <a:uLnTx/>
                  <a:uFillTx/>
                  <a:latin typeface="Arial" pitchFamily="34" charset="0"/>
                  <a:cs typeface="Arial" pitchFamily="34" charset="0"/>
                  <a:sym typeface="Muli"/>
                </a:rPr>
                <a:t>Activity Lifecycle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E6DDFD8-AD55-8C43-84F0-D8C9EE1EE6C9}"/>
              </a:ext>
            </a:extLst>
          </p:cNvPr>
          <p:cNvGrpSpPr/>
          <p:nvPr/>
        </p:nvGrpSpPr>
        <p:grpSpPr>
          <a:xfrm>
            <a:off x="1752601" y="609600"/>
            <a:ext cx="8686795" cy="6172200"/>
            <a:chOff x="228605" y="685800"/>
            <a:chExt cx="8686795" cy="6172200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207E80D-9276-944D-85D7-5EF0D173D167}"/>
                </a:ext>
              </a:extLst>
            </p:cNvPr>
            <p:cNvCxnSpPr>
              <a:cxnSpLocks/>
            </p:cNvCxnSpPr>
            <p:nvPr/>
          </p:nvCxnSpPr>
          <p:spPr>
            <a:xfrm>
              <a:off x="4679574" y="1306947"/>
              <a:ext cx="1" cy="307735"/>
            </a:xfrm>
            <a:prstGeom prst="straightConnector1">
              <a:avLst/>
            </a:prstGeom>
            <a:noFill/>
            <a:ln w="28575" cap="flat" cmpd="sng" algn="ctr">
              <a:solidFill>
                <a:srgbClr val="0F6FC6"/>
              </a:solidFill>
              <a:prstDash val="solid"/>
              <a:tailEnd type="triangle"/>
            </a:ln>
            <a:effectLst/>
          </p:spPr>
        </p:cxn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A3AC5BFD-2CFB-6B41-884A-3C0EDE9BF3DF}"/>
                </a:ext>
              </a:extLst>
            </p:cNvPr>
            <p:cNvGrpSpPr/>
            <p:nvPr/>
          </p:nvGrpSpPr>
          <p:grpSpPr>
            <a:xfrm>
              <a:off x="228605" y="685800"/>
              <a:ext cx="8686795" cy="6172200"/>
              <a:chOff x="228605" y="685800"/>
              <a:chExt cx="8686795" cy="6172200"/>
            </a:xfrm>
          </p:grpSpPr>
          <p:sp>
            <p:nvSpPr>
              <p:cNvPr id="23" name="Terminator 4">
                <a:extLst>
                  <a:ext uri="{FF2B5EF4-FFF2-40B4-BE49-F238E27FC236}">
                    <a16:creationId xmlns:a16="http://schemas.microsoft.com/office/drawing/2014/main" id="{57F016AA-6D9C-BE43-9D6B-C5AA0079C7FB}"/>
                  </a:ext>
                </a:extLst>
              </p:cNvPr>
              <p:cNvSpPr/>
              <p:nvPr/>
            </p:nvSpPr>
            <p:spPr>
              <a:xfrm>
                <a:off x="3886200" y="685800"/>
                <a:ext cx="1676400" cy="609600"/>
              </a:xfrm>
              <a:prstGeom prst="flowChartTerminator">
                <a:avLst/>
              </a:prstGeom>
              <a:solidFill>
                <a:srgbClr val="0F6FC6">
                  <a:lumMod val="75000"/>
                </a:srgbClr>
              </a:solidFill>
              <a:ln w="19050" cap="flat" cmpd="sng" algn="ctr">
                <a:solidFill>
                  <a:srgbClr val="0F6FC6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Activity launched</a:t>
                </a:r>
              </a:p>
            </p:txBody>
          </p:sp>
          <p:sp>
            <p:nvSpPr>
              <p:cNvPr id="24" name="Terminator 10">
                <a:extLst>
                  <a:ext uri="{FF2B5EF4-FFF2-40B4-BE49-F238E27FC236}">
                    <a16:creationId xmlns:a16="http://schemas.microsoft.com/office/drawing/2014/main" id="{A8C0886D-FA2F-114C-B56A-56F2A3495A09}"/>
                  </a:ext>
                </a:extLst>
              </p:cNvPr>
              <p:cNvSpPr/>
              <p:nvPr/>
            </p:nvSpPr>
            <p:spPr>
              <a:xfrm>
                <a:off x="3886200" y="6172200"/>
                <a:ext cx="1676400" cy="609600"/>
              </a:xfrm>
              <a:prstGeom prst="flowChartTerminator">
                <a:avLst/>
              </a:prstGeom>
              <a:solidFill>
                <a:srgbClr val="94165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Activity shutdown</a:t>
                </a:r>
              </a:p>
            </p:txBody>
          </p:sp>
          <p:sp>
            <p:nvSpPr>
              <p:cNvPr id="25" name="Terminator 11">
                <a:extLst>
                  <a:ext uri="{FF2B5EF4-FFF2-40B4-BE49-F238E27FC236}">
                    <a16:creationId xmlns:a16="http://schemas.microsoft.com/office/drawing/2014/main" id="{0F3F2B32-3DE3-8743-A0D1-A953755BBCDD}"/>
                  </a:ext>
                </a:extLst>
              </p:cNvPr>
              <p:cNvSpPr/>
              <p:nvPr/>
            </p:nvSpPr>
            <p:spPr>
              <a:xfrm>
                <a:off x="3850341" y="3393141"/>
                <a:ext cx="1676400" cy="609600"/>
              </a:xfrm>
              <a:prstGeom prst="flowChartTerminator">
                <a:avLst/>
              </a:prstGeom>
              <a:solidFill>
                <a:srgbClr val="003300"/>
              </a:solidFill>
              <a:ln w="19050" cap="flat" cmpd="sng" algn="ctr">
                <a:solidFill>
                  <a:srgbClr val="0F6FC6">
                    <a:shade val="50000"/>
                  </a:srgb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Activity running</a:t>
                </a:r>
              </a:p>
            </p:txBody>
          </p:sp>
          <p:sp>
            <p:nvSpPr>
              <p:cNvPr id="26" name="Terminator 12">
                <a:extLst>
                  <a:ext uri="{FF2B5EF4-FFF2-40B4-BE49-F238E27FC236}">
                    <a16:creationId xmlns:a16="http://schemas.microsoft.com/office/drawing/2014/main" id="{33986F41-B5E5-DF4A-B01F-E9BD057CBC2C}"/>
                  </a:ext>
                </a:extLst>
              </p:cNvPr>
              <p:cNvSpPr/>
              <p:nvPr/>
            </p:nvSpPr>
            <p:spPr>
              <a:xfrm>
                <a:off x="506506" y="2726631"/>
                <a:ext cx="1676400" cy="609600"/>
              </a:xfrm>
              <a:prstGeom prst="flowChartTerminator">
                <a:avLst/>
              </a:prstGeom>
              <a:solidFill>
                <a:srgbClr val="941651"/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App process killed</a:t>
                </a:r>
              </a:p>
            </p:txBody>
          </p:sp>
          <p:sp>
            <p:nvSpPr>
              <p:cNvPr id="27" name="Rounded Rectangle 26">
                <a:extLst>
                  <a:ext uri="{FF2B5EF4-FFF2-40B4-BE49-F238E27FC236}">
                    <a16:creationId xmlns:a16="http://schemas.microsoft.com/office/drawing/2014/main" id="{FC3ACB16-4E75-DE4F-9064-49F2790E5D0B}"/>
                  </a:ext>
                </a:extLst>
              </p:cNvPr>
              <p:cNvSpPr/>
              <p:nvPr/>
            </p:nvSpPr>
            <p:spPr>
              <a:xfrm>
                <a:off x="3848100" y="1600200"/>
                <a:ext cx="1676400" cy="381000"/>
              </a:xfrm>
              <a:prstGeom prst="roundRect">
                <a:avLst/>
              </a:prstGeom>
              <a:solidFill>
                <a:sysClr val="window" lastClr="FFFFFF">
                  <a:lumMod val="85000"/>
                </a:sysClr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onCreate()</a:t>
                </a:r>
              </a:p>
            </p:txBody>
          </p:sp>
          <p:sp>
            <p:nvSpPr>
              <p:cNvPr id="28" name="Rounded Rectangle 27">
                <a:extLst>
                  <a:ext uri="{FF2B5EF4-FFF2-40B4-BE49-F238E27FC236}">
                    <a16:creationId xmlns:a16="http://schemas.microsoft.com/office/drawing/2014/main" id="{091FECED-8B1E-824A-B570-FD49CABE3E85}"/>
                  </a:ext>
                </a:extLst>
              </p:cNvPr>
              <p:cNvSpPr/>
              <p:nvPr/>
            </p:nvSpPr>
            <p:spPr>
              <a:xfrm>
                <a:off x="3850341" y="2209800"/>
                <a:ext cx="1676400" cy="381000"/>
              </a:xfrm>
              <a:prstGeom prst="roundRect">
                <a:avLst/>
              </a:prstGeom>
              <a:solidFill>
                <a:sysClr val="window" lastClr="FFFFFF">
                  <a:lumMod val="85000"/>
                </a:sysClr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onStart()</a:t>
                </a:r>
              </a:p>
            </p:txBody>
          </p:sp>
          <p:sp>
            <p:nvSpPr>
              <p:cNvPr id="29" name="Rounded Rectangle 28">
                <a:extLst>
                  <a:ext uri="{FF2B5EF4-FFF2-40B4-BE49-F238E27FC236}">
                    <a16:creationId xmlns:a16="http://schemas.microsoft.com/office/drawing/2014/main" id="{96BC2CB6-0C86-EE45-A0E4-6CFFAB6B6F0B}"/>
                  </a:ext>
                </a:extLst>
              </p:cNvPr>
              <p:cNvSpPr/>
              <p:nvPr/>
            </p:nvSpPr>
            <p:spPr>
              <a:xfrm>
                <a:off x="3848100" y="2819400"/>
                <a:ext cx="1676400" cy="381000"/>
              </a:xfrm>
              <a:prstGeom prst="roundRect">
                <a:avLst/>
              </a:prstGeom>
              <a:solidFill>
                <a:sysClr val="window" lastClr="FFFFFF">
                  <a:lumMod val="85000"/>
                </a:sysClr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onResume()</a:t>
                </a:r>
              </a:p>
            </p:txBody>
          </p:sp>
          <p:sp>
            <p:nvSpPr>
              <p:cNvPr id="30" name="Rounded Rectangle 29">
                <a:extLst>
                  <a:ext uri="{FF2B5EF4-FFF2-40B4-BE49-F238E27FC236}">
                    <a16:creationId xmlns:a16="http://schemas.microsoft.com/office/drawing/2014/main" id="{64BB1B76-236D-4F49-A2AC-0DCE3F459B06}"/>
                  </a:ext>
                </a:extLst>
              </p:cNvPr>
              <p:cNvSpPr/>
              <p:nvPr/>
            </p:nvSpPr>
            <p:spPr>
              <a:xfrm>
                <a:off x="3886200" y="4267200"/>
                <a:ext cx="1676400" cy="381000"/>
              </a:xfrm>
              <a:prstGeom prst="roundRect">
                <a:avLst/>
              </a:prstGeom>
              <a:solidFill>
                <a:sysClr val="window" lastClr="FFFFFF">
                  <a:lumMod val="85000"/>
                </a:sysClr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onPause()</a:t>
                </a:r>
              </a:p>
            </p:txBody>
          </p:sp>
          <p:sp>
            <p:nvSpPr>
              <p:cNvPr id="31" name="Rounded Rectangle 30">
                <a:extLst>
                  <a:ext uri="{FF2B5EF4-FFF2-40B4-BE49-F238E27FC236}">
                    <a16:creationId xmlns:a16="http://schemas.microsoft.com/office/drawing/2014/main" id="{C5572117-5FF7-034C-BF2C-7B4F1A2C609D}"/>
                  </a:ext>
                </a:extLst>
              </p:cNvPr>
              <p:cNvSpPr/>
              <p:nvPr/>
            </p:nvSpPr>
            <p:spPr>
              <a:xfrm>
                <a:off x="3886200" y="4876800"/>
                <a:ext cx="1676400" cy="381000"/>
              </a:xfrm>
              <a:prstGeom prst="roundRect">
                <a:avLst/>
              </a:prstGeom>
              <a:solidFill>
                <a:sysClr val="window" lastClr="FFFFFF">
                  <a:lumMod val="85000"/>
                </a:sysClr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onStop()</a:t>
                </a:r>
              </a:p>
            </p:txBody>
          </p:sp>
          <p:sp>
            <p:nvSpPr>
              <p:cNvPr id="32" name="Rounded Rectangle 31">
                <a:extLst>
                  <a:ext uri="{FF2B5EF4-FFF2-40B4-BE49-F238E27FC236}">
                    <a16:creationId xmlns:a16="http://schemas.microsoft.com/office/drawing/2014/main" id="{DF8A647C-5786-614A-B384-23A2B90CB084}"/>
                  </a:ext>
                </a:extLst>
              </p:cNvPr>
              <p:cNvSpPr/>
              <p:nvPr/>
            </p:nvSpPr>
            <p:spPr>
              <a:xfrm>
                <a:off x="3886200" y="5562600"/>
                <a:ext cx="1676400" cy="381000"/>
              </a:xfrm>
              <a:prstGeom prst="roundRect">
                <a:avLst/>
              </a:prstGeom>
              <a:solidFill>
                <a:sysClr val="window" lastClr="FFFFFF">
                  <a:lumMod val="85000"/>
                </a:sysClr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onDestroy()</a:t>
                </a:r>
              </a:p>
            </p:txBody>
          </p:sp>
          <p:sp>
            <p:nvSpPr>
              <p:cNvPr id="33" name="Rounded Rectangle 32">
                <a:extLst>
                  <a:ext uri="{FF2B5EF4-FFF2-40B4-BE49-F238E27FC236}">
                    <a16:creationId xmlns:a16="http://schemas.microsoft.com/office/drawing/2014/main" id="{436C02B4-89DA-A34E-B726-4BB99C312349}"/>
                  </a:ext>
                </a:extLst>
              </p:cNvPr>
              <p:cNvSpPr/>
              <p:nvPr/>
            </p:nvSpPr>
            <p:spPr>
              <a:xfrm>
                <a:off x="6934200" y="2242920"/>
                <a:ext cx="1676400" cy="381000"/>
              </a:xfrm>
              <a:prstGeom prst="roundRect">
                <a:avLst/>
              </a:prstGeom>
              <a:solidFill>
                <a:sysClr val="window" lastClr="FFFFFF">
                  <a:lumMod val="85000"/>
                </a:sysClr>
              </a:solidFill>
              <a:ln w="19050" cap="flat" cmpd="sng" algn="ctr">
                <a:noFill/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onRestart()</a:t>
                </a:r>
              </a:p>
            </p:txBody>
          </p: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A4A6A69F-DF24-0E48-932A-3A0CE508BBDF}"/>
                  </a:ext>
                </a:extLst>
              </p:cNvPr>
              <p:cNvCxnSpPr>
                <a:stCxn id="30" idx="3"/>
              </p:cNvCxnSpPr>
              <p:nvPr/>
            </p:nvCxnSpPr>
            <p:spPr>
              <a:xfrm>
                <a:off x="5562600" y="4457700"/>
                <a:ext cx="914400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</a:ln>
              <a:effectLst/>
            </p:spPr>
          </p:cxnSp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E698E210-FCFF-C54F-A7F3-FD5A0C6726E4}"/>
                  </a:ext>
                </a:extLst>
              </p:cNvPr>
              <p:cNvCxnSpPr/>
              <p:nvPr/>
            </p:nvCxnSpPr>
            <p:spPr>
              <a:xfrm flipV="1">
                <a:off x="6477000" y="4267200"/>
                <a:ext cx="0" cy="190500"/>
              </a:xfrm>
              <a:prstGeom prst="line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</a:ln>
              <a:effectLst/>
            </p:spPr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6FC1D1C-2205-A041-BE3D-F98D8707EBAD}"/>
                  </a:ext>
                </a:extLst>
              </p:cNvPr>
              <p:cNvCxnSpPr/>
              <p:nvPr/>
            </p:nvCxnSpPr>
            <p:spPr>
              <a:xfrm flipV="1">
                <a:off x="6477000" y="3009900"/>
                <a:ext cx="0" cy="705971"/>
              </a:xfrm>
              <a:prstGeom prst="line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</a:ln>
              <a:effectLst/>
            </p:spPr>
          </p:cxn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0E32D289-4BE7-4E47-93DF-9A3B226FEE38}"/>
                  </a:ext>
                </a:extLst>
              </p:cNvPr>
              <p:cNvCxnSpPr/>
              <p:nvPr/>
            </p:nvCxnSpPr>
            <p:spPr>
              <a:xfrm flipH="1">
                <a:off x="5562600" y="3009900"/>
                <a:ext cx="914400" cy="0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9FB1987-3A64-8B4E-A467-F7847DD71846}"/>
                  </a:ext>
                </a:extLst>
              </p:cNvPr>
              <p:cNvSpPr txBox="1"/>
              <p:nvPr/>
            </p:nvSpPr>
            <p:spPr>
              <a:xfrm>
                <a:off x="5715000" y="3682424"/>
                <a:ext cx="175259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1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User returns to the activity</a:t>
                </a:r>
              </a:p>
            </p:txBody>
          </p: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64A4E679-1192-7444-A6EF-559EA8601366}"/>
                  </a:ext>
                </a:extLst>
              </p:cNvPr>
              <p:cNvCxnSpPr>
                <a:cxnSpLocks/>
                <a:stCxn id="31" idx="3"/>
              </p:cNvCxnSpPr>
              <p:nvPr/>
            </p:nvCxnSpPr>
            <p:spPr>
              <a:xfrm>
                <a:off x="5562600" y="5067300"/>
                <a:ext cx="2541494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</a:ln>
              <a:effectLst/>
            </p:spPr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0CB8344B-A3C2-B64F-9332-A02D67856F0D}"/>
                  </a:ext>
                </a:extLst>
              </p:cNvPr>
              <p:cNvCxnSpPr/>
              <p:nvPr/>
            </p:nvCxnSpPr>
            <p:spPr>
              <a:xfrm flipV="1">
                <a:off x="8104094" y="4876800"/>
                <a:ext cx="0" cy="190500"/>
              </a:xfrm>
              <a:prstGeom prst="line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</a:ln>
              <a:effectLst/>
            </p:spPr>
          </p:cxnSp>
          <p:cxnSp>
            <p:nvCxnSpPr>
              <p:cNvPr id="41" name="Straight Arrow Connector 40">
                <a:extLst>
                  <a:ext uri="{FF2B5EF4-FFF2-40B4-BE49-F238E27FC236}">
                    <a16:creationId xmlns:a16="http://schemas.microsoft.com/office/drawing/2014/main" id="{76A84231-39DC-994F-9BE3-A301BB2856EF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104094" y="2623920"/>
                <a:ext cx="0" cy="1643279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42" name="Straight Arrow Connector 41">
                <a:extLst>
                  <a:ext uri="{FF2B5EF4-FFF2-40B4-BE49-F238E27FC236}">
                    <a16:creationId xmlns:a16="http://schemas.microsoft.com/office/drawing/2014/main" id="{D6967AF6-665E-8C46-BC99-B7F8521FFC0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562600" y="2433420"/>
                <a:ext cx="1332381" cy="0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D0D258AF-C21C-2646-9D8F-8D8149B95402}"/>
                  </a:ext>
                </a:extLst>
              </p:cNvPr>
              <p:cNvSpPr txBox="1"/>
              <p:nvPr/>
            </p:nvSpPr>
            <p:spPr>
              <a:xfrm>
                <a:off x="7131429" y="4272975"/>
                <a:ext cx="175259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1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User navigates to the activity</a:t>
                </a:r>
              </a:p>
            </p:txBody>
          </p: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7A1C63F3-C3C1-B341-B3DA-5B3759D358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133600" y="4457700"/>
                <a:ext cx="1752600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</a:ln>
              <a:effectLst/>
            </p:spPr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6C5C347D-3779-D340-8999-2811ECB65B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44706" y="5067300"/>
                <a:ext cx="2541494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</a:ln>
              <a:effectLst/>
            </p:spPr>
          </p:cxn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3623E83F-7C2A-6A4F-A485-CE457597BC1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26777" y="3421890"/>
                <a:ext cx="0" cy="845310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  <a:tailEnd type="triangle"/>
              </a:ln>
              <a:effectLst/>
            </p:spPr>
          </p:cxnSp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CB6C6D61-19FA-3649-9568-C728B45C108B}"/>
                  </a:ext>
                </a:extLst>
              </p:cNvPr>
              <p:cNvSpPr txBox="1"/>
              <p:nvPr/>
            </p:nvSpPr>
            <p:spPr>
              <a:xfrm>
                <a:off x="228605" y="4274403"/>
                <a:ext cx="220979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1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Apps with higher priority need memory</a:t>
                </a:r>
              </a:p>
            </p:txBody>
          </p: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D117DFA2-0675-5641-A4FD-8240CE27AB66}"/>
                  </a:ext>
                </a:extLst>
              </p:cNvPr>
              <p:cNvCxnSpPr/>
              <p:nvPr/>
            </p:nvCxnSpPr>
            <p:spPr>
              <a:xfrm flipV="1">
                <a:off x="1344706" y="4876800"/>
                <a:ext cx="0" cy="190500"/>
              </a:xfrm>
              <a:prstGeom prst="line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</a:ln>
              <a:effectLst/>
            </p:spPr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AD1F5104-B289-4D4C-99E2-48D7519ED770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326777" y="2476500"/>
                <a:ext cx="0" cy="190500"/>
              </a:xfrm>
              <a:prstGeom prst="line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</a:ln>
              <a:effectLst/>
            </p:spPr>
          </p:cxn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7B12C86-1DBE-9143-8B10-18B2939C4788}"/>
                  </a:ext>
                </a:extLst>
              </p:cNvPr>
              <p:cNvSpPr txBox="1"/>
              <p:nvPr/>
            </p:nvSpPr>
            <p:spPr>
              <a:xfrm>
                <a:off x="544614" y="1905000"/>
                <a:ext cx="175259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1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User navigates to the activity</a:t>
                </a:r>
              </a:p>
            </p:txBody>
          </p: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72D27211-AE9B-7244-8F9F-56240040494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333501" y="1788459"/>
                <a:ext cx="2420470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  <a:headEnd type="none" w="med" len="med"/>
                <a:tailEnd type="triangle" w="med" len="med"/>
              </a:ln>
              <a:effectLst/>
            </p:spPr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0E491B5E-FD92-F043-9985-D143B83552BF}"/>
                  </a:ext>
                </a:extLst>
              </p:cNvPr>
              <p:cNvCxnSpPr/>
              <p:nvPr/>
            </p:nvCxnSpPr>
            <p:spPr>
              <a:xfrm flipV="1">
                <a:off x="1326777" y="1791683"/>
                <a:ext cx="0" cy="190500"/>
              </a:xfrm>
              <a:prstGeom prst="line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</a:ln>
              <a:effectLst/>
            </p:spPr>
          </p:cxnSp>
          <p:cxnSp>
            <p:nvCxnSpPr>
              <p:cNvPr id="53" name="Straight Arrow Connector 52">
                <a:extLst>
                  <a:ext uri="{FF2B5EF4-FFF2-40B4-BE49-F238E27FC236}">
                    <a16:creationId xmlns:a16="http://schemas.microsoft.com/office/drawing/2014/main" id="{50203E22-2949-E84D-ACB2-8EA8CAAFD90C}"/>
                  </a:ext>
                </a:extLst>
              </p:cNvPr>
              <p:cNvCxnSpPr>
                <a:cxnSpLocks/>
                <a:endCxn id="28" idx="0"/>
              </p:cNvCxnSpPr>
              <p:nvPr/>
            </p:nvCxnSpPr>
            <p:spPr>
              <a:xfrm>
                <a:off x="4686299" y="1959562"/>
                <a:ext cx="2242" cy="250238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54" name="Straight Arrow Connector 53">
                <a:extLst>
                  <a:ext uri="{FF2B5EF4-FFF2-40B4-BE49-F238E27FC236}">
                    <a16:creationId xmlns:a16="http://schemas.microsoft.com/office/drawing/2014/main" id="{F3D0484E-D7CD-0D47-A6E5-8337AFB5CFB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7330" y="2579981"/>
                <a:ext cx="2242" cy="250238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55" name="Straight Arrow Connector 54">
                <a:extLst>
                  <a:ext uri="{FF2B5EF4-FFF2-40B4-BE49-F238E27FC236}">
                    <a16:creationId xmlns:a16="http://schemas.microsoft.com/office/drawing/2014/main" id="{1912F3BC-1EB6-504D-852C-34DA409887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7330" y="3171652"/>
                <a:ext cx="2242" cy="250238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56" name="Straight Arrow Connector 55">
                <a:extLst>
                  <a:ext uri="{FF2B5EF4-FFF2-40B4-BE49-F238E27FC236}">
                    <a16:creationId xmlns:a16="http://schemas.microsoft.com/office/drawing/2014/main" id="{C43DE2EE-02A7-CC45-A96C-7C65D897D0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86299" y="4016961"/>
                <a:ext cx="2242" cy="250238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57" name="Straight Arrow Connector 56">
                <a:extLst>
                  <a:ext uri="{FF2B5EF4-FFF2-40B4-BE49-F238E27FC236}">
                    <a16:creationId xmlns:a16="http://schemas.microsoft.com/office/drawing/2014/main" id="{B39FE274-4C94-3542-9BB3-D01420716B3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72842" y="4662421"/>
                <a:ext cx="2242" cy="250238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58" name="Straight Arrow Connector 57">
                <a:extLst>
                  <a:ext uri="{FF2B5EF4-FFF2-40B4-BE49-F238E27FC236}">
                    <a16:creationId xmlns:a16="http://schemas.microsoft.com/office/drawing/2014/main" id="{8B89AB8E-4763-404D-9859-A9F67CD0E2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86289" y="5285081"/>
                <a:ext cx="2242" cy="250238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E39AE1B9-E5F8-664B-87F2-FDC4DD3918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686295" y="5943600"/>
                <a:ext cx="2242" cy="250238"/>
              </a:xfrm>
              <a:prstGeom prst="straightConnector1">
                <a:avLst/>
              </a:prstGeom>
              <a:noFill/>
              <a:ln w="28575" cap="flat" cmpd="sng" algn="ctr">
                <a:solidFill>
                  <a:srgbClr val="0F6FC6"/>
                </a:solidFill>
                <a:prstDash val="solid"/>
                <a:tailEnd type="triangle"/>
              </a:ln>
              <a:effectLst/>
            </p:spPr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C60FB02E-5AF0-8349-95D2-245135A8D343}"/>
                  </a:ext>
                </a:extLst>
              </p:cNvPr>
              <p:cNvCxnSpPr/>
              <p:nvPr/>
            </p:nvCxnSpPr>
            <p:spPr>
              <a:xfrm flipH="1">
                <a:off x="3505200" y="4142080"/>
                <a:ext cx="1181089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441F0EE3-8195-3A4B-A3DE-6788BF67A4C4}"/>
                  </a:ext>
                </a:extLst>
              </p:cNvPr>
              <p:cNvCxnSpPr/>
              <p:nvPr/>
            </p:nvCxnSpPr>
            <p:spPr>
              <a:xfrm>
                <a:off x="3505200" y="4142080"/>
                <a:ext cx="0" cy="1611020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9D0B8B2E-AB98-4D45-A00B-0F91A2AE1E5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297209" y="5753486"/>
                <a:ext cx="1207993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07AC8E3E-FBD4-A941-9FEB-14DE9C58F445}"/>
                  </a:ext>
                </a:extLst>
              </p:cNvPr>
              <p:cNvSpPr txBox="1"/>
              <p:nvPr/>
            </p:nvSpPr>
            <p:spPr>
              <a:xfrm>
                <a:off x="304808" y="5511225"/>
                <a:ext cx="2209792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Another activity comes into the foreground</a:t>
                </a:r>
              </a:p>
            </p:txBody>
          </p: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97011102-2129-B14D-90A4-DB91D97A637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72843" y="4774479"/>
                <a:ext cx="2151517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C4D08099-E5E4-3A47-8383-FBA7DB833CD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24360" y="4774479"/>
                <a:ext cx="8987" cy="830127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895BD5B4-C62E-0F4D-BE15-14CF06A16B8C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824360" y="5604606"/>
                <a:ext cx="307070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B0EFD26-AED0-0C40-ACCB-F11B0123C953}"/>
                  </a:ext>
                </a:extLst>
              </p:cNvPr>
              <p:cNvSpPr txBox="1"/>
              <p:nvPr/>
            </p:nvSpPr>
            <p:spPr>
              <a:xfrm>
                <a:off x="7162805" y="5300662"/>
                <a:ext cx="175259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The activity is no longer visible</a:t>
                </a:r>
              </a:p>
            </p:txBody>
          </p: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DCD29022-C9CE-F947-8013-F24B02555CE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4686290" y="5397526"/>
                <a:ext cx="1409710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C79DE029-E03B-6D4F-9C82-57358F74A886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5397526"/>
                <a:ext cx="3" cy="1024610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79B02FD7-6ADD-7B45-B80C-9057ADAA100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6096000" y="6422136"/>
                <a:ext cx="307070" cy="0"/>
              </a:xfrm>
              <a:prstGeom prst="line">
                <a:avLst/>
              </a:prstGeom>
              <a:noFill/>
              <a:ln w="28575" cap="flat" cmpd="sng" algn="ctr">
                <a:solidFill>
                  <a:srgbClr val="FF0000"/>
                </a:solidFill>
                <a:prstDash val="solid"/>
              </a:ln>
              <a:effectLst/>
            </p:spPr>
          </p:cxn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6C08806-6C9F-EC4B-B0E5-2B1EECCC6EE4}"/>
                  </a:ext>
                </a:extLst>
              </p:cNvPr>
              <p:cNvSpPr txBox="1"/>
              <p:nvPr/>
            </p:nvSpPr>
            <p:spPr>
              <a:xfrm>
                <a:off x="6324600" y="6027003"/>
                <a:ext cx="253592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The activity is finishing or being destroyed by </a:t>
                </a:r>
                <a:br>
                  <a:rPr kumimoji="0" lang="en-US" sz="16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</a:br>
                <a:r>
                  <a:rPr kumimoji="0" lang="en-US" sz="1600" b="0" i="1" u="none" strike="noStrike" kern="1200" cap="none" spc="0" normalizeH="0" baseline="0" noProof="0" smtClean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the system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674481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Intent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32A33E9E-2120-DA45-BFBF-9CB647F65A8C}"/>
              </a:ext>
            </a:extLst>
          </p:cNvPr>
          <p:cNvSpPr txBox="1">
            <a:spLocks/>
          </p:cNvSpPr>
          <p:nvPr/>
        </p:nvSpPr>
        <p:spPr>
          <a:xfrm>
            <a:off x="558231" y="952182"/>
            <a:ext cx="11080875" cy="3279576"/>
          </a:xfrm>
          <a:prstGeom prst="rect">
            <a:avLst/>
          </a:prstGeom>
        </p:spPr>
        <p:txBody>
          <a:bodyPr vert="horz">
            <a:no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altLang="en-US" sz="2400" dirty="0">
                <a:solidFill>
                  <a:sysClr val="windowText" lastClr="000000"/>
                </a:solidFill>
                <a:latin typeface="Georgia"/>
              </a:rPr>
              <a:t>Intent is used to convey a message, requesting an action from the called component</a:t>
            </a:r>
            <a:r>
              <a:rPr lang="en-US" altLang="en-US" sz="2400" dirty="0" smtClean="0">
                <a:solidFill>
                  <a:sysClr val="windowText" lastClr="000000"/>
                </a:solidFill>
                <a:latin typeface="Georgia"/>
              </a:rPr>
              <a:t>.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463550" lvl="0" indent="-3540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altLang="en-US" sz="2400" dirty="0">
                <a:solidFill>
                  <a:sysClr val="windowText" lastClr="000000"/>
                </a:solidFill>
                <a:latin typeface="Georgia"/>
              </a:rPr>
              <a:t>Intent is used in three main cases:</a:t>
            </a:r>
            <a:endParaRPr kumimoji="0" lang="en-US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1035050" lvl="1" indent="-469900" fontAlgn="base">
              <a:lnSpc>
                <a:spcPct val="110000"/>
              </a:lnSpc>
              <a:spcAft>
                <a:spcPts val="3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§"/>
            </a:pPr>
            <a:r>
              <a:rPr lang="en-US" altLang="en-US" sz="2400" dirty="0">
                <a:solidFill>
                  <a:sysClr val="windowText" lastClr="000000"/>
                </a:solidFill>
                <a:latin typeface="Georgia"/>
              </a:rPr>
              <a:t>Start the </a:t>
            </a:r>
            <a:r>
              <a:rPr lang="en-US" altLang="en-US" sz="2400" b="1" dirty="0">
                <a:solidFill>
                  <a:sysClr val="windowText" lastClr="000000"/>
                </a:solidFill>
                <a:latin typeface="Georgia"/>
              </a:rPr>
              <a:t>Activity</a:t>
            </a:r>
            <a:r>
              <a:rPr lang="en-US" altLang="en-US" sz="2400" dirty="0">
                <a:solidFill>
                  <a:sysClr val="windowText" lastClr="000000"/>
                </a:solidFill>
                <a:latin typeface="Georgia"/>
              </a:rPr>
              <a:t> through the </a:t>
            </a:r>
            <a:r>
              <a:rPr lang="en-US" altLang="en-US" sz="2400" b="1" dirty="0" err="1">
                <a:solidFill>
                  <a:sysClr val="windowText" lastClr="000000"/>
                </a:solidFill>
                <a:latin typeface="Georgia"/>
              </a:rPr>
              <a:t>startActivity</a:t>
            </a:r>
            <a:r>
              <a:rPr lang="en-US" altLang="en-US" sz="2400" dirty="0">
                <a:solidFill>
                  <a:sysClr val="windowText" lastClr="000000"/>
                </a:solidFill>
                <a:latin typeface="Georgia"/>
              </a:rPr>
              <a:t> method.</a:t>
            </a:r>
          </a:p>
          <a:p>
            <a:pPr marL="1035050" lvl="1" indent="-469900" fontAlgn="base">
              <a:lnSpc>
                <a:spcPct val="110000"/>
              </a:lnSpc>
              <a:spcAft>
                <a:spcPts val="3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§"/>
            </a:pPr>
            <a:r>
              <a:rPr lang="en-US" altLang="en-US" sz="2400" dirty="0">
                <a:solidFill>
                  <a:sysClr val="windowText" lastClr="000000"/>
                </a:solidFill>
                <a:latin typeface="Georgia"/>
              </a:rPr>
              <a:t>Start the </a:t>
            </a:r>
            <a:r>
              <a:rPr lang="en-US" altLang="en-US" sz="2400" b="1" dirty="0">
                <a:solidFill>
                  <a:sysClr val="windowText" lastClr="000000"/>
                </a:solidFill>
                <a:latin typeface="Georgia"/>
              </a:rPr>
              <a:t>Service</a:t>
            </a:r>
            <a:r>
              <a:rPr lang="en-US" altLang="en-US" sz="2400" dirty="0">
                <a:solidFill>
                  <a:sysClr val="windowText" lastClr="000000"/>
                </a:solidFill>
                <a:latin typeface="Georgia"/>
              </a:rPr>
              <a:t> through the </a:t>
            </a:r>
            <a:r>
              <a:rPr lang="en-US" altLang="en-US" sz="2400" b="1" dirty="0" err="1">
                <a:solidFill>
                  <a:sysClr val="windowText" lastClr="000000"/>
                </a:solidFill>
                <a:latin typeface="Georgia"/>
              </a:rPr>
              <a:t>startService</a:t>
            </a:r>
            <a:r>
              <a:rPr lang="en-US" altLang="en-US" sz="2400" dirty="0">
                <a:solidFill>
                  <a:sysClr val="windowText" lastClr="000000"/>
                </a:solidFill>
                <a:latin typeface="Georgia"/>
              </a:rPr>
              <a:t> method.</a:t>
            </a:r>
          </a:p>
          <a:p>
            <a:pPr marL="1035050" lvl="1" indent="-469900" algn="just" fontAlgn="base">
              <a:lnSpc>
                <a:spcPct val="110000"/>
              </a:lnSpc>
              <a:spcAft>
                <a:spcPts val="3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§"/>
            </a:pPr>
            <a:r>
              <a:rPr lang="en-US" altLang="en-US" sz="2400" dirty="0">
                <a:solidFill>
                  <a:sysClr val="windowText" lastClr="000000"/>
                </a:solidFill>
                <a:latin typeface="Georgia"/>
              </a:rPr>
              <a:t>Pass the message to the </a:t>
            </a:r>
            <a:r>
              <a:rPr lang="en-US" altLang="en-US" sz="2400" b="1" dirty="0" err="1">
                <a:solidFill>
                  <a:sysClr val="windowText" lastClr="000000"/>
                </a:solidFill>
                <a:latin typeface="Georgia"/>
              </a:rPr>
              <a:t>BroadcastReceiver</a:t>
            </a:r>
            <a:r>
              <a:rPr lang="en-US" altLang="en-US" sz="2400" dirty="0">
                <a:solidFill>
                  <a:sysClr val="windowText" lastClr="000000"/>
                </a:solidFill>
                <a:latin typeface="Georgia"/>
              </a:rPr>
              <a:t> via the </a:t>
            </a:r>
            <a:r>
              <a:rPr lang="en-US" altLang="en-US" sz="2400" b="1" dirty="0" err="1">
                <a:solidFill>
                  <a:sysClr val="windowText" lastClr="000000"/>
                </a:solidFill>
                <a:latin typeface="Georgia"/>
              </a:rPr>
              <a:t>sendBroadcast</a:t>
            </a:r>
            <a:r>
              <a:rPr lang="en-US" altLang="en-US" sz="2400" dirty="0">
                <a:solidFill>
                  <a:sysClr val="windowText" lastClr="000000"/>
                </a:solidFill>
                <a:latin typeface="Georgia"/>
              </a:rPr>
              <a:t> method.</a:t>
            </a: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463550" marR="0" lvl="0" indent="-354013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Ø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18" name="Picture 1" descr="intent-filters@2x.png">
            <a:extLst>
              <a:ext uri="{FF2B5EF4-FFF2-40B4-BE49-F238E27FC236}">
                <a16:creationId xmlns:a16="http://schemas.microsoft.com/office/drawing/2014/main" id="{5CEF2605-84E4-1740-9329-6F39AB9161D3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6302" y="3924152"/>
            <a:ext cx="5105400" cy="2356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80264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Intent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EE023603-F16A-8146-B36F-4C6B68A3A884}"/>
              </a:ext>
            </a:extLst>
          </p:cNvPr>
          <p:cNvSpPr txBox="1">
            <a:spLocks/>
          </p:cNvSpPr>
          <p:nvPr/>
        </p:nvSpPr>
        <p:spPr>
          <a:xfrm>
            <a:off x="550107" y="966358"/>
            <a:ext cx="10996851" cy="34869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lvl="0" indent="-354013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Ø"/>
            </a:pPr>
            <a:r>
              <a:rPr lang="en-US" altLang="en-US" sz="2400" dirty="0">
                <a:solidFill>
                  <a:sysClr val="windowText" lastClr="000000"/>
                </a:solidFill>
                <a:latin typeface="Georgia"/>
              </a:rPr>
              <a:t>Intent is divided into two types</a:t>
            </a:r>
            <a:r>
              <a:rPr lang="en-US" altLang="en-US" sz="2400" dirty="0" smtClean="0">
                <a:solidFill>
                  <a:sysClr val="windowText" lastClr="000000"/>
                </a:solidFill>
                <a:latin typeface="Georgia"/>
              </a:rPr>
              <a:t>:</a:t>
            </a:r>
            <a:endParaRPr kumimoji="0" lang="en-US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1035050" lvl="1" indent="-4699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§"/>
            </a:pPr>
            <a:r>
              <a:rPr lang="en-US" altLang="en-US" sz="2400" b="1" dirty="0">
                <a:solidFill>
                  <a:sysClr val="windowText" lastClr="000000"/>
                </a:solidFill>
                <a:latin typeface="Georgia"/>
              </a:rPr>
              <a:t>Explicit Intent</a:t>
            </a:r>
            <a:r>
              <a:rPr lang="en-US" altLang="en-US" sz="2400" dirty="0">
                <a:solidFill>
                  <a:sysClr val="windowText" lastClr="000000"/>
                </a:solidFill>
                <a:latin typeface="Georgia"/>
              </a:rPr>
              <a:t>: clearly specifies the processing component through the class name, often used to call components in the same application.</a:t>
            </a:r>
          </a:p>
          <a:p>
            <a:pPr marL="1035050" lvl="1" indent="-46990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Font typeface="Wingdings" pitchFamily="2" charset="2"/>
              <a:buChar char="§"/>
            </a:pPr>
            <a:r>
              <a:rPr lang="en-US" altLang="en-US" sz="2400" b="1" dirty="0">
                <a:solidFill>
                  <a:sysClr val="windowText" lastClr="000000"/>
                </a:solidFill>
                <a:latin typeface="Georgia"/>
              </a:rPr>
              <a:t>Implicit Intent</a:t>
            </a:r>
            <a:r>
              <a:rPr lang="en-US" altLang="en-US" sz="2400" dirty="0">
                <a:solidFill>
                  <a:sysClr val="windowText" lastClr="000000"/>
                </a:solidFill>
                <a:latin typeface="Georgia"/>
              </a:rPr>
              <a:t>: does not specify the processing component, instead adds attributes such as action description, data type...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33147049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2. Intent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0544C2A-0977-1647-8709-DE8169D3D47A}"/>
              </a:ext>
            </a:extLst>
          </p:cNvPr>
          <p:cNvSpPr txBox="1">
            <a:spLocks/>
          </p:cNvSpPr>
          <p:nvPr/>
        </p:nvSpPr>
        <p:spPr>
          <a:xfrm>
            <a:off x="528207" y="972352"/>
            <a:ext cx="10557372" cy="3486912"/>
          </a:xfrm>
          <a:prstGeom prst="rect">
            <a:avLst/>
          </a:prstGeom>
        </p:spPr>
        <p:txBody>
          <a:bodyPr vert="horz">
            <a:normAutofit fontScale="92500"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54013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Explicit Intent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</a:t>
            </a:r>
          </a:p>
          <a:p>
            <a:pPr marL="565150" marR="0" lvl="1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Georgia"/>
              <a:buNone/>
              <a:tabLst/>
              <a:defRPr/>
            </a:pPr>
            <a:r>
              <a:rPr lang="en-US" altLang="en-US" sz="2400" b="1" dirty="0" smtClean="0">
                <a:solidFill>
                  <a:sysClr val="windowText" lastClr="000000"/>
                </a:solidFill>
                <a:latin typeface="Georgia"/>
              </a:rPr>
              <a:t>Declare</a:t>
            </a: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</a:t>
            </a:r>
          </a:p>
          <a:p>
            <a:pPr marL="1379538" marR="0" lvl="1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Georgia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 </a:t>
            </a:r>
            <a:r>
              <a:rPr kumimoji="0" lang="en-US" alt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new Intent(this, </a:t>
            </a: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&lt;Component&gt;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);</a:t>
            </a:r>
          </a:p>
          <a:p>
            <a:pPr marL="565150" lvl="1" indent="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None/>
              <a:defRPr/>
            </a:pPr>
            <a:r>
              <a:rPr lang="en-US" altLang="en-US" sz="2400" b="1" noProof="0" dirty="0" smtClean="0">
                <a:solidFill>
                  <a:sysClr val="windowText" lastClr="000000"/>
                </a:solidFill>
                <a:latin typeface="Georgia"/>
              </a:rPr>
              <a:t>Example</a:t>
            </a: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 </a:t>
            </a:r>
            <a:r>
              <a:rPr lang="en-US" altLang="en-US" sz="2400" dirty="0">
                <a:solidFill>
                  <a:sysClr val="windowText" lastClr="000000"/>
                </a:solidFill>
                <a:latin typeface="Georgia"/>
              </a:rPr>
              <a:t>Start an Activity named </a:t>
            </a:r>
            <a:r>
              <a:rPr lang="en-US" altLang="en-US" sz="2400" b="1" dirty="0" err="1">
                <a:solidFill>
                  <a:sysClr val="windowText" lastClr="000000"/>
                </a:solidFill>
                <a:latin typeface="Georgia"/>
              </a:rPr>
              <a:t>SecondActivity</a:t>
            </a:r>
            <a:r>
              <a:rPr lang="en-US" altLang="en-US" sz="2400" dirty="0">
                <a:solidFill>
                  <a:sysClr val="windowText" lastClr="000000"/>
                </a:solidFill>
                <a:latin typeface="Georgia"/>
              </a:rPr>
              <a:t> from </a:t>
            </a:r>
            <a:r>
              <a:rPr lang="en-US" altLang="en-US" sz="2400" b="1" dirty="0" err="1">
                <a:solidFill>
                  <a:sysClr val="windowText" lastClr="000000"/>
                </a:solidFill>
                <a:latin typeface="Georgia"/>
              </a:rPr>
              <a:t>MainActivity</a:t>
            </a:r>
            <a:endParaRPr kumimoji="0" lang="en-US" altLang="en-US" sz="2400" b="1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</a:endParaRPr>
          </a:p>
          <a:p>
            <a:pPr marL="4689475" marR="0" lvl="1" indent="-3544888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Georgia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 </a:t>
            </a:r>
            <a:r>
              <a:rPr kumimoji="0" lang="en-US" alt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new Intent(</a:t>
            </a:r>
            <a:r>
              <a:rPr kumimoji="0" lang="en-US" alt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MainActivty.this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alt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SecondActivity.class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);</a:t>
            </a:r>
          </a:p>
          <a:p>
            <a:pPr marL="1144588" marR="0" lvl="1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Georgia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startActivity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(intent);</a:t>
            </a:r>
          </a:p>
          <a:p>
            <a:pPr marL="1035050" marR="0" lvl="1" indent="-46990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109537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Georgia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42396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Intent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0544C2A-0977-1647-8709-DE8169D3D47A}"/>
              </a:ext>
            </a:extLst>
          </p:cNvPr>
          <p:cNvSpPr txBox="1">
            <a:spLocks/>
          </p:cNvSpPr>
          <p:nvPr/>
        </p:nvSpPr>
        <p:spPr>
          <a:xfrm>
            <a:off x="464289" y="897468"/>
            <a:ext cx="11089758" cy="3486912"/>
          </a:xfrm>
          <a:prstGeom prst="rect">
            <a:avLst/>
          </a:prstGeom>
        </p:spPr>
        <p:txBody>
          <a:bodyPr vert="horz">
            <a:normAutofit/>
          </a:bodyPr>
          <a:lstStyle>
            <a:lvl1pPr marL="365760" indent="-256032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•"/>
              <a:defRPr kumimoji="0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58368" indent="-246888" algn="l" rtl="0" eaLnBrk="1" latinLnBrk="0" hangingPunct="1">
              <a:spcBef>
                <a:spcPts val="300"/>
              </a:spcBef>
              <a:buClr>
                <a:schemeClr val="accent2"/>
              </a:buClr>
              <a:buFont typeface="Georgia"/>
              <a:buChar char="▫"/>
              <a:defRPr kumimoji="0" sz="2600" kern="1200">
                <a:solidFill>
                  <a:schemeClr val="accent2"/>
                </a:solidFill>
                <a:latin typeface="+mn-lt"/>
                <a:ea typeface="+mn-ea"/>
                <a:cs typeface="+mn-cs"/>
              </a:defRPr>
            </a:lvl2pPr>
            <a:lvl3pPr marL="923544" indent="-219456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4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1179576" indent="-201168" algn="l" rtl="0" eaLnBrk="1" latinLnBrk="0" hangingPunct="1">
              <a:spcBef>
                <a:spcPts val="300"/>
              </a:spcBef>
              <a:buClr>
                <a:schemeClr val="accent1"/>
              </a:buClr>
              <a:buFont typeface="Wingdings 2"/>
              <a:buChar char=""/>
              <a:defRPr kumimoji="0" sz="2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138988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20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5pPr>
            <a:lvl6pPr marL="1609344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8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▫"/>
              <a:defRPr kumimoji="0" sz="16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7pPr>
            <a:lvl8pPr marL="2029968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500" kern="120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8pPr>
            <a:lvl9pPr marL="2240280" indent="-182880" algn="l" rtl="0" eaLnBrk="1" latinLnBrk="0" hangingPunct="1">
              <a:spcBef>
                <a:spcPts val="300"/>
              </a:spcBef>
              <a:buClr>
                <a:schemeClr val="accent3"/>
              </a:buClr>
              <a:buFont typeface="Georgia"/>
              <a:buChar char="◦"/>
              <a:defRPr kumimoji="0" sz="1400" kern="1200" baseline="0">
                <a:solidFill>
                  <a:schemeClr val="accent3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63550" marR="0" lvl="0" indent="-354013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Ø"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Implicit Intent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</a:t>
            </a:r>
          </a:p>
          <a:p>
            <a:pPr marL="565150" marR="0" lvl="1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Georgia"/>
              <a:buNone/>
              <a:tabLst/>
              <a:defRPr/>
            </a:pP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Declare:</a:t>
            </a:r>
          </a:p>
          <a:p>
            <a:pPr marL="1379538" marR="0" lvl="1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Georgia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 </a:t>
            </a:r>
            <a:r>
              <a:rPr kumimoji="0" lang="en-US" alt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new Intent(this, </a:t>
            </a: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&lt;Action&gt;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);</a:t>
            </a:r>
          </a:p>
          <a:p>
            <a:pPr marL="565150" lvl="1" indent="0" fontAlgn="base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None/>
              <a:defRPr/>
            </a:pPr>
            <a:r>
              <a:rPr lang="en-US" altLang="en-US" sz="2400" b="1" noProof="0" dirty="0" smtClean="0">
                <a:solidFill>
                  <a:sysClr val="windowText" lastClr="000000"/>
                </a:solidFill>
                <a:latin typeface="Georgia"/>
              </a:rPr>
              <a:t>Example</a:t>
            </a:r>
            <a:r>
              <a:rPr kumimoji="0" lang="en-US" altLang="en-US" sz="2400" b="1" i="0" u="none" strike="noStrike" kern="120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 </a:t>
            </a:r>
            <a:r>
              <a:rPr lang="en-US" altLang="en-US" sz="2400" dirty="0">
                <a:solidFill>
                  <a:sysClr val="windowText" lastClr="000000"/>
                </a:solidFill>
                <a:latin typeface="Georgia"/>
              </a:rPr>
              <a:t>Start the Activity to make a phone call</a:t>
            </a:r>
            <a:endParaRPr kumimoji="0" lang="en-US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5492750" marR="0" lvl="1" indent="-4348163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Georgia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 </a:t>
            </a:r>
            <a:r>
              <a:rPr kumimoji="0" lang="en-US" alt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new Intent(</a:t>
            </a:r>
            <a:r>
              <a:rPr kumimoji="0" lang="en-US" altLang="en-US" sz="24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Intent.ACTION_CALL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);</a:t>
            </a:r>
          </a:p>
          <a:p>
            <a:pPr marL="1144588" marR="0" lvl="1" indent="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Georgia"/>
              <a:buNone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startActivity</a:t>
            </a:r>
            <a:r>
              <a:rPr kumimoji="0" lang="en-US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(intent);</a:t>
            </a:r>
          </a:p>
          <a:p>
            <a:pPr marL="1035050" marR="0" lvl="1" indent="-469900" algn="l" defTabSz="914400" rtl="0" eaLnBrk="1" fontAlgn="base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sz="2400" b="0" i="0" u="none" strike="noStrike" kern="1200" cap="none" spc="0" normalizeH="0" baseline="0" noProof="0" dirty="0" smtClean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109537" marR="0" lvl="0" indent="0" algn="l" defTabSz="914400" rtl="0" eaLnBrk="1" fontAlgn="auto" latinLnBrk="0" hangingPunct="1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ysClr val="windowText" lastClr="000000">
                  <a:lumMod val="95000"/>
                  <a:lumOff val="5000"/>
                </a:sysClr>
              </a:buClr>
              <a:buSzTx/>
              <a:buFont typeface="Georgia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31144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Transfer data between 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Activities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4FF763-E9AF-854F-A57E-32B59EC40E63}"/>
              </a:ext>
            </a:extLst>
          </p:cNvPr>
          <p:cNvGrpSpPr/>
          <p:nvPr/>
        </p:nvGrpSpPr>
        <p:grpSpPr>
          <a:xfrm>
            <a:off x="668965" y="845054"/>
            <a:ext cx="90678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11ED1DAC-9318-6E4C-BBEC-3C31286CE1F1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A7CF58C4-6FC3-9E42-B53B-6D1D6582F586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B8B3E302-0C9D-5F43-916B-829741A6363F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lvl="0"/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Open another activity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0ECF7FF-4581-E140-8A08-0313C639B6B8}"/>
              </a:ext>
            </a:extLst>
          </p:cNvPr>
          <p:cNvGrpSpPr/>
          <p:nvPr/>
        </p:nvGrpSpPr>
        <p:grpSpPr>
          <a:xfrm>
            <a:off x="1164265" y="1378971"/>
            <a:ext cx="4800600" cy="5176300"/>
            <a:chOff x="-457200" y="1600200"/>
            <a:chExt cx="4800600" cy="51763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10931F34-9CC2-3F42-9127-F41FFD8CB84C}"/>
                </a:ext>
              </a:extLst>
            </p:cNvPr>
            <p:cNvGrpSpPr/>
            <p:nvPr/>
          </p:nvGrpSpPr>
          <p:grpSpPr>
            <a:xfrm>
              <a:off x="-457200" y="1600200"/>
              <a:ext cx="4800600" cy="5176300"/>
              <a:chOff x="-457200" y="1600200"/>
              <a:chExt cx="4800600" cy="5176300"/>
            </a:xfrm>
          </p:grpSpPr>
          <p:pic>
            <p:nvPicPr>
              <p:cNvPr id="23" name="Picture 22">
                <a:extLst>
                  <a:ext uri="{FF2B5EF4-FFF2-40B4-BE49-F238E27FC236}">
                    <a16:creationId xmlns:a16="http://schemas.microsoft.com/office/drawing/2014/main" id="{D342A955-19E5-CF43-BDF3-84EB986E3DA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>
                <a:off x="-457200" y="1600200"/>
                <a:ext cx="4800600" cy="5176300"/>
              </a:xfrm>
              <a:prstGeom prst="rect">
                <a:avLst/>
              </a:prstGeom>
            </p:spPr>
          </p:pic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366AD03-0934-5240-8FA0-58051E415497}"/>
                  </a:ext>
                </a:extLst>
              </p:cNvPr>
              <p:cNvSpPr txBox="1"/>
              <p:nvPr/>
            </p:nvSpPr>
            <p:spPr>
              <a:xfrm>
                <a:off x="2057400" y="2057400"/>
                <a:ext cx="1524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FIRST </a:t>
                </a: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ACTIVITY</a:t>
                </a:r>
              </a:p>
            </p:txBody>
          </p:sp>
        </p:grp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0DD513CD-466F-D548-8471-F4D3F93A9638}"/>
                </a:ext>
              </a:extLst>
            </p:cNvPr>
            <p:cNvSpPr/>
            <p:nvPr/>
          </p:nvSpPr>
          <p:spPr>
            <a:xfrm>
              <a:off x="2133600" y="3285281"/>
              <a:ext cx="1371600" cy="1058119"/>
            </a:xfrm>
            <a:prstGeom prst="ellipse">
              <a:avLst/>
            </a:prstGeom>
            <a:solidFill>
              <a:srgbClr val="009DD9">
                <a:lumMod val="50000"/>
              </a:srgbClr>
            </a:solidFill>
            <a:ln w="19050" cap="flat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Open second activity</a:t>
              </a:r>
            </a:p>
          </p:txBody>
        </p:sp>
      </p:grpSp>
      <p:sp>
        <p:nvSpPr>
          <p:cNvPr id="25" name="Right Arrow 24">
            <a:extLst>
              <a:ext uri="{FF2B5EF4-FFF2-40B4-BE49-F238E27FC236}">
                <a16:creationId xmlns:a16="http://schemas.microsoft.com/office/drawing/2014/main" id="{14E09EB8-3DD7-994A-8571-DA4A53BCA012}"/>
              </a:ext>
            </a:extLst>
          </p:cNvPr>
          <p:cNvSpPr/>
          <p:nvPr/>
        </p:nvSpPr>
        <p:spPr>
          <a:xfrm>
            <a:off x="5888667" y="3494151"/>
            <a:ext cx="609599" cy="323221"/>
          </a:xfrm>
          <a:prstGeom prst="rightArrow">
            <a:avLst/>
          </a:prstGeom>
          <a:solidFill>
            <a:srgbClr val="009DD9">
              <a:lumMod val="50000"/>
            </a:srgbClr>
          </a:solidFill>
          <a:ln w="1905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C7667B1-AFDD-B84B-9663-B0585A16CFAE}"/>
              </a:ext>
            </a:extLst>
          </p:cNvPr>
          <p:cNvGrpSpPr/>
          <p:nvPr/>
        </p:nvGrpSpPr>
        <p:grpSpPr>
          <a:xfrm>
            <a:off x="6269665" y="1409671"/>
            <a:ext cx="4800600" cy="5176300"/>
            <a:chOff x="4648200" y="1630900"/>
            <a:chExt cx="4800600" cy="517630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43183FD4-EAD1-684D-92E0-ECD4F8CDD51C}"/>
                </a:ext>
              </a:extLst>
            </p:cNvPr>
            <p:cNvGrpSpPr/>
            <p:nvPr/>
          </p:nvGrpSpPr>
          <p:grpSpPr>
            <a:xfrm>
              <a:off x="4648200" y="1630900"/>
              <a:ext cx="4800600" cy="5176300"/>
              <a:chOff x="4648200" y="1630900"/>
              <a:chExt cx="4800600" cy="5176300"/>
            </a:xfrm>
          </p:grpSpPr>
          <p:pic>
            <p:nvPicPr>
              <p:cNvPr id="29" name="Picture 28">
                <a:extLst>
                  <a:ext uri="{FF2B5EF4-FFF2-40B4-BE49-F238E27FC236}">
                    <a16:creationId xmlns:a16="http://schemas.microsoft.com/office/drawing/2014/main" id="{C72E1E04-830A-FE44-9AC2-70D3A44EB9C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clrChange>
                  <a:clrFrom>
                    <a:srgbClr val="FEFEFE"/>
                  </a:clrFrom>
                  <a:clrTo>
                    <a:srgbClr val="FEFEFE">
                      <a:alpha val="0"/>
                    </a:srgbClr>
                  </a:clrTo>
                </a:clrChange>
              </a:blip>
              <a:stretch>
                <a:fillRect/>
              </a:stretch>
            </p:blipFill>
            <p:spPr>
              <a:xfrm flipH="1">
                <a:off x="4648200" y="1630900"/>
                <a:ext cx="4800600" cy="5176300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0608F10-A97B-F641-A00E-91EC7F8C9807}"/>
                  </a:ext>
                </a:extLst>
              </p:cNvPr>
              <p:cNvSpPr txBox="1"/>
              <p:nvPr/>
            </p:nvSpPr>
            <p:spPr>
              <a:xfrm>
                <a:off x="5486400" y="2096869"/>
                <a:ext cx="152400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1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SECOND </a:t>
                </a:r>
                <a:r>
                  <a: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ACTIVITY</a:t>
                </a:r>
              </a:p>
            </p:txBody>
          </p:sp>
        </p:grpSp>
        <p:sp>
          <p:nvSpPr>
            <p:cNvPr id="28" name="Rounded Rectangle 27">
              <a:extLst>
                <a:ext uri="{FF2B5EF4-FFF2-40B4-BE49-F238E27FC236}">
                  <a16:creationId xmlns:a16="http://schemas.microsoft.com/office/drawing/2014/main" id="{CF5527B5-2008-4942-9F82-FD7968371F30}"/>
                </a:ext>
              </a:extLst>
            </p:cNvPr>
            <p:cNvSpPr/>
            <p:nvPr/>
          </p:nvSpPr>
          <p:spPr>
            <a:xfrm>
              <a:off x="5488873" y="3352800"/>
              <a:ext cx="1409701" cy="933769"/>
            </a:xfrm>
            <a:prstGeom prst="roundRect">
              <a:avLst/>
            </a:prstGeom>
            <a:solidFill>
              <a:srgbClr val="009DD9">
                <a:lumMod val="50000"/>
              </a:srgbClr>
            </a:solidFill>
            <a:ln w="19050" cap="flat" cmpd="sng" algn="ctr">
              <a:solidFill>
                <a:sysClr val="windowText" lastClr="000000">
                  <a:lumMod val="95000"/>
                  <a:lumOff val="5000"/>
                </a:sys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Activity open with an Intent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05780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Transfer data between 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Activities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4FF763-E9AF-854F-A57E-32B59EC40E63}"/>
              </a:ext>
            </a:extLst>
          </p:cNvPr>
          <p:cNvGrpSpPr/>
          <p:nvPr/>
        </p:nvGrpSpPr>
        <p:grpSpPr>
          <a:xfrm>
            <a:off x="668965" y="845054"/>
            <a:ext cx="90678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11ED1DAC-9318-6E4C-BBEC-3C31286CE1F1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A7CF58C4-6FC3-9E42-B53B-6D1D6582F586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B8B3E302-0C9D-5F43-916B-829741A6363F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lvl="0"/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Open another activity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973765" y="1581863"/>
            <a:ext cx="8763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Tx/>
              <a:buFontTx/>
              <a:buNone/>
            </a:pPr>
            <a:r>
              <a:rPr lang="en-US" sz="2400" kern="1200">
                <a:solidFill>
                  <a:prstClr val="black"/>
                </a:solidFill>
                <a:latin typeface="Cambria" panose="02040503050406030204" pitchFamily="18" charset="0"/>
                <a:ea typeface="+mn-ea"/>
                <a:cs typeface="+mn-cs"/>
              </a:rPr>
              <a:t>Intent intent = </a:t>
            </a:r>
            <a:r>
              <a:rPr lang="en-US" sz="2400" kern="1200">
                <a:solidFill>
                  <a:srgbClr val="FF0000"/>
                </a:solidFill>
                <a:latin typeface="Cambria" panose="02040503050406030204" pitchFamily="18" charset="0"/>
                <a:ea typeface="+mn-ea"/>
                <a:cs typeface="+mn-cs"/>
              </a:rPr>
              <a:t>new </a:t>
            </a:r>
            <a:r>
              <a:rPr lang="en-US" sz="2400" kern="1200">
                <a:solidFill>
                  <a:prstClr val="black"/>
                </a:solidFill>
                <a:latin typeface="Cambria" panose="02040503050406030204" pitchFamily="18" charset="0"/>
                <a:ea typeface="+mn-ea"/>
                <a:cs typeface="+mn-cs"/>
              </a:rPr>
              <a:t>Intent(</a:t>
            </a:r>
            <a:r>
              <a:rPr lang="en-US" sz="2400" kern="1200">
                <a:solidFill>
                  <a:srgbClr val="002060"/>
                </a:solidFill>
                <a:latin typeface="Cambria" panose="02040503050406030204" pitchFamily="18" charset="0"/>
                <a:ea typeface="+mn-ea"/>
                <a:cs typeface="+mn-cs"/>
              </a:rPr>
              <a:t>MainActivty</a:t>
            </a:r>
            <a:r>
              <a:rPr lang="en-US" sz="2400" kern="1200">
                <a:solidFill>
                  <a:prstClr val="black"/>
                </a:solidFill>
                <a:latin typeface="Cambria" panose="02040503050406030204" pitchFamily="18" charset="0"/>
                <a:ea typeface="+mn-ea"/>
                <a:cs typeface="+mn-cs"/>
              </a:rPr>
              <a:t>.this, </a:t>
            </a:r>
            <a:r>
              <a:rPr lang="en-US" sz="2400" kern="1200">
                <a:solidFill>
                  <a:srgbClr val="002060"/>
                </a:solidFill>
                <a:latin typeface="Cambria" panose="02040503050406030204" pitchFamily="18" charset="0"/>
                <a:ea typeface="+mn-ea"/>
                <a:cs typeface="+mn-cs"/>
              </a:rPr>
              <a:t>SecondActivity</a:t>
            </a:r>
            <a:r>
              <a:rPr lang="en-US" sz="2400" kern="1200">
                <a:solidFill>
                  <a:prstClr val="black"/>
                </a:solidFill>
                <a:latin typeface="Cambria" panose="02040503050406030204" pitchFamily="18" charset="0"/>
                <a:ea typeface="+mn-ea"/>
                <a:cs typeface="+mn-cs"/>
              </a:rPr>
              <a:t>.class);</a:t>
            </a:r>
          </a:p>
          <a:p>
            <a:pPr>
              <a:buClrTx/>
              <a:buFontTx/>
              <a:buNone/>
            </a:pPr>
            <a:r>
              <a:rPr lang="en-US" sz="2400" kern="1200">
                <a:solidFill>
                  <a:prstClr val="black"/>
                </a:solidFill>
                <a:latin typeface="Cambria" panose="02040503050406030204" pitchFamily="18" charset="0"/>
                <a:ea typeface="+mn-ea"/>
                <a:cs typeface="+mn-cs"/>
              </a:rPr>
              <a:t>startActivity(intent);</a:t>
            </a:r>
          </a:p>
        </p:txBody>
      </p:sp>
    </p:spTree>
    <p:extLst>
      <p:ext uri="{BB962C8B-B14F-4D97-AF65-F5344CB8AC3E}">
        <p14:creationId xmlns:p14="http://schemas.microsoft.com/office/powerpoint/2010/main" val="564677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Transfer data between 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Activities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4FF763-E9AF-854F-A57E-32B59EC40E63}"/>
              </a:ext>
            </a:extLst>
          </p:cNvPr>
          <p:cNvGrpSpPr/>
          <p:nvPr/>
        </p:nvGrpSpPr>
        <p:grpSpPr>
          <a:xfrm>
            <a:off x="728132" y="881001"/>
            <a:ext cx="91440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11ED1DAC-9318-6E4C-BBEC-3C31286CE1F1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A7CF58C4-6FC3-9E42-B53B-6D1D6582F586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B8B3E302-0C9D-5F43-916B-829741A6363F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lvl="0"/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Open another activity and </a:t>
              </a:r>
              <a:r>
                <a:rPr lang="en-US" sz="2600" b="1" kern="1200" dirty="0" smtClean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send </a:t>
              </a:r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data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2A050AD-73E2-E047-8759-5BCF2AC7F7F5}"/>
              </a:ext>
            </a:extLst>
          </p:cNvPr>
          <p:cNvGrpSpPr/>
          <p:nvPr/>
        </p:nvGrpSpPr>
        <p:grpSpPr>
          <a:xfrm>
            <a:off x="1036675" y="1427499"/>
            <a:ext cx="10591800" cy="5207000"/>
            <a:chOff x="-685800" y="1600200"/>
            <a:chExt cx="10591800" cy="5207000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F3D73F3-C91D-2C41-AF75-306FC62D68C1}"/>
                </a:ext>
              </a:extLst>
            </p:cNvPr>
            <p:cNvGrpSpPr/>
            <p:nvPr/>
          </p:nvGrpSpPr>
          <p:grpSpPr>
            <a:xfrm>
              <a:off x="-685800" y="1600200"/>
              <a:ext cx="4800600" cy="5176300"/>
              <a:chOff x="-457200" y="1600200"/>
              <a:chExt cx="4800600" cy="5176300"/>
            </a:xfrm>
          </p:grpSpPr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A72C0E09-FABA-F048-B435-D85CACBAAAA7}"/>
                  </a:ext>
                </a:extLst>
              </p:cNvPr>
              <p:cNvGrpSpPr/>
              <p:nvPr/>
            </p:nvGrpSpPr>
            <p:grpSpPr>
              <a:xfrm>
                <a:off x="-457200" y="1600200"/>
                <a:ext cx="4800600" cy="5176300"/>
                <a:chOff x="-457200" y="1600200"/>
                <a:chExt cx="4800600" cy="5176300"/>
              </a:xfrm>
            </p:grpSpPr>
            <p:pic>
              <p:nvPicPr>
                <p:cNvPr id="38" name="Picture 37">
                  <a:extLst>
                    <a:ext uri="{FF2B5EF4-FFF2-40B4-BE49-F238E27FC236}">
                      <a16:creationId xmlns:a16="http://schemas.microsoft.com/office/drawing/2014/main" id="{F78DE62A-7C31-6440-BB69-4FA57D059F2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3">
                  <a:clrChange>
                    <a:clrFrom>
                      <a:srgbClr val="FEFEFE"/>
                    </a:clrFrom>
                    <a:clrTo>
                      <a:srgbClr val="FEFEFE">
                        <a:alpha val="0"/>
                      </a:srgbClr>
                    </a:clrTo>
                  </a:clrChange>
                </a:blip>
                <a:stretch>
                  <a:fillRect/>
                </a:stretch>
              </p:blipFill>
              <p:spPr>
                <a:xfrm>
                  <a:off x="-457200" y="1600200"/>
                  <a:ext cx="4800600" cy="5176300"/>
                </a:xfrm>
                <a:prstGeom prst="rect">
                  <a:avLst/>
                </a:prstGeom>
              </p:spPr>
            </p:pic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9CAB1CCE-75D3-844D-AD0D-5EE75832E394}"/>
                    </a:ext>
                  </a:extLst>
                </p:cNvPr>
                <p:cNvSpPr txBox="1"/>
                <p:nvPr/>
              </p:nvSpPr>
              <p:spPr>
                <a:xfrm>
                  <a:off x="2057400" y="2057400"/>
                  <a:ext cx="15240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1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Georgia"/>
                      <a:ea typeface="+mn-ea"/>
                      <a:cs typeface="+mn-cs"/>
                    </a:rPr>
                    <a:t>FIRST </a:t>
                  </a:r>
                  <a:r>
                    <a:rPr kumimoji="0" lang="en-US" sz="1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Georgia"/>
                      <a:ea typeface="+mn-ea"/>
                      <a:cs typeface="+mn-cs"/>
                    </a:rPr>
                    <a:t>ACTIVITY</a:t>
                  </a:r>
                </a:p>
              </p:txBody>
            </p:sp>
          </p:grpSp>
          <p:sp>
            <p:nvSpPr>
              <p:cNvPr id="37" name="Oval 36">
                <a:extLst>
                  <a:ext uri="{FF2B5EF4-FFF2-40B4-BE49-F238E27FC236}">
                    <a16:creationId xmlns:a16="http://schemas.microsoft.com/office/drawing/2014/main" id="{48069A3C-12DF-2B46-80D8-5E9914BC5E34}"/>
                  </a:ext>
                </a:extLst>
              </p:cNvPr>
              <p:cNvSpPr/>
              <p:nvPr/>
            </p:nvSpPr>
            <p:spPr>
              <a:xfrm>
                <a:off x="2133600" y="3285281"/>
                <a:ext cx="1371600" cy="1058119"/>
              </a:xfrm>
              <a:prstGeom prst="ellipse">
                <a:avLst/>
              </a:prstGeom>
              <a:solidFill>
                <a:srgbClr val="009DD9">
                  <a:lumMod val="50000"/>
                </a:srgbClr>
              </a:solidFill>
              <a:ln w="19050" cap="flat" cmpd="sng" algn="ctr">
                <a:solidFill>
                  <a:sysClr val="windowText" lastClr="000000">
                    <a:lumMod val="95000"/>
                    <a:lumOff val="5000"/>
                  </a:sysClr>
                </a:solidFill>
                <a:prstDash val="solid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rPr>
                  <a:t>Open second activity</a:t>
                </a:r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4BD086F0-5858-BF44-9BA3-175D20723F67}"/>
                </a:ext>
              </a:extLst>
            </p:cNvPr>
            <p:cNvGrpSpPr/>
            <p:nvPr/>
          </p:nvGrpSpPr>
          <p:grpSpPr>
            <a:xfrm>
              <a:off x="3733800" y="3087469"/>
              <a:ext cx="1752600" cy="1929997"/>
              <a:chOff x="3733800" y="3087469"/>
              <a:chExt cx="1752600" cy="1929997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EE92C89D-F578-2548-A266-E1FB7ABAB40E}"/>
                  </a:ext>
                </a:extLst>
              </p:cNvPr>
              <p:cNvGrpSpPr/>
              <p:nvPr/>
            </p:nvGrpSpPr>
            <p:grpSpPr>
              <a:xfrm>
                <a:off x="3733800" y="3087469"/>
                <a:ext cx="1752600" cy="951131"/>
                <a:chOff x="3733800" y="3087469"/>
                <a:chExt cx="1752600" cy="951131"/>
              </a:xfrm>
            </p:grpSpPr>
            <p:sp>
              <p:nvSpPr>
                <p:cNvPr id="34" name="Right Arrow 33">
                  <a:extLst>
                    <a:ext uri="{FF2B5EF4-FFF2-40B4-BE49-F238E27FC236}">
                      <a16:creationId xmlns:a16="http://schemas.microsoft.com/office/drawing/2014/main" id="{51ED5EF6-9FA2-6F4C-8F03-81DA06B3D08D}"/>
                    </a:ext>
                  </a:extLst>
                </p:cNvPr>
                <p:cNvSpPr/>
                <p:nvPr/>
              </p:nvSpPr>
              <p:spPr>
                <a:xfrm>
                  <a:off x="4038601" y="3715379"/>
                  <a:ext cx="1295399" cy="323221"/>
                </a:xfrm>
                <a:prstGeom prst="rightArrow">
                  <a:avLst/>
                </a:prstGeom>
                <a:solidFill>
                  <a:srgbClr val="009DD9">
                    <a:lumMod val="50000"/>
                  </a:srgbClr>
                </a:solidFill>
                <a:ln w="19050" cap="flat" cmpd="sng" algn="ctr">
                  <a:solidFill>
                    <a:sysClr val="windowText" lastClr="000000">
                      <a:lumMod val="95000"/>
                      <a:lumOff val="5000"/>
                    </a:sysClr>
                  </a:solidFill>
                  <a:prstDash val="solid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smtClean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Georgia"/>
                    <a:ea typeface="+mn-ea"/>
                    <a:cs typeface="+mn-cs"/>
                  </a:endParaRP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C1C03E80-7930-7044-BD3E-322BAF12F3F2}"/>
                    </a:ext>
                  </a:extLst>
                </p:cNvPr>
                <p:cNvSpPr txBox="1"/>
                <p:nvPr/>
              </p:nvSpPr>
              <p:spPr>
                <a:xfrm>
                  <a:off x="3733800" y="3087469"/>
                  <a:ext cx="1752600" cy="64633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Georgia"/>
                      <a:ea typeface="+mn-ea"/>
                      <a:cs typeface="+mn-cs"/>
                    </a:rPr>
                    <a:t>Intent </a:t>
                  </a:r>
                </a:p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0" u="none" strike="noStrike" kern="1200" cap="none" spc="0" normalizeH="0" baseline="0" noProof="0" smtClean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Georgia"/>
                      <a:ea typeface="+mn-ea"/>
                      <a:cs typeface="+mn-cs"/>
                    </a:rPr>
                    <a:t>{action + data}</a:t>
                  </a:r>
                </a:p>
              </p:txBody>
            </p:sp>
          </p:grpSp>
          <p:pic>
            <p:nvPicPr>
              <p:cNvPr id="33" name="Picture 32">
                <a:extLst>
                  <a:ext uri="{FF2B5EF4-FFF2-40B4-BE49-F238E27FC236}">
                    <a16:creationId xmlns:a16="http://schemas.microsoft.com/office/drawing/2014/main" id="{A8363D4F-653B-8548-B8BB-46AC88FCF6E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279" t="16666" r="58333" b="10000"/>
              <a:stretch/>
            </p:blipFill>
            <p:spPr>
              <a:xfrm>
                <a:off x="4148704" y="4038600"/>
                <a:ext cx="918022" cy="978866"/>
              </a:xfrm>
              <a:prstGeom prst="rect">
                <a:avLst/>
              </a:prstGeom>
            </p:spPr>
          </p:pic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23F44C1-DA70-074B-94A3-4BD3D0810180}"/>
                </a:ext>
              </a:extLst>
            </p:cNvPr>
            <p:cNvGrpSpPr/>
            <p:nvPr/>
          </p:nvGrpSpPr>
          <p:grpSpPr>
            <a:xfrm>
              <a:off x="5105400" y="1630900"/>
              <a:ext cx="4800600" cy="5176300"/>
              <a:chOff x="5105400" y="1630900"/>
              <a:chExt cx="4800600" cy="5176300"/>
            </a:xfrm>
          </p:grpSpPr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8EAA8690-CE29-1F40-BDEE-419BDFA41570}"/>
                  </a:ext>
                </a:extLst>
              </p:cNvPr>
              <p:cNvGrpSpPr/>
              <p:nvPr/>
            </p:nvGrpSpPr>
            <p:grpSpPr>
              <a:xfrm>
                <a:off x="5105400" y="1630900"/>
                <a:ext cx="4800600" cy="5176300"/>
                <a:chOff x="5105400" y="1630900"/>
                <a:chExt cx="4800600" cy="5176300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B029FCE3-8303-394C-B074-0EDED7400548}"/>
                    </a:ext>
                  </a:extLst>
                </p:cNvPr>
                <p:cNvGrpSpPr/>
                <p:nvPr/>
              </p:nvGrpSpPr>
              <p:grpSpPr>
                <a:xfrm>
                  <a:off x="5105400" y="1630900"/>
                  <a:ext cx="4800600" cy="5176300"/>
                  <a:chOff x="4648200" y="1630900"/>
                  <a:chExt cx="4800600" cy="5176300"/>
                </a:xfrm>
              </p:grpSpPr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6C86CDCE-92AA-604F-9DAC-2CAF91E4AEC3}"/>
                      </a:ext>
                    </a:extLst>
                  </p:cNvPr>
                  <p:cNvGrpSpPr/>
                  <p:nvPr/>
                </p:nvGrpSpPr>
                <p:grpSpPr>
                  <a:xfrm>
                    <a:off x="4648200" y="1630900"/>
                    <a:ext cx="4800600" cy="5176300"/>
                    <a:chOff x="4648200" y="1630900"/>
                    <a:chExt cx="4800600" cy="5176300"/>
                  </a:xfrm>
                </p:grpSpPr>
                <p:pic>
                  <p:nvPicPr>
                    <p:cNvPr id="30" name="Picture 29">
                      <a:extLst>
                        <a:ext uri="{FF2B5EF4-FFF2-40B4-BE49-F238E27FC236}">
                          <a16:creationId xmlns:a16="http://schemas.microsoft.com/office/drawing/2014/main" id="{D7511954-B979-2742-B41A-5B735187107F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3">
                      <a:clrChange>
                        <a:clrFrom>
                          <a:srgbClr val="FEFEFE"/>
                        </a:clrFrom>
                        <a:clrTo>
                          <a:srgbClr val="FEFEFE">
                            <a:alpha val="0"/>
                          </a:srgbClr>
                        </a:clrTo>
                      </a:clrChange>
                    </a:blip>
                    <a:stretch>
                      <a:fillRect/>
                    </a:stretch>
                  </p:blipFill>
                  <p:spPr>
                    <a:xfrm flipH="1">
                      <a:off x="4648200" y="1630900"/>
                      <a:ext cx="4800600" cy="5176300"/>
                    </a:xfrm>
                    <a:prstGeom prst="rect">
                      <a:avLst/>
                    </a:prstGeom>
                  </p:spPr>
                </p:pic>
                <p:sp>
                  <p:nvSpPr>
                    <p:cNvPr id="31" name="TextBox 30">
                      <a:extLst>
                        <a:ext uri="{FF2B5EF4-FFF2-40B4-BE49-F238E27FC236}">
                          <a16:creationId xmlns:a16="http://schemas.microsoft.com/office/drawing/2014/main" id="{35B14A88-75B5-5440-A56B-DFB1171D5A9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86400" y="2096869"/>
                      <a:ext cx="1524000" cy="646331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SECOND </a:t>
                      </a:r>
                      <a:r>
                        <a:rPr kumimoji="0" lang="en-US" sz="1800" b="0" i="0" u="none" strike="noStrike" kern="1200" cap="none" spc="0" normalizeH="0" baseline="0" noProof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Georgia"/>
                          <a:ea typeface="+mn-ea"/>
                          <a:cs typeface="+mn-cs"/>
                        </a:rPr>
                        <a:t>ACTIVITY</a:t>
                      </a:r>
                    </a:p>
                  </p:txBody>
                </p:sp>
              </p:grpSp>
              <p:sp>
                <p:nvSpPr>
                  <p:cNvPr id="29" name="Rounded Rectangle 28">
                    <a:extLst>
                      <a:ext uri="{FF2B5EF4-FFF2-40B4-BE49-F238E27FC236}">
                        <a16:creationId xmlns:a16="http://schemas.microsoft.com/office/drawing/2014/main" id="{8F8FC98E-C627-9742-8308-BE7068F7DF41}"/>
                      </a:ext>
                    </a:extLst>
                  </p:cNvPr>
                  <p:cNvSpPr/>
                  <p:nvPr/>
                </p:nvSpPr>
                <p:spPr>
                  <a:xfrm>
                    <a:off x="5488873" y="3352800"/>
                    <a:ext cx="1409701" cy="933769"/>
                  </a:xfrm>
                  <a:prstGeom prst="roundRect">
                    <a:avLst/>
                  </a:prstGeom>
                  <a:solidFill>
                    <a:srgbClr val="009DD9">
                      <a:lumMod val="50000"/>
                    </a:srgbClr>
                  </a:solidFill>
                  <a:ln w="19050" cap="flat" cmpd="sng" algn="ctr">
                    <a:solidFill>
                      <a:sysClr val="windowText" lastClr="000000">
                        <a:lumMod val="95000"/>
                        <a:lumOff val="5000"/>
                      </a:sysClr>
                    </a:solidFill>
                    <a:prstDash val="solid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91440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800" b="0" i="0" u="none" strike="noStrike" kern="1200" cap="none" spc="0" normalizeH="0" baseline="0" noProof="0" smtClean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Georgia"/>
                        <a:ea typeface="+mn-ea"/>
                        <a:cs typeface="+mn-cs"/>
                      </a:rPr>
                      <a:t>Activity open with an Intent</a:t>
                    </a:r>
                  </a:p>
                </p:txBody>
              </p:sp>
            </p:grp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74420084-65CB-2648-9377-27DD4F52B2C1}"/>
                    </a:ext>
                  </a:extLst>
                </p:cNvPr>
                <p:cNvSpPr txBox="1"/>
                <p:nvPr/>
              </p:nvSpPr>
              <p:spPr>
                <a:xfrm>
                  <a:off x="5829300" y="4921942"/>
                  <a:ext cx="175260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800" b="0" i="1" u="none" strike="noStrike" kern="1200" cap="none" spc="0" normalizeH="0" baseline="0" noProof="0" dirty="0" smtClean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Georgia"/>
                      <a:ea typeface="+mn-ea"/>
                      <a:cs typeface="+mn-cs"/>
                    </a:rPr>
                    <a:t>Package from the first activity</a:t>
                  </a:r>
                </a:p>
              </p:txBody>
            </p:sp>
          </p:grpSp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F069D5D5-EDB7-2F40-8AB1-5BCB6BA03144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279" t="16666" r="58333" b="10000"/>
              <a:stretch/>
            </p:blipFill>
            <p:spPr>
              <a:xfrm>
                <a:off x="6308023" y="4321162"/>
                <a:ext cx="685800" cy="731253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3046270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Transfer data between 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Activities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4FF763-E9AF-854F-A57E-32B59EC40E63}"/>
              </a:ext>
            </a:extLst>
          </p:cNvPr>
          <p:cNvGrpSpPr/>
          <p:nvPr/>
        </p:nvGrpSpPr>
        <p:grpSpPr>
          <a:xfrm>
            <a:off x="728132" y="881001"/>
            <a:ext cx="91440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11ED1DAC-9318-6E4C-BBEC-3C31286CE1F1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A7CF58C4-6FC3-9E42-B53B-6D1D6582F586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B8B3E302-0C9D-5F43-916B-829741A6363F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lvl="0"/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Open another activity and </a:t>
              </a:r>
              <a:r>
                <a:rPr lang="en-US" sz="2600" b="1" kern="1200" dirty="0" smtClean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send </a:t>
              </a:r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data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40" name="Rectangle 7"/>
          <p:cNvSpPr txBox="1">
            <a:spLocks noChangeArrowheads="1"/>
          </p:cNvSpPr>
          <p:nvPr/>
        </p:nvSpPr>
        <p:spPr bwMode="auto">
          <a:xfrm>
            <a:off x="673876" y="1505996"/>
            <a:ext cx="7697491" cy="4767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12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itchFamily="2" charset="2"/>
              <a:buChar char="q"/>
              <a:defRPr sz="3200" b="1">
                <a:solidFill>
                  <a:srgbClr val="333399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692150" indent="-23495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333399"/>
              </a:buClr>
              <a:buFont typeface="Times New Roman" panose="02020603050405020304" pitchFamily="18" charset="0"/>
              <a:buChar char="●"/>
              <a:defRPr sz="2800">
                <a:solidFill>
                  <a:srgbClr val="333399"/>
                </a:solidFill>
                <a:latin typeface="+mn-lt"/>
                <a:ea typeface="MS PGothic" panose="020B0600070205080204" pitchFamily="34" charset="-128"/>
              </a:defRPr>
            </a:lvl2pPr>
            <a:lvl3pPr marL="987425" indent="-180975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rgbClr val="3366FF"/>
                </a:solidFill>
                <a:latin typeface="+mn-lt"/>
                <a:ea typeface="MS PGothic" panose="020B0600070205080204" pitchFamily="34" charset="-128"/>
              </a:defRPr>
            </a:lvl3pPr>
            <a:lvl4pPr marL="1281113" indent="-1793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598613" indent="-203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0558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just" eaLnBrk="1" hangingPunct="1">
              <a:buClr>
                <a:srgbClr val="330066"/>
              </a:buClr>
              <a:defRPr/>
            </a:pPr>
            <a:r>
              <a:rPr lang="en-US" altLang="en-US" sz="2400" dirty="0">
                <a:latin typeface="Cambria" panose="02040503050406030204" pitchFamily="18" charset="0"/>
              </a:rPr>
              <a:t>There are two ways to send data to Intent</a:t>
            </a:r>
            <a:r>
              <a:rPr lang="en-US" altLang="en-US" sz="2400" dirty="0" smtClean="0">
                <a:latin typeface="Cambria" panose="02040503050406030204" pitchFamily="18" charset="0"/>
              </a:rPr>
              <a:t>:</a:t>
            </a:r>
          </a:p>
          <a:p>
            <a:pPr lvl="1" algn="just" eaLnBrk="1" hangingPunct="1">
              <a:defRPr/>
            </a:pPr>
            <a:r>
              <a:rPr lang="en-US" altLang="en-US" sz="2400" dirty="0" smtClean="0">
                <a:latin typeface="Cambria" panose="02040503050406030204" pitchFamily="18" charset="0"/>
                <a:cs typeface="+mn-cs"/>
              </a:rPr>
              <a:t>Direct:</a:t>
            </a:r>
          </a:p>
          <a:p>
            <a:pPr lvl="2" algn="just" eaLnBrk="1" hangingPunct="1">
              <a:buClr>
                <a:srgbClr val="669999"/>
              </a:buClr>
              <a:defRPr/>
            </a:pPr>
            <a:r>
              <a:rPr lang="en-US" altLang="en-US" dirty="0">
                <a:latin typeface="Cambria" panose="02040503050406030204" pitchFamily="18" charset="0"/>
                <a:cs typeface="+mn-cs"/>
              </a:rPr>
              <a:t>Use the </a:t>
            </a:r>
            <a:r>
              <a:rPr lang="en-US" altLang="en-US" dirty="0" err="1">
                <a:latin typeface="Cambria" panose="02040503050406030204" pitchFamily="18" charset="0"/>
                <a:cs typeface="+mn-cs"/>
              </a:rPr>
              <a:t>putExtra</a:t>
            </a:r>
            <a:r>
              <a:rPr lang="en-US" altLang="en-US" dirty="0">
                <a:latin typeface="Cambria" panose="02040503050406030204" pitchFamily="18" charset="0"/>
                <a:cs typeface="+mn-cs"/>
              </a:rPr>
              <a:t>(Key, Value) method to set directly to the </a:t>
            </a:r>
            <a:r>
              <a:rPr lang="en-US" altLang="en-US" dirty="0" smtClean="0">
                <a:latin typeface="Cambria" panose="02040503050406030204" pitchFamily="18" charset="0"/>
                <a:cs typeface="+mn-cs"/>
              </a:rPr>
              <a:t>Intent</a:t>
            </a:r>
          </a:p>
          <a:p>
            <a:pPr lvl="1" algn="just" eaLnBrk="1" hangingPunct="1">
              <a:defRPr/>
            </a:pPr>
            <a:r>
              <a:rPr lang="en-US" altLang="en-US" sz="2400" dirty="0">
                <a:latin typeface="Cambria" panose="02040503050406030204" pitchFamily="18" charset="0"/>
                <a:cs typeface="+mn-cs"/>
              </a:rPr>
              <a:t>Through Bundle</a:t>
            </a:r>
            <a:endParaRPr lang="en-US" altLang="en-US" sz="2400" dirty="0" smtClean="0">
              <a:latin typeface="Cambria" panose="02040503050406030204" pitchFamily="18" charset="0"/>
              <a:cs typeface="+mn-cs"/>
            </a:endParaRPr>
          </a:p>
          <a:p>
            <a:pPr lvl="2" algn="just" eaLnBrk="1" hangingPunct="1">
              <a:buClr>
                <a:srgbClr val="669999"/>
              </a:buClr>
              <a:defRPr/>
            </a:pPr>
            <a:r>
              <a:rPr lang="en-US" altLang="en-US" dirty="0">
                <a:latin typeface="Cambria" panose="02040503050406030204" pitchFamily="18" charset="0"/>
                <a:cs typeface="+mn-cs"/>
              </a:rPr>
              <a:t>Create a Bundle object, use the set&lt;KDL&gt;(Key, Value) method on the Bundle object</a:t>
            </a:r>
          </a:p>
          <a:p>
            <a:pPr lvl="2" algn="just" eaLnBrk="1" hangingPunct="1">
              <a:buClr>
                <a:srgbClr val="669999"/>
              </a:buClr>
              <a:defRPr/>
            </a:pPr>
            <a:r>
              <a:rPr lang="en-US" altLang="en-US" dirty="0">
                <a:latin typeface="Cambria" panose="02040503050406030204" pitchFamily="18" charset="0"/>
                <a:cs typeface="+mn-cs"/>
              </a:rPr>
              <a:t>Use the </a:t>
            </a:r>
            <a:r>
              <a:rPr lang="en-US" altLang="en-US" dirty="0" err="1">
                <a:latin typeface="Cambria" panose="02040503050406030204" pitchFamily="18" charset="0"/>
                <a:cs typeface="+mn-cs"/>
              </a:rPr>
              <a:t>putExtras</a:t>
            </a:r>
            <a:r>
              <a:rPr lang="en-US" altLang="en-US" dirty="0">
                <a:latin typeface="Cambria" panose="02040503050406030204" pitchFamily="18" charset="0"/>
                <a:cs typeface="+mn-cs"/>
              </a:rPr>
              <a:t>() method to send the Bundle to the Intent.</a:t>
            </a:r>
            <a:endParaRPr lang="en-US" altLang="en-US" dirty="0" smtClean="0">
              <a:latin typeface="Cambria" panose="02040503050406030204" pitchFamily="18" charset="0"/>
              <a:cs typeface="+mn-cs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F78DE62A-7C31-6440-BB69-4FA57D059F2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274442" y="1253063"/>
            <a:ext cx="4800600" cy="51763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9CAB1CCE-75D3-844D-AD0D-5EE75832E394}"/>
              </a:ext>
            </a:extLst>
          </p:cNvPr>
          <p:cNvSpPr txBox="1"/>
          <p:nvPr/>
        </p:nvSpPr>
        <p:spPr>
          <a:xfrm>
            <a:off x="9789042" y="1710263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FIRST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ACTIVITY</a:t>
            </a:r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8069A3C-12DF-2B46-80D8-5E9914BC5E34}"/>
              </a:ext>
            </a:extLst>
          </p:cNvPr>
          <p:cNvSpPr/>
          <p:nvPr/>
        </p:nvSpPr>
        <p:spPr>
          <a:xfrm>
            <a:off x="9865242" y="2938144"/>
            <a:ext cx="1371600" cy="1058119"/>
          </a:xfrm>
          <a:prstGeom prst="ellipse">
            <a:avLst/>
          </a:prstGeom>
          <a:solidFill>
            <a:srgbClr val="009DD9">
              <a:lumMod val="50000"/>
            </a:srgbClr>
          </a:solidFill>
          <a:ln w="1905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Open second activity</a:t>
            </a:r>
          </a:p>
        </p:txBody>
      </p:sp>
    </p:spTree>
    <p:extLst>
      <p:ext uri="{BB962C8B-B14F-4D97-AF65-F5344CB8AC3E}">
        <p14:creationId xmlns:p14="http://schemas.microsoft.com/office/powerpoint/2010/main" val="1120221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Transfer data between 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Activities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4FF763-E9AF-854F-A57E-32B59EC40E63}"/>
              </a:ext>
            </a:extLst>
          </p:cNvPr>
          <p:cNvGrpSpPr/>
          <p:nvPr/>
        </p:nvGrpSpPr>
        <p:grpSpPr>
          <a:xfrm>
            <a:off x="728132" y="881001"/>
            <a:ext cx="91440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11ED1DAC-9318-6E4C-BBEC-3C31286CE1F1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A7CF58C4-6FC3-9E42-B53B-6D1D6582F586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B8B3E302-0C9D-5F43-916B-829741A6363F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lvl="0"/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Open another activity and </a:t>
              </a:r>
              <a:r>
                <a:rPr lang="en-US" sz="2600" b="1" kern="1200" dirty="0" smtClean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send </a:t>
              </a:r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data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20" name="Rectangle 7"/>
          <p:cNvSpPr txBox="1">
            <a:spLocks noChangeArrowheads="1"/>
          </p:cNvSpPr>
          <p:nvPr/>
        </p:nvSpPr>
        <p:spPr bwMode="auto">
          <a:xfrm>
            <a:off x="728132" y="1505996"/>
            <a:ext cx="7920037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12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itchFamily="2" charset="2"/>
              <a:buChar char="q"/>
              <a:defRPr sz="3200" b="1">
                <a:solidFill>
                  <a:srgbClr val="333399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692150" indent="-23495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333399"/>
              </a:buClr>
              <a:buFont typeface="Times New Roman" panose="02020603050405020304" pitchFamily="18" charset="0"/>
              <a:buChar char="●"/>
              <a:defRPr sz="2800">
                <a:solidFill>
                  <a:srgbClr val="333399"/>
                </a:solidFill>
                <a:latin typeface="+mn-lt"/>
                <a:ea typeface="MS PGothic" panose="020B0600070205080204" pitchFamily="34" charset="-128"/>
              </a:defRPr>
            </a:lvl2pPr>
            <a:lvl3pPr marL="987425" indent="-180975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rgbClr val="3366FF"/>
                </a:solidFill>
                <a:latin typeface="+mn-lt"/>
                <a:ea typeface="MS PGothic" panose="020B0600070205080204" pitchFamily="34" charset="-128"/>
              </a:defRPr>
            </a:lvl3pPr>
            <a:lvl4pPr marL="1281113" indent="-1793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598613" indent="-203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0558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indent="-234950" eaLnBrk="1" hangingPunct="1">
              <a:spcBef>
                <a:spcPct val="25000"/>
              </a:spcBef>
              <a:buClr>
                <a:srgbClr val="333399"/>
              </a:buClr>
              <a:buSzTx/>
              <a:buFont typeface="Times New Roman" panose="02020603050405020304" pitchFamily="18" charset="0"/>
              <a:buChar char="●"/>
            </a:pPr>
            <a:r>
              <a:rPr lang="en-US" altLang="en-US" sz="2800" b="0" dirty="0">
                <a:latin typeface="Calibri"/>
              </a:rPr>
              <a:t>For example, send the integer </a:t>
            </a:r>
            <a:r>
              <a:rPr lang="en-US" altLang="en-US" sz="2800" b="0" dirty="0" smtClean="0">
                <a:latin typeface="Calibri"/>
              </a:rPr>
              <a:t>X </a:t>
            </a:r>
            <a:r>
              <a:rPr lang="en-US" altLang="en-US" sz="2800" b="0" dirty="0">
                <a:latin typeface="Calibri"/>
              </a:rPr>
              <a:t>into the Intent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/>
            </a:endParaRPr>
          </a:p>
          <a:p>
            <a:pPr marL="692150" marR="0" lvl="1" indent="-180975" algn="l" defTabSz="914400" rtl="0" eaLnBrk="1" fontAlgn="base" latinLnBrk="0" hangingPunct="1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669999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+mn-cs"/>
              </a:rPr>
              <a:t>Direct:</a:t>
            </a:r>
          </a:p>
          <a:p>
            <a:pPr lvl="1" indent="-180975" eaLnBrk="1" hangingPunct="1">
              <a:buClr>
                <a:srgbClr val="669999"/>
              </a:buClr>
              <a:buNone/>
            </a:pPr>
            <a:r>
              <a:rPr kumimoji="0" lang="en-US" alt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intent.putExtra</a:t>
            </a:r>
            <a:r>
              <a:rPr lang="en-US" altLang="en-US" dirty="0">
                <a:solidFill>
                  <a:srgbClr val="3366FF"/>
                </a:solidFill>
                <a:latin typeface="Calibri"/>
                <a:cs typeface="+mn-cs"/>
              </a:rPr>
              <a:t>("</a:t>
            </a:r>
            <a:r>
              <a:rPr lang="en-US" altLang="en-US" dirty="0" smtClean="0">
                <a:solidFill>
                  <a:srgbClr val="3366FF"/>
                </a:solidFill>
                <a:latin typeface="Calibri"/>
                <a:cs typeface="+mn-cs"/>
              </a:rPr>
              <a:t>X</a:t>
            </a:r>
            <a:r>
              <a:rPr lang="en-US" altLang="en-US" dirty="0">
                <a:solidFill>
                  <a:srgbClr val="3366FF"/>
                </a:solidFill>
                <a:latin typeface="Calibri"/>
                <a:cs typeface="+mn-cs"/>
              </a:rPr>
              <a:t>", </a:t>
            </a:r>
            <a:r>
              <a:rPr kumimoji="0" lang="en-US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x);</a:t>
            </a:r>
          </a:p>
          <a:p>
            <a:pPr marL="692150" marR="0" lvl="1" indent="-180975" algn="l" defTabSz="914400" rtl="0" eaLnBrk="1" fontAlgn="base" latinLnBrk="0" hangingPunct="1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669999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+mn-cs"/>
              </a:rPr>
              <a:t>Through Bundle:</a:t>
            </a:r>
          </a:p>
          <a:p>
            <a:pPr marL="692150" marR="0" lvl="1" indent="-180975" algn="l" defTabSz="914400" rtl="0" eaLnBrk="1" fontAlgn="base" latinLnBrk="0" hangingPunct="1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669999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Bundle </a:t>
            </a:r>
            <a:r>
              <a:rPr kumimoji="0" lang="en-US" alt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bundle</a:t>
            </a:r>
            <a:r>
              <a:rPr kumimoji="0" lang="en-US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 = new Bundle();</a:t>
            </a:r>
          </a:p>
          <a:p>
            <a:pPr lvl="1" indent="-180975" eaLnBrk="1" hangingPunct="1">
              <a:buClr>
                <a:srgbClr val="669999"/>
              </a:buClr>
              <a:buNone/>
            </a:pPr>
            <a:r>
              <a:rPr kumimoji="0" lang="en-US" alt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bundle.putInt</a:t>
            </a:r>
            <a:r>
              <a:rPr lang="en-US" altLang="en-US" dirty="0">
                <a:solidFill>
                  <a:srgbClr val="3366FF"/>
                </a:solidFill>
                <a:latin typeface="Calibri"/>
                <a:cs typeface="+mn-cs"/>
              </a:rPr>
              <a:t>("X", </a:t>
            </a:r>
            <a:r>
              <a:rPr kumimoji="0" lang="en-US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x);</a:t>
            </a:r>
          </a:p>
          <a:p>
            <a:pPr marL="692150" marR="0" lvl="1" indent="-180975" algn="l" defTabSz="914400" rtl="0" eaLnBrk="1" fontAlgn="base" latinLnBrk="0" hangingPunct="1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669999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intent.putExtras</a:t>
            </a:r>
            <a:r>
              <a:rPr kumimoji="0" lang="en-US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(bundle);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78DE62A-7C31-6440-BB69-4FA57D059F2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877493" y="1139649"/>
            <a:ext cx="4800600" cy="51763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9CAB1CCE-75D3-844D-AD0D-5EE75832E394}"/>
              </a:ext>
            </a:extLst>
          </p:cNvPr>
          <p:cNvSpPr txBox="1"/>
          <p:nvPr/>
        </p:nvSpPr>
        <p:spPr>
          <a:xfrm>
            <a:off x="9392093" y="1596849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FIRST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ACTIVITY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8069A3C-12DF-2B46-80D8-5E9914BC5E34}"/>
              </a:ext>
            </a:extLst>
          </p:cNvPr>
          <p:cNvSpPr/>
          <p:nvPr/>
        </p:nvSpPr>
        <p:spPr>
          <a:xfrm>
            <a:off x="9468293" y="2824730"/>
            <a:ext cx="1371600" cy="1058119"/>
          </a:xfrm>
          <a:prstGeom prst="ellipse">
            <a:avLst/>
          </a:prstGeom>
          <a:solidFill>
            <a:srgbClr val="009DD9">
              <a:lumMod val="50000"/>
            </a:srgbClr>
          </a:solidFill>
          <a:ln w="1905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Open second activity</a:t>
            </a:r>
          </a:p>
        </p:txBody>
      </p:sp>
    </p:spTree>
    <p:extLst>
      <p:ext uri="{BB962C8B-B14F-4D97-AF65-F5344CB8AC3E}">
        <p14:creationId xmlns:p14="http://schemas.microsoft.com/office/powerpoint/2010/main" val="3814194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Transfer data between 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Activities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4FF763-E9AF-854F-A57E-32B59EC40E63}"/>
              </a:ext>
            </a:extLst>
          </p:cNvPr>
          <p:cNvGrpSpPr/>
          <p:nvPr/>
        </p:nvGrpSpPr>
        <p:grpSpPr>
          <a:xfrm>
            <a:off x="728132" y="881001"/>
            <a:ext cx="91440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11ED1DAC-9318-6E4C-BBEC-3C31286CE1F1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A7CF58C4-6FC3-9E42-B53B-6D1D6582F586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B8B3E302-0C9D-5F43-916B-829741A6363F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lvl="0"/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Open another activity and </a:t>
              </a:r>
              <a:r>
                <a:rPr lang="en-US" sz="2600" b="1" kern="1200" dirty="0" smtClean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send </a:t>
              </a:r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data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21" name="Rectangle 7"/>
          <p:cNvSpPr txBox="1">
            <a:spLocks noChangeArrowheads="1"/>
          </p:cNvSpPr>
          <p:nvPr/>
        </p:nvSpPr>
        <p:spPr bwMode="auto">
          <a:xfrm>
            <a:off x="800243" y="1557855"/>
            <a:ext cx="6663814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12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itchFamily="2" charset="2"/>
              <a:buChar char="q"/>
              <a:defRPr sz="3200" b="1">
                <a:solidFill>
                  <a:srgbClr val="333399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692150" indent="-23495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333399"/>
              </a:buClr>
              <a:buFont typeface="Times New Roman" panose="02020603050405020304" pitchFamily="18" charset="0"/>
              <a:buChar char="●"/>
              <a:defRPr sz="2800">
                <a:solidFill>
                  <a:srgbClr val="333399"/>
                </a:solidFill>
                <a:latin typeface="+mn-lt"/>
                <a:ea typeface="MS PGothic" panose="020B0600070205080204" pitchFamily="34" charset="-128"/>
              </a:defRPr>
            </a:lvl2pPr>
            <a:lvl3pPr marL="987425" indent="-180975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rgbClr val="3366FF"/>
                </a:solidFill>
                <a:latin typeface="+mn-lt"/>
                <a:ea typeface="MS PGothic" panose="020B0600070205080204" pitchFamily="34" charset="-128"/>
              </a:defRPr>
            </a:lvl3pPr>
            <a:lvl4pPr marL="1281113" indent="-1793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598613" indent="-203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0558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indent="-234950" eaLnBrk="1" hangingPunct="1">
              <a:spcBef>
                <a:spcPct val="25000"/>
              </a:spcBef>
              <a:buClr>
                <a:srgbClr val="333399"/>
              </a:buClr>
              <a:buSzTx/>
              <a:buFont typeface="Times New Roman" panose="02020603050405020304" pitchFamily="18" charset="0"/>
              <a:buChar char="●"/>
            </a:pPr>
            <a:r>
              <a:rPr lang="en-US" altLang="en-US" sz="2800" b="0" dirty="0">
                <a:latin typeface="Calibri"/>
              </a:rPr>
              <a:t>Retrieve data directly Extras:</a:t>
            </a:r>
            <a:endParaRPr kumimoji="0" lang="en-US" altLang="en-US" sz="2800" b="0" i="0" u="none" strike="noStrike" kern="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/>
            </a:endParaRPr>
          </a:p>
          <a:p>
            <a:pPr lvl="1" indent="-180975" eaLnBrk="1" hangingPunct="1">
              <a:buClr>
                <a:srgbClr val="669999"/>
              </a:buClr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3366FF"/>
                </a:solidFill>
                <a:latin typeface="Calibri"/>
                <a:cs typeface="+mn-cs"/>
              </a:rPr>
              <a:t>Use the get&lt;KDL&gt;Extra(Key, </a:t>
            </a:r>
            <a:r>
              <a:rPr lang="en-US" altLang="en-US" sz="2400" dirty="0" err="1">
                <a:solidFill>
                  <a:srgbClr val="3366FF"/>
                </a:solidFill>
                <a:latin typeface="Calibri"/>
                <a:cs typeface="+mn-cs"/>
              </a:rPr>
              <a:t>DefaultValue</a:t>
            </a:r>
            <a:r>
              <a:rPr lang="en-US" altLang="en-US" sz="2400" dirty="0">
                <a:solidFill>
                  <a:srgbClr val="3366FF"/>
                </a:solidFill>
                <a:latin typeface="Calibri"/>
                <a:cs typeface="+mn-cs"/>
              </a:rPr>
              <a:t>) method to retrieve Intent data</a:t>
            </a:r>
            <a:r>
              <a:rPr lang="en-US" altLang="en-US" sz="2400" dirty="0" smtClean="0">
                <a:solidFill>
                  <a:srgbClr val="3366FF"/>
                </a:solidFill>
                <a:latin typeface="Calibri"/>
                <a:cs typeface="+mn-cs"/>
              </a:rPr>
              <a:t>.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3366FF"/>
              </a:solidFill>
              <a:effectLst/>
              <a:uLnTx/>
              <a:uFillTx/>
              <a:latin typeface="Calibri"/>
              <a:cs typeface="+mn-cs"/>
            </a:endParaRPr>
          </a:p>
          <a:p>
            <a:pPr marL="342900" marR="0" lvl="0" indent="-234950" algn="l" defTabSz="914400" rtl="0" eaLnBrk="1" fontAlgn="base" latinLnBrk="0" hangingPunct="1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333399"/>
              </a:buClr>
              <a:buSzTx/>
              <a:buFont typeface="Times New Roman" panose="02020603050405020304" pitchFamily="18" charset="0"/>
              <a:buChar char="●"/>
              <a:tabLst/>
              <a:defRPr/>
            </a:pPr>
            <a:r>
              <a:rPr lang="en-US" altLang="en-US" sz="2800" b="0" dirty="0" smtClean="0">
                <a:latin typeface="Calibri"/>
              </a:rPr>
              <a:t>Using</a:t>
            </a:r>
            <a:r>
              <a:rPr kumimoji="0" lang="en-US" altLang="en-US" sz="2800" b="0" i="0" u="none" strike="noStrike" kern="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Calibri"/>
              </a:rPr>
              <a:t> Bundle</a:t>
            </a:r>
          </a:p>
          <a:p>
            <a:pPr lvl="1" indent="-180975" eaLnBrk="1" hangingPunct="1">
              <a:buClr>
                <a:srgbClr val="669999"/>
              </a:buClr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3366FF"/>
                </a:solidFill>
                <a:latin typeface="Calibri"/>
                <a:cs typeface="+mn-cs"/>
              </a:rPr>
              <a:t>Use the </a:t>
            </a:r>
            <a:r>
              <a:rPr lang="en-US" altLang="en-US" sz="2400" dirty="0" err="1">
                <a:solidFill>
                  <a:srgbClr val="3366FF"/>
                </a:solidFill>
                <a:latin typeface="Calibri"/>
                <a:cs typeface="+mn-cs"/>
              </a:rPr>
              <a:t>getExtras</a:t>
            </a:r>
            <a:r>
              <a:rPr lang="en-US" altLang="en-US" sz="2400" dirty="0">
                <a:solidFill>
                  <a:srgbClr val="3366FF"/>
                </a:solidFill>
                <a:latin typeface="Calibri"/>
                <a:cs typeface="+mn-cs"/>
              </a:rPr>
              <a:t>() method to retrieve the Bundle object in the Intent.</a:t>
            </a:r>
          </a:p>
          <a:p>
            <a:pPr lvl="1" indent="-180975" eaLnBrk="1" hangingPunct="1">
              <a:buClr>
                <a:srgbClr val="669999"/>
              </a:buClr>
              <a:buFont typeface="Wingdings" panose="05000000000000000000" pitchFamily="2" charset="2"/>
              <a:buChar char="§"/>
            </a:pPr>
            <a:r>
              <a:rPr lang="en-US" altLang="en-US" sz="2400" dirty="0">
                <a:solidFill>
                  <a:srgbClr val="3366FF"/>
                </a:solidFill>
                <a:latin typeface="Calibri"/>
                <a:cs typeface="+mn-cs"/>
              </a:rPr>
              <a:t>Use the get&lt;KDL&gt;(Key, </a:t>
            </a:r>
            <a:r>
              <a:rPr lang="en-US" altLang="en-US" sz="2400" dirty="0" err="1">
                <a:solidFill>
                  <a:srgbClr val="3366FF"/>
                </a:solidFill>
                <a:latin typeface="Calibri"/>
                <a:cs typeface="+mn-cs"/>
              </a:rPr>
              <a:t>DefaultValue</a:t>
            </a:r>
            <a:r>
              <a:rPr lang="en-US" altLang="en-US" sz="2400" dirty="0">
                <a:solidFill>
                  <a:srgbClr val="3366FF"/>
                </a:solidFill>
                <a:latin typeface="Calibri"/>
                <a:cs typeface="+mn-cs"/>
              </a:rPr>
              <a:t>) method to retrieve data in the Bundle.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3366FF"/>
              </a:solidFill>
              <a:effectLst/>
              <a:uLnTx/>
              <a:uFillTx/>
              <a:latin typeface="Calibri"/>
              <a:cs typeface="+mn-cs"/>
            </a:endParaRP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125000"/>
              </a:spcBef>
              <a:spcAft>
                <a:spcPct val="0"/>
              </a:spcAft>
              <a:buClr>
                <a:srgbClr val="330066"/>
              </a:buClr>
              <a:buSzPct val="90000"/>
              <a:buFont typeface="Wingdings" pitchFamily="2" charset="2"/>
              <a:buChar char="q"/>
              <a:tabLst/>
              <a:defRPr/>
            </a:pPr>
            <a:endParaRPr kumimoji="0" lang="en-US" altLang="en-US" sz="2400" b="1" i="0" u="none" strike="noStrike" kern="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C72E1E04-830A-FE44-9AC2-70D3A44EB9C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7198242" y="1201205"/>
            <a:ext cx="4800600" cy="5176300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70608F10-A97B-F641-A00E-91EC7F8C9807}"/>
              </a:ext>
            </a:extLst>
          </p:cNvPr>
          <p:cNvSpPr txBox="1"/>
          <p:nvPr/>
        </p:nvSpPr>
        <p:spPr>
          <a:xfrm>
            <a:off x="8036442" y="1667174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SECOND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ACTIVITY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CF5527B5-2008-4942-9F82-FD7968371F30}"/>
              </a:ext>
            </a:extLst>
          </p:cNvPr>
          <p:cNvSpPr/>
          <p:nvPr/>
        </p:nvSpPr>
        <p:spPr>
          <a:xfrm>
            <a:off x="8038915" y="2923105"/>
            <a:ext cx="1409701" cy="933769"/>
          </a:xfrm>
          <a:prstGeom prst="roundRect">
            <a:avLst/>
          </a:prstGeom>
          <a:solidFill>
            <a:srgbClr val="009DD9">
              <a:lumMod val="50000"/>
            </a:srgbClr>
          </a:solidFill>
          <a:ln w="1905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Activity open with an Intent</a:t>
            </a:r>
          </a:p>
        </p:txBody>
      </p:sp>
    </p:spTree>
    <p:extLst>
      <p:ext uri="{BB962C8B-B14F-4D97-AF65-F5344CB8AC3E}">
        <p14:creationId xmlns:p14="http://schemas.microsoft.com/office/powerpoint/2010/main" val="2253130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Transfer data between 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Activities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4FF763-E9AF-854F-A57E-32B59EC40E63}"/>
              </a:ext>
            </a:extLst>
          </p:cNvPr>
          <p:cNvGrpSpPr/>
          <p:nvPr/>
        </p:nvGrpSpPr>
        <p:grpSpPr>
          <a:xfrm>
            <a:off x="728132" y="881001"/>
            <a:ext cx="91440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11ED1DAC-9318-6E4C-BBEC-3C31286CE1F1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A7CF58C4-6FC3-9E42-B53B-6D1D6582F586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B8B3E302-0C9D-5F43-916B-829741A6363F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lvl="0"/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Open another activity and </a:t>
              </a:r>
              <a:r>
                <a:rPr lang="en-US" sz="2600" b="1" kern="1200" dirty="0" smtClean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send </a:t>
              </a:r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data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20" name="Rectangle 7"/>
          <p:cNvSpPr txBox="1">
            <a:spLocks noChangeArrowheads="1"/>
          </p:cNvSpPr>
          <p:nvPr/>
        </p:nvSpPr>
        <p:spPr bwMode="auto">
          <a:xfrm>
            <a:off x="489400" y="1505996"/>
            <a:ext cx="7920037" cy="47710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12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itchFamily="2" charset="2"/>
              <a:buChar char="q"/>
              <a:defRPr sz="3200" b="1">
                <a:solidFill>
                  <a:srgbClr val="333399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692150" indent="-23495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333399"/>
              </a:buClr>
              <a:buFont typeface="Times New Roman" panose="02020603050405020304" pitchFamily="18" charset="0"/>
              <a:buChar char="●"/>
              <a:defRPr sz="2800">
                <a:solidFill>
                  <a:srgbClr val="333399"/>
                </a:solidFill>
                <a:latin typeface="+mn-lt"/>
                <a:ea typeface="MS PGothic" panose="020B0600070205080204" pitchFamily="34" charset="-128"/>
              </a:defRPr>
            </a:lvl2pPr>
            <a:lvl3pPr marL="987425" indent="-180975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rgbClr val="3366FF"/>
                </a:solidFill>
                <a:latin typeface="+mn-lt"/>
                <a:ea typeface="MS PGothic" panose="020B0600070205080204" pitchFamily="34" charset="-128"/>
              </a:defRPr>
            </a:lvl3pPr>
            <a:lvl4pPr marL="1281113" indent="-1793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598613" indent="-203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0558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indent="-234950" eaLnBrk="1" hangingPunct="1">
              <a:spcBef>
                <a:spcPct val="25000"/>
              </a:spcBef>
              <a:buClr>
                <a:srgbClr val="333399"/>
              </a:buClr>
              <a:buSzTx/>
              <a:buFont typeface="Times New Roman" panose="02020603050405020304" pitchFamily="18" charset="0"/>
              <a:buChar char="●"/>
            </a:pPr>
            <a:r>
              <a:rPr lang="en-US" altLang="en-US" sz="2400" b="0" dirty="0">
                <a:latin typeface="Calibri"/>
              </a:rPr>
              <a:t>For example, retrieve the integer sent in the Intent</a:t>
            </a:r>
            <a:endParaRPr kumimoji="0" lang="en-US" altLang="en-US" sz="2400" b="0" i="0" u="none" strike="noStrike" kern="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Calibri"/>
            </a:endParaRPr>
          </a:p>
          <a:p>
            <a:pPr marL="692150" marR="0" lvl="1" indent="-180975" algn="l" defTabSz="914400" rtl="0" eaLnBrk="1" fontAlgn="base" latinLnBrk="0" hangingPunct="1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669999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+mn-cs"/>
              </a:rPr>
              <a:t>Direct:</a:t>
            </a:r>
          </a:p>
          <a:p>
            <a:pPr marL="692150" marR="0" lvl="1" indent="-180975" algn="l" defTabSz="914400" rtl="0" eaLnBrk="1" fontAlgn="base" latinLnBrk="0" hangingPunct="1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669999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Intent </a:t>
            </a:r>
            <a:r>
              <a:rPr kumimoji="0" lang="en-US" alt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intent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  = </a:t>
            </a:r>
            <a:r>
              <a:rPr kumimoji="0" lang="en-US" alt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getIntent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();</a:t>
            </a:r>
          </a:p>
          <a:p>
            <a:pPr lvl="1" indent="-180975" eaLnBrk="1" hangingPunct="1">
              <a:buClr>
                <a:srgbClr val="669999"/>
              </a:buClr>
              <a:buNone/>
            </a:pPr>
            <a:r>
              <a:rPr kumimoji="0" lang="en-US" alt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int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soNguyenX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 = </a:t>
            </a:r>
            <a:r>
              <a:rPr kumimoji="0" lang="en-US" alt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intent.getIntExtra</a:t>
            </a:r>
            <a:r>
              <a:rPr lang="en-US" altLang="en-US" sz="2400" dirty="0">
                <a:solidFill>
                  <a:srgbClr val="3366FF"/>
                </a:solidFill>
                <a:latin typeface="Calibri"/>
                <a:cs typeface="+mn-cs"/>
              </a:rPr>
              <a:t>("</a:t>
            </a:r>
            <a:r>
              <a:rPr lang="en-US" altLang="en-US" sz="2400" dirty="0" smtClean="0">
                <a:solidFill>
                  <a:srgbClr val="3366FF"/>
                </a:solidFill>
                <a:latin typeface="Calibri"/>
                <a:cs typeface="+mn-cs"/>
              </a:rPr>
              <a:t>X</a:t>
            </a:r>
            <a:r>
              <a:rPr lang="en-US" altLang="en-US" sz="2400" dirty="0">
                <a:solidFill>
                  <a:srgbClr val="3366FF"/>
                </a:solidFill>
                <a:latin typeface="Calibri"/>
                <a:cs typeface="+mn-cs"/>
              </a:rPr>
              <a:t>", 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0);</a:t>
            </a:r>
          </a:p>
          <a:p>
            <a:pPr marL="692150" marR="0" lvl="1" indent="-180975" algn="l" defTabSz="914400" rtl="0" eaLnBrk="1" fontAlgn="base" latinLnBrk="0" hangingPunct="1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669999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+mn-cs"/>
              </a:rPr>
              <a:t>Through Bundle:</a:t>
            </a:r>
          </a:p>
          <a:p>
            <a:pPr marL="692150" marR="0" lvl="1" indent="-180975" algn="l" defTabSz="914400" rtl="0" eaLnBrk="1" fontAlgn="base" latinLnBrk="0" hangingPunct="1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669999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Intent </a:t>
            </a:r>
            <a:r>
              <a:rPr kumimoji="0" lang="en-US" alt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intent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 = </a:t>
            </a:r>
            <a:r>
              <a:rPr kumimoji="0" lang="en-US" alt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getIntent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();</a:t>
            </a:r>
          </a:p>
          <a:p>
            <a:pPr marL="692150" marR="0" lvl="1" indent="-180975" algn="l" defTabSz="914400" rtl="0" eaLnBrk="1" fontAlgn="base" latinLnBrk="0" hangingPunct="1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669999"/>
              </a:buClr>
              <a:buSzTx/>
              <a:buFont typeface="Wingdings" panose="05000000000000000000" pitchFamily="2" charset="2"/>
              <a:buNone/>
              <a:tabLst/>
              <a:defRPr/>
            </a:pP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Bundle </a:t>
            </a:r>
            <a:r>
              <a:rPr kumimoji="0" lang="en-US" alt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bundle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 = </a:t>
            </a:r>
            <a:r>
              <a:rPr kumimoji="0" lang="en-US" alt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intent.getExtras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();</a:t>
            </a:r>
          </a:p>
          <a:p>
            <a:pPr lvl="1" indent="-180975" eaLnBrk="1" hangingPunct="1">
              <a:buClr>
                <a:srgbClr val="669999"/>
              </a:buClr>
              <a:buNone/>
            </a:pPr>
            <a:r>
              <a:rPr kumimoji="0" lang="en-US" alt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int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 </a:t>
            </a:r>
            <a:r>
              <a:rPr kumimoji="0" lang="en-US" alt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soNguyenX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 = </a:t>
            </a:r>
            <a:r>
              <a:rPr kumimoji="0" lang="en-US" altLang="en-US" sz="24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bundle.getInt</a:t>
            </a:r>
            <a:r>
              <a:rPr lang="en-US" altLang="en-US" sz="2400" dirty="0">
                <a:solidFill>
                  <a:srgbClr val="3366FF"/>
                </a:solidFill>
                <a:latin typeface="Calibri"/>
                <a:cs typeface="+mn-cs"/>
              </a:rPr>
              <a:t>("</a:t>
            </a:r>
            <a:r>
              <a:rPr lang="en-US" altLang="en-US" sz="2400" dirty="0" smtClean="0">
                <a:solidFill>
                  <a:srgbClr val="3366FF"/>
                </a:solidFill>
                <a:latin typeface="Calibri"/>
                <a:cs typeface="+mn-cs"/>
              </a:rPr>
              <a:t>X</a:t>
            </a:r>
            <a:r>
              <a:rPr lang="en-US" altLang="en-US" sz="2400" dirty="0">
                <a:solidFill>
                  <a:srgbClr val="3366FF"/>
                </a:solidFill>
                <a:latin typeface="Calibri"/>
                <a:cs typeface="+mn-cs"/>
              </a:rPr>
              <a:t>", </a:t>
            </a:r>
            <a:r>
              <a:rPr kumimoji="0" lang="en-US" altLang="en-US" sz="24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Calibri"/>
                <a:cs typeface="+mn-cs"/>
              </a:rPr>
              <a:t>0);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72E1E04-830A-FE44-9AC2-70D3A44EB9CE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tretch>
            <a:fillRect/>
          </a:stretch>
        </p:blipFill>
        <p:spPr>
          <a:xfrm flipH="1">
            <a:off x="7271198" y="1149362"/>
            <a:ext cx="4800600" cy="51763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0608F10-A97B-F641-A00E-91EC7F8C9807}"/>
              </a:ext>
            </a:extLst>
          </p:cNvPr>
          <p:cNvSpPr txBox="1"/>
          <p:nvPr/>
        </p:nvSpPr>
        <p:spPr>
          <a:xfrm>
            <a:off x="8109398" y="1615331"/>
            <a:ext cx="1524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SECOND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ACTIVITY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CF5527B5-2008-4942-9F82-FD7968371F30}"/>
              </a:ext>
            </a:extLst>
          </p:cNvPr>
          <p:cNvSpPr/>
          <p:nvPr/>
        </p:nvSpPr>
        <p:spPr>
          <a:xfrm>
            <a:off x="8111871" y="2871262"/>
            <a:ext cx="1409701" cy="933769"/>
          </a:xfrm>
          <a:prstGeom prst="roundRect">
            <a:avLst/>
          </a:prstGeom>
          <a:solidFill>
            <a:srgbClr val="009DD9">
              <a:lumMod val="50000"/>
            </a:srgbClr>
          </a:solidFill>
          <a:ln w="1905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Activity open with an Intent</a:t>
            </a:r>
          </a:p>
        </p:txBody>
      </p:sp>
    </p:spTree>
    <p:extLst>
      <p:ext uri="{BB962C8B-B14F-4D97-AF65-F5344CB8AC3E}">
        <p14:creationId xmlns:p14="http://schemas.microsoft.com/office/powerpoint/2010/main" val="402571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Transfer data between 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Activities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4FF763-E9AF-854F-A57E-32B59EC40E63}"/>
              </a:ext>
            </a:extLst>
          </p:cNvPr>
          <p:cNvGrpSpPr/>
          <p:nvPr/>
        </p:nvGrpSpPr>
        <p:grpSpPr>
          <a:xfrm>
            <a:off x="600740" y="905539"/>
            <a:ext cx="101346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11ED1DAC-9318-6E4C-BBEC-3C31286CE1F1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A7CF58C4-6FC3-9E42-B53B-6D1D6582F586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B8B3E302-0C9D-5F43-916B-829741A6363F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lvl="0"/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Open another </a:t>
              </a:r>
              <a:r>
                <a:rPr lang="en-US" sz="2600" b="1" kern="1200" dirty="0" smtClean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activity: </a:t>
              </a:r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send data and receive data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88A6833-7DE8-804A-B99C-21C52C747B1E}"/>
              </a:ext>
            </a:extLst>
          </p:cNvPr>
          <p:cNvGrpSpPr/>
          <p:nvPr/>
        </p:nvGrpSpPr>
        <p:grpSpPr>
          <a:xfrm>
            <a:off x="1971737" y="1743739"/>
            <a:ext cx="2958227" cy="3505200"/>
            <a:chOff x="851773" y="2362200"/>
            <a:chExt cx="2958227" cy="3505200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8D91E46-F4D4-B748-BACC-52307FB9CFFA}"/>
                </a:ext>
              </a:extLst>
            </p:cNvPr>
            <p:cNvSpPr/>
            <p:nvPr/>
          </p:nvSpPr>
          <p:spPr>
            <a:xfrm>
              <a:off x="851773" y="2362200"/>
              <a:ext cx="2958227" cy="3505200"/>
            </a:xfrm>
            <a:prstGeom prst="rect">
              <a:avLst/>
            </a:prstGeom>
            <a:solidFill>
              <a:srgbClr val="008000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D90517A4-B840-5940-A229-6875C05B0742}"/>
                </a:ext>
              </a:extLst>
            </p:cNvPr>
            <p:cNvSpPr/>
            <p:nvPr/>
          </p:nvSpPr>
          <p:spPr>
            <a:xfrm>
              <a:off x="1066800" y="2995683"/>
              <a:ext cx="2590800" cy="357117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startActivityForResult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62852A99-F934-0248-9FB7-5FACD73277B0}"/>
                </a:ext>
              </a:extLst>
            </p:cNvPr>
            <p:cNvSpPr/>
            <p:nvPr/>
          </p:nvSpPr>
          <p:spPr>
            <a:xfrm>
              <a:off x="1066800" y="2574304"/>
              <a:ext cx="2590800" cy="357117"/>
            </a:xfrm>
            <a:prstGeom prst="rect">
              <a:avLst/>
            </a:prstGeom>
            <a:solidFill>
              <a:srgbClr val="003300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Activity #1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6BADA557-0738-2C47-830D-6FE65CBBD500}"/>
                </a:ext>
              </a:extLst>
            </p:cNvPr>
            <p:cNvSpPr/>
            <p:nvPr/>
          </p:nvSpPr>
          <p:spPr>
            <a:xfrm>
              <a:off x="1056962" y="3200400"/>
              <a:ext cx="2590800" cy="357117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 . .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5FF13A2-F7F5-0E46-84D9-586427E46EA9}"/>
                </a:ext>
              </a:extLst>
            </p:cNvPr>
            <p:cNvSpPr/>
            <p:nvPr/>
          </p:nvSpPr>
          <p:spPr>
            <a:xfrm>
              <a:off x="1056962" y="3529083"/>
              <a:ext cx="2590800" cy="357117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 . .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4D3FC2F-0D23-CF45-9AF1-F87AB58F5362}"/>
                </a:ext>
              </a:extLst>
            </p:cNvPr>
            <p:cNvSpPr/>
            <p:nvPr/>
          </p:nvSpPr>
          <p:spPr>
            <a:xfrm>
              <a:off x="1059366" y="5029200"/>
              <a:ext cx="2590800" cy="357117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 . .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CA7C33B-DEC6-E34E-B335-C931857017A5}"/>
                </a:ext>
              </a:extLst>
            </p:cNvPr>
            <p:cNvSpPr/>
            <p:nvPr/>
          </p:nvSpPr>
          <p:spPr>
            <a:xfrm>
              <a:off x="1059366" y="5357883"/>
              <a:ext cx="2590800" cy="357117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 . .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1956D7E-7934-8142-B73A-865FAAB066E4}"/>
                </a:ext>
              </a:extLst>
            </p:cNvPr>
            <p:cNvSpPr/>
            <p:nvPr/>
          </p:nvSpPr>
          <p:spPr>
            <a:xfrm>
              <a:off x="1035486" y="4747071"/>
              <a:ext cx="2590800" cy="357117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onActivityForResult()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481BFAA8-C084-0C4D-85E2-1EF6538F0A2B}"/>
                </a:ext>
              </a:extLst>
            </p:cNvPr>
            <p:cNvCxnSpPr>
              <a:cxnSpLocks/>
            </p:cNvCxnSpPr>
            <p:nvPr/>
          </p:nvCxnSpPr>
          <p:spPr>
            <a:xfrm>
              <a:off x="1066800" y="4724400"/>
              <a:ext cx="2559486" cy="22671"/>
            </a:xfrm>
            <a:prstGeom prst="line">
              <a:avLst/>
            </a:prstGeom>
            <a:noFill/>
            <a:ln w="28575" cap="flat" cmpd="sng" algn="ctr">
              <a:solidFill>
                <a:sysClr val="window" lastClr="FFFFFF"/>
              </a:solidFill>
              <a:prstDash val="solid"/>
            </a:ln>
            <a:effectLst/>
          </p:spPr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DEC7D005-8ED6-D94D-A12F-211903770D5E}"/>
              </a:ext>
            </a:extLst>
          </p:cNvPr>
          <p:cNvGrpSpPr/>
          <p:nvPr/>
        </p:nvGrpSpPr>
        <p:grpSpPr>
          <a:xfrm>
            <a:off x="6834964" y="1743739"/>
            <a:ext cx="2958227" cy="3505200"/>
            <a:chOff x="5715000" y="2362200"/>
            <a:chExt cx="2958227" cy="3505200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E4663F8-6EE7-2847-BB12-292C16E628BA}"/>
                </a:ext>
              </a:extLst>
            </p:cNvPr>
            <p:cNvSpPr/>
            <p:nvPr/>
          </p:nvSpPr>
          <p:spPr>
            <a:xfrm>
              <a:off x="5715000" y="2362200"/>
              <a:ext cx="2958227" cy="3505200"/>
            </a:xfrm>
            <a:prstGeom prst="rect">
              <a:avLst/>
            </a:prstGeom>
            <a:solidFill>
              <a:srgbClr val="FF9900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50CB7323-866C-8342-8230-02387F3FB68A}"/>
                </a:ext>
              </a:extLst>
            </p:cNvPr>
            <p:cNvSpPr/>
            <p:nvPr/>
          </p:nvSpPr>
          <p:spPr>
            <a:xfrm>
              <a:off x="5930027" y="2574304"/>
              <a:ext cx="2590800" cy="357117"/>
            </a:xfrm>
            <a:prstGeom prst="rect">
              <a:avLst/>
            </a:prstGeom>
            <a:solidFill>
              <a:srgbClr val="C67414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Activity #2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CA9E429F-73E2-7E4C-924D-89C2192B161C}"/>
                </a:ext>
              </a:extLst>
            </p:cNvPr>
            <p:cNvSpPr/>
            <p:nvPr/>
          </p:nvSpPr>
          <p:spPr>
            <a:xfrm>
              <a:off x="5922593" y="5029200"/>
              <a:ext cx="2590800" cy="357117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 . .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CB4426E-2482-6A45-A0A6-1ACAF5743811}"/>
                </a:ext>
              </a:extLst>
            </p:cNvPr>
            <p:cNvSpPr/>
            <p:nvPr/>
          </p:nvSpPr>
          <p:spPr>
            <a:xfrm>
              <a:off x="5922593" y="5357883"/>
              <a:ext cx="2590800" cy="357117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. . .</a:t>
              </a:r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032818DF-9051-4B40-9BFE-EEA99F260203}"/>
                </a:ext>
              </a:extLst>
            </p:cNvPr>
            <p:cNvSpPr/>
            <p:nvPr/>
          </p:nvSpPr>
          <p:spPr>
            <a:xfrm>
              <a:off x="5898713" y="4747071"/>
              <a:ext cx="2590800" cy="357117"/>
            </a:xfrm>
            <a:prstGeom prst="rect">
              <a:avLst/>
            </a:prstGeom>
            <a:noFill/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0" normalizeH="0" baseline="0" noProof="0" smtClean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onResult()</a:t>
              </a:r>
            </a:p>
          </p:txBody>
        </p: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C76875FA-3EBE-EF46-A1A4-71CB7D07229C}"/>
                </a:ext>
              </a:extLst>
            </p:cNvPr>
            <p:cNvCxnSpPr>
              <a:cxnSpLocks/>
            </p:cNvCxnSpPr>
            <p:nvPr/>
          </p:nvCxnSpPr>
          <p:spPr>
            <a:xfrm>
              <a:off x="5930027" y="4724400"/>
              <a:ext cx="2559486" cy="22671"/>
            </a:xfrm>
            <a:prstGeom prst="line">
              <a:avLst/>
            </a:prstGeom>
            <a:noFill/>
            <a:ln w="28575" cap="flat" cmpd="sng" algn="ctr">
              <a:solidFill>
                <a:sysClr val="window" lastClr="FFFFFF"/>
              </a:solidFill>
              <a:prstDash val="solid"/>
            </a:ln>
            <a:effectLst/>
          </p:spPr>
        </p:cxn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34923C6-4308-6F44-B1A7-A8B19972DAD0}"/>
              </a:ext>
            </a:extLst>
          </p:cNvPr>
          <p:cNvGrpSpPr/>
          <p:nvPr/>
        </p:nvGrpSpPr>
        <p:grpSpPr>
          <a:xfrm>
            <a:off x="4982753" y="2397274"/>
            <a:ext cx="1828330" cy="1074241"/>
            <a:chOff x="3862790" y="3015734"/>
            <a:chExt cx="1828330" cy="1074241"/>
          </a:xfrm>
        </p:grpSpPr>
        <p:sp>
          <p:nvSpPr>
            <p:cNvPr id="38" name="Right Arrow 37">
              <a:extLst>
                <a:ext uri="{FF2B5EF4-FFF2-40B4-BE49-F238E27FC236}">
                  <a16:creationId xmlns:a16="http://schemas.microsoft.com/office/drawing/2014/main" id="{7A8F1790-35AB-DC4E-8A42-F767DECA8C2B}"/>
                </a:ext>
              </a:extLst>
            </p:cNvPr>
            <p:cNvSpPr/>
            <p:nvPr/>
          </p:nvSpPr>
          <p:spPr>
            <a:xfrm>
              <a:off x="4015190" y="3369478"/>
              <a:ext cx="1537572" cy="135722"/>
            </a:xfrm>
            <a:prstGeom prst="rightArrow">
              <a:avLst/>
            </a:prstGeom>
            <a:solidFill>
              <a:srgbClr val="003300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578FC53-C96D-9041-BEFE-EE1353CAB742}"/>
                </a:ext>
              </a:extLst>
            </p:cNvPr>
            <p:cNvSpPr txBox="1"/>
            <p:nvPr/>
          </p:nvSpPr>
          <p:spPr>
            <a:xfrm>
              <a:off x="3969835" y="3015734"/>
              <a:ext cx="153757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1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Intent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538E6B0-1B5E-0E44-94F0-2139F41C882D}"/>
                </a:ext>
              </a:extLst>
            </p:cNvPr>
            <p:cNvSpPr txBox="1"/>
            <p:nvPr/>
          </p:nvSpPr>
          <p:spPr>
            <a:xfrm>
              <a:off x="3862790" y="3505200"/>
              <a:ext cx="182833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{ action + data + </a:t>
              </a:r>
              <a:r>
                <a:rPr kumimoji="0" lang="en-US" sz="1600" b="0" i="1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requestCodeId</a:t>
              </a:r>
              <a:r>
                <a:rPr kumimoji="0" lang="en-US" sz="1600" b="0" i="1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}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CFCE59EB-9306-B348-A65C-92C94BE71A92}"/>
              </a:ext>
            </a:extLst>
          </p:cNvPr>
          <p:cNvGrpSpPr/>
          <p:nvPr/>
        </p:nvGrpSpPr>
        <p:grpSpPr>
          <a:xfrm>
            <a:off x="4977722" y="4258340"/>
            <a:ext cx="1828330" cy="907197"/>
            <a:chOff x="3857759" y="4876800"/>
            <a:chExt cx="1828330" cy="907197"/>
          </a:xfrm>
        </p:grpSpPr>
        <p:sp>
          <p:nvSpPr>
            <p:cNvPr id="42" name="Right Arrow 41">
              <a:extLst>
                <a:ext uri="{FF2B5EF4-FFF2-40B4-BE49-F238E27FC236}">
                  <a16:creationId xmlns:a16="http://schemas.microsoft.com/office/drawing/2014/main" id="{EF0762BE-BF7D-1E43-BE73-ADF541E24608}"/>
                </a:ext>
              </a:extLst>
            </p:cNvPr>
            <p:cNvSpPr/>
            <p:nvPr/>
          </p:nvSpPr>
          <p:spPr>
            <a:xfrm flipH="1">
              <a:off x="4017593" y="4876800"/>
              <a:ext cx="1537572" cy="135722"/>
            </a:xfrm>
            <a:prstGeom prst="rightArrow">
              <a:avLst/>
            </a:prstGeom>
            <a:solidFill>
              <a:srgbClr val="C67414"/>
            </a:solidFill>
            <a:ln w="1905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eorgia"/>
                <a:ea typeface="+mn-ea"/>
                <a:cs typeface="+mn-cs"/>
              </a:endParaRP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871651EB-D7A7-694E-ACD5-A4B209A768CB}"/>
                </a:ext>
              </a:extLst>
            </p:cNvPr>
            <p:cNvSpPr txBox="1"/>
            <p:nvPr/>
          </p:nvSpPr>
          <p:spPr>
            <a:xfrm>
              <a:off x="3857759" y="4953000"/>
              <a:ext cx="182833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1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{ </a:t>
              </a:r>
              <a:r>
                <a:rPr kumimoji="0" lang="en-US" sz="1600" b="0" i="1" u="none" strike="noStrike" kern="1200" cap="none" spc="0" normalizeH="0" baseline="0" noProof="0" smtClean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requestCodeId</a:t>
              </a:r>
              <a:r>
                <a:rPr kumimoji="0" lang="en-US" sz="1600" b="0" i="1" u="none" strike="noStrike" kern="1200" cap="none" spc="0" normalizeH="0" baseline="0" noProof="0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Georgia"/>
                  <a:ea typeface="+mn-ea"/>
                  <a:cs typeface="+mn-cs"/>
                </a:rPr>
                <a:t> + resultCode, optional data 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4813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Transfer data between 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Activities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0" name="Rectangle 7"/>
          <p:cNvSpPr txBox="1">
            <a:spLocks noChangeArrowheads="1"/>
          </p:cNvSpPr>
          <p:nvPr/>
        </p:nvSpPr>
        <p:spPr bwMode="auto">
          <a:xfrm>
            <a:off x="550107" y="1270836"/>
            <a:ext cx="11404710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12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itchFamily="2" charset="2"/>
              <a:buChar char="q"/>
              <a:defRPr sz="3200" b="1">
                <a:solidFill>
                  <a:srgbClr val="333399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692150" indent="-23495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333399"/>
              </a:buClr>
              <a:buFont typeface="Times New Roman" panose="02020603050405020304" pitchFamily="18" charset="0"/>
              <a:buChar char="●"/>
              <a:defRPr sz="2800">
                <a:solidFill>
                  <a:srgbClr val="333399"/>
                </a:solidFill>
                <a:latin typeface="+mn-lt"/>
                <a:ea typeface="MS PGothic" panose="020B0600070205080204" pitchFamily="34" charset="-128"/>
              </a:defRPr>
            </a:lvl2pPr>
            <a:lvl3pPr marL="987425" indent="-180975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rgbClr val="3366FF"/>
                </a:solidFill>
                <a:latin typeface="+mn-lt"/>
                <a:ea typeface="MS PGothic" panose="020B0600070205080204" pitchFamily="34" charset="-128"/>
              </a:defRPr>
            </a:lvl3pPr>
            <a:lvl4pPr marL="1281113" indent="-1793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598613" indent="-203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0558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lvl="0" eaLnBrk="1" hangingPunct="1">
              <a:buClr>
                <a:srgbClr val="330066"/>
              </a:buClr>
              <a:defRPr/>
            </a:pPr>
            <a:r>
              <a:rPr lang="en-US" altLang="en-US" sz="1800" dirty="0"/>
              <a:t>Sending and responding to Intent in Activity is divided into 3 </a:t>
            </a:r>
            <a:r>
              <a:rPr lang="en-US" altLang="en-US" sz="1800" dirty="0" smtClean="0"/>
              <a:t>steps:</a:t>
            </a:r>
            <a:endParaRPr kumimoji="0" lang="en-US" altLang="en-US" sz="1800" b="1" i="0" u="none" strike="noStrike" kern="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  <a:p>
            <a:pPr lvl="1" eaLnBrk="1" hangingPunct="1">
              <a:defRPr/>
            </a:pPr>
            <a:r>
              <a:rPr lang="en-US" altLang="en-US" sz="1600" u="sng" dirty="0"/>
              <a:t>Step 1:</a:t>
            </a:r>
            <a:r>
              <a:rPr lang="en-US" altLang="en-US" sz="1600" dirty="0"/>
              <a:t> Send Intent through the </a:t>
            </a:r>
            <a:r>
              <a:rPr lang="en-US" altLang="en-US" sz="1600" b="1" dirty="0" err="1"/>
              <a:t>startActivityForResult</a:t>
            </a:r>
            <a:r>
              <a:rPr lang="en-US" altLang="en-US" sz="1600" b="1" dirty="0"/>
              <a:t>() </a:t>
            </a:r>
            <a:r>
              <a:rPr lang="en-US" altLang="en-US" sz="1600" dirty="0"/>
              <a:t>method including 2 </a:t>
            </a:r>
            <a:r>
              <a:rPr lang="en-US" altLang="en-US" sz="1600" dirty="0" smtClean="0"/>
              <a:t>parameters:</a:t>
            </a:r>
            <a:endParaRPr kumimoji="0" lang="en-US" altLang="en-US" sz="1600" b="0" i="0" u="none" strike="noStrike" kern="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  <a:p>
            <a:pPr lvl="2" eaLnBrk="1" hangingPunct="1">
              <a:buClr>
                <a:srgbClr val="669999"/>
              </a:buClr>
              <a:defRPr/>
            </a:pPr>
            <a:r>
              <a:rPr kumimoji="0" lang="en-US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Intent: </a:t>
            </a:r>
            <a:r>
              <a:rPr lang="en-US" altLang="en-US" sz="1600" dirty="0"/>
              <a:t>Data needs to be sent for processing</a:t>
            </a:r>
            <a:r>
              <a:rPr lang="en-US" altLang="en-US" sz="1600" dirty="0" smtClean="0"/>
              <a:t>.</a:t>
            </a:r>
            <a:endParaRPr kumimoji="0" lang="en-US" altLang="en-US" sz="1600" b="0" i="0" u="none" strike="noStrike" kern="0" cap="none" spc="0" normalizeH="0" baseline="0" noProof="0" dirty="0" smtClean="0">
              <a:ln>
                <a:noFill/>
              </a:ln>
              <a:solidFill>
                <a:srgbClr val="3366FF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  <a:p>
            <a:pPr lvl="2" eaLnBrk="1" hangingPunct="1">
              <a:buClr>
                <a:srgbClr val="669999"/>
              </a:buClr>
              <a:defRPr/>
            </a:pPr>
            <a:r>
              <a:rPr kumimoji="0" lang="en-US" altLang="en-US" sz="1600" b="0" i="0" u="none" strike="noStrike" kern="0" cap="none" spc="0" normalizeH="0" baseline="0" noProof="0" dirty="0" err="1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requestCode</a:t>
            </a:r>
            <a:r>
              <a:rPr kumimoji="0" lang="en-US" alt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: </a:t>
            </a:r>
            <a:r>
              <a:rPr lang="en-US" altLang="en-US" sz="1600" dirty="0" smtClean="0"/>
              <a:t>Code </a:t>
            </a:r>
            <a:r>
              <a:rPr lang="en-US" altLang="en-US" sz="1600" dirty="0"/>
              <a:t>that requires processing from the sending side.</a:t>
            </a:r>
            <a:endParaRPr kumimoji="0" lang="en-US" altLang="en-US" sz="1600" b="0" i="0" u="none" strike="noStrike" kern="0" cap="none" spc="0" normalizeH="0" baseline="0" noProof="0" dirty="0" smtClean="0">
              <a:ln>
                <a:noFill/>
              </a:ln>
              <a:solidFill>
                <a:srgbClr val="3366FF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  <a:p>
            <a:pPr lvl="1" eaLnBrk="1" hangingPunct="1">
              <a:defRPr/>
            </a:pPr>
            <a:r>
              <a:rPr lang="en-US" altLang="en-US" sz="1600" u="sng" dirty="0"/>
              <a:t>Step 2:</a:t>
            </a:r>
            <a:r>
              <a:rPr lang="en-US" altLang="en-US" sz="1600" dirty="0"/>
              <a:t> Receive and process the Intent, then validate the response via the </a:t>
            </a:r>
            <a:r>
              <a:rPr lang="en-US" altLang="en-US" sz="1600" b="1" dirty="0" err="1"/>
              <a:t>setResult</a:t>
            </a:r>
            <a:r>
              <a:rPr lang="en-US" altLang="en-US" sz="1600" b="1" dirty="0"/>
              <a:t>() </a:t>
            </a:r>
            <a:r>
              <a:rPr lang="en-US" altLang="en-US" sz="1600" dirty="0"/>
              <a:t>method in the response app component.</a:t>
            </a:r>
            <a:endParaRPr kumimoji="0" lang="en-US" altLang="en-US" sz="1600" b="0" i="0" u="none" strike="noStrike" kern="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  <a:p>
            <a:pPr lvl="2" eaLnBrk="1" hangingPunct="1">
              <a:buClr>
                <a:srgbClr val="669999"/>
              </a:buClr>
              <a:defRPr/>
            </a:pPr>
            <a:r>
              <a:rPr lang="en-US" altLang="en-US" sz="1600" dirty="0"/>
              <a:t>Initialize the Intent object, set the necessary properties: action, category...</a:t>
            </a:r>
          </a:p>
          <a:p>
            <a:pPr lvl="2" eaLnBrk="1" hangingPunct="1">
              <a:buClr>
                <a:srgbClr val="669999"/>
              </a:buClr>
              <a:defRPr/>
            </a:pPr>
            <a:r>
              <a:rPr lang="en-US" altLang="en-US" sz="1600" dirty="0"/>
              <a:t>Send response data directly to the Intent or through the Bundle variable.</a:t>
            </a:r>
          </a:p>
          <a:p>
            <a:pPr lvl="2" eaLnBrk="1" hangingPunct="1">
              <a:buClr>
                <a:srgbClr val="669999"/>
              </a:buClr>
              <a:defRPr/>
            </a:pPr>
            <a:r>
              <a:rPr lang="en-US" altLang="en-US" sz="1600" dirty="0"/>
              <a:t>Call the </a:t>
            </a:r>
            <a:r>
              <a:rPr lang="en-US" altLang="en-US" sz="1600" dirty="0" err="1"/>
              <a:t>setResult</a:t>
            </a:r>
            <a:r>
              <a:rPr lang="en-US" altLang="en-US" sz="1600" dirty="0"/>
              <a:t> method with the Intent parameter.</a:t>
            </a:r>
            <a:endParaRPr kumimoji="0" lang="en-US" altLang="en-US" sz="1600" b="0" i="0" u="none" strike="noStrike" kern="0" cap="none" spc="0" normalizeH="0" baseline="0" noProof="0" dirty="0" smtClean="0">
              <a:ln>
                <a:noFill/>
              </a:ln>
              <a:solidFill>
                <a:srgbClr val="3366FF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  <a:p>
            <a:pPr lvl="1" eaLnBrk="1" hangingPunct="1">
              <a:defRPr/>
            </a:pPr>
            <a:r>
              <a:rPr lang="en-US" altLang="en-US" sz="1600" u="sng" dirty="0"/>
              <a:t>Step 3:</a:t>
            </a:r>
            <a:r>
              <a:rPr lang="en-US" altLang="en-US" sz="1600" dirty="0"/>
              <a:t> Call the </a:t>
            </a:r>
            <a:r>
              <a:rPr lang="en-US" altLang="en-US" sz="1600" b="1" dirty="0" err="1"/>
              <a:t>onActivityResult</a:t>
            </a:r>
            <a:r>
              <a:rPr lang="en-US" altLang="en-US" sz="1600" b="1" dirty="0"/>
              <a:t>() </a:t>
            </a:r>
            <a:r>
              <a:rPr lang="en-US" altLang="en-US" sz="1600" dirty="0"/>
              <a:t>method to retrieve three parameters: </a:t>
            </a:r>
            <a:endParaRPr kumimoji="0" lang="en-US" altLang="en-US" sz="1600" b="0" i="0" u="none" strike="noStrike" kern="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  <a:p>
            <a:pPr lvl="2" eaLnBrk="1" hangingPunct="1">
              <a:buClr>
                <a:srgbClr val="669999"/>
              </a:buClr>
              <a:defRPr/>
            </a:pPr>
            <a:r>
              <a:rPr lang="en-US" altLang="en-US" sz="1600" dirty="0" err="1"/>
              <a:t>requestCode</a:t>
            </a:r>
            <a:r>
              <a:rPr lang="en-US" altLang="en-US" sz="1600" dirty="0"/>
              <a:t>: request code that resolves with the corresponding intent.</a:t>
            </a:r>
          </a:p>
          <a:p>
            <a:pPr lvl="2" eaLnBrk="1" hangingPunct="1">
              <a:buClr>
                <a:srgbClr val="669999"/>
              </a:buClr>
              <a:defRPr/>
            </a:pPr>
            <a:r>
              <a:rPr lang="en-US" altLang="en-US" sz="1600" dirty="0" err="1"/>
              <a:t>resultCode</a:t>
            </a:r>
            <a:r>
              <a:rPr lang="en-US" altLang="en-US" sz="1600" dirty="0"/>
              <a:t>: result code received from the response side.</a:t>
            </a:r>
          </a:p>
          <a:p>
            <a:pPr lvl="2" eaLnBrk="1" hangingPunct="1">
              <a:buClr>
                <a:srgbClr val="669999"/>
              </a:buClr>
              <a:defRPr/>
            </a:pPr>
            <a:r>
              <a:rPr lang="en-US" altLang="en-US" sz="1600" dirty="0"/>
              <a:t>Intent: data received from the response side.</a:t>
            </a:r>
            <a:endParaRPr kumimoji="0" lang="en-US" altLang="en-US" sz="1600" b="0" i="0" u="none" strike="noStrike" kern="0" cap="none" spc="0" normalizeH="0" baseline="0" noProof="0" dirty="0" smtClean="0">
              <a:ln>
                <a:noFill/>
              </a:ln>
              <a:solidFill>
                <a:srgbClr val="3366FF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  <a:p>
            <a:pPr marL="692150" marR="0" lvl="1" indent="-234950" algn="l" defTabSz="914400" rtl="0" eaLnBrk="1" fontAlgn="base" latinLnBrk="0" hangingPunct="1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333399"/>
              </a:buClr>
              <a:buSzTx/>
              <a:buFont typeface="Times New Roman" panose="02020603050405020304" pitchFamily="18" charset="0"/>
              <a:buChar char="●"/>
              <a:tabLst/>
              <a:defRPr/>
            </a:pPr>
            <a:endParaRPr kumimoji="0" lang="en-US" altLang="en-US" sz="2000" b="0" i="0" u="none" strike="noStrike" kern="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A44FF763-E9AF-854F-A57E-32B59EC40E63}"/>
              </a:ext>
            </a:extLst>
          </p:cNvPr>
          <p:cNvGrpSpPr/>
          <p:nvPr/>
        </p:nvGrpSpPr>
        <p:grpSpPr>
          <a:xfrm>
            <a:off x="550107" y="793531"/>
            <a:ext cx="10134600" cy="451694"/>
            <a:chOff x="533400" y="1066618"/>
            <a:chExt cx="8382000" cy="451694"/>
          </a:xfrm>
        </p:grpSpPr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11ED1DAC-9318-6E4C-BBEC-3C31286CE1F1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Chevron 18">
              <a:extLst>
                <a:ext uri="{FF2B5EF4-FFF2-40B4-BE49-F238E27FC236}">
                  <a16:creationId xmlns:a16="http://schemas.microsoft.com/office/drawing/2014/main" id="{A7CF58C4-6FC3-9E42-B53B-6D1D6582F586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0" name="Title 1">
              <a:extLst>
                <a:ext uri="{FF2B5EF4-FFF2-40B4-BE49-F238E27FC236}">
                  <a16:creationId xmlns:a16="http://schemas.microsoft.com/office/drawing/2014/main" id="{B8B3E302-0C9D-5F43-916B-829741A6363F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lvl="0"/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Open another </a:t>
              </a:r>
              <a:r>
                <a:rPr lang="en-US" sz="2600" b="1" kern="1200" dirty="0" smtClean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activity: </a:t>
              </a:r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send data and receive data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503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Transfer data between 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Activities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20" name="Rectangle 7"/>
          <p:cNvSpPr txBox="1">
            <a:spLocks noChangeArrowheads="1"/>
          </p:cNvSpPr>
          <p:nvPr/>
        </p:nvSpPr>
        <p:spPr bwMode="auto">
          <a:xfrm>
            <a:off x="2192338" y="1505996"/>
            <a:ext cx="7920037" cy="51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125000"/>
              </a:lnSpc>
              <a:spcBef>
                <a:spcPct val="125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Wingdings" pitchFamily="2" charset="2"/>
              <a:buChar char="q"/>
              <a:defRPr sz="3200" b="1">
                <a:solidFill>
                  <a:srgbClr val="333399"/>
                </a:solidFill>
                <a:latin typeface="+mn-lt"/>
                <a:ea typeface="MS PGothic" panose="020B0600070205080204" pitchFamily="34" charset="-128"/>
                <a:cs typeface="ＭＳ Ｐゴシック" charset="0"/>
              </a:defRPr>
            </a:lvl1pPr>
            <a:lvl2pPr marL="692150" indent="-234950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rgbClr val="333399"/>
              </a:buClr>
              <a:buFont typeface="Times New Roman" panose="02020603050405020304" pitchFamily="18" charset="0"/>
              <a:buChar char="●"/>
              <a:defRPr sz="2800">
                <a:solidFill>
                  <a:srgbClr val="333399"/>
                </a:solidFill>
                <a:latin typeface="+mn-lt"/>
                <a:ea typeface="MS PGothic" panose="020B0600070205080204" pitchFamily="34" charset="-128"/>
              </a:defRPr>
            </a:lvl2pPr>
            <a:lvl3pPr marL="987425" indent="-180975" algn="l" rtl="0" eaLnBrk="0" fontAlgn="base" hangingPunct="0">
              <a:lnSpc>
                <a:spcPct val="125000"/>
              </a:lnSpc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400">
                <a:solidFill>
                  <a:srgbClr val="3366FF"/>
                </a:solidFill>
                <a:latin typeface="+mn-lt"/>
                <a:ea typeface="MS PGothic" panose="020B0600070205080204" pitchFamily="34" charset="-128"/>
              </a:defRPr>
            </a:lvl3pPr>
            <a:lvl4pPr marL="1281113" indent="-179388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4pPr>
            <a:lvl5pPr marL="1598613" indent="-2032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+mn-lt"/>
                <a:ea typeface="MS PGothic" panose="020B0600070205080204" pitchFamily="34" charset="-128"/>
              </a:defRPr>
            </a:lvl5pPr>
            <a:lvl6pPr marL="20558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6pPr>
            <a:lvl7pPr marL="25130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7pPr>
            <a:lvl8pPr marL="29702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8pPr>
            <a:lvl9pPr marL="3427413" indent="-203200" algn="l" rtl="0" fontAlgn="base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ct val="125000"/>
              </a:spcBef>
              <a:spcAft>
                <a:spcPct val="0"/>
              </a:spcAft>
              <a:buClr>
                <a:srgbClr val="330066"/>
              </a:buClr>
              <a:buSzPct val="90000"/>
              <a:buNone/>
              <a:tabLst/>
              <a:defRPr/>
            </a:pPr>
            <a:r>
              <a:rPr kumimoji="0" lang="en-US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 </a:t>
            </a: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125000"/>
              </a:spcBef>
              <a:spcAft>
                <a:spcPct val="0"/>
              </a:spcAft>
              <a:buClr>
                <a:srgbClr val="330066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			</a:t>
            </a:r>
            <a:r>
              <a:rPr kumimoji="0" lang="en-US" altLang="en-US" sz="1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startActivtyForResult</a:t>
            </a:r>
            <a:r>
              <a:rPr kumimoji="0" lang="en-US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(intent)</a:t>
            </a: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125000"/>
              </a:spcBef>
              <a:spcAft>
                <a:spcPct val="0"/>
              </a:spcAft>
              <a:buClr>
                <a:srgbClr val="330066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					</a:t>
            </a:r>
            <a:r>
              <a:rPr kumimoji="0" lang="en-US" altLang="en-US" sz="1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AD5CFF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getIntent</a:t>
            </a:r>
            <a:r>
              <a:rPr kumimoji="0" lang="en-US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AD5CFF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()</a:t>
            </a: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125000"/>
              </a:spcBef>
              <a:spcAft>
                <a:spcPct val="0"/>
              </a:spcAft>
              <a:buClr>
                <a:srgbClr val="330066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AD5CFF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				      </a:t>
            </a:r>
            <a:r>
              <a:rPr kumimoji="0" lang="en-US" altLang="en-US" sz="1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AD5CFF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setResult</a:t>
            </a:r>
            <a:r>
              <a:rPr kumimoji="0" lang="en-US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AD5CFF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(intent)	</a:t>
            </a:r>
          </a:p>
          <a:p>
            <a:pPr marL="342900" marR="0" lvl="0" indent="-342900" algn="l" defTabSz="914400" rtl="0" eaLnBrk="1" fontAlgn="base" latinLnBrk="0" hangingPunct="1">
              <a:lnSpc>
                <a:spcPct val="125000"/>
              </a:lnSpc>
              <a:spcBef>
                <a:spcPct val="125000"/>
              </a:spcBef>
              <a:spcAft>
                <a:spcPct val="0"/>
              </a:spcAft>
              <a:buClr>
                <a:srgbClr val="330066"/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			 </a:t>
            </a:r>
            <a:r>
              <a:rPr kumimoji="0" lang="en-US" altLang="en-US" sz="1400" b="1" i="0" u="none" strike="noStrike" kern="0" cap="none" spc="0" normalizeH="0" baseline="0" noProof="0" dirty="0" err="1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onActivityResult</a:t>
            </a:r>
            <a:r>
              <a:rPr kumimoji="0" lang="en-US" altLang="en-US" sz="1400" b="1" i="0" u="none" strike="noStrike" kern="0" cap="none" spc="0" normalizeH="0" baseline="0" noProof="0" dirty="0" smtClean="0">
                <a:ln>
                  <a:noFill/>
                </a:ln>
                <a:solidFill>
                  <a:srgbClr val="3366FF"/>
                </a:solidFill>
                <a:effectLst/>
                <a:uLnTx/>
                <a:uFillTx/>
                <a:latin typeface="Arial"/>
                <a:ea typeface="MS PGothic" panose="020B0600070205080204" pitchFamily="34" charset="-128"/>
              </a:rPr>
              <a:t>(intent)</a:t>
            </a:r>
            <a:endParaRPr kumimoji="0" lang="en-US" altLang="en-US" sz="1600" b="1" i="0" u="none" strike="noStrike" kern="0" cap="none" spc="0" normalizeH="0" baseline="0" noProof="0" dirty="0" smtClean="0">
              <a:ln>
                <a:noFill/>
              </a:ln>
              <a:solidFill>
                <a:srgbClr val="3366FF"/>
              </a:solidFill>
              <a:effectLst/>
              <a:uLnTx/>
              <a:uFillTx/>
              <a:latin typeface="Arial"/>
              <a:ea typeface="MS PGothic" panose="020B0600070205080204" pitchFamily="34" charset="-128"/>
            </a:endParaRPr>
          </a:p>
        </p:txBody>
      </p:sp>
      <p:cxnSp>
        <p:nvCxnSpPr>
          <p:cNvPr id="21" name="Straight Arrow Connector 3"/>
          <p:cNvCxnSpPr>
            <a:cxnSpLocks noChangeShapeType="1"/>
          </p:cNvCxnSpPr>
          <p:nvPr/>
        </p:nvCxnSpPr>
        <p:spPr bwMode="auto">
          <a:xfrm>
            <a:off x="4135438" y="2585496"/>
            <a:ext cx="3311525" cy="0"/>
          </a:xfrm>
          <a:prstGeom prst="straightConnector1">
            <a:avLst/>
          </a:prstGeom>
          <a:noFill/>
          <a:ln w="9525">
            <a:solidFill>
              <a:srgbClr val="3366FF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2" name="Rectangle 21"/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73263" y="2153696"/>
            <a:ext cx="2089150" cy="2520950"/>
          </a:xfrm>
          <a:prstGeom prst="rect">
            <a:avLst/>
          </a:prstGeom>
          <a:solidFill>
            <a:srgbClr val="CCCC00"/>
          </a:solidFill>
          <a:ln w="38100">
            <a:solidFill>
              <a:srgbClr val="FFFFFF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lIns="92075" tIns="46038" rIns="92075" bIns="46038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</a:rPr>
              <a:t>SendActivity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</a:endParaRPr>
          </a:p>
          <a:p>
            <a:pPr marL="342900" marR="0" lvl="0" indent="-34290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requestCode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</a:endParaRPr>
          </a:p>
        </p:txBody>
      </p:sp>
      <p:sp>
        <p:nvSpPr>
          <p:cNvPr id="23" name="Rectangle 22"/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7446963" y="2153696"/>
            <a:ext cx="2089150" cy="2520950"/>
          </a:xfrm>
          <a:prstGeom prst="rect">
            <a:avLst/>
          </a:prstGeom>
          <a:solidFill>
            <a:srgbClr val="AD5CFF"/>
          </a:solidFill>
          <a:ln w="38100">
            <a:solidFill>
              <a:srgbClr val="FFFFFF"/>
            </a:solidFill>
            <a:miter lim="800000"/>
            <a:headEnd/>
            <a:tailEnd/>
          </a:ln>
          <a:effectLst>
            <a:outerShdw blurRad="40000" dist="20000" dir="5400000" rotWithShape="0">
              <a:srgbClr val="808080">
                <a:alpha val="37999"/>
              </a:srgbClr>
            </a:outerShdw>
          </a:effectLst>
        </p:spPr>
        <p:txBody>
          <a:bodyPr lIns="92075" tIns="46038" rIns="92075" bIns="46038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Wingdings" panose="05000000000000000000" pitchFamily="2" charset="2"/>
              <a:buNone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Receive</a:t>
            </a: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charset="0"/>
              </a:rPr>
              <a:t>Activity</a:t>
            </a:r>
          </a:p>
          <a:p>
            <a:pPr marL="342900" marR="0" lvl="0" indent="-342900" algn="ctr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rgbClr val="330066"/>
              </a:buClr>
              <a:buSzPct val="70000"/>
              <a:buFont typeface="Arial"/>
              <a:buChar char="•"/>
              <a:tabLst/>
              <a:defRPr/>
            </a:pPr>
            <a:r>
              <a:rPr kumimoji="0" lang="en-US" sz="2000" b="1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</a:rPr>
              <a:t>resultCode</a:t>
            </a:r>
            <a:endParaRPr kumimoji="0" lang="en-US" sz="2000" b="1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charset="0"/>
            </a:endParaRPr>
          </a:p>
        </p:txBody>
      </p:sp>
      <p:cxnSp>
        <p:nvCxnSpPr>
          <p:cNvPr id="24" name="Straight Arrow Connector 23"/>
          <p:cNvCxnSpPr/>
          <p:nvPr/>
        </p:nvCxnSpPr>
        <p:spPr bwMode="auto">
          <a:xfrm flipH="1">
            <a:off x="4135438" y="3666584"/>
            <a:ext cx="3240087" cy="0"/>
          </a:xfrm>
          <a:prstGeom prst="straightConnector1">
            <a:avLst/>
          </a:prstGeom>
          <a:noFill/>
          <a:ln w="9525" cap="flat" cmpd="sng" algn="ctr">
            <a:solidFill>
              <a:srgbClr val="330066">
                <a:lumMod val="40000"/>
                <a:lumOff val="60000"/>
              </a:srgbClr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44FF763-E9AF-854F-A57E-32B59EC40E63}"/>
              </a:ext>
            </a:extLst>
          </p:cNvPr>
          <p:cNvGrpSpPr/>
          <p:nvPr/>
        </p:nvGrpSpPr>
        <p:grpSpPr>
          <a:xfrm>
            <a:off x="550107" y="814795"/>
            <a:ext cx="10134600" cy="451694"/>
            <a:chOff x="533400" y="1066618"/>
            <a:chExt cx="8382000" cy="451694"/>
          </a:xfrm>
        </p:grpSpPr>
        <p:sp>
          <p:nvSpPr>
            <p:cNvPr id="26" name="Chevron 25">
              <a:extLst>
                <a:ext uri="{FF2B5EF4-FFF2-40B4-BE49-F238E27FC236}">
                  <a16:creationId xmlns:a16="http://schemas.microsoft.com/office/drawing/2014/main" id="{11ED1DAC-9318-6E4C-BBEC-3C31286CE1F1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7" name="Chevron 26">
              <a:extLst>
                <a:ext uri="{FF2B5EF4-FFF2-40B4-BE49-F238E27FC236}">
                  <a16:creationId xmlns:a16="http://schemas.microsoft.com/office/drawing/2014/main" id="{A7CF58C4-6FC3-9E42-B53B-6D1D6582F586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8" name="Title 1">
              <a:extLst>
                <a:ext uri="{FF2B5EF4-FFF2-40B4-BE49-F238E27FC236}">
                  <a16:creationId xmlns:a16="http://schemas.microsoft.com/office/drawing/2014/main" id="{B8B3E302-0C9D-5F43-916B-829741A6363F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lvl="0"/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Open another </a:t>
              </a:r>
              <a:r>
                <a:rPr lang="en-US" sz="2600" b="1" kern="1200" dirty="0" smtClean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activity: </a:t>
              </a:r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send data and receive data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446719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3. </a:t>
              </a: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Transfer data between </a:t>
              </a:r>
              <a:r>
                <a:rPr lang="en-US" sz="2800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Activities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cxnSp>
        <p:nvCxnSpPr>
          <p:cNvPr id="10" name="Straight Connector 9"/>
          <p:cNvCxnSpPr/>
          <p:nvPr/>
        </p:nvCxnSpPr>
        <p:spPr>
          <a:xfrm>
            <a:off x="5890438" y="845389"/>
            <a:ext cx="0" cy="5714678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1318438" y="1454989"/>
            <a:ext cx="9220200" cy="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840941" y="963777"/>
            <a:ext cx="166423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 smtClean="0"/>
              <a:t>FirstActivity</a:t>
            </a:r>
            <a:endParaRPr lang="en-US" sz="20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6961754" y="917768"/>
            <a:ext cx="20377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err="1" smtClean="0"/>
              <a:t>SecondActivity</a:t>
            </a:r>
            <a:endParaRPr lang="en-US" sz="2000" b="1" dirty="0"/>
          </a:p>
        </p:txBody>
      </p:sp>
      <p:sp>
        <p:nvSpPr>
          <p:cNvPr id="20" name="TextBox 19"/>
          <p:cNvSpPr txBox="1"/>
          <p:nvPr/>
        </p:nvSpPr>
        <p:spPr>
          <a:xfrm>
            <a:off x="1464907" y="1615172"/>
            <a:ext cx="1039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Step 1:</a:t>
            </a:r>
            <a:endParaRPr lang="en-US" sz="2000" b="1" dirty="0"/>
          </a:p>
        </p:txBody>
      </p:sp>
      <p:sp>
        <p:nvSpPr>
          <p:cNvPr id="21" name="Rectangle 20"/>
          <p:cNvSpPr/>
          <p:nvPr/>
        </p:nvSpPr>
        <p:spPr>
          <a:xfrm>
            <a:off x="1040244" y="2289495"/>
            <a:ext cx="28616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/>
              <a:t>startActivityForResult</a:t>
            </a:r>
            <a:endParaRPr lang="en-US" sz="2000" b="1" dirty="0"/>
          </a:p>
        </p:txBody>
      </p:sp>
      <p:sp>
        <p:nvSpPr>
          <p:cNvPr id="22" name="TextBox 21"/>
          <p:cNvSpPr txBox="1"/>
          <p:nvPr/>
        </p:nvSpPr>
        <p:spPr>
          <a:xfrm>
            <a:off x="6483455" y="1657794"/>
            <a:ext cx="1039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Step 2:</a:t>
            </a:r>
            <a:endParaRPr lang="en-US" sz="2000" b="1" dirty="0"/>
          </a:p>
        </p:txBody>
      </p:sp>
      <p:sp>
        <p:nvSpPr>
          <p:cNvPr id="23" name="Rectangle 22"/>
          <p:cNvSpPr/>
          <p:nvPr/>
        </p:nvSpPr>
        <p:spPr>
          <a:xfrm>
            <a:off x="6467313" y="2163149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800" dirty="0" smtClean="0"/>
              <a:t>intent=</a:t>
            </a:r>
            <a:r>
              <a:rPr lang="en-US" sz="1800" dirty="0" err="1" smtClean="0"/>
              <a:t>getIntent</a:t>
            </a:r>
            <a:r>
              <a:rPr lang="en-US" sz="1800" dirty="0" smtClean="0"/>
              <a:t>()</a:t>
            </a:r>
          </a:p>
          <a:p>
            <a:endParaRPr lang="en-US" sz="1800" dirty="0"/>
          </a:p>
          <a:p>
            <a:endParaRPr lang="en-US" sz="1800" dirty="0" smtClean="0"/>
          </a:p>
          <a:p>
            <a:endParaRPr lang="en-US" sz="1800" dirty="0"/>
          </a:p>
        </p:txBody>
      </p:sp>
      <p:sp>
        <p:nvSpPr>
          <p:cNvPr id="24" name="Rectangle 23"/>
          <p:cNvSpPr/>
          <p:nvPr/>
        </p:nvSpPr>
        <p:spPr>
          <a:xfrm>
            <a:off x="3763140" y="2251811"/>
            <a:ext cx="155042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/>
              <a:t>(intent,113);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4212" y="3642443"/>
            <a:ext cx="10390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 smtClean="0"/>
              <a:t>Step 3:</a:t>
            </a:r>
            <a:endParaRPr lang="en-US" sz="2000" b="1" dirty="0"/>
          </a:p>
        </p:txBody>
      </p:sp>
      <p:sp>
        <p:nvSpPr>
          <p:cNvPr id="26" name="Rectangle 25"/>
          <p:cNvSpPr/>
          <p:nvPr/>
        </p:nvSpPr>
        <p:spPr>
          <a:xfrm>
            <a:off x="1073659" y="4198102"/>
            <a:ext cx="327410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 err="1"/>
              <a:t>onActivityResult</a:t>
            </a:r>
            <a:r>
              <a:rPr lang="en-US" sz="2000" dirty="0"/>
              <a:t>(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requestCode</a:t>
            </a:r>
            <a:r>
              <a:rPr lang="en-US" sz="2000" dirty="0"/>
              <a:t>,</a:t>
            </a:r>
          </a:p>
          <a:p>
            <a:r>
              <a:rPr lang="en-US" sz="2000" dirty="0"/>
              <a:t>            </a:t>
            </a:r>
            <a:r>
              <a:rPr lang="en-US" sz="2000" dirty="0" err="1"/>
              <a:t>int</a:t>
            </a:r>
            <a:r>
              <a:rPr lang="en-US" sz="2000" dirty="0"/>
              <a:t> </a:t>
            </a:r>
            <a:r>
              <a:rPr lang="en-US" sz="2000" dirty="0" err="1"/>
              <a:t>resultCode</a:t>
            </a:r>
            <a:r>
              <a:rPr lang="en-US" sz="2000" dirty="0" smtClean="0"/>
              <a:t>,</a:t>
            </a:r>
          </a:p>
          <a:p>
            <a:r>
              <a:rPr lang="en-US" sz="2000" dirty="0"/>
              <a:t> </a:t>
            </a:r>
            <a:r>
              <a:rPr lang="en-US" sz="2000" dirty="0" smtClean="0"/>
              <a:t>           Intent </a:t>
            </a:r>
            <a:r>
              <a:rPr lang="en-US" sz="2000" dirty="0"/>
              <a:t>data) </a:t>
            </a:r>
          </a:p>
        </p:txBody>
      </p:sp>
      <p:sp>
        <p:nvSpPr>
          <p:cNvPr id="3" name="Rectangle 2"/>
          <p:cNvSpPr/>
          <p:nvPr/>
        </p:nvSpPr>
        <p:spPr>
          <a:xfrm>
            <a:off x="3941134" y="2195593"/>
            <a:ext cx="646479" cy="4251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7233164" y="2131538"/>
            <a:ext cx="1113848" cy="4251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Arrow Connector 4"/>
          <p:cNvCxnSpPr/>
          <p:nvPr/>
        </p:nvCxnSpPr>
        <p:spPr>
          <a:xfrm flipV="1">
            <a:off x="4626822" y="2227842"/>
            <a:ext cx="2606342" cy="2331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Elbow Connector 7"/>
          <p:cNvCxnSpPr/>
          <p:nvPr/>
        </p:nvCxnSpPr>
        <p:spPr>
          <a:xfrm rot="5400000">
            <a:off x="2977393" y="2804212"/>
            <a:ext cx="2074408" cy="1645466"/>
          </a:xfrm>
          <a:prstGeom prst="bentConnector3">
            <a:avLst/>
          </a:prstGeom>
          <a:ln w="28575">
            <a:solidFill>
              <a:schemeClr val="accent6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Elbow Connector 31"/>
          <p:cNvCxnSpPr/>
          <p:nvPr/>
        </p:nvCxnSpPr>
        <p:spPr>
          <a:xfrm rot="10800000" flipV="1">
            <a:off x="3563709" y="3939008"/>
            <a:ext cx="4188222" cy="1071039"/>
          </a:xfrm>
          <a:prstGeom prst="bentConnector3">
            <a:avLst>
              <a:gd name="adj1" fmla="val 242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Elbow Connector 37"/>
          <p:cNvCxnSpPr/>
          <p:nvPr/>
        </p:nvCxnSpPr>
        <p:spPr>
          <a:xfrm rot="10800000" flipV="1">
            <a:off x="3191864" y="3988277"/>
            <a:ext cx="4969204" cy="1311897"/>
          </a:xfrm>
          <a:prstGeom prst="bentConnector3">
            <a:avLst>
              <a:gd name="adj1" fmla="val -211"/>
            </a:avLst>
          </a:prstGeom>
          <a:ln w="28575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6532389" y="3054987"/>
            <a:ext cx="4572000" cy="1200329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sz="1800" dirty="0"/>
          </a:p>
          <a:p>
            <a:endParaRPr lang="en-US" sz="1800" dirty="0" smtClean="0"/>
          </a:p>
          <a:p>
            <a:r>
              <a:rPr lang="en-US" sz="1800" dirty="0" err="1" smtClean="0"/>
              <a:t>setResult</a:t>
            </a:r>
            <a:r>
              <a:rPr lang="en-US" sz="1800" dirty="0" smtClean="0"/>
              <a:t>(115,intent</a:t>
            </a:r>
            <a:r>
              <a:rPr lang="en-US" sz="1800" dirty="0"/>
              <a:t>);</a:t>
            </a:r>
          </a:p>
          <a:p>
            <a:r>
              <a:rPr lang="en-US" sz="1800" dirty="0" smtClean="0"/>
              <a:t>finish</a:t>
            </a:r>
            <a:r>
              <a:rPr lang="en-US" sz="1800" dirty="0"/>
              <a:t>();</a:t>
            </a:r>
          </a:p>
        </p:txBody>
      </p:sp>
    </p:spTree>
    <p:extLst>
      <p:ext uri="{BB962C8B-B14F-4D97-AF65-F5344CB8AC3E}">
        <p14:creationId xmlns:p14="http://schemas.microsoft.com/office/powerpoint/2010/main" val="1335690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Implicit Intent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4FF763-E9AF-854F-A57E-32B59EC40E63}"/>
              </a:ext>
            </a:extLst>
          </p:cNvPr>
          <p:cNvGrpSpPr/>
          <p:nvPr/>
        </p:nvGrpSpPr>
        <p:grpSpPr>
          <a:xfrm>
            <a:off x="728132" y="914742"/>
            <a:ext cx="91440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11ED1DAC-9318-6E4C-BBEC-3C31286CE1F1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A7CF58C4-6FC3-9E42-B53B-6D1D6582F586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B8B3E302-0C9D-5F43-916B-829741A6363F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lvl="0"/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Call Action makes a phone call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27C984E0-498A-974F-A99D-65284389B3A2}"/>
              </a:ext>
            </a:extLst>
          </p:cNvPr>
          <p:cNvSpPr/>
          <p:nvPr/>
        </p:nvSpPr>
        <p:spPr>
          <a:xfrm>
            <a:off x="2080436" y="1914774"/>
            <a:ext cx="8048847" cy="2462213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//Make a dial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//Intent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new Intent(</a:t>
            </a:r>
            <a:r>
              <a:rPr kumimoji="0" lang="en-US" sz="22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Intent.ACTION_DIAL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);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//Make a phone call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Intent(</a:t>
            </a:r>
            <a:r>
              <a:rPr kumimoji="0" lang="en-US" sz="2200" b="1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Intent.</a:t>
            </a:r>
            <a:r>
              <a:rPr kumimoji="0" lang="en-US" sz="22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ACTION_CALL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 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Uri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uri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Uri.</a:t>
            </a:r>
            <a:r>
              <a:rPr kumimoji="0" lang="en-US" sz="22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parse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tel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:" 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+ 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edtPhone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.getText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().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toString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())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intent.setData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uri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22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startActivity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(intent)</a:t>
            </a:r>
            <a:r>
              <a: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22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32B2962-14B0-CC43-93A0-B066408B8E0F}"/>
              </a:ext>
            </a:extLst>
          </p:cNvPr>
          <p:cNvSpPr/>
          <p:nvPr/>
        </p:nvSpPr>
        <p:spPr>
          <a:xfrm>
            <a:off x="2590800" y="4701303"/>
            <a:ext cx="7239000" cy="769441"/>
          </a:xfrm>
          <a:prstGeom prst="rect">
            <a:avLst/>
          </a:prstGeom>
          <a:solidFill>
            <a:sysClr val="windowText" lastClr="000000"/>
          </a:solidFill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&lt;uses-permission 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android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BABAB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:name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="android.permission.CALL_PHONE"</a:t>
            </a:r>
            <a:r>
              <a:rPr kumimoji="0" lang="en-US" sz="2200" b="0" i="0" u="none" strike="noStrike" kern="1200" cap="none" spc="0" normalizeH="0" baseline="0" noProof="0" smtClean="0">
                <a:ln>
                  <a:noFill/>
                </a:ln>
                <a:solidFill>
                  <a:srgbClr val="E8BF6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/&gt;</a:t>
            </a:r>
            <a:endParaRPr kumimoji="0" lang="en-US" sz="22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5469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Implicit Intent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D379CEB9-E05B-3A4C-A806-385990949C2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7535" y="1523302"/>
            <a:ext cx="2501776" cy="4419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1EF9016-690F-5147-8E1E-6791FB3061F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22311" y="1523302"/>
            <a:ext cx="2501776" cy="44196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78F2342E-39B1-CD4F-81FC-6D84C054F9ED}"/>
              </a:ext>
            </a:extLst>
          </p:cNvPr>
          <p:cNvSpPr txBox="1"/>
          <p:nvPr/>
        </p:nvSpPr>
        <p:spPr>
          <a:xfrm>
            <a:off x="3040911" y="6008172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ACTION_DIAL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00F11C8-38AB-774C-936E-44FD8FE93962}"/>
              </a:ext>
            </a:extLst>
          </p:cNvPr>
          <p:cNvSpPr txBox="1"/>
          <p:nvPr/>
        </p:nvSpPr>
        <p:spPr>
          <a:xfrm>
            <a:off x="6698511" y="6008172"/>
            <a:ext cx="198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ACTION_CALL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44FF763-E9AF-854F-A57E-32B59EC40E63}"/>
              </a:ext>
            </a:extLst>
          </p:cNvPr>
          <p:cNvGrpSpPr/>
          <p:nvPr/>
        </p:nvGrpSpPr>
        <p:grpSpPr>
          <a:xfrm>
            <a:off x="728132" y="914742"/>
            <a:ext cx="9144000" cy="451694"/>
            <a:chOff x="533400" y="1066618"/>
            <a:chExt cx="8382000" cy="451694"/>
          </a:xfrm>
        </p:grpSpPr>
        <p:sp>
          <p:nvSpPr>
            <p:cNvPr id="21" name="Chevron 20">
              <a:extLst>
                <a:ext uri="{FF2B5EF4-FFF2-40B4-BE49-F238E27FC236}">
                  <a16:creationId xmlns:a16="http://schemas.microsoft.com/office/drawing/2014/main" id="{11ED1DAC-9318-6E4C-BBEC-3C31286CE1F1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2" name="Chevron 21">
              <a:extLst>
                <a:ext uri="{FF2B5EF4-FFF2-40B4-BE49-F238E27FC236}">
                  <a16:creationId xmlns:a16="http://schemas.microsoft.com/office/drawing/2014/main" id="{A7CF58C4-6FC3-9E42-B53B-6D1D6582F586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23" name="Title 1">
              <a:extLst>
                <a:ext uri="{FF2B5EF4-FFF2-40B4-BE49-F238E27FC236}">
                  <a16:creationId xmlns:a16="http://schemas.microsoft.com/office/drawing/2014/main" id="{B8B3E302-0C9D-5F43-916B-829741A6363F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lvl="0"/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Call Action makes a phone call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160290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Implicit Intent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4FF763-E9AF-854F-A57E-32B59EC40E63}"/>
              </a:ext>
            </a:extLst>
          </p:cNvPr>
          <p:cNvGrpSpPr/>
          <p:nvPr/>
        </p:nvGrpSpPr>
        <p:grpSpPr>
          <a:xfrm>
            <a:off x="728132" y="914742"/>
            <a:ext cx="91440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11ED1DAC-9318-6E4C-BBEC-3C31286CE1F1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A7CF58C4-6FC3-9E42-B53B-6D1D6582F586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B8B3E302-0C9D-5F43-916B-829741A6363F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lvl="0"/>
              <a:r>
                <a:rPr lang="en-US" sz="2600" b="1" kern="1200" dirty="0" smtClean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Send SMS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0212EA46-ED60-314F-9B05-80A11DCFC46E}"/>
              </a:ext>
            </a:extLst>
          </p:cNvPr>
          <p:cNvSpPr/>
          <p:nvPr/>
        </p:nvSpPr>
        <p:spPr>
          <a:xfrm>
            <a:off x="2349795" y="4054550"/>
            <a:ext cx="7239000" cy="76944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2200" dirty="0">
                <a:solidFill>
                  <a:srgbClr val="E8BF6A"/>
                </a:solidFill>
              </a:rPr>
              <a:t>&lt;uses-permission </a:t>
            </a:r>
            <a:r>
              <a:rPr lang="en-US" sz="2200" dirty="0" err="1">
                <a:solidFill>
                  <a:srgbClr val="9876AA"/>
                </a:solidFill>
              </a:rPr>
              <a:t>android</a:t>
            </a:r>
            <a:r>
              <a:rPr lang="en-US" sz="2200" dirty="0" err="1">
                <a:solidFill>
                  <a:srgbClr val="BABABA"/>
                </a:solidFill>
              </a:rPr>
              <a:t>:name</a:t>
            </a:r>
            <a:r>
              <a:rPr lang="en-US" sz="2200" dirty="0">
                <a:solidFill>
                  <a:srgbClr val="6A8759"/>
                </a:solidFill>
              </a:rPr>
              <a:t>="</a:t>
            </a:r>
            <a:r>
              <a:rPr lang="en-US" sz="2200" dirty="0" err="1">
                <a:solidFill>
                  <a:srgbClr val="6A8759"/>
                </a:solidFill>
              </a:rPr>
              <a:t>android.permission.SEND_SMS</a:t>
            </a:r>
            <a:r>
              <a:rPr lang="en-US" sz="2200" dirty="0">
                <a:solidFill>
                  <a:srgbClr val="6A8759"/>
                </a:solidFill>
              </a:rPr>
              <a:t>"</a:t>
            </a:r>
            <a:r>
              <a:rPr lang="en-US" sz="2200" dirty="0">
                <a:solidFill>
                  <a:srgbClr val="E8BF6A"/>
                </a:solidFill>
              </a:rPr>
              <a:t>/&gt;</a:t>
            </a:r>
            <a:endParaRPr lang="en-US" sz="220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D4AA7A66-932C-424E-8727-0ECFA8AD83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9795" y="1539949"/>
            <a:ext cx="7239000" cy="23138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3185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Implicit Intent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4FF763-E9AF-854F-A57E-32B59EC40E63}"/>
              </a:ext>
            </a:extLst>
          </p:cNvPr>
          <p:cNvGrpSpPr/>
          <p:nvPr/>
        </p:nvGrpSpPr>
        <p:grpSpPr>
          <a:xfrm>
            <a:off x="728132" y="838920"/>
            <a:ext cx="91440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11ED1DAC-9318-6E4C-BBEC-3C31286CE1F1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A7CF58C4-6FC3-9E42-B53B-6D1D6582F586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B8B3E302-0C9D-5F43-916B-829741A6363F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lvl="0"/>
              <a:r>
                <a:rPr lang="en-US" sz="2600" b="1" kern="1200" dirty="0" smtClean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Send SMS and check Result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88EF95E2-ABCA-0846-9893-97BD9BAC11F0}"/>
              </a:ext>
            </a:extLst>
          </p:cNvPr>
          <p:cNvSpPr/>
          <p:nvPr/>
        </p:nvSpPr>
        <p:spPr>
          <a:xfrm>
            <a:off x="2557129" y="1342472"/>
            <a:ext cx="8203019" cy="5109091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lvl="0">
              <a:buClrTx/>
            </a:pP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SmsManager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smsManager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SmsManager.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getDefault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msgSent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Intent(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ACTION_MSG_SENT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PendingIntent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pendingMsgSent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PendingIntent.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getBroadcast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(MainActivity.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this,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0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msgSent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897BB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0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registerReceiver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BroadcastReceiver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 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void </a:t>
            </a:r>
            <a:r>
              <a:rPr kumimoji="0" lang="en-US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onReceive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(Context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context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 intent) {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kq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getResultCode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if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kq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==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Activity.</a:t>
            </a:r>
            <a:r>
              <a:rPr kumimoji="0" lang="en-US" sz="1600" b="0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RESULT_OK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// Send SMS</a:t>
            </a:r>
            <a:r>
              <a:rPr kumimoji="0" lang="en-US" sz="1600" b="0" i="0" u="none" strike="noStrike" kern="1200" cap="none" spc="0" normalizeH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successful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 else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808080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	// </a:t>
            </a:r>
            <a:r>
              <a:rPr lang="en-US" sz="1600" kern="1200" dirty="0">
                <a:solidFill>
                  <a:srgbClr val="808080"/>
                </a:solidFill>
                <a:latin typeface="Georgia"/>
              </a:rPr>
              <a:t>Send SMS </a:t>
            </a:r>
            <a:r>
              <a:rPr lang="en-US" sz="1600" kern="1200" dirty="0" smtClean="0">
                <a:solidFill>
                  <a:srgbClr val="808080"/>
                </a:solidFill>
                <a:latin typeface="Georgia"/>
              </a:rPr>
              <a:t>failed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}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new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IntentFilter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"ACTION_MSG_SENT"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smsManager.sendTextMessage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edtPhone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.getText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().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toString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null</a:t>
            </a:r>
            <a:b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edtSms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.getText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().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toString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pendingMsgSent</a:t>
            </a:r>
            <a:r>
              <a:rPr kumimoji="0" lang="en-US" sz="16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,null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600" b="0" i="0" u="none" strike="noStrike" kern="120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418384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26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Implicit Intent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4FF763-E9AF-854F-A57E-32B59EC40E63}"/>
              </a:ext>
            </a:extLst>
          </p:cNvPr>
          <p:cNvGrpSpPr/>
          <p:nvPr/>
        </p:nvGrpSpPr>
        <p:grpSpPr>
          <a:xfrm>
            <a:off x="728132" y="838920"/>
            <a:ext cx="91440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11ED1DAC-9318-6E4C-BBEC-3C31286CE1F1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A7CF58C4-6FC3-9E42-B53B-6D1D6582F586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B8B3E302-0C9D-5F43-916B-829741A6363F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lvl="0"/>
              <a:r>
                <a:rPr lang="en-US" sz="2600" b="1" kern="1200" dirty="0" smtClean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cs typeface="Arial" pitchFamily="34" charset="0"/>
                </a:rPr>
                <a:t>Send SMS and check Result</a:t>
              </a:r>
              <a:endPara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Arial" pitchFamily="34" charset="0"/>
                <a:cs typeface="Arial" pitchFamily="34" charset="0"/>
                <a:sym typeface="Muli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18F05AE-9F92-9E44-861C-C8BAF752BCF4}"/>
              </a:ext>
            </a:extLst>
          </p:cNvPr>
          <p:cNvGrpSpPr/>
          <p:nvPr/>
        </p:nvGrpSpPr>
        <p:grpSpPr>
          <a:xfrm>
            <a:off x="2371060" y="1360690"/>
            <a:ext cx="7391400" cy="4501514"/>
            <a:chOff x="2590800" y="1812782"/>
            <a:chExt cx="7391400" cy="4501514"/>
          </a:xfrm>
        </p:grpSpPr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55EAAAF7-7E1D-B549-BFC8-D714FBA5BB57}"/>
                </a:ext>
              </a:extLst>
            </p:cNvPr>
            <p:cNvGrpSpPr/>
            <p:nvPr/>
          </p:nvGrpSpPr>
          <p:grpSpPr>
            <a:xfrm>
              <a:off x="2590800" y="1812782"/>
              <a:ext cx="7391400" cy="4501514"/>
              <a:chOff x="1143000" y="1812782"/>
              <a:chExt cx="7391400" cy="4501514"/>
            </a:xfrm>
          </p:grpSpPr>
          <p:pic>
            <p:nvPicPr>
              <p:cNvPr id="25" name="Picture 24">
                <a:extLst>
                  <a:ext uri="{FF2B5EF4-FFF2-40B4-BE49-F238E27FC236}">
                    <a16:creationId xmlns:a16="http://schemas.microsoft.com/office/drawing/2014/main" id="{2C8C8366-7263-8C42-88E2-AC3A8EE6662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143000" y="2269983"/>
                <a:ext cx="3408994" cy="2835417"/>
              </a:xfrm>
              <a:prstGeom prst="rect">
                <a:avLst/>
              </a:prstGeom>
            </p:spPr>
          </p:pic>
          <p:pic>
            <p:nvPicPr>
              <p:cNvPr id="26" name="Picture 25">
                <a:extLst>
                  <a:ext uri="{FF2B5EF4-FFF2-40B4-BE49-F238E27FC236}">
                    <a16:creationId xmlns:a16="http://schemas.microsoft.com/office/drawing/2014/main" id="{CB3E79EA-2333-E248-948A-5CFDBB43D63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925965" y="1812782"/>
                <a:ext cx="3608435" cy="2073418"/>
              </a:xfrm>
              <a:prstGeom prst="rect">
                <a:avLst/>
              </a:prstGeom>
            </p:spPr>
          </p:pic>
          <p:pic>
            <p:nvPicPr>
              <p:cNvPr id="27" name="Picture 26">
                <a:extLst>
                  <a:ext uri="{FF2B5EF4-FFF2-40B4-BE49-F238E27FC236}">
                    <a16:creationId xmlns:a16="http://schemas.microsoft.com/office/drawing/2014/main" id="{3F2A1460-4629-2547-86A9-7C6C159112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901234" y="4152792"/>
                <a:ext cx="3633166" cy="2161504"/>
              </a:xfrm>
              <a:prstGeom prst="rect">
                <a:avLst/>
              </a:prstGeom>
            </p:spPr>
          </p:pic>
          <p:cxnSp>
            <p:nvCxnSpPr>
              <p:cNvPr id="28" name="Curved Connector 27">
                <a:extLst>
                  <a:ext uri="{FF2B5EF4-FFF2-40B4-BE49-F238E27FC236}">
                    <a16:creationId xmlns:a16="http://schemas.microsoft.com/office/drawing/2014/main" id="{A024734F-6C36-644D-9E37-C47A22A3070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429000" y="3124200"/>
                <a:ext cx="1981200" cy="1513672"/>
              </a:xfrm>
              <a:prstGeom prst="curvedConnector3">
                <a:avLst>
                  <a:gd name="adj1" fmla="val 50000"/>
                </a:avLst>
              </a:prstGeom>
              <a:noFill/>
              <a:ln w="28575" cap="flat" cmpd="sng" algn="ctr">
                <a:solidFill>
                  <a:srgbClr val="009DD9">
                    <a:lumMod val="50000"/>
                  </a:srgbClr>
                </a:solidFill>
                <a:prstDash val="solid"/>
                <a:tailEnd type="triangle"/>
              </a:ln>
              <a:effectLst/>
            </p:spPr>
          </p:cxnSp>
        </p:grp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505A9B20-3072-DE43-9B2D-3BF658ED7E6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879394" y="2798891"/>
              <a:ext cx="812800" cy="355600"/>
            </a:xfrm>
            <a:prstGeom prst="rect">
              <a:avLst/>
            </a:prstGeom>
          </p:spPr>
        </p:pic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48E86B25-9B7A-0E4E-9079-4EDC0853ACC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13794" y="4051300"/>
              <a:ext cx="609600" cy="3683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9534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27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Implicit Intent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4FF763-E9AF-854F-A57E-32B59EC40E63}"/>
              </a:ext>
            </a:extLst>
          </p:cNvPr>
          <p:cNvGrpSpPr/>
          <p:nvPr/>
        </p:nvGrpSpPr>
        <p:grpSpPr>
          <a:xfrm>
            <a:off x="728132" y="838920"/>
            <a:ext cx="91440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11ED1DAC-9318-6E4C-BBEC-3C31286CE1F1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A7CF58C4-6FC3-9E42-B53B-6D1D6582F586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B8B3E302-0C9D-5F43-916B-829741A6363F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lvl="0">
                <a:buClrTx/>
                <a:buSzTx/>
              </a:pPr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ea typeface="+mn-ea"/>
                  <a:cs typeface="Arial" pitchFamily="34" charset="0"/>
                </a:rPr>
                <a:t>Implicit intent </a:t>
              </a:r>
              <a:r>
                <a:rPr lang="en-US" sz="2600" b="1" kern="1200" dirty="0" smtClean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ea typeface="+mn-ea"/>
                  <a:cs typeface="Arial" pitchFamily="34" charset="0"/>
                </a:rPr>
                <a:t>with </a:t>
              </a:r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ea typeface="+mn-ea"/>
                  <a:cs typeface="Arial" pitchFamily="34" charset="0"/>
                </a:rPr>
                <a:t>ACTION_VIEW</a:t>
              </a:r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94F77AD-A4DE-D844-9609-0C5CED749D98}"/>
              </a:ext>
            </a:extLst>
          </p:cNvPr>
          <p:cNvSpPr/>
          <p:nvPr/>
        </p:nvSpPr>
        <p:spPr>
          <a:xfrm>
            <a:off x="2943447" y="1336003"/>
            <a:ext cx="6324600" cy="1200329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 intent =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Intent()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intent.setAction(Intent.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ACTION_VIEW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intent.setData(Uri.</a:t>
            </a:r>
            <a:r>
              <a:rPr kumimoji="0" lang="en-US" sz="1800" b="0" i="1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parse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"https://binance.com"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startActivity(intent)</a:t>
            </a:r>
            <a:r>
              <a:rPr kumimoji="0" lang="en-US" sz="1800" b="0" i="0" u="none" strike="noStrike" kern="1200" cap="none" spc="0" normalizeH="0" baseline="0" noProof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eorgia"/>
              <a:ea typeface="+mn-ea"/>
              <a:cs typeface="+mn-cs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1AAAC560-2BBF-7E40-8E85-DFD5693795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5447" y="2647461"/>
            <a:ext cx="2180066" cy="3851271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4301D98B-C679-4043-A7BB-20DC036FB2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781" y="2612532"/>
            <a:ext cx="2180066" cy="3851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086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28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Implicit Intent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4FF763-E9AF-854F-A57E-32B59EC40E63}"/>
              </a:ext>
            </a:extLst>
          </p:cNvPr>
          <p:cNvGrpSpPr/>
          <p:nvPr/>
        </p:nvGrpSpPr>
        <p:grpSpPr>
          <a:xfrm>
            <a:off x="728132" y="838920"/>
            <a:ext cx="91440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11ED1DAC-9318-6E4C-BBEC-3C31286CE1F1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A7CF58C4-6FC3-9E42-B53B-6D1D6582F586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B8B3E302-0C9D-5F43-916B-829741A6363F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lvl="0">
                <a:buClrTx/>
                <a:buSzTx/>
              </a:pPr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ea typeface="+mn-ea"/>
                  <a:cs typeface="Arial" pitchFamily="34" charset="0"/>
                </a:rPr>
                <a:t>Implicit intent </a:t>
              </a:r>
              <a:r>
                <a:rPr lang="en-US" sz="2600" b="1" kern="1200" dirty="0" smtClean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ea typeface="+mn-ea"/>
                  <a:cs typeface="Arial" pitchFamily="34" charset="0"/>
                </a:rPr>
                <a:t>open Camera</a:t>
              </a:r>
              <a:endParaRPr lang="en-US" sz="2600" b="1" kern="1200" dirty="0">
                <a:solidFill>
                  <a:srgbClr val="009DD9">
                    <a:lumMod val="75000"/>
                  </a:srgbClr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D54D1CD6-11FA-1F4E-9059-0E319ABF8C89}"/>
              </a:ext>
            </a:extLst>
          </p:cNvPr>
          <p:cNvSpPr/>
          <p:nvPr/>
        </p:nvSpPr>
        <p:spPr>
          <a:xfrm>
            <a:off x="2141436" y="1487788"/>
            <a:ext cx="8030378" cy="4247317"/>
          </a:xfrm>
          <a:prstGeom prst="rect">
            <a:avLst/>
          </a:prstGeom>
          <a:ln>
            <a:solidFill>
              <a:srgbClr val="009DD9">
                <a:lumMod val="50000"/>
              </a:srgbClr>
            </a:solidFill>
          </a:ln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public void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openCamera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(View view) 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Intent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new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MediaStore.</a:t>
            </a:r>
            <a:r>
              <a:rPr kumimoji="0" lang="en-US" sz="1800" b="1" i="1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ACTION_IMAGE_CAPTURE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startActivityForResult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(intent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REQUEST_CODE_ID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/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@Override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protected void </a:t>
            </a:r>
            <a:r>
              <a:rPr kumimoji="0" lang="en-US" sz="18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FFC66D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onActivityResult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requestCode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resultCode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@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Nullable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BBB52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Intent data) 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super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.onActivityResult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requestCode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resultCode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if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requestCode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== </a:t>
            </a:r>
            <a:r>
              <a:rPr kumimoji="0" lang="en-US" sz="1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REQUEST_CODE_ID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&amp;&amp;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resultCode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== </a:t>
            </a:r>
            <a:r>
              <a:rPr kumimoji="0" lang="en-US" sz="1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RESULT_OK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1" u="none" strike="noStrike" kern="1200" cap="none" spc="0" normalizeH="0" baseline="0" noProof="0" dirty="0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&amp;&amp; data !=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null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){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Bitmap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bitmap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= (Bitmap)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data.getExtras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().get(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6A8759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"data"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          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rgbClr val="9876AA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imvPhoto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.setImageBitmap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(bitmap)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;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CC7832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    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  <a:b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eorgia"/>
                <a:ea typeface="+mn-ea"/>
                <a:cs typeface="+mn-cs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80482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29</a:t>
            </a:fld>
            <a:endParaRPr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99697" y="285531"/>
            <a:ext cx="6350000" cy="508000"/>
            <a:chOff x="789624" y="1191463"/>
            <a:chExt cx="6350000" cy="508000"/>
          </a:xfrm>
        </p:grpSpPr>
        <p:sp>
          <p:nvSpPr>
            <p:cNvPr id="12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109538">
                <a:lnSpc>
                  <a:spcPct val="11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tx1">
                    <a:lumMod val="85000"/>
                    <a:lumOff val="15000"/>
                  </a:schemeClr>
                </a:buClr>
              </a:pPr>
              <a:r>
                <a:rPr lang="en-US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4. Implicit Intent</a:t>
              </a:r>
            </a:p>
          </p:txBody>
        </p:sp>
        <p:grpSp>
          <p:nvGrpSpPr>
            <p:cNvPr id="13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14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5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16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4FF763-E9AF-854F-A57E-32B59EC40E63}"/>
              </a:ext>
            </a:extLst>
          </p:cNvPr>
          <p:cNvGrpSpPr/>
          <p:nvPr/>
        </p:nvGrpSpPr>
        <p:grpSpPr>
          <a:xfrm>
            <a:off x="728132" y="838920"/>
            <a:ext cx="9144000" cy="451694"/>
            <a:chOff x="533400" y="1066618"/>
            <a:chExt cx="8382000" cy="451694"/>
          </a:xfrm>
        </p:grpSpPr>
        <p:sp>
          <p:nvSpPr>
            <p:cNvPr id="17" name="Chevron 16">
              <a:extLst>
                <a:ext uri="{FF2B5EF4-FFF2-40B4-BE49-F238E27FC236}">
                  <a16:creationId xmlns:a16="http://schemas.microsoft.com/office/drawing/2014/main" id="{11ED1DAC-9318-6E4C-BBEC-3C31286CE1F1}"/>
                </a:ext>
              </a:extLst>
            </p:cNvPr>
            <p:cNvSpPr/>
            <p:nvPr/>
          </p:nvSpPr>
          <p:spPr>
            <a:xfrm>
              <a:off x="533400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8" name="Chevron 17">
              <a:extLst>
                <a:ext uri="{FF2B5EF4-FFF2-40B4-BE49-F238E27FC236}">
                  <a16:creationId xmlns:a16="http://schemas.microsoft.com/office/drawing/2014/main" id="{A7CF58C4-6FC3-9E42-B53B-6D1D6582F586}"/>
                </a:ext>
              </a:extLst>
            </p:cNvPr>
            <p:cNvSpPr/>
            <p:nvPr/>
          </p:nvSpPr>
          <p:spPr>
            <a:xfrm>
              <a:off x="665603" y="1242155"/>
              <a:ext cx="132203" cy="264405"/>
            </a:xfrm>
            <a:prstGeom prst="chevron">
              <a:avLst/>
            </a:prstGeom>
            <a:noFill/>
            <a:ln w="6350" cap="flat" cmpd="sng" algn="ctr">
              <a:solidFill>
                <a:srgbClr val="009DD9">
                  <a:lumMod val="50000"/>
                </a:srgbClr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Tx/>
                <a:buNone/>
                <a:tabLst/>
                <a:defRPr/>
              </a:pPr>
              <a:endPara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rgbClr val="009DD9">
                    <a:lumMod val="75000"/>
                  </a:srgbClr>
                </a:solidFill>
                <a:effectLst/>
                <a:uLnTx/>
                <a:uFillTx/>
                <a:latin typeface="Muli"/>
                <a:ea typeface="Muli"/>
                <a:cs typeface="Muli"/>
                <a:sym typeface="Muli"/>
              </a:endParaRPr>
            </a:p>
          </p:txBody>
        </p:sp>
        <p:sp>
          <p:nvSpPr>
            <p:cNvPr id="19" name="Title 1">
              <a:extLst>
                <a:ext uri="{FF2B5EF4-FFF2-40B4-BE49-F238E27FC236}">
                  <a16:creationId xmlns:a16="http://schemas.microsoft.com/office/drawing/2014/main" id="{B8B3E302-0C9D-5F43-916B-829741A6363F}"/>
                </a:ext>
              </a:extLst>
            </p:cNvPr>
            <p:cNvSpPr txBox="1">
              <a:spLocks/>
            </p:cNvSpPr>
            <p:nvPr/>
          </p:nvSpPr>
          <p:spPr>
            <a:xfrm>
              <a:off x="808822" y="1066618"/>
              <a:ext cx="8106578" cy="45169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/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E6F9B"/>
                </a:buClr>
                <a:buSzPts val="2800"/>
                <a:buFont typeface="Muli"/>
                <a:buNone/>
                <a:defRPr sz="2800" b="0" i="0" u="none" strike="noStrike" cap="none">
                  <a:solidFill>
                    <a:srgbClr val="4E6F9B"/>
                  </a:solidFill>
                  <a:latin typeface="Muli"/>
                  <a:ea typeface="Muli"/>
                  <a:cs typeface="Muli"/>
                  <a:sym typeface="Muli"/>
                </a:defRPr>
              </a:lvl9pPr>
            </a:lstStyle>
            <a:p>
              <a:pPr lvl="0">
                <a:buClrTx/>
                <a:buSzTx/>
              </a:pPr>
              <a:r>
                <a:rPr lang="en-US" sz="2600" b="1" kern="1200" dirty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ea typeface="+mn-ea"/>
                  <a:cs typeface="Arial" pitchFamily="34" charset="0"/>
                </a:rPr>
                <a:t>Implicit intent </a:t>
              </a:r>
              <a:r>
                <a:rPr lang="en-US" sz="2600" b="1" kern="1200" dirty="0" smtClean="0">
                  <a:solidFill>
                    <a:srgbClr val="009DD9">
                      <a:lumMod val="75000"/>
                    </a:srgbClr>
                  </a:solidFill>
                  <a:latin typeface="Arial" pitchFamily="34" charset="0"/>
                  <a:ea typeface="+mn-ea"/>
                  <a:cs typeface="Arial" pitchFamily="34" charset="0"/>
                </a:rPr>
                <a:t>open Camera</a:t>
              </a:r>
              <a:endParaRPr lang="en-US" sz="2600" b="1" kern="1200" dirty="0">
                <a:solidFill>
                  <a:srgbClr val="009DD9">
                    <a:lumMod val="75000"/>
                  </a:srgbClr>
                </a:solidFill>
                <a:latin typeface="Arial" pitchFamily="34" charset="0"/>
                <a:ea typeface="+mn-ea"/>
                <a:cs typeface="Arial" pitchFamily="34" charset="0"/>
              </a:endParaRPr>
            </a:p>
          </p:txBody>
        </p:sp>
      </p:grpSp>
      <p:pic>
        <p:nvPicPr>
          <p:cNvPr id="21" name="Picture 20">
            <a:extLst>
              <a:ext uri="{FF2B5EF4-FFF2-40B4-BE49-F238E27FC236}">
                <a16:creationId xmlns:a16="http://schemas.microsoft.com/office/drawing/2014/main" id="{9EBCD14B-D47B-A54F-9A95-7641E84510BD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25"/>
          <a:stretch/>
        </p:blipFill>
        <p:spPr>
          <a:xfrm>
            <a:off x="2325795" y="1485982"/>
            <a:ext cx="2246756" cy="4687411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92C81736-04DA-1446-9C61-07172A99434F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25"/>
          <a:stretch/>
        </p:blipFill>
        <p:spPr>
          <a:xfrm>
            <a:off x="8206821" y="1431118"/>
            <a:ext cx="2246756" cy="4687411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FA89151-FD21-0D4B-A576-C19970CD1299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386" b="7285"/>
          <a:stretch/>
        </p:blipFill>
        <p:spPr>
          <a:xfrm>
            <a:off x="5266308" y="1431117"/>
            <a:ext cx="2246756" cy="47422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49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30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52400" y="482600"/>
            <a:ext cx="6350000" cy="508000"/>
            <a:chOff x="789624" y="1191463"/>
            <a:chExt cx="6350000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599" y="1191463"/>
              <a:ext cx="6149025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smtClean="0">
                  <a:latin typeface="Cambria" panose="02040503050406030204" pitchFamily="18" charset="0"/>
                </a:rPr>
                <a:t>Discussions</a:t>
              </a:r>
              <a:endParaRPr lang="en-US" sz="2800" b="1" kern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76325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Q1: Present the life cycle of Activity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Q2: Show how to open an Activity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Q3: Show how to open an Activity and pass data to this Activity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Q4: Show how to open an Activity and listen for the returned results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Q5: Compare the difference between Explicit Intent and Implicit Intent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800" dirty="0">
                <a:latin typeface="Cambria" panose="02040503050406030204" pitchFamily="18" charset="0"/>
              </a:rPr>
              <a:t>Q6: Demonstrate how to use Implicit Intent to make phone calls, text messages, take photos, and get images from SD Card</a:t>
            </a:r>
          </a:p>
        </p:txBody>
      </p:sp>
    </p:spTree>
    <p:extLst>
      <p:ext uri="{BB962C8B-B14F-4D97-AF65-F5344CB8AC3E}">
        <p14:creationId xmlns:p14="http://schemas.microsoft.com/office/powerpoint/2010/main" val="1255666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>
            <a:spLocks noGrp="1"/>
          </p:cNvSpPr>
          <p:nvPr>
            <p:ph type="ftr" idx="11"/>
          </p:nvPr>
        </p:nvSpPr>
        <p:spPr>
          <a:xfrm>
            <a:off x="728132" y="6429363"/>
            <a:ext cx="2370667" cy="2614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/>
            <a:r>
              <a:rPr lang="en-US"/>
              <a:t>Faculty of Information Systems</a:t>
            </a:r>
          </a:p>
        </p:txBody>
      </p:sp>
      <p:sp>
        <p:nvSpPr>
          <p:cNvPr id="109" name="Google Shape;109;p3"/>
          <p:cNvSpPr txBox="1">
            <a:spLocks noGrp="1"/>
          </p:cNvSpPr>
          <p:nvPr>
            <p:ph type="sldNum" idx="12"/>
          </p:nvPr>
        </p:nvSpPr>
        <p:spPr>
          <a:xfrm>
            <a:off x="3098799" y="6377505"/>
            <a:ext cx="397933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31</a:t>
            </a:fld>
            <a:endParaRPr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64DE7AC-7E06-0676-5ECD-FC6C1493BAE0}"/>
              </a:ext>
            </a:extLst>
          </p:cNvPr>
          <p:cNvGrpSpPr/>
          <p:nvPr/>
        </p:nvGrpSpPr>
        <p:grpSpPr>
          <a:xfrm>
            <a:off x="183931" y="305390"/>
            <a:ext cx="4620576" cy="508000"/>
            <a:chOff x="789624" y="1191463"/>
            <a:chExt cx="4620576" cy="508000"/>
          </a:xfrm>
        </p:grpSpPr>
        <p:sp>
          <p:nvSpPr>
            <p:cNvPr id="3" name="AutoShape 52">
              <a:extLst>
                <a:ext uri="{FF2B5EF4-FFF2-40B4-BE49-F238E27FC236}">
                  <a16:creationId xmlns:a16="http://schemas.microsoft.com/office/drawing/2014/main" id="{CE8F9F40-61DD-7346-4703-DCCB057B485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990600" y="1191463"/>
              <a:ext cx="4419600" cy="508000"/>
            </a:xfrm>
            <a:prstGeom prst="roundRect">
              <a:avLst>
                <a:gd name="adj" fmla="val 50000"/>
              </a:avLst>
            </a:prstGeom>
            <a:noFill/>
            <a:ln w="28575" algn="ctr">
              <a:solidFill>
                <a:srgbClr val="C0C0C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1">
                    <a:gsLst>
                      <a:gs pos="0">
                        <a:schemeClr val="accent1">
                          <a:gamma/>
                          <a:tint val="0"/>
                          <a:invGamma/>
                        </a:schemeClr>
                      </a:gs>
                      <a:gs pos="100000">
                        <a:schemeClr val="accent1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76200" dir="10800000" kx="-3284103" algn="b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800" b="1" dirty="0" smtClean="0">
                  <a:latin typeface="Cambria" panose="02040503050406030204" pitchFamily="18" charset="0"/>
                </a:rPr>
                <a:t>Next Lesson</a:t>
              </a:r>
              <a:endParaRPr lang="en-US" sz="2800" b="1" kern="0" dirty="0">
                <a:solidFill>
                  <a:srgbClr val="000000"/>
                </a:solidFill>
                <a:latin typeface="Cambria" panose="02040503050406030204" pitchFamily="18" charset="0"/>
              </a:endParaRPr>
            </a:p>
          </p:txBody>
        </p:sp>
        <p:grpSp>
          <p:nvGrpSpPr>
            <p:cNvPr id="4" name="Group 17">
              <a:extLst>
                <a:ext uri="{FF2B5EF4-FFF2-40B4-BE49-F238E27FC236}">
                  <a16:creationId xmlns:a16="http://schemas.microsoft.com/office/drawing/2014/main" id="{44F3AC4A-5305-6F96-8C18-43C5D74712E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89624" y="1295400"/>
              <a:ext cx="353376" cy="272472"/>
              <a:chOff x="1110" y="2656"/>
              <a:chExt cx="1549" cy="1351"/>
            </a:xfrm>
          </p:grpSpPr>
          <p:sp>
            <p:nvSpPr>
              <p:cNvPr id="5" name="AutoShape 18">
                <a:extLst>
                  <a:ext uri="{FF2B5EF4-FFF2-40B4-BE49-F238E27FC236}">
                    <a16:creationId xmlns:a16="http://schemas.microsoft.com/office/drawing/2014/main" id="{A357810E-BD83-454E-8106-65298F2614BD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23" y="2679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solidFill>
                <a:srgbClr val="80808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C0C0C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6" name="AutoShape 19">
                <a:extLst>
                  <a:ext uri="{FF2B5EF4-FFF2-40B4-BE49-F238E27FC236}">
                    <a16:creationId xmlns:a16="http://schemas.microsoft.com/office/drawing/2014/main" id="{840B8BB5-8211-291C-7847-C32187EE6339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110" y="2656"/>
                <a:ext cx="1536" cy="1328"/>
              </a:xfrm>
              <a:prstGeom prst="hexagon">
                <a:avLst>
                  <a:gd name="adj" fmla="val 28916"/>
                  <a:gd name="vf" fmla="val 115470"/>
                </a:avLst>
              </a:prstGeom>
              <a:gradFill rotWithShape="1">
                <a:gsLst>
                  <a:gs pos="0">
                    <a:srgbClr val="E6E6E6"/>
                  </a:gs>
                  <a:gs pos="7499">
                    <a:srgbClr val="7D8496"/>
                  </a:gs>
                  <a:gs pos="26500">
                    <a:srgbClr val="E6E6E6"/>
                  </a:gs>
                  <a:gs pos="34000">
                    <a:srgbClr val="7D8496"/>
                  </a:gs>
                  <a:gs pos="46500">
                    <a:srgbClr val="E6E6E6"/>
                  </a:gs>
                  <a:gs pos="50000">
                    <a:srgbClr val="FFFFFF"/>
                  </a:gs>
                  <a:gs pos="53501">
                    <a:srgbClr val="E6E6E6"/>
                  </a:gs>
                  <a:gs pos="66001">
                    <a:srgbClr val="7D8496"/>
                  </a:gs>
                  <a:gs pos="73500">
                    <a:srgbClr val="E6E6E6"/>
                  </a:gs>
                  <a:gs pos="92501">
                    <a:srgbClr val="7D8496"/>
                  </a:gs>
                  <a:gs pos="100000">
                    <a:srgbClr val="E6E6E6"/>
                  </a:gs>
                </a:gsLst>
                <a:lin ang="2700000" scaled="1"/>
              </a:gradFill>
              <a:ln w="9525">
                <a:solidFill>
                  <a:srgbClr val="C0C0C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  <p:sp>
            <p:nvSpPr>
              <p:cNvPr id="7" name="AutoShape 20">
                <a:extLst>
                  <a:ext uri="{FF2B5EF4-FFF2-40B4-BE49-F238E27FC236}">
                    <a16:creationId xmlns:a16="http://schemas.microsoft.com/office/drawing/2014/main" id="{4C26AE9A-9DD8-7E15-041C-437165D9822B}"/>
                  </a:ext>
                </a:extLst>
              </p:cNvPr>
              <p:cNvSpPr>
                <a:spLocks noChangeArrowheads="1"/>
              </p:cNvSpPr>
              <p:nvPr/>
            </p:nvSpPr>
            <p:spPr bwMode="gray">
              <a:xfrm>
                <a:off x="1200" y="2736"/>
                <a:ext cx="1350" cy="1168"/>
              </a:xfrm>
              <a:prstGeom prst="hexagon">
                <a:avLst>
                  <a:gd name="adj" fmla="val 28896"/>
                  <a:gd name="vf" fmla="val 115470"/>
                </a:avLst>
              </a:prstGeom>
              <a:gradFill rotWithShape="1">
                <a:gsLst>
                  <a:gs pos="0">
                    <a:srgbClr val="EFB049">
                      <a:gamma/>
                      <a:shade val="46275"/>
                      <a:invGamma/>
                    </a:srgbClr>
                  </a:gs>
                  <a:gs pos="100000">
                    <a:srgbClr val="EFB049"/>
                  </a:gs>
                </a:gsLst>
                <a:lin ang="270000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fontAlgn="base">
                  <a:spcBef>
                    <a:spcPct val="0"/>
                  </a:spcBef>
                  <a:spcAft>
                    <a:spcPct val="0"/>
                  </a:spcAft>
                  <a:defRPr/>
                </a:pPr>
                <a:endParaRPr lang="en-US" b="1" kern="0">
                  <a:solidFill>
                    <a:srgbClr val="000000"/>
                  </a:solidFill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8E6E6F45-0E21-2332-E20D-00463EF17E7E}"/>
              </a:ext>
            </a:extLst>
          </p:cNvPr>
          <p:cNvSpPr txBox="1">
            <a:spLocks/>
          </p:cNvSpPr>
          <p:nvPr/>
        </p:nvSpPr>
        <p:spPr>
          <a:xfrm>
            <a:off x="457200" y="1026709"/>
            <a:ext cx="11430000" cy="5248275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3888" indent="-514350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prstClr val="black">
                  <a:lumMod val="85000"/>
                  <a:lumOff val="15000"/>
                </a:prstClr>
              </a:buClr>
              <a:buFont typeface="Wingdings" charset="2"/>
              <a:buChar char="§"/>
            </a:pPr>
            <a:r>
              <a:rPr lang="en-US" sz="2800" i="1" smtClean="0">
                <a:solidFill>
                  <a:prstClr val="black"/>
                </a:solidFill>
                <a:latin typeface="Georgia"/>
              </a:rPr>
              <a:t>Fragment</a:t>
            </a:r>
            <a:endParaRPr lang="en-US" sz="2800" i="1" dirty="0">
              <a:solidFill>
                <a:prstClr val="black"/>
              </a:solidFill>
              <a:latin typeface="Georgia"/>
            </a:endParaRPr>
          </a:p>
        </p:txBody>
      </p:sp>
    </p:spTree>
    <p:extLst>
      <p:ext uri="{BB962C8B-B14F-4D97-AF65-F5344CB8AC3E}">
        <p14:creationId xmlns:p14="http://schemas.microsoft.com/office/powerpoint/2010/main" val="2131959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>
            <a:spLocks noGrp="1"/>
          </p:cNvSpPr>
          <p:nvPr>
            <p:ph type="title"/>
          </p:nvPr>
        </p:nvSpPr>
        <p:spPr>
          <a:xfrm>
            <a:off x="838200" y="2581306"/>
            <a:ext cx="10515600" cy="15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44E8C"/>
              </a:buClr>
              <a:buSzPts val="9600"/>
              <a:buFont typeface="Lato Black"/>
              <a:buNone/>
            </a:pPr>
            <a:r>
              <a:rPr lang="en-US"/>
              <a:t>THANK YOU!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389686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4DC599EA-E531-43D2-B601-DCD286BE1D55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A624D36E-5199-4F4B-82F3-96E585BF209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SUBSTITUTION_ID" val="{586CEB5E-0C59-4DE2-9112-053D623A0C8C}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</TotalTime>
  <Words>1397</Words>
  <Application>Microsoft Office PowerPoint</Application>
  <PresentationFormat>Widescreen</PresentationFormat>
  <Paragraphs>300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32</vt:i4>
      </vt:variant>
    </vt:vector>
  </HeadingPairs>
  <TitlesOfParts>
    <vt:vector size="45" baseType="lpstr">
      <vt:lpstr>Times New Roman</vt:lpstr>
      <vt:lpstr>Wingdings</vt:lpstr>
      <vt:lpstr>Lato Black</vt:lpstr>
      <vt:lpstr>Muli</vt:lpstr>
      <vt:lpstr>Calibri</vt:lpstr>
      <vt:lpstr>MS PGothic</vt:lpstr>
      <vt:lpstr>Arial</vt:lpstr>
      <vt:lpstr>Cambria</vt:lpstr>
      <vt:lpstr>Lato</vt:lpstr>
      <vt:lpstr>MS PGothic</vt:lpstr>
      <vt:lpstr>Georgia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Pí Yeah</dc:creator>
  <cp:lastModifiedBy>thanhtd</cp:lastModifiedBy>
  <cp:revision>429</cp:revision>
  <dcterms:created xsi:type="dcterms:W3CDTF">2022-12-02T04:21:00Z</dcterms:created>
  <dcterms:modified xsi:type="dcterms:W3CDTF">2024-02-17T10:37:11Z</dcterms:modified>
</cp:coreProperties>
</file>