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35"/>
  </p:notesMasterIdLst>
  <p:sldIdLst>
    <p:sldId id="256" r:id="rId3"/>
    <p:sldId id="267" r:id="rId4"/>
    <p:sldId id="281" r:id="rId5"/>
    <p:sldId id="360" r:id="rId6"/>
    <p:sldId id="364" r:id="rId7"/>
    <p:sldId id="366" r:id="rId8"/>
    <p:sldId id="365" r:id="rId9"/>
    <p:sldId id="367" r:id="rId10"/>
    <p:sldId id="368" r:id="rId11"/>
    <p:sldId id="361" r:id="rId12"/>
    <p:sldId id="362" r:id="rId13"/>
    <p:sldId id="369" r:id="rId14"/>
    <p:sldId id="370" r:id="rId15"/>
    <p:sldId id="371" r:id="rId16"/>
    <p:sldId id="372" r:id="rId17"/>
    <p:sldId id="373" r:id="rId18"/>
    <p:sldId id="374" r:id="rId19"/>
    <p:sldId id="375" r:id="rId20"/>
    <p:sldId id="363" r:id="rId21"/>
    <p:sldId id="376" r:id="rId22"/>
    <p:sldId id="377" r:id="rId23"/>
    <p:sldId id="378" r:id="rId24"/>
    <p:sldId id="379" r:id="rId25"/>
    <p:sldId id="380" r:id="rId26"/>
    <p:sldId id="381" r:id="rId27"/>
    <p:sldId id="382" r:id="rId28"/>
    <p:sldId id="383" r:id="rId29"/>
    <p:sldId id="384" r:id="rId30"/>
    <p:sldId id="385" r:id="rId31"/>
    <p:sldId id="359" r:id="rId32"/>
    <p:sldId id="308" r:id="rId33"/>
    <p:sldId id="269" r:id="rId34"/>
  </p:sldIdLst>
  <p:sldSz cx="12192000" cy="6858000"/>
  <p:notesSz cx="6858000" cy="9144000"/>
  <p:embeddedFontLst>
    <p:embeddedFont>
      <p:font typeface="Cambria" panose="02040503050406030204" pitchFamily="18" charset="0"/>
      <p:regular r:id="rId36"/>
      <p:bold r:id="rId37"/>
      <p:italic r:id="rId38"/>
      <p:boldItalic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Muli" panose="02000503040000090004" pitchFamily="2" charset="0"/>
      <p:regular r:id="rId44"/>
      <p:italic r:id="rId45"/>
    </p:embeddedFont>
    <p:embeddedFont>
      <p:font typeface="Georgia" panose="02040502050405020303" pitchFamily="18" charset="0"/>
      <p:regular r:id="rId46"/>
      <p:bold r:id="rId47"/>
      <p:italic r:id="rId48"/>
      <p:boldItalic r:id="rId49"/>
    </p:embeddedFont>
    <p:embeddedFont>
      <p:font typeface="Lato Black" panose="020B0604020202020204" charset="0"/>
      <p:bold r:id="rId50"/>
      <p:boldItalic r:id="rId51"/>
    </p:embeddedFont>
    <p:embeddedFont>
      <p:font typeface="Lato" panose="020B060402020202020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2" roundtripDataSignature="AMtx7mh4VrLQLvjXUsQeVJWWu9hsLYoG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15" autoAdjust="0"/>
    <p:restoredTop sz="89605" autoAdjust="0"/>
  </p:normalViewPr>
  <p:slideViewPr>
    <p:cSldViewPr snapToGrid="0">
      <p:cViewPr varScale="1">
        <p:scale>
          <a:sx n="112" d="100"/>
          <a:sy n="112" d="100"/>
        </p:scale>
        <p:origin x="355" y="9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font" Target="fonts/font20.fntdata"/><Relationship Id="rId7" Type="http://schemas.openxmlformats.org/officeDocument/2006/relationships/slide" Target="slides/slide5.xml"/><Relationship Id="rId9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" Type="http://schemas.openxmlformats.org/officeDocument/2006/relationships/slide" Target="slides/slide3.xml"/><Relationship Id="rId95" Type="http://schemas.openxmlformats.org/officeDocument/2006/relationships/theme" Target="theme/theme1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6.xml"/><Relationship Id="rId51" Type="http://schemas.openxmlformats.org/officeDocument/2006/relationships/font" Target="fonts/font16.fntdata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8.xml"/><Relationship Id="rId41" Type="http://schemas.openxmlformats.org/officeDocument/2006/relationships/font" Target="fonts/font6.fntdata"/><Relationship Id="rId54" Type="http://schemas.openxmlformats.org/officeDocument/2006/relationships/font" Target="fonts/font19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9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21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05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0716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8844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9309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7987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6831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9257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3734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1811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5259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06342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07786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08117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34110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88365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30508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09990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07448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38623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35954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69739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61201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83678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87709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29771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90674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91727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3951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83126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8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</a:pP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097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036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5306" y="-3308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  <a:defRPr sz="96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944" y="330860"/>
            <a:ext cx="2890753" cy="117634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805445" y="1354975"/>
            <a:ext cx="6410498" cy="68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33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290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3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028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hanhtd@uel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anduythanh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9BAC58-9AA6-A91A-085E-F1421DCCF43A}"/>
              </a:ext>
            </a:extLst>
          </p:cNvPr>
          <p:cNvSpPr txBox="1">
            <a:spLocks/>
          </p:cNvSpPr>
          <p:nvPr/>
        </p:nvSpPr>
        <p:spPr bwMode="auto">
          <a:xfrm>
            <a:off x="2132317" y="1977662"/>
            <a:ext cx="8763000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Mobile-Commerce </a:t>
            </a:r>
            <a:r>
              <a:rPr lang="en-US" sz="320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>
              <a:defRPr/>
            </a:pPr>
            <a:r>
              <a:rPr lang="en-US" sz="3200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kern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Multi-Threading</a:t>
            </a:r>
            <a:endParaRPr lang="en-US" sz="3200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97E3A-A23C-B018-8E45-86B8BF858946}"/>
              </a:ext>
            </a:extLst>
          </p:cNvPr>
          <p:cNvSpPr txBox="1"/>
          <p:nvPr/>
        </p:nvSpPr>
        <p:spPr>
          <a:xfrm>
            <a:off x="7958878" y="4079089"/>
            <a:ext cx="378180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</a:p>
          <a:p>
            <a:pPr algn="ctr"/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Thanh,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endParaRPr lang="en-US" sz="22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Nguyen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Phuc</a:t>
            </a:r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endParaRPr lang="en-US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thanhtd@uel.edu.vn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https://tranduythanh.com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0987773061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Lesson Objective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understand multithreading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Handler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as well for updating UI runtime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AsyncTask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as well for updating UI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Multi-threading for accessing Internet Resources</a:t>
            </a:r>
          </a:p>
        </p:txBody>
      </p:sp>
    </p:spTree>
    <p:extLst>
      <p:ext uri="{BB962C8B-B14F-4D97-AF65-F5344CB8AC3E}">
        <p14:creationId xmlns:p14="http://schemas.microsoft.com/office/powerpoint/2010/main" val="370314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in multithreaded programming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Multi-process usage context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Multithreaded programming techniques in Android</a:t>
            </a:r>
          </a:p>
          <a:p>
            <a:pPr marL="1023938" lvl="1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Handler</a:t>
            </a:r>
          </a:p>
          <a:p>
            <a:pPr marL="1023938" lvl="1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AsyncTask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Outlines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79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Concepts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Multi-Threading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9BB4756-DA4D-8E4A-85AC-7A2284558353}"/>
              </a:ext>
            </a:extLst>
          </p:cNvPr>
          <p:cNvSpPr txBox="1">
            <a:spLocks/>
          </p:cNvSpPr>
          <p:nvPr/>
        </p:nvSpPr>
        <p:spPr>
          <a:xfrm>
            <a:off x="924264" y="1449338"/>
            <a:ext cx="10601270" cy="2806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200" b="1" dirty="0">
                <a:solidFill>
                  <a:sysClr val="windowText" lastClr="000000"/>
                </a:solidFill>
                <a:latin typeface="Georgia"/>
              </a:rPr>
              <a:t>Process</a:t>
            </a:r>
            <a:r>
              <a:rPr lang="en-US" sz="2200" dirty="0">
                <a:solidFill>
                  <a:sysClr val="windowText" lastClr="000000"/>
                </a:solidFill>
                <a:latin typeface="Georgia"/>
              </a:rPr>
              <a:t> provides the necessary resources to execute the program and must have at least 1 Thread to execute.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200" b="1" dirty="0">
                <a:solidFill>
                  <a:sysClr val="windowText" lastClr="000000"/>
                </a:solidFill>
                <a:latin typeface="Georgia"/>
              </a:rPr>
              <a:t>Thread</a:t>
            </a:r>
            <a:r>
              <a:rPr lang="en-US" sz="2200" dirty="0">
                <a:solidFill>
                  <a:sysClr val="windowText" lastClr="000000"/>
                </a:solidFill>
                <a:latin typeface="Georgia"/>
              </a:rPr>
              <a:t> is an entity in Process, a thread is considered a thread to execute a program. In a process there can be many threads executing simultaneously and each thread has its priority.</a:t>
            </a: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55277B-E5A7-F343-B35E-8D9E7A70023A}"/>
              </a:ext>
            </a:extLst>
          </p:cNvPr>
          <p:cNvGrpSpPr/>
          <p:nvPr/>
        </p:nvGrpSpPr>
        <p:grpSpPr>
          <a:xfrm>
            <a:off x="550107" y="897468"/>
            <a:ext cx="9067800" cy="451694"/>
            <a:chOff x="533400" y="1066618"/>
            <a:chExt cx="8382000" cy="451694"/>
          </a:xfrm>
        </p:grpSpPr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9DAFC087-9BCE-D347-9DEB-1FBFBF74EEEC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Chevron 19">
              <a:extLst>
                <a:ext uri="{FF2B5EF4-FFF2-40B4-BE49-F238E27FC236}">
                  <a16:creationId xmlns:a16="http://schemas.microsoft.com/office/drawing/2014/main" id="{4A772424-0B6C-5845-9025-BA2E760D833B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A3CA35B8-12EB-A14F-89E7-87173DD9173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Process, Thread 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and 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Multiple Thread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828374A-80D4-AD48-9CF3-4DE55C3F8889}"/>
              </a:ext>
            </a:extLst>
          </p:cNvPr>
          <p:cNvSpPr/>
          <p:nvPr/>
        </p:nvSpPr>
        <p:spPr>
          <a:xfrm>
            <a:off x="1565728" y="3925427"/>
            <a:ext cx="8106578" cy="430887"/>
          </a:xfrm>
          <a:prstGeom prst="rect">
            <a:avLst/>
          </a:prstGeom>
          <a:solidFill>
            <a:srgbClr val="009DD9">
              <a:lumMod val="50000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" pitchFamily="2" charset="2"/>
              </a:rPr>
              <a:t> </a:t>
            </a:r>
            <a:r>
              <a:rPr kumimoji="0" lang="en-US" sz="2200" b="1" i="1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Process = Program + State of all Threads executing in Program</a:t>
            </a:r>
            <a:endParaRPr kumimoji="0" lang="en-US" sz="22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43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Concepts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Multi-Threading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F55277B-E5A7-F343-B35E-8D9E7A70023A}"/>
              </a:ext>
            </a:extLst>
          </p:cNvPr>
          <p:cNvGrpSpPr/>
          <p:nvPr/>
        </p:nvGrpSpPr>
        <p:grpSpPr>
          <a:xfrm>
            <a:off x="728132" y="880984"/>
            <a:ext cx="90678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9DAFC087-9BCE-D347-9DEB-1FBFBF74EEEC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4A772424-0B6C-5845-9025-BA2E760D833B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A3CA35B8-12EB-A14F-89E7-87173DD9173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Create 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Thread</a:t>
              </a:r>
            </a:p>
          </p:txBody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9573CCA-ACA5-824F-B5DC-1F1062378144}"/>
              </a:ext>
            </a:extLst>
          </p:cNvPr>
          <p:cNvSpPr txBox="1">
            <a:spLocks/>
          </p:cNvSpPr>
          <p:nvPr/>
        </p:nvSpPr>
        <p:spPr>
          <a:xfrm>
            <a:off x="1413932" y="1432854"/>
            <a:ext cx="8458200" cy="451694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just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Method 1: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extends from class Thread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BECB10-C74B-DB41-8A03-A511198BF17D}"/>
              </a:ext>
            </a:extLst>
          </p:cNvPr>
          <p:cNvSpPr/>
          <p:nvPr/>
        </p:nvSpPr>
        <p:spPr>
          <a:xfrm>
            <a:off x="2023532" y="1947967"/>
            <a:ext cx="7239000" cy="2899961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class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MyThread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extends </a:t>
            </a:r>
            <a:r>
              <a:rPr kumimoji="0" lang="en-US" sz="2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Thread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{</a:t>
            </a:r>
            <a:b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2200" b="1" i="0" u="none" strike="noStrike" kern="1200" cap="none" spc="0" normalizeH="0" baseline="0" noProof="0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run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.run()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</a:t>
            </a:r>
            <a:r>
              <a:rPr kumimoji="0" lang="en-US" sz="2200" b="0" i="1" u="none" strike="noStrike" kern="1200" cap="none" spc="0" normalizeH="0" baseline="0" noProof="0" smtClean="0">
                <a:ln>
                  <a:noFill/>
                </a:ln>
                <a:solidFill>
                  <a:srgbClr val="A8C023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TODO</a:t>
            </a:r>
            <a:br>
              <a:rPr kumimoji="0" lang="en-US" sz="2200" b="0" i="1" u="none" strike="noStrike" kern="1200" cap="none" spc="0" normalizeH="0" baseline="0" noProof="0" smtClean="0">
                <a:ln>
                  <a:noFill/>
                </a:ln>
                <a:solidFill>
                  <a:srgbClr val="A8C023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1" u="none" strike="noStrike" kern="1200" cap="none" spc="0" normalizeH="0" baseline="0" noProof="0" smtClean="0">
                <a:ln>
                  <a:noFill/>
                </a:ln>
                <a:solidFill>
                  <a:srgbClr val="A8C023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49A447-0932-E54C-ADA2-7BAF27B9D237}"/>
              </a:ext>
            </a:extLst>
          </p:cNvPr>
          <p:cNvSpPr/>
          <p:nvPr/>
        </p:nvSpPr>
        <p:spPr>
          <a:xfrm>
            <a:off x="2023532" y="5007635"/>
            <a:ext cx="7239000" cy="430887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MyThread</a:t>
            </a:r>
            <a:r>
              <a:rPr kumimoji="0" lang="en-US" sz="2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().start()</a:t>
            </a:r>
            <a:r>
              <a:rPr kumimoji="0" lang="en-US" sz="22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2200" b="1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360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Concepts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Multi-Threading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F55277B-E5A7-F343-B35E-8D9E7A70023A}"/>
              </a:ext>
            </a:extLst>
          </p:cNvPr>
          <p:cNvGrpSpPr/>
          <p:nvPr/>
        </p:nvGrpSpPr>
        <p:grpSpPr>
          <a:xfrm>
            <a:off x="728132" y="880984"/>
            <a:ext cx="90678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9DAFC087-9BCE-D347-9DEB-1FBFBF74EEEC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4A772424-0B6C-5845-9025-BA2E760D833B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A3CA35B8-12EB-A14F-89E7-87173DD9173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Create 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Thread</a:t>
              </a:r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9573CCA-ACA5-824F-B5DC-1F1062378144}"/>
              </a:ext>
            </a:extLst>
          </p:cNvPr>
          <p:cNvSpPr txBox="1">
            <a:spLocks/>
          </p:cNvSpPr>
          <p:nvPr/>
        </p:nvSpPr>
        <p:spPr>
          <a:xfrm>
            <a:off x="1337732" y="1534388"/>
            <a:ext cx="8458200" cy="451694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just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Method 2: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Implements interface Runnable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C70E75-BAB6-A445-BB06-48932532A1DF}"/>
              </a:ext>
            </a:extLst>
          </p:cNvPr>
          <p:cNvSpPr/>
          <p:nvPr/>
        </p:nvSpPr>
        <p:spPr>
          <a:xfrm>
            <a:off x="1947332" y="2049500"/>
            <a:ext cx="7239000" cy="2493696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class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MyRunnable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implements </a:t>
            </a:r>
            <a:r>
              <a:rPr kumimoji="0" lang="en-US" sz="2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Runnable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{</a:t>
            </a:r>
            <a:b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2200" b="1" i="0" u="none" strike="noStrike" kern="1200" cap="none" spc="0" normalizeH="0" baseline="0" noProof="0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run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</a:t>
            </a:r>
            <a:r>
              <a:rPr kumimoji="0" lang="en-US" sz="2200" b="0" i="1" u="none" strike="noStrike" kern="1200" cap="none" spc="0" normalizeH="0" baseline="0" noProof="0" smtClean="0">
                <a:ln>
                  <a:noFill/>
                </a:ln>
                <a:solidFill>
                  <a:srgbClr val="A8C023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TODO</a:t>
            </a:r>
            <a:br>
              <a:rPr kumimoji="0" lang="en-US" sz="2200" b="0" i="1" u="none" strike="noStrike" kern="1200" cap="none" spc="0" normalizeH="0" baseline="0" noProof="0" smtClean="0">
                <a:ln>
                  <a:noFill/>
                </a:ln>
                <a:solidFill>
                  <a:srgbClr val="A8C023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1" u="none" strike="noStrike" kern="1200" cap="none" spc="0" normalizeH="0" baseline="0" noProof="0" smtClean="0">
                <a:ln>
                  <a:noFill/>
                </a:ln>
                <a:solidFill>
                  <a:srgbClr val="A8C023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77DE7F-815F-5C4A-B1A7-D5D59BE40A56}"/>
              </a:ext>
            </a:extLst>
          </p:cNvPr>
          <p:cNvSpPr/>
          <p:nvPr/>
        </p:nvSpPr>
        <p:spPr>
          <a:xfrm>
            <a:off x="1947332" y="4666614"/>
            <a:ext cx="7239000" cy="430887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Thread(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MyRunnable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2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).start()</a:t>
            </a:r>
            <a:r>
              <a:rPr kumimoji="0" lang="en-US" sz="22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2200" b="1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64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Concepts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Multi-Threading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F55277B-E5A7-F343-B35E-8D9E7A70023A}"/>
              </a:ext>
            </a:extLst>
          </p:cNvPr>
          <p:cNvGrpSpPr/>
          <p:nvPr/>
        </p:nvGrpSpPr>
        <p:grpSpPr>
          <a:xfrm>
            <a:off x="641445" y="866581"/>
            <a:ext cx="90678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9DAFC087-9BCE-D347-9DEB-1FBFBF74EEEC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4A772424-0B6C-5845-9025-BA2E760D833B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A3CA35B8-12EB-A14F-89E7-87173DD9173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Main Thread 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and 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UI Thread, Worker Thread</a:t>
              </a:r>
            </a:p>
          </p:txBody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DCA975E-8F3B-6342-9C67-095426518F10}"/>
              </a:ext>
            </a:extLst>
          </p:cNvPr>
          <p:cNvSpPr txBox="1">
            <a:spLocks/>
          </p:cNvSpPr>
          <p:nvPr/>
        </p:nvSpPr>
        <p:spPr>
          <a:xfrm>
            <a:off x="1015602" y="1418451"/>
            <a:ext cx="10680529" cy="50109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In Android, when the application is launched, the system will start an initial Thread along with a Process, this Thread is called </a:t>
            </a: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Main Thread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.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Main Thread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is also often called </a:t>
            </a: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UI Thread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because this thread is responsible for handling application interface loading as well as interacting with the </a:t>
            </a: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Android UI toolkit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.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Worker Thread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is a thread that the programmer creates for the program to perform a task unrelated to the interface. This thread is also called </a:t>
            </a: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Background Thread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64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Concepts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Multi-Threading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9BB4756-DA4D-8E4A-85AC-7A2284558353}"/>
              </a:ext>
            </a:extLst>
          </p:cNvPr>
          <p:cNvSpPr txBox="1">
            <a:spLocks/>
          </p:cNvSpPr>
          <p:nvPr/>
        </p:nvSpPr>
        <p:spPr>
          <a:xfrm>
            <a:off x="842327" y="1563506"/>
            <a:ext cx="10598643" cy="31059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When the UI Thread executes many tasks and there is one task that requires a lot of processing time (Internet connection, database query, etc.), then the UI will be blocked, thereby causing the ANR </a:t>
            </a:r>
            <a:r>
              <a:rPr lang="en-US" sz="2400" dirty="0" smtClean="0">
                <a:solidFill>
                  <a:sysClr val="windowText" lastClr="000000"/>
                </a:solidFill>
                <a:latin typeface="Georgia"/>
              </a:rPr>
              <a:t>phenomenon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. </a:t>
            </a:r>
            <a:r>
              <a:rPr lang="en-US" sz="2400" dirty="0" smtClean="0">
                <a:solidFill>
                  <a:sysClr val="windowText" lastClr="000000"/>
                </a:solidFill>
                <a:latin typeface="Georgia"/>
              </a:rPr>
              <a:t>But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actually the program is still being executed.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When the UI is blocked for a few seconds (average 5 seconds), the system will display a notification dialog box allowing the user to close the application or wait.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55277B-E5A7-F343-B35E-8D9E7A70023A}"/>
              </a:ext>
            </a:extLst>
          </p:cNvPr>
          <p:cNvGrpSpPr/>
          <p:nvPr/>
        </p:nvGrpSpPr>
        <p:grpSpPr>
          <a:xfrm>
            <a:off x="627797" y="864903"/>
            <a:ext cx="90678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9DAFC087-9BCE-D347-9DEB-1FBFBF74EEEC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4A772424-0B6C-5845-9025-BA2E760D833B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A3CA35B8-12EB-A14F-89E7-87173DD9173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Application 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Not Responding - ANR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103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Concepts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Multi-Threading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55277B-E5A7-F343-B35E-8D9E7A70023A}"/>
              </a:ext>
            </a:extLst>
          </p:cNvPr>
          <p:cNvGrpSpPr/>
          <p:nvPr/>
        </p:nvGrpSpPr>
        <p:grpSpPr>
          <a:xfrm>
            <a:off x="627797" y="864903"/>
            <a:ext cx="90678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9DAFC087-9BCE-D347-9DEB-1FBFBF74EEEC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4A772424-0B6C-5845-9025-BA2E760D833B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A3CA35B8-12EB-A14F-89E7-87173DD9173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Application 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Not Responding - ANR</a:t>
              </a:r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9BB4756-DA4D-8E4A-85AC-7A2284558353}"/>
              </a:ext>
            </a:extLst>
          </p:cNvPr>
          <p:cNvSpPr txBox="1">
            <a:spLocks/>
          </p:cNvSpPr>
          <p:nvPr/>
        </p:nvSpPr>
        <p:spPr>
          <a:xfrm>
            <a:off x="842327" y="4459663"/>
            <a:ext cx="11051697" cy="2057400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To limit the ANR phenomenon, programmers need to adhere to the following principles</a:t>
            </a:r>
            <a:r>
              <a:rPr lang="en-US" sz="2400" dirty="0" smtClean="0">
                <a:solidFill>
                  <a:sysClr val="windowText" lastClr="000000"/>
                </a:solidFill>
                <a:latin typeface="Georgia"/>
              </a:rPr>
              <a:t>: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808038" lvl="0" indent="-36036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ü"/>
            </a:pP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Do not block UI Thread</a:t>
            </a:r>
            <a:endParaRPr kumimoji="0" lang="en-US" sz="2400" b="0" i="1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808038" lvl="0" indent="-36036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ü"/>
            </a:pP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Do not connect to the Android UI toolkit from a Thread that is not a UI Thread.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D5CC57D-5047-4E43-8F37-F4AF56C4C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799" y="1512628"/>
            <a:ext cx="5334000" cy="294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6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Multi-process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usage context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00C5C01-C8BD-DB43-B963-44C06AC0692A}"/>
              </a:ext>
            </a:extLst>
          </p:cNvPr>
          <p:cNvSpPr txBox="1">
            <a:spLocks/>
          </p:cNvSpPr>
          <p:nvPr/>
        </p:nvSpPr>
        <p:spPr>
          <a:xfrm>
            <a:off x="528207" y="944447"/>
            <a:ext cx="11092862" cy="2667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Tasks require a lot of processing time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Wingdings" pitchFamily="2" charset="2"/>
              </a:rPr>
              <a:t> </a:t>
            </a:r>
            <a:r>
              <a:rPr lang="en-US" sz="2400" b="1" dirty="0">
                <a:solidFill>
                  <a:srgbClr val="0000FF"/>
                </a:solidFill>
                <a:latin typeface="Georgia"/>
                <a:sym typeface="Wingdings" pitchFamily="2" charset="2"/>
              </a:rPr>
              <a:t>Should use multiple processes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  <a:sym typeface="Wingdings" pitchFamily="2" charset="2"/>
              </a:rPr>
              <a:t>. For example: connecting and retrieving data from the Internet, querying the database, etc.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50618A-BE45-0F48-8A7E-CAD699705945}"/>
              </a:ext>
            </a:extLst>
          </p:cNvPr>
          <p:cNvSpPr/>
          <p:nvPr/>
        </p:nvSpPr>
        <p:spPr>
          <a:xfrm>
            <a:off x="2517366" y="2779506"/>
            <a:ext cx="6428741" cy="1107996"/>
          </a:xfrm>
          <a:prstGeom prst="rect">
            <a:avLst/>
          </a:prstGeom>
          <a:solidFill>
            <a:srgbClr val="009DD9">
              <a:lumMod val="50000"/>
            </a:srgbClr>
          </a:solidFill>
        </p:spPr>
        <p:txBody>
          <a:bodyPr wrap="square">
            <a:spAutoFit/>
          </a:bodyPr>
          <a:lstStyle/>
          <a:p>
            <a:pPr marL="342900" lvl="0" indent="-342900" algn="ctr">
              <a:buClrTx/>
              <a:buFont typeface="Wingdings" pitchFamily="2" charset="2"/>
              <a:buChar char="è"/>
            </a:pPr>
            <a:r>
              <a:rPr lang="en-US" sz="2200" i="1" kern="1200" dirty="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" pitchFamily="2" charset="2"/>
              </a:rPr>
              <a:t>Don't let users wait too long (5 seconds) </a:t>
            </a:r>
            <a:endParaRPr lang="en-US" sz="2200" i="1" kern="1200" dirty="0" smtClean="0">
              <a:solidFill>
                <a:prstClr val="white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sym typeface="Wingdings" pitchFamily="2" charset="2"/>
            </a:endParaRPr>
          </a:p>
          <a:p>
            <a:pPr marL="342900" lvl="0" indent="-342900" algn="ctr">
              <a:buClrTx/>
              <a:buFont typeface="Wingdings" pitchFamily="2" charset="2"/>
              <a:buChar char="è"/>
            </a:pPr>
            <a:endParaRPr lang="en-US" sz="2200" i="1" kern="1200" dirty="0">
              <a:solidFill>
                <a:prstClr val="white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sym typeface="Wingdings" pitchFamily="2" charset="2"/>
            </a:endParaRPr>
          </a:p>
          <a:p>
            <a:pPr lvl="0" algn="ctr">
              <a:buClrTx/>
            </a:pPr>
            <a:r>
              <a:rPr lang="en-US" sz="2200" i="1" kern="1200" dirty="0" smtClean="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" pitchFamily="2" charset="2"/>
              </a:rPr>
              <a:t>when interacting with 1 </a:t>
            </a:r>
            <a:r>
              <a:rPr lang="en-US" sz="2200" i="1" kern="1200" dirty="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" pitchFamily="2" charset="2"/>
              </a:rPr>
              <a:t>function on the application.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31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Handler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1EAC312-6E90-9B4C-8B1D-D2498EB5AF22}"/>
              </a:ext>
            </a:extLst>
          </p:cNvPr>
          <p:cNvSpPr txBox="1">
            <a:spLocks/>
          </p:cNvSpPr>
          <p:nvPr/>
        </p:nvSpPr>
        <p:spPr>
          <a:xfrm>
            <a:off x="528207" y="1001763"/>
            <a:ext cx="11249811" cy="5239512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Handler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is an object used to link and exchange between Threads, usually Main Thread (UI Thread) with Worker Threads (Background Thread).</a:t>
            </a:r>
            <a:endParaRPr kumimoji="0" lang="en-US" sz="240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Common methods when using Handler</a:t>
            </a:r>
            <a:r>
              <a:rPr lang="en-US" sz="2400" dirty="0" smtClean="0">
                <a:solidFill>
                  <a:sysClr val="windowText" lastClr="000000"/>
                </a:solidFill>
                <a:latin typeface="Georgia"/>
              </a:rPr>
              <a:t>: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808038" marR="0" lvl="0" indent="-360363" algn="just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1" i="1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sendMessage</a:t>
            </a:r>
            <a:r>
              <a:rPr kumimoji="0" 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(Message)</a:t>
            </a:r>
          </a:p>
          <a:p>
            <a:pPr marL="808038" marR="0" lvl="0" indent="-360363" algn="just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600" b="0" i="1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sendEmptyMessage</a:t>
            </a:r>
            <a:r>
              <a:rPr kumimoji="0" lang="en-US" sz="2600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600" b="0" i="1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2600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</a:p>
          <a:p>
            <a:pPr marL="808038" marR="0" lvl="0" indent="-360363" algn="just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600" b="0" i="1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sendMessageAtTime</a:t>
            </a:r>
            <a:r>
              <a:rPr kumimoji="0" lang="en-US" sz="2600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(Message, long)</a:t>
            </a:r>
          </a:p>
          <a:p>
            <a:pPr marL="808038" marR="0" lvl="0" indent="-360363" algn="just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600" b="0" i="1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sendMessageDelayed</a:t>
            </a:r>
            <a:r>
              <a:rPr kumimoji="0" lang="en-US" sz="2600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(Message, long)</a:t>
            </a:r>
          </a:p>
          <a:p>
            <a:pPr marL="808038" marR="0" lvl="0" indent="-360363" algn="just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post(Runnable)</a:t>
            </a:r>
          </a:p>
          <a:p>
            <a:pPr marL="808038" marR="0" lvl="0" indent="-360363" algn="just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postAtTime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(Runnable, long)</a:t>
            </a:r>
          </a:p>
          <a:p>
            <a:pPr marL="808038" marR="0" lvl="0" indent="-360363" algn="just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postDelayed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(Runnable, Object, long)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686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Handler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92942CB4-7DF7-9240-82EA-AAA4D40552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448" y="964934"/>
            <a:ext cx="2871036" cy="50719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9DF0FF-5F43-9F4E-925E-926B52BCD7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448" y="964932"/>
            <a:ext cx="2871036" cy="507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9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Handler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7D7CC4-E568-FE41-B8BE-1407AE22B73B}"/>
              </a:ext>
            </a:extLst>
          </p:cNvPr>
          <p:cNvGrpSpPr/>
          <p:nvPr/>
        </p:nvGrpSpPr>
        <p:grpSpPr>
          <a:xfrm>
            <a:off x="669877" y="762864"/>
            <a:ext cx="8991600" cy="451694"/>
            <a:chOff x="533400" y="1066618"/>
            <a:chExt cx="8382000" cy="451694"/>
          </a:xfrm>
        </p:grpSpPr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703A339A-4046-7E42-86D7-C9D1EB6C0E57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Chevron 19">
              <a:extLst>
                <a:ext uri="{FF2B5EF4-FFF2-40B4-BE49-F238E27FC236}">
                  <a16:creationId xmlns:a16="http://schemas.microsoft.com/office/drawing/2014/main" id="{FC357E8A-0BBE-7C48-9C6D-04F2679412E9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3634F0C2-C1F7-EF41-92A5-34362EC2D792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Handler - </a:t>
              </a:r>
              <a:r>
                <a:rPr kumimoji="0" lang="en-US" sz="2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sendMessage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(Message) - 1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F9BEE20-88F8-8349-8868-F821C412F99C}"/>
              </a:ext>
            </a:extLst>
          </p:cNvPr>
          <p:cNvGrpSpPr/>
          <p:nvPr/>
        </p:nvGrpSpPr>
        <p:grpSpPr>
          <a:xfrm>
            <a:off x="1543883" y="1372646"/>
            <a:ext cx="8128610" cy="4953000"/>
            <a:chOff x="797806" y="1676400"/>
            <a:chExt cx="8128610" cy="4953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1FA9842-C1B7-2048-BC52-45314459C7DC}"/>
                </a:ext>
              </a:extLst>
            </p:cNvPr>
            <p:cNvSpPr/>
            <p:nvPr/>
          </p:nvSpPr>
          <p:spPr>
            <a:xfrm>
              <a:off x="797806" y="2105085"/>
              <a:ext cx="8128610" cy="4524315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Handler.Callback()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@Override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public boolean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handleMessage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(Message message)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percent =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message.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arg1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if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(percent ==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100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Toast.</a:t>
              </a: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makeText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(MainActivity.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this,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"DONE"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				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Toast.</a:t>
              </a: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LENGTH_LONG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).show()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else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value = 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message.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obj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//UPDATE UI …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txtPercent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.setText(percent +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 %"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pbPercent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.setProgress(percent)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return true;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AF1E1BA-E40A-E44C-8DDC-8A07CF732856}"/>
                </a:ext>
              </a:extLst>
            </p:cNvPr>
            <p:cNvSpPr/>
            <p:nvPr/>
          </p:nvSpPr>
          <p:spPr>
            <a:xfrm>
              <a:off x="797806" y="1676400"/>
              <a:ext cx="37741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Main Thread / UI Thread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221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Handler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7D7CC4-E568-FE41-B8BE-1407AE22B73B}"/>
              </a:ext>
            </a:extLst>
          </p:cNvPr>
          <p:cNvGrpSpPr/>
          <p:nvPr/>
        </p:nvGrpSpPr>
        <p:grpSpPr>
          <a:xfrm>
            <a:off x="669877" y="762864"/>
            <a:ext cx="8991600" cy="451694"/>
            <a:chOff x="533400" y="1066618"/>
            <a:chExt cx="8382000" cy="451694"/>
          </a:xfrm>
        </p:grpSpPr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703A339A-4046-7E42-86D7-C9D1EB6C0E57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Chevron 19">
              <a:extLst>
                <a:ext uri="{FF2B5EF4-FFF2-40B4-BE49-F238E27FC236}">
                  <a16:creationId xmlns:a16="http://schemas.microsoft.com/office/drawing/2014/main" id="{FC357E8A-0BBE-7C48-9C6D-04F2679412E9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3634F0C2-C1F7-EF41-92A5-34362EC2D792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Handler - </a:t>
              </a:r>
              <a:r>
                <a:rPr kumimoji="0" lang="en-US" sz="2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sendMessage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(Message) - 1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90C18A7-013F-E446-87AB-05975D2B3235}"/>
              </a:ext>
            </a:extLst>
          </p:cNvPr>
          <p:cNvGrpSpPr/>
          <p:nvPr/>
        </p:nvGrpSpPr>
        <p:grpSpPr>
          <a:xfrm>
            <a:off x="1393759" y="1382968"/>
            <a:ext cx="8128610" cy="4812514"/>
            <a:chOff x="797806" y="1676400"/>
            <a:chExt cx="8128610" cy="481251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AE13260-9002-314E-AFAD-7E063FB44226}"/>
                </a:ext>
              </a:extLst>
            </p:cNvPr>
            <p:cNvSpPr/>
            <p:nvPr/>
          </p:nvSpPr>
          <p:spPr>
            <a:xfrm>
              <a:off x="797806" y="2105085"/>
              <a:ext cx="8128610" cy="4383829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Thread thread 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Thread(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Runnable()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@Override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public void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run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()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for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i=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i&lt;=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numb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i++){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Message message =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.obtainMessage()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message.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arg1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  i*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100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numb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//Percent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message.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obj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random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.nextInt(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100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.sendMessage(message)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SystemClock.</a:t>
              </a: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sleep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100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}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thread.start()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4F2A762-5F35-534F-81AB-4F734263CE53}"/>
                </a:ext>
              </a:extLst>
            </p:cNvPr>
            <p:cNvSpPr/>
            <p:nvPr/>
          </p:nvSpPr>
          <p:spPr>
            <a:xfrm>
              <a:off x="797806" y="1676400"/>
              <a:ext cx="56029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Worker Thread / Brackground Thread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539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Handler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87D7CC4-E568-FE41-B8BE-1407AE22B73B}"/>
              </a:ext>
            </a:extLst>
          </p:cNvPr>
          <p:cNvGrpSpPr/>
          <p:nvPr/>
        </p:nvGrpSpPr>
        <p:grpSpPr>
          <a:xfrm>
            <a:off x="641444" y="793531"/>
            <a:ext cx="9067800" cy="451694"/>
            <a:chOff x="533400" y="1066618"/>
            <a:chExt cx="8382000" cy="451694"/>
          </a:xfrm>
        </p:grpSpPr>
        <p:sp>
          <p:nvSpPr>
            <p:cNvPr id="23" name="Chevron 22">
              <a:extLst>
                <a:ext uri="{FF2B5EF4-FFF2-40B4-BE49-F238E27FC236}">
                  <a16:creationId xmlns:a16="http://schemas.microsoft.com/office/drawing/2014/main" id="{703A339A-4046-7E42-86D7-C9D1EB6C0E57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4" name="Chevron 23">
              <a:extLst>
                <a:ext uri="{FF2B5EF4-FFF2-40B4-BE49-F238E27FC236}">
                  <a16:creationId xmlns:a16="http://schemas.microsoft.com/office/drawing/2014/main" id="{FC357E8A-0BBE-7C48-9C6D-04F2679412E9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7" name="Title 1">
              <a:extLst>
                <a:ext uri="{FF2B5EF4-FFF2-40B4-BE49-F238E27FC236}">
                  <a16:creationId xmlns:a16="http://schemas.microsoft.com/office/drawing/2014/main" id="{3634F0C2-C1F7-EF41-92A5-34362EC2D792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Handler - </a:t>
              </a: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sendMessage(Message) - 2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F9BEE20-88F8-8349-8868-F821C412F99C}"/>
              </a:ext>
            </a:extLst>
          </p:cNvPr>
          <p:cNvGrpSpPr/>
          <p:nvPr/>
        </p:nvGrpSpPr>
        <p:grpSpPr>
          <a:xfrm>
            <a:off x="1580634" y="1341921"/>
            <a:ext cx="8128610" cy="5099194"/>
            <a:chOff x="797806" y="1676400"/>
            <a:chExt cx="8128610" cy="509919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1FA9842-C1B7-2048-BC52-45314459C7DC}"/>
                </a:ext>
              </a:extLst>
            </p:cNvPr>
            <p:cNvSpPr/>
            <p:nvPr/>
          </p:nvSpPr>
          <p:spPr>
            <a:xfrm>
              <a:off x="797806" y="2105085"/>
              <a:ext cx="8128610" cy="4670509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Handler(</a:t>
              </a:r>
              <a:r>
                <a:rPr kumimoji="0" lang="en-US" sz="175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Looper.</a:t>
              </a:r>
              <a:r>
                <a:rPr kumimoji="0" lang="en-US" sz="1750" b="1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getMainLooper</a:t>
              </a:r>
              <a:r>
                <a:rPr kumimoji="0" lang="en-US" sz="175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()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){</a:t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@Override</a:t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public void </a:t>
              </a:r>
              <a:r>
                <a:rPr kumimoji="0" lang="en-US" sz="175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handleMessage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(Message msg) {</a:t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switch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75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msg.</a:t>
              </a:r>
              <a:r>
                <a:rPr kumimoji="0" lang="en-US" sz="175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what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){</a:t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case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MSG_UPDATE_UI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    int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value = (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 </a:t>
              </a:r>
              <a:r>
                <a:rPr kumimoji="0" lang="en-US" sz="175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msg.</a:t>
              </a:r>
              <a:r>
                <a:rPr kumimoji="0" lang="en-US" sz="175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obj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	</a:t>
              </a:r>
              <a:r>
                <a:rPr kumimoji="0" lang="en-US" sz="175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//UPDATE UI …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   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txtPercent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.setText(</a:t>
              </a:r>
              <a:r>
                <a:rPr kumimoji="0" lang="en-US" sz="175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msg.</a:t>
              </a:r>
              <a:r>
                <a:rPr kumimoji="0" lang="en-US" sz="175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arg1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+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 %"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//percent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   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pbPercent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.setProgress(</a:t>
              </a:r>
              <a:r>
                <a:rPr kumimoji="0" lang="en-US" sz="175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msg.</a:t>
              </a:r>
              <a:r>
                <a:rPr kumimoji="0" lang="en-US" sz="175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arg1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    break;</a:t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case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MSG_UPDATE_UI_DONE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</a:t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	</a:t>
              </a:r>
              <a:r>
                <a:rPr kumimoji="0" lang="en-US" sz="175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//DONE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    break;</a:t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default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break;</a:t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}</a:t>
              </a:r>
              <a:b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  <a:r>
                <a:rPr kumimoji="0" lang="en-US" sz="175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endParaRPr kumimoji="0" lang="en-US" sz="17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AF1E1BA-E40A-E44C-8DDC-8A07CF732856}"/>
                </a:ext>
              </a:extLst>
            </p:cNvPr>
            <p:cNvSpPr/>
            <p:nvPr/>
          </p:nvSpPr>
          <p:spPr>
            <a:xfrm>
              <a:off x="797806" y="1676400"/>
              <a:ext cx="37741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Main Thread / UI Thread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537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Handler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87D7CC4-E568-FE41-B8BE-1407AE22B73B}"/>
              </a:ext>
            </a:extLst>
          </p:cNvPr>
          <p:cNvGrpSpPr/>
          <p:nvPr/>
        </p:nvGrpSpPr>
        <p:grpSpPr>
          <a:xfrm>
            <a:off x="641444" y="793531"/>
            <a:ext cx="9067800" cy="451694"/>
            <a:chOff x="533400" y="1066618"/>
            <a:chExt cx="8382000" cy="451694"/>
          </a:xfrm>
        </p:grpSpPr>
        <p:sp>
          <p:nvSpPr>
            <p:cNvPr id="23" name="Chevron 22">
              <a:extLst>
                <a:ext uri="{FF2B5EF4-FFF2-40B4-BE49-F238E27FC236}">
                  <a16:creationId xmlns:a16="http://schemas.microsoft.com/office/drawing/2014/main" id="{703A339A-4046-7E42-86D7-C9D1EB6C0E57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4" name="Chevron 23">
              <a:extLst>
                <a:ext uri="{FF2B5EF4-FFF2-40B4-BE49-F238E27FC236}">
                  <a16:creationId xmlns:a16="http://schemas.microsoft.com/office/drawing/2014/main" id="{FC357E8A-0BBE-7C48-9C6D-04F2679412E9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7" name="Title 1">
              <a:extLst>
                <a:ext uri="{FF2B5EF4-FFF2-40B4-BE49-F238E27FC236}">
                  <a16:creationId xmlns:a16="http://schemas.microsoft.com/office/drawing/2014/main" id="{3634F0C2-C1F7-EF41-92A5-34362EC2D792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Handler - </a:t>
              </a: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sendMessage(Message) - 2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90C18A7-013F-E446-87AB-05975D2B3235}"/>
              </a:ext>
            </a:extLst>
          </p:cNvPr>
          <p:cNvGrpSpPr/>
          <p:nvPr/>
        </p:nvGrpSpPr>
        <p:grpSpPr>
          <a:xfrm>
            <a:off x="1134450" y="1297049"/>
            <a:ext cx="8128610" cy="5068738"/>
            <a:chOff x="797806" y="1676400"/>
            <a:chExt cx="8128610" cy="506873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E13260-9002-314E-AFAD-7E063FB44226}"/>
                </a:ext>
              </a:extLst>
            </p:cNvPr>
            <p:cNvSpPr/>
            <p:nvPr/>
          </p:nvSpPr>
          <p:spPr>
            <a:xfrm>
              <a:off x="797806" y="2105085"/>
              <a:ext cx="8128610" cy="4640053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Thread thread 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Thread(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Runnable()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@Override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public void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run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()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for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i=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i&lt;=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numb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i++){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	Message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message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Message()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	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message.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what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MSG_UPDATE_UI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	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message.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arg1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  i*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100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numb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//Percent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	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message.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obj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random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.nextInt(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100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	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.sendMessage(message)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	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SystemClock.</a:t>
              </a: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sleep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100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</a:p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.sendEmptyMessage(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MSG_UPDATE_UI_DONE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}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thread.start()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4F2A762-5F35-534F-81AB-4F734263CE53}"/>
                </a:ext>
              </a:extLst>
            </p:cNvPr>
            <p:cNvSpPr/>
            <p:nvPr/>
          </p:nvSpPr>
          <p:spPr>
            <a:xfrm>
              <a:off x="797806" y="1676400"/>
              <a:ext cx="56029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Worker Thread / Brackground Thread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739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Handler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87D7CC4-E568-FE41-B8BE-1407AE22B73B}"/>
              </a:ext>
            </a:extLst>
          </p:cNvPr>
          <p:cNvGrpSpPr/>
          <p:nvPr/>
        </p:nvGrpSpPr>
        <p:grpSpPr>
          <a:xfrm>
            <a:off x="833651" y="793531"/>
            <a:ext cx="8991600" cy="451694"/>
            <a:chOff x="533400" y="1066618"/>
            <a:chExt cx="8382000" cy="451694"/>
          </a:xfrm>
        </p:grpSpPr>
        <p:sp>
          <p:nvSpPr>
            <p:cNvPr id="21" name="Chevron 20">
              <a:extLst>
                <a:ext uri="{FF2B5EF4-FFF2-40B4-BE49-F238E27FC236}">
                  <a16:creationId xmlns:a16="http://schemas.microsoft.com/office/drawing/2014/main" id="{703A339A-4046-7E42-86D7-C9D1EB6C0E57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5" name="Chevron 24">
              <a:extLst>
                <a:ext uri="{FF2B5EF4-FFF2-40B4-BE49-F238E27FC236}">
                  <a16:creationId xmlns:a16="http://schemas.microsoft.com/office/drawing/2014/main" id="{FC357E8A-0BBE-7C48-9C6D-04F2679412E9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6" name="Title 1">
              <a:extLst>
                <a:ext uri="{FF2B5EF4-FFF2-40B4-BE49-F238E27FC236}">
                  <a16:creationId xmlns:a16="http://schemas.microsoft.com/office/drawing/2014/main" id="{3634F0C2-C1F7-EF41-92A5-34362EC2D792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Handler - </a:t>
              </a: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post(Runnable)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E97A89B-6566-174A-BD41-B412889916E0}"/>
              </a:ext>
            </a:extLst>
          </p:cNvPr>
          <p:cNvGrpSpPr/>
          <p:nvPr/>
        </p:nvGrpSpPr>
        <p:grpSpPr>
          <a:xfrm>
            <a:off x="1707657" y="1403314"/>
            <a:ext cx="8128610" cy="4181379"/>
            <a:chOff x="797806" y="1676400"/>
            <a:chExt cx="8128610" cy="418137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8DE4331-F622-6548-BAE1-99F8ED6838EB}"/>
                </a:ext>
              </a:extLst>
            </p:cNvPr>
            <p:cNvSpPr/>
            <p:nvPr/>
          </p:nvSpPr>
          <p:spPr>
            <a:xfrm>
              <a:off x="797806" y="2105085"/>
              <a:ext cx="8128610" cy="3752694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numb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0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percent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value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endPara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 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 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 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Handler()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Runnable 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foregroundThread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Runnable() {</a:t>
              </a:r>
              <a:b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@Override</a:t>
              </a:r>
              <a:b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public void 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run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() {</a:t>
              </a:r>
              <a:b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txtPercent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.setText(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percent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+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 %"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pbPercent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.setProgress(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percent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//UPDATE UI …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  <a:b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endPara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D04043E-CDDD-7F40-B425-3AB54FB2B8FC}"/>
                </a:ext>
              </a:extLst>
            </p:cNvPr>
            <p:cNvSpPr/>
            <p:nvPr/>
          </p:nvSpPr>
          <p:spPr>
            <a:xfrm>
              <a:off x="797806" y="1676400"/>
              <a:ext cx="37741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Main Thread / UI Thread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398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Handler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87D7CC4-E568-FE41-B8BE-1407AE22B73B}"/>
              </a:ext>
            </a:extLst>
          </p:cNvPr>
          <p:cNvGrpSpPr/>
          <p:nvPr/>
        </p:nvGrpSpPr>
        <p:grpSpPr>
          <a:xfrm>
            <a:off x="833651" y="793531"/>
            <a:ext cx="8991600" cy="451694"/>
            <a:chOff x="533400" y="1066618"/>
            <a:chExt cx="8382000" cy="451694"/>
          </a:xfrm>
        </p:grpSpPr>
        <p:sp>
          <p:nvSpPr>
            <p:cNvPr id="21" name="Chevron 20">
              <a:extLst>
                <a:ext uri="{FF2B5EF4-FFF2-40B4-BE49-F238E27FC236}">
                  <a16:creationId xmlns:a16="http://schemas.microsoft.com/office/drawing/2014/main" id="{703A339A-4046-7E42-86D7-C9D1EB6C0E57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5" name="Chevron 24">
              <a:extLst>
                <a:ext uri="{FF2B5EF4-FFF2-40B4-BE49-F238E27FC236}">
                  <a16:creationId xmlns:a16="http://schemas.microsoft.com/office/drawing/2014/main" id="{FC357E8A-0BBE-7C48-9C6D-04F2679412E9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6" name="Title 1">
              <a:extLst>
                <a:ext uri="{FF2B5EF4-FFF2-40B4-BE49-F238E27FC236}">
                  <a16:creationId xmlns:a16="http://schemas.microsoft.com/office/drawing/2014/main" id="{3634F0C2-C1F7-EF41-92A5-34362EC2D792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Handler - </a:t>
              </a: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post(Runnable)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E3BFEC8-6F12-A740-B861-BBBF063536FB}"/>
              </a:ext>
            </a:extLst>
          </p:cNvPr>
          <p:cNvGrpSpPr/>
          <p:nvPr/>
        </p:nvGrpSpPr>
        <p:grpSpPr>
          <a:xfrm>
            <a:off x="1129104" y="1460621"/>
            <a:ext cx="8128610" cy="4517048"/>
            <a:chOff x="797806" y="1676400"/>
            <a:chExt cx="8128610" cy="451704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FF81D91-3CD8-2E4D-8ACC-C11B9254449C}"/>
                </a:ext>
              </a:extLst>
            </p:cNvPr>
            <p:cNvSpPr/>
            <p:nvPr/>
          </p:nvSpPr>
          <p:spPr>
            <a:xfrm>
              <a:off x="797806" y="2105085"/>
              <a:ext cx="8128610" cy="4088363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Thread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backgroundThread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Thread(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Runnable()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@Override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public void 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run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()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for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i=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i&lt;=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numb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i++){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percent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  i*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100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numb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//Percent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value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random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.nextInt(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100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handler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.post(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foregroundThread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SystemClock.</a:t>
              </a: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sleep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100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}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backgroundThread.start()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7F755E-E04F-7B4C-B306-81E8058677A6}"/>
                </a:ext>
              </a:extLst>
            </p:cNvPr>
            <p:cNvSpPr/>
            <p:nvPr/>
          </p:nvSpPr>
          <p:spPr>
            <a:xfrm>
              <a:off x="797806" y="1676400"/>
              <a:ext cx="56029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Worker Thread / Brackground Thread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3799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AsyncTask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647C1A1-AFC8-B342-89DB-80518039E39C}"/>
              </a:ext>
            </a:extLst>
          </p:cNvPr>
          <p:cNvSpPr txBox="1">
            <a:spLocks/>
          </p:cNvSpPr>
          <p:nvPr/>
        </p:nvSpPr>
        <p:spPr>
          <a:xfrm>
            <a:off x="400672" y="897468"/>
            <a:ext cx="11261340" cy="44775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dirty="0" err="1">
                <a:solidFill>
                  <a:sysClr val="windowText" lastClr="000000"/>
                </a:solidFill>
                <a:latin typeface="Georgia"/>
              </a:rPr>
              <a:t>AsyncTask</a:t>
            </a: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is an abstract class that allows declaring implicit processing and automatic interface updates</a:t>
            </a:r>
            <a:r>
              <a:rPr lang="en-US" sz="2400" dirty="0" smtClean="0">
                <a:solidFill>
                  <a:sysClr val="windowText" lastClr="000000"/>
                </a:solidFill>
                <a:latin typeface="Georgia"/>
              </a:rPr>
              <a:t>.</a:t>
            </a:r>
            <a:endParaRPr kumimoji="0" lang="en-US" sz="240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The task processing stages in </a:t>
            </a:r>
            <a:r>
              <a:rPr lang="en-US" sz="2400" b="1" dirty="0" err="1">
                <a:solidFill>
                  <a:sysClr val="windowText" lastClr="000000"/>
                </a:solidFill>
                <a:latin typeface="Georgia"/>
              </a:rPr>
              <a:t>AsyncTask</a:t>
            </a: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are performed through the following methods in the correct order</a:t>
            </a:r>
            <a:r>
              <a:rPr lang="en-US" sz="2400" dirty="0" smtClean="0">
                <a:solidFill>
                  <a:sysClr val="windowText" lastClr="000000"/>
                </a:solidFill>
                <a:latin typeface="Georgia"/>
              </a:rPr>
              <a:t>: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808038" lvl="0" indent="-36036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ü"/>
            </a:pPr>
            <a:r>
              <a:rPr lang="en-US" sz="2400" b="1" i="1" dirty="0" err="1">
                <a:solidFill>
                  <a:sysClr val="windowText" lastClr="000000"/>
                </a:solidFill>
                <a:latin typeface="Georgia"/>
              </a:rPr>
              <a:t>onPreExcute</a:t>
            </a:r>
            <a:r>
              <a:rPr lang="en-US" sz="2400" b="1" i="1" dirty="0">
                <a:solidFill>
                  <a:sysClr val="windowText" lastClr="000000"/>
                </a:solidFill>
                <a:latin typeface="Georgia"/>
              </a:rPr>
              <a:t>: 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preprocessing process</a:t>
            </a:r>
          </a:p>
          <a:p>
            <a:pPr marL="808038" lvl="0" indent="-36036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ü"/>
            </a:pPr>
            <a:r>
              <a:rPr lang="en-US" sz="2400" b="1" i="1" dirty="0" err="1">
                <a:solidFill>
                  <a:sysClr val="windowText" lastClr="000000"/>
                </a:solidFill>
                <a:latin typeface="Georgia"/>
              </a:rPr>
              <a:t>doInBackground</a:t>
            </a:r>
            <a:r>
              <a:rPr lang="en-US" sz="2400" b="1" i="1" dirty="0">
                <a:solidFill>
                  <a:sysClr val="windowText" lastClr="000000"/>
                </a:solidFill>
                <a:latin typeface="Georgia"/>
              </a:rPr>
              <a:t>: 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background processing</a:t>
            </a:r>
          </a:p>
          <a:p>
            <a:pPr marL="808038" lvl="0" indent="-36036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ü"/>
            </a:pPr>
            <a:r>
              <a:rPr lang="en-US" sz="2400" b="1" i="1" dirty="0" err="1">
                <a:solidFill>
                  <a:sysClr val="windowText" lastClr="000000"/>
                </a:solidFill>
                <a:latin typeface="Georgia"/>
              </a:rPr>
              <a:t>onProgessUpdate</a:t>
            </a:r>
            <a:r>
              <a:rPr lang="en-US" sz="2400" b="1" i="1" dirty="0">
                <a:solidFill>
                  <a:sysClr val="windowText" lastClr="000000"/>
                </a:solidFill>
                <a:latin typeface="Georgia"/>
              </a:rPr>
              <a:t>: 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update processing progress</a:t>
            </a:r>
          </a:p>
          <a:p>
            <a:pPr marL="808038" lvl="0" indent="-36036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ü"/>
            </a:pPr>
            <a:r>
              <a:rPr lang="en-US" sz="2400" b="1" i="1" dirty="0" err="1">
                <a:solidFill>
                  <a:sysClr val="windowText" lastClr="000000"/>
                </a:solidFill>
                <a:latin typeface="Georgia"/>
              </a:rPr>
              <a:t>onPostExcute</a:t>
            </a:r>
            <a:r>
              <a:rPr lang="en-US" sz="2400" b="1" i="1" dirty="0">
                <a:solidFill>
                  <a:sysClr val="windowText" lastClr="000000"/>
                </a:solidFill>
                <a:latin typeface="Georgia"/>
              </a:rPr>
              <a:t>: 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UI update process </a:t>
            </a:r>
            <a:r>
              <a:rPr lang="en-US" sz="2400" i="1" dirty="0" smtClean="0">
                <a:solidFill>
                  <a:sysClr val="windowText" lastClr="000000"/>
                </a:solidFill>
                <a:latin typeface="Georgia"/>
                <a:sym typeface="Wingdings" panose="05000000000000000000" pitchFamily="2" charset="2"/>
              </a:rPr>
              <a:t> </a:t>
            </a:r>
            <a:r>
              <a:rPr lang="en-US" sz="2400" i="1" dirty="0" smtClean="0">
                <a:solidFill>
                  <a:sysClr val="windowText" lastClr="000000"/>
                </a:solidFill>
                <a:latin typeface="Georgia"/>
              </a:rPr>
              <a:t>completed</a:t>
            </a:r>
            <a:endParaRPr kumimoji="0" lang="en-US" sz="2400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30238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AsyncTask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38637A2-E567-F342-9847-4C2BA7501DAE}"/>
              </a:ext>
            </a:extLst>
          </p:cNvPr>
          <p:cNvSpPr/>
          <p:nvPr/>
        </p:nvSpPr>
        <p:spPr>
          <a:xfrm>
            <a:off x="1003299" y="1129240"/>
            <a:ext cx="4190999" cy="2654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kern="1200" dirty="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public class </a:t>
            </a:r>
            <a:r>
              <a:rPr lang="en-US" kern="1200" dirty="0" err="1">
                <a:solidFill>
                  <a:prstClr val="black"/>
                </a:solidFill>
                <a:latin typeface="Georgia"/>
                <a:ea typeface="+mn-ea"/>
                <a:cs typeface="+mn-cs"/>
              </a:rPr>
              <a:t>MainActivity</a:t>
            </a: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extends 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kern="1200" dirty="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                                           </a:t>
            </a:r>
            <a:r>
              <a:rPr lang="en-US" kern="1200" dirty="0" err="1">
                <a:solidFill>
                  <a:prstClr val="black"/>
                </a:solidFill>
                <a:latin typeface="Georgia"/>
                <a:ea typeface="+mn-ea"/>
                <a:cs typeface="+mn-cs"/>
              </a:rPr>
              <a:t>AppCompatActivity</a:t>
            </a: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{</a:t>
            </a:r>
            <a:b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 dirty="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@Override</a:t>
            </a:r>
            <a:br>
              <a:rPr lang="en-US" kern="1200" dirty="0">
                <a:solidFill>
                  <a:srgbClr val="BBB529"/>
                </a:solidFill>
                <a:latin typeface="Georgia"/>
                <a:ea typeface="+mn-ea"/>
                <a:cs typeface="+mn-cs"/>
              </a:rPr>
            </a:br>
            <a:r>
              <a:rPr lang="en-US" kern="1200" dirty="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 dirty="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protected void </a:t>
            </a:r>
            <a:r>
              <a:rPr lang="en-US" kern="1200" dirty="0" err="1">
                <a:solidFill>
                  <a:srgbClr val="FFC66D"/>
                </a:solidFill>
                <a:latin typeface="Georgia"/>
                <a:ea typeface="+mn-ea"/>
                <a:cs typeface="+mn-cs"/>
              </a:rPr>
              <a:t>onCreate</a:t>
            </a: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(Bundle 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                                       </a:t>
            </a:r>
            <a:r>
              <a:rPr lang="en-US" kern="1200" dirty="0" err="1">
                <a:solidFill>
                  <a:prstClr val="black"/>
                </a:solidFill>
                <a:latin typeface="Georgia"/>
                <a:ea typeface="+mn-ea"/>
                <a:cs typeface="+mn-cs"/>
              </a:rPr>
              <a:t>savedInstanceState</a:t>
            </a: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) {</a:t>
            </a:r>
            <a:b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super</a:t>
            </a:r>
            <a:r>
              <a:rPr lang="en-US" kern="1200" dirty="0" err="1">
                <a:solidFill>
                  <a:prstClr val="black"/>
                </a:solidFill>
                <a:latin typeface="Georgia"/>
                <a:ea typeface="+mn-ea"/>
                <a:cs typeface="+mn-cs"/>
              </a:rPr>
              <a:t>.onCreate</a:t>
            </a: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(</a:t>
            </a:r>
            <a:r>
              <a:rPr lang="en-US" kern="1200" dirty="0" err="1">
                <a:solidFill>
                  <a:prstClr val="black"/>
                </a:solidFill>
                <a:latin typeface="Georgia"/>
                <a:ea typeface="+mn-ea"/>
                <a:cs typeface="+mn-cs"/>
              </a:rPr>
              <a:t>savedInstanceState</a:t>
            </a: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)</a:t>
            </a:r>
            <a:r>
              <a:rPr lang="en-US" kern="1200" dirty="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;</a:t>
            </a:r>
            <a:br>
              <a:rPr lang="en-US" kern="1200" dirty="0">
                <a:solidFill>
                  <a:srgbClr val="CC7832"/>
                </a:solidFill>
                <a:latin typeface="Georgia"/>
                <a:ea typeface="+mn-ea"/>
                <a:cs typeface="+mn-cs"/>
              </a:rPr>
            </a:br>
            <a:r>
              <a:rPr lang="en-US" kern="1200" dirty="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 dirty="0" err="1">
                <a:solidFill>
                  <a:prstClr val="black"/>
                </a:solidFill>
                <a:latin typeface="Georgia"/>
                <a:ea typeface="+mn-ea"/>
                <a:cs typeface="+mn-cs"/>
              </a:rPr>
              <a:t>setContentView</a:t>
            </a: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(</a:t>
            </a:r>
            <a:r>
              <a:rPr lang="en-US" kern="1200" dirty="0" err="1">
                <a:solidFill>
                  <a:prstClr val="black"/>
                </a:solidFill>
                <a:latin typeface="Georgia"/>
                <a:ea typeface="+mn-ea"/>
                <a:cs typeface="+mn-cs"/>
              </a:rPr>
              <a:t>R.layout.</a:t>
            </a:r>
            <a:r>
              <a:rPr lang="en-US" i="1" kern="1200" dirty="0" err="1">
                <a:solidFill>
                  <a:srgbClr val="9876AA"/>
                </a:solidFill>
                <a:latin typeface="Georgia"/>
                <a:ea typeface="+mn-ea"/>
                <a:cs typeface="+mn-cs"/>
              </a:rPr>
              <a:t>activity_main</a:t>
            </a: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)</a:t>
            </a:r>
            <a:r>
              <a:rPr lang="en-US" kern="1200" dirty="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;</a:t>
            </a:r>
            <a:br>
              <a:rPr lang="en-US" kern="1200" dirty="0">
                <a:solidFill>
                  <a:srgbClr val="CC7832"/>
                </a:solidFill>
                <a:latin typeface="Georgia"/>
                <a:ea typeface="+mn-ea"/>
                <a:cs typeface="+mn-cs"/>
              </a:rPr>
            </a:br>
            <a:r>
              <a:rPr lang="en-US" kern="1200" dirty="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    new </a:t>
            </a:r>
            <a:r>
              <a:rPr lang="en-US" b="1" kern="1200" dirty="0" err="1">
                <a:solidFill>
                  <a:srgbClr val="10CF9B">
                    <a:lumMod val="50000"/>
                  </a:srgbClr>
                </a:solidFill>
                <a:latin typeface="Georgia"/>
                <a:ea typeface="+mn-ea"/>
                <a:cs typeface="+mn-cs"/>
              </a:rPr>
              <a:t>MyTask</a:t>
            </a:r>
            <a:r>
              <a:rPr lang="en-US" b="1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().execute</a:t>
            </a: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(</a:t>
            </a:r>
            <a:r>
              <a:rPr lang="en-US" kern="1200" dirty="0">
                <a:solidFill>
                  <a:srgbClr val="6A8759"/>
                </a:solidFill>
                <a:latin typeface="Georgia"/>
                <a:ea typeface="+mn-ea"/>
                <a:cs typeface="+mn-cs"/>
              </a:rPr>
              <a:t>"string parameter"</a:t>
            </a: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)</a:t>
            </a:r>
            <a:r>
              <a:rPr lang="en-US" kern="1200" dirty="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;</a:t>
            </a:r>
            <a:br>
              <a:rPr lang="en-US" kern="1200" dirty="0">
                <a:solidFill>
                  <a:srgbClr val="CC7832"/>
                </a:solidFill>
                <a:latin typeface="Georgia"/>
                <a:ea typeface="+mn-ea"/>
                <a:cs typeface="+mn-cs"/>
              </a:rPr>
            </a:br>
            <a:r>
              <a:rPr lang="en-US" kern="1200" dirty="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}</a:t>
            </a:r>
            <a:b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 dirty="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A1CF3-8613-3C44-9BDF-49C485719BB4}"/>
              </a:ext>
            </a:extLst>
          </p:cNvPr>
          <p:cNvSpPr/>
          <p:nvPr/>
        </p:nvSpPr>
        <p:spPr>
          <a:xfrm>
            <a:off x="4965698" y="1140992"/>
            <a:ext cx="4800600" cy="5288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Tx/>
              <a:buFontTx/>
              <a:buNone/>
            </a:pP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private class </a:t>
            </a:r>
            <a:r>
              <a:rPr lang="en-US" b="1" kern="1200">
                <a:solidFill>
                  <a:srgbClr val="10CF9B">
                    <a:lumMod val="50000"/>
                  </a:srgbClr>
                </a:solidFill>
                <a:latin typeface="Georgia"/>
                <a:ea typeface="+mn-ea"/>
                <a:cs typeface="+mn-cs"/>
              </a:rPr>
              <a:t>MyTask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extends </a:t>
            </a:r>
          </a:p>
          <a:p>
            <a:pPr>
              <a:lnSpc>
                <a:spcPct val="110000"/>
              </a:lnSpc>
              <a:buClrTx/>
              <a:buFontTx/>
              <a:buNone/>
            </a:pP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                </a:t>
            </a:r>
            <a:r>
              <a:rPr lang="en-US" b="1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AsyncTask&lt;</a:t>
            </a:r>
            <a:r>
              <a:rPr lang="en-US" b="1" kern="1200">
                <a:solidFill>
                  <a:srgbClr val="0000FF"/>
                </a:solidFill>
                <a:latin typeface="Georgia"/>
                <a:ea typeface="+mn-ea"/>
                <a:cs typeface="+mn-cs"/>
              </a:rPr>
              <a:t>String</a:t>
            </a:r>
            <a:r>
              <a:rPr lang="en-US" b="1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, </a:t>
            </a:r>
            <a:r>
              <a:rPr lang="en-US" b="1" kern="1200">
                <a:solidFill>
                  <a:srgbClr val="7030A0"/>
                </a:solidFill>
                <a:latin typeface="Georgia"/>
                <a:ea typeface="+mn-ea"/>
                <a:cs typeface="+mn-cs"/>
              </a:rPr>
              <a:t>Integer</a:t>
            </a:r>
            <a:r>
              <a:rPr lang="en-US" b="1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, </a:t>
            </a:r>
            <a:r>
              <a:rPr lang="en-US" b="1" kern="1200">
                <a:solidFill>
                  <a:srgbClr val="006600"/>
                </a:solidFill>
                <a:latin typeface="Georgia"/>
                <a:ea typeface="+mn-ea"/>
                <a:cs typeface="+mn-cs"/>
              </a:rPr>
              <a:t>String</a:t>
            </a:r>
            <a:r>
              <a:rPr lang="en-US" b="1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&gt;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{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@Override</a:t>
            </a:r>
            <a:b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protected void </a:t>
            </a:r>
            <a:r>
              <a:rPr lang="en-US" kern="1200">
                <a:solidFill>
                  <a:srgbClr val="FF0000"/>
                </a:solidFill>
                <a:latin typeface="Georgia"/>
                <a:ea typeface="+mn-ea"/>
                <a:cs typeface="+mn-cs"/>
              </a:rPr>
              <a:t>onPreExecute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() {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super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.onPreExecute()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;</a:t>
            </a:r>
            <a:b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}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@Override</a:t>
            </a:r>
            <a:b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protected 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String </a:t>
            </a:r>
            <a:r>
              <a:rPr lang="en-US" kern="1200">
                <a:solidFill>
                  <a:srgbClr val="FF0000"/>
                </a:solidFill>
                <a:latin typeface="Georgia"/>
                <a:ea typeface="+mn-ea"/>
                <a:cs typeface="+mn-cs"/>
              </a:rPr>
              <a:t>doInBackground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(</a:t>
            </a:r>
            <a:r>
              <a:rPr lang="en-US" b="1" kern="1200">
                <a:solidFill>
                  <a:srgbClr val="0000FF"/>
                </a:solidFill>
                <a:latin typeface="Georgia"/>
                <a:ea typeface="+mn-ea"/>
                <a:cs typeface="+mn-cs"/>
              </a:rPr>
              <a:t>String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... strings) {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    String myString = strings[</a:t>
            </a:r>
            <a:r>
              <a:rPr lang="en-US" kern="1200">
                <a:solidFill>
                  <a:srgbClr val="6897BB"/>
                </a:solidFill>
                <a:latin typeface="Georgia"/>
                <a:ea typeface="+mn-ea"/>
                <a:cs typeface="+mn-cs"/>
              </a:rPr>
              <a:t>0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]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;</a:t>
            </a:r>
            <a:b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        int 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i = </a:t>
            </a:r>
            <a:r>
              <a:rPr lang="en-US" kern="1200">
                <a:solidFill>
                  <a:srgbClr val="6897BB"/>
                </a:solidFill>
                <a:latin typeface="Georgia"/>
                <a:ea typeface="+mn-ea"/>
                <a:cs typeface="+mn-cs"/>
              </a:rPr>
              <a:t>0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;</a:t>
            </a:r>
            <a:b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        </a:t>
            </a:r>
            <a:r>
              <a:rPr lang="en-US" b="1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publishProgress(i)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;</a:t>
            </a:r>
            <a:b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        return </a:t>
            </a:r>
            <a:r>
              <a:rPr lang="en-US" b="1" kern="1200">
                <a:solidFill>
                  <a:srgbClr val="6A8759"/>
                </a:solidFill>
                <a:latin typeface="Georgia"/>
                <a:ea typeface="+mn-ea"/>
                <a:cs typeface="+mn-cs"/>
              </a:rPr>
              <a:t>"result string"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;</a:t>
            </a:r>
            <a:b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}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@Override</a:t>
            </a:r>
            <a:b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protected void </a:t>
            </a:r>
            <a:r>
              <a:rPr lang="en-US" kern="1200">
                <a:solidFill>
                  <a:srgbClr val="FF0000"/>
                </a:solidFill>
                <a:latin typeface="Georgia"/>
                <a:ea typeface="+mn-ea"/>
                <a:cs typeface="+mn-cs"/>
              </a:rPr>
              <a:t>onProgressUpdate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(</a:t>
            </a:r>
            <a:r>
              <a:rPr lang="en-US" b="1" kern="1200">
                <a:solidFill>
                  <a:srgbClr val="7030A0"/>
                </a:solidFill>
                <a:latin typeface="Georgia"/>
                <a:ea typeface="+mn-ea"/>
                <a:cs typeface="+mn-cs"/>
              </a:rPr>
              <a:t>Integer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... values) {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super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.onProgressUpdate(values)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;</a:t>
            </a:r>
            <a:b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}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@Override</a:t>
            </a:r>
            <a:b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protected void </a:t>
            </a:r>
            <a:r>
              <a:rPr lang="en-US" kern="1200">
                <a:solidFill>
                  <a:srgbClr val="FF0000"/>
                </a:solidFill>
                <a:latin typeface="Georgia"/>
                <a:ea typeface="+mn-ea"/>
                <a:cs typeface="+mn-cs"/>
              </a:rPr>
              <a:t>onPostExecute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(</a:t>
            </a:r>
            <a:r>
              <a:rPr lang="en-US" b="1" kern="1200">
                <a:solidFill>
                  <a:srgbClr val="006600"/>
                </a:solidFill>
                <a:latin typeface="Georgia"/>
                <a:ea typeface="+mn-ea"/>
                <a:cs typeface="+mn-cs"/>
              </a:rPr>
              <a:t>String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s) {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super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.onPostExecute(s)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;</a:t>
            </a:r>
            <a:b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}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}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B89628-EF54-0749-AEE8-E41F70B4B920}"/>
              </a:ext>
            </a:extLst>
          </p:cNvPr>
          <p:cNvCxnSpPr/>
          <p:nvPr/>
        </p:nvCxnSpPr>
        <p:spPr>
          <a:xfrm>
            <a:off x="5118098" y="1059103"/>
            <a:ext cx="0" cy="5339688"/>
          </a:xfrm>
          <a:prstGeom prst="line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</a:ln>
          <a:effectLst/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C3CDC4-70AA-6C40-BB8B-4D92DC677A0A}"/>
              </a:ext>
            </a:extLst>
          </p:cNvPr>
          <p:cNvGrpSpPr/>
          <p:nvPr/>
        </p:nvGrpSpPr>
        <p:grpSpPr>
          <a:xfrm>
            <a:off x="4889498" y="912391"/>
            <a:ext cx="3581400" cy="2286000"/>
            <a:chOff x="4191000" y="1371600"/>
            <a:chExt cx="3581400" cy="2286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5A3F45-8A59-4847-B5AE-D49191C90774}"/>
                </a:ext>
              </a:extLst>
            </p:cNvPr>
            <p:cNvCxnSpPr>
              <a:cxnSpLocks/>
            </p:cNvCxnSpPr>
            <p:nvPr/>
          </p:nvCxnSpPr>
          <p:spPr>
            <a:xfrm>
              <a:off x="7772400" y="30480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headEnd type="none" w="med" len="med"/>
              <a:tailEnd type="arrow" w="med" len="med"/>
            </a:ln>
            <a:effectLst/>
          </p:spPr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4560AF6-8777-9A4B-AA4D-DCBA2D69793B}"/>
                </a:ext>
              </a:extLst>
            </p:cNvPr>
            <p:cNvGrpSpPr/>
            <p:nvPr/>
          </p:nvGrpSpPr>
          <p:grpSpPr>
            <a:xfrm>
              <a:off x="4191000" y="1371600"/>
              <a:ext cx="3581400" cy="2286000"/>
              <a:chOff x="4191000" y="1371600"/>
              <a:chExt cx="3581400" cy="2286000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A808906-0E00-5D43-9495-CF8F25E50A12}"/>
                  </a:ext>
                </a:extLst>
              </p:cNvPr>
              <p:cNvCxnSpPr/>
              <p:nvPr/>
            </p:nvCxnSpPr>
            <p:spPr>
              <a:xfrm>
                <a:off x="4191000" y="3048000"/>
                <a:ext cx="0" cy="457200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FF"/>
                </a:solidFill>
                <a:prstDash val="solid"/>
              </a:ln>
              <a:effectLst/>
            </p:spPr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86BFFD1-4572-3948-A06A-B5647C27B6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3400" y="1371600"/>
                <a:ext cx="2628901" cy="24926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FF"/>
                </a:solidFill>
                <a:prstDash val="solid"/>
              </a:ln>
              <a:effectLst/>
            </p:spPr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0E61A6CC-D4E1-7C46-AE75-156A5700CD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2400" y="3505200"/>
                <a:ext cx="0" cy="152400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FF"/>
                </a:solidFill>
                <a:prstDash val="solid"/>
              </a:ln>
              <a:effectLst/>
            </p:spPr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CE2F4107-DBD0-5F4F-BE85-7A52B7250CB4}"/>
                  </a:ext>
                </a:extLst>
              </p:cNvPr>
              <p:cNvCxnSpPr/>
              <p:nvPr/>
            </p:nvCxnSpPr>
            <p:spPr>
              <a:xfrm flipH="1">
                <a:off x="7239000" y="3657600"/>
                <a:ext cx="533400" cy="0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FF"/>
                </a:solidFill>
                <a:prstDash val="solid"/>
                <a:headEnd type="none" w="med" len="med"/>
                <a:tailEnd type="arrow" w="med" len="med"/>
              </a:ln>
              <a:effectLst/>
            </p:spPr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93974B0-A0D1-9B49-92A9-986C42518D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1000" y="3048000"/>
                <a:ext cx="152400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FF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3AE2E11-AD5B-4A47-804D-833520A46D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3400" y="1371600"/>
                <a:ext cx="0" cy="1676400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FF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0475766-3BBC-1841-99DE-48C4B76AD3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79228" y="1384063"/>
                <a:ext cx="0" cy="507052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FF"/>
                </a:solidFill>
                <a:prstDash val="solid"/>
              </a:ln>
              <a:effectLst/>
            </p:spPr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1E5F8235-C05D-5048-976D-B5E9A9E12C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79228" y="2133600"/>
                <a:ext cx="0" cy="152400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FF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27449EB-DEC7-834B-9A6B-6B95E3028B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72301" y="2286000"/>
                <a:ext cx="800099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FF"/>
                </a:solidFill>
                <a:prstDash val="solid"/>
              </a:ln>
              <a:effectLst/>
            </p:spPr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0AEDA7AB-D095-0B40-86B6-8CDCF3622F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2400" y="2286000"/>
                <a:ext cx="0" cy="876300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FF"/>
                </a:solidFill>
                <a:prstDash val="solid"/>
              </a:ln>
              <a:effectLst/>
            </p:spPr>
          </p:cxn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F51D2FF-3AEC-5046-9251-71DEC8FE6C7F}"/>
              </a:ext>
            </a:extLst>
          </p:cNvPr>
          <p:cNvGrpSpPr/>
          <p:nvPr/>
        </p:nvGrpSpPr>
        <p:grpSpPr>
          <a:xfrm>
            <a:off x="8298270" y="924855"/>
            <a:ext cx="1391828" cy="3541197"/>
            <a:chOff x="7599772" y="1384063"/>
            <a:chExt cx="1391828" cy="354119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738CA1-C1F8-C94E-8DCE-8211E1E1FC18}"/>
                </a:ext>
              </a:extLst>
            </p:cNvPr>
            <p:cNvCxnSpPr>
              <a:cxnSpLocks/>
            </p:cNvCxnSpPr>
            <p:nvPr/>
          </p:nvCxnSpPr>
          <p:spPr>
            <a:xfrm>
              <a:off x="7620000" y="1397948"/>
              <a:ext cx="0" cy="507052"/>
            </a:xfrm>
            <a:prstGeom prst="line">
              <a:avLst/>
            </a:prstGeom>
            <a:noFill/>
            <a:ln w="28575" cap="flat" cmpd="sng" algn="ctr">
              <a:solidFill>
                <a:srgbClr val="0BD0D9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1057183-9BE9-FB47-89C0-1976E0E4B7E5}"/>
                </a:ext>
              </a:extLst>
            </p:cNvPr>
            <p:cNvCxnSpPr>
              <a:cxnSpLocks/>
            </p:cNvCxnSpPr>
            <p:nvPr/>
          </p:nvCxnSpPr>
          <p:spPr>
            <a:xfrm>
              <a:off x="7606145" y="1384063"/>
              <a:ext cx="1385455" cy="21289"/>
            </a:xfrm>
            <a:prstGeom prst="line">
              <a:avLst/>
            </a:prstGeom>
            <a:noFill/>
            <a:ln w="28575" cap="flat" cmpd="sng" algn="ctr">
              <a:solidFill>
                <a:srgbClr val="0BD0D9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7F56A53-C44E-044A-A849-844D3B7C8189}"/>
                </a:ext>
              </a:extLst>
            </p:cNvPr>
            <p:cNvCxnSpPr>
              <a:cxnSpLocks/>
            </p:cNvCxnSpPr>
            <p:nvPr/>
          </p:nvCxnSpPr>
          <p:spPr>
            <a:xfrm>
              <a:off x="8985227" y="1409701"/>
              <a:ext cx="6372" cy="3029796"/>
            </a:xfrm>
            <a:prstGeom prst="line">
              <a:avLst/>
            </a:prstGeom>
            <a:noFill/>
            <a:ln w="28575" cap="flat" cmpd="sng" algn="ctr">
              <a:solidFill>
                <a:srgbClr val="0BD0D9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49A5334-6D36-1645-A053-C0F2FC084DAC}"/>
                </a:ext>
              </a:extLst>
            </p:cNvPr>
            <p:cNvCxnSpPr>
              <a:cxnSpLocks/>
            </p:cNvCxnSpPr>
            <p:nvPr/>
          </p:nvCxnSpPr>
          <p:spPr>
            <a:xfrm>
              <a:off x="7599772" y="4418208"/>
              <a:ext cx="1385455" cy="21289"/>
            </a:xfrm>
            <a:prstGeom prst="line">
              <a:avLst/>
            </a:prstGeom>
            <a:noFill/>
            <a:ln w="28575" cap="flat" cmpd="sng" algn="ctr">
              <a:solidFill>
                <a:srgbClr val="0BD0D9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888A0FC-FD81-F04C-B910-B3FFF1076BEB}"/>
                </a:ext>
              </a:extLst>
            </p:cNvPr>
            <p:cNvCxnSpPr>
              <a:cxnSpLocks/>
            </p:cNvCxnSpPr>
            <p:nvPr/>
          </p:nvCxnSpPr>
          <p:spPr>
            <a:xfrm>
              <a:off x="7606145" y="4418208"/>
              <a:ext cx="0" cy="507052"/>
            </a:xfrm>
            <a:prstGeom prst="line">
              <a:avLst/>
            </a:prstGeom>
            <a:noFill/>
            <a:ln w="28575" cap="flat" cmpd="sng" algn="ctr">
              <a:solidFill>
                <a:srgbClr val="0BD0D9">
                  <a:lumMod val="75000"/>
                </a:srgbClr>
              </a:solidFill>
              <a:prstDash val="solid"/>
              <a:headEnd type="none" w="med" len="med"/>
              <a:tailEnd type="arrow" w="med" len="med"/>
            </a:ln>
            <a:effectLst/>
          </p:spPr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4A06698-22E1-D740-AAE7-9692BB5DC207}"/>
              </a:ext>
            </a:extLst>
          </p:cNvPr>
          <p:cNvGrpSpPr/>
          <p:nvPr/>
        </p:nvGrpSpPr>
        <p:grpSpPr>
          <a:xfrm>
            <a:off x="7378121" y="3672149"/>
            <a:ext cx="1778577" cy="793903"/>
            <a:chOff x="6679622" y="4131357"/>
            <a:chExt cx="1778577" cy="793903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65836A6-C530-B84A-8246-08A4348B8734}"/>
                </a:ext>
              </a:extLst>
            </p:cNvPr>
            <p:cNvCxnSpPr>
              <a:cxnSpLocks/>
            </p:cNvCxnSpPr>
            <p:nvPr/>
          </p:nvCxnSpPr>
          <p:spPr>
            <a:xfrm>
              <a:off x="6679622" y="4131357"/>
              <a:ext cx="1778577" cy="27330"/>
            </a:xfrm>
            <a:prstGeom prst="line">
              <a:avLst/>
            </a:prstGeom>
            <a:noFill/>
            <a:ln w="28575" cap="flat" cmpd="sng" algn="ctr">
              <a:solidFill>
                <a:srgbClr val="0BD0D9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839180B-C240-BF4C-A88E-8A50B860D2ED}"/>
                </a:ext>
              </a:extLst>
            </p:cNvPr>
            <p:cNvCxnSpPr>
              <a:cxnSpLocks/>
            </p:cNvCxnSpPr>
            <p:nvPr/>
          </p:nvCxnSpPr>
          <p:spPr>
            <a:xfrm>
              <a:off x="8458199" y="4164682"/>
              <a:ext cx="0" cy="760578"/>
            </a:xfrm>
            <a:prstGeom prst="line">
              <a:avLst/>
            </a:prstGeom>
            <a:noFill/>
            <a:ln w="28575" cap="flat" cmpd="sng" algn="ctr">
              <a:solidFill>
                <a:srgbClr val="0BD0D9">
                  <a:lumMod val="75000"/>
                </a:srgbClr>
              </a:solidFill>
              <a:prstDash val="solid"/>
              <a:headEnd type="none" w="med" len="med"/>
              <a:tailEnd type="arrow" w="med" len="med"/>
            </a:ln>
            <a:effectLst/>
          </p:spPr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E4CF4BD-3051-4545-97E8-DC87B5CE0A44}"/>
              </a:ext>
            </a:extLst>
          </p:cNvPr>
          <p:cNvGrpSpPr/>
          <p:nvPr/>
        </p:nvGrpSpPr>
        <p:grpSpPr>
          <a:xfrm>
            <a:off x="8070848" y="1674391"/>
            <a:ext cx="1695450" cy="3733800"/>
            <a:chOff x="7372350" y="2133600"/>
            <a:chExt cx="1695450" cy="3733800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9EE848C-B0DC-2547-AA89-6BF7939E44DE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0" y="2133600"/>
              <a:ext cx="0" cy="507052"/>
            </a:xfrm>
            <a:prstGeom prst="line">
              <a:avLst/>
            </a:prstGeom>
            <a:noFill/>
            <a:ln w="28575" cap="flat" cmpd="sng" algn="ctr">
              <a:solidFill>
                <a:srgbClr val="006600"/>
              </a:solidFill>
              <a:prstDash val="solid"/>
            </a:ln>
            <a:effectLst/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EA33088-BD80-4A47-A062-1AE45A438A36}"/>
                </a:ext>
              </a:extLst>
            </p:cNvPr>
            <p:cNvCxnSpPr>
              <a:cxnSpLocks/>
            </p:cNvCxnSpPr>
            <p:nvPr/>
          </p:nvCxnSpPr>
          <p:spPr>
            <a:xfrm>
              <a:off x="8222672" y="2631115"/>
              <a:ext cx="845128" cy="9537"/>
            </a:xfrm>
            <a:prstGeom prst="line">
              <a:avLst/>
            </a:prstGeom>
            <a:noFill/>
            <a:ln w="28575" cap="flat" cmpd="sng" algn="ctr">
              <a:solidFill>
                <a:srgbClr val="006600"/>
              </a:solidFill>
              <a:prstDash val="solid"/>
            </a:ln>
            <a:effectLst/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E7CCA9A-CAA9-5A4A-8C11-A9BABE52522E}"/>
                </a:ext>
              </a:extLst>
            </p:cNvPr>
            <p:cNvCxnSpPr>
              <a:cxnSpLocks/>
            </p:cNvCxnSpPr>
            <p:nvPr/>
          </p:nvCxnSpPr>
          <p:spPr>
            <a:xfrm>
              <a:off x="9067800" y="2631115"/>
              <a:ext cx="0" cy="3007685"/>
            </a:xfrm>
            <a:prstGeom prst="line">
              <a:avLst/>
            </a:prstGeom>
            <a:noFill/>
            <a:ln w="28575" cap="flat" cmpd="sng" algn="ctr">
              <a:solidFill>
                <a:srgbClr val="006600"/>
              </a:solidFill>
              <a:prstDash val="solid"/>
            </a:ln>
            <a:effectLst/>
          </p:spPr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BFC19A7-0D9B-F542-9645-FAF7ACD32814}"/>
                </a:ext>
              </a:extLst>
            </p:cNvPr>
            <p:cNvCxnSpPr>
              <a:cxnSpLocks/>
            </p:cNvCxnSpPr>
            <p:nvPr/>
          </p:nvCxnSpPr>
          <p:spPr>
            <a:xfrm>
              <a:off x="7372350" y="5637029"/>
              <a:ext cx="1695450" cy="0"/>
            </a:xfrm>
            <a:prstGeom prst="line">
              <a:avLst/>
            </a:prstGeom>
            <a:noFill/>
            <a:ln w="28575" cap="flat" cmpd="sng" algn="ctr">
              <a:solidFill>
                <a:srgbClr val="006600"/>
              </a:solidFill>
              <a:prstDash val="solid"/>
            </a:ln>
            <a:effectLst/>
          </p:spPr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4650ABE-1B41-F04D-830E-002A4FF4FC02}"/>
                </a:ext>
              </a:extLst>
            </p:cNvPr>
            <p:cNvCxnSpPr>
              <a:cxnSpLocks/>
            </p:cNvCxnSpPr>
            <p:nvPr/>
          </p:nvCxnSpPr>
          <p:spPr>
            <a:xfrm>
              <a:off x="7372350" y="5637029"/>
              <a:ext cx="0" cy="230371"/>
            </a:xfrm>
            <a:prstGeom prst="line">
              <a:avLst/>
            </a:prstGeom>
            <a:noFill/>
            <a:ln w="28575" cap="flat" cmpd="sng" algn="ctr">
              <a:solidFill>
                <a:srgbClr val="006600"/>
              </a:solidFill>
              <a:prstDash val="solid"/>
              <a:headEnd type="none" w="med" len="med"/>
              <a:tailEnd type="arrow" w="med" len="med"/>
            </a:ln>
            <a:effectLst/>
          </p:spPr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F53742F-A8D4-934D-8FCB-2C05A9FF6125}"/>
              </a:ext>
            </a:extLst>
          </p:cNvPr>
          <p:cNvGrpSpPr/>
          <p:nvPr/>
        </p:nvGrpSpPr>
        <p:grpSpPr>
          <a:xfrm>
            <a:off x="4737098" y="3911566"/>
            <a:ext cx="3733800" cy="1974273"/>
            <a:chOff x="4038600" y="4370774"/>
            <a:chExt cx="3733800" cy="1974273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1DEC02C-5743-6F40-B764-C31D390436FF}"/>
                </a:ext>
              </a:extLst>
            </p:cNvPr>
            <p:cNvCxnSpPr>
              <a:cxnSpLocks/>
            </p:cNvCxnSpPr>
            <p:nvPr/>
          </p:nvCxnSpPr>
          <p:spPr>
            <a:xfrm>
              <a:off x="4038600" y="4370774"/>
              <a:ext cx="690998" cy="0"/>
            </a:xfrm>
            <a:prstGeom prst="line">
              <a:avLst/>
            </a:prstGeom>
            <a:noFill/>
            <a:ln w="28575" cap="flat" cmpd="sng" algn="ctr">
              <a:solidFill>
                <a:srgbClr val="006600"/>
              </a:solidFill>
              <a:prstDash val="solid"/>
            </a:ln>
            <a:effectLst/>
          </p:spPr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5EF7D20-F34B-3044-AADB-4E6097570887}"/>
                </a:ext>
              </a:extLst>
            </p:cNvPr>
            <p:cNvCxnSpPr>
              <a:cxnSpLocks/>
            </p:cNvCxnSpPr>
            <p:nvPr/>
          </p:nvCxnSpPr>
          <p:spPr>
            <a:xfrm>
              <a:off x="4038600" y="4370774"/>
              <a:ext cx="0" cy="1974273"/>
            </a:xfrm>
            <a:prstGeom prst="line">
              <a:avLst/>
            </a:prstGeom>
            <a:noFill/>
            <a:ln w="28575" cap="flat" cmpd="sng" algn="ctr">
              <a:solidFill>
                <a:srgbClr val="006600"/>
              </a:solidFill>
              <a:prstDash val="solid"/>
            </a:ln>
            <a:effectLst/>
          </p:spPr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FD5E68A-7253-C442-8882-10D6CBC16A3D}"/>
                </a:ext>
              </a:extLst>
            </p:cNvPr>
            <p:cNvCxnSpPr>
              <a:cxnSpLocks/>
            </p:cNvCxnSpPr>
            <p:nvPr/>
          </p:nvCxnSpPr>
          <p:spPr>
            <a:xfrm>
              <a:off x="4038600" y="6345047"/>
              <a:ext cx="3733800" cy="0"/>
            </a:xfrm>
            <a:prstGeom prst="line">
              <a:avLst/>
            </a:prstGeom>
            <a:noFill/>
            <a:ln w="28575" cap="flat" cmpd="sng" algn="ctr">
              <a:solidFill>
                <a:srgbClr val="006600"/>
              </a:solidFill>
              <a:prstDash val="solid"/>
            </a:ln>
            <a:effectLst/>
          </p:spPr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E69AD0F-29B8-7649-90CB-F839AE308C52}"/>
                </a:ext>
              </a:extLst>
            </p:cNvPr>
            <p:cNvCxnSpPr>
              <a:cxnSpLocks/>
            </p:cNvCxnSpPr>
            <p:nvPr/>
          </p:nvCxnSpPr>
          <p:spPr>
            <a:xfrm>
              <a:off x="7772400" y="6096000"/>
              <a:ext cx="0" cy="249047"/>
            </a:xfrm>
            <a:prstGeom prst="line">
              <a:avLst/>
            </a:prstGeom>
            <a:noFill/>
            <a:ln w="28575" cap="flat" cmpd="sng" algn="ctr">
              <a:solidFill>
                <a:srgbClr val="006600"/>
              </a:solidFill>
              <a:prstDash val="solid"/>
              <a:headEnd type="arrow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526458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AsyncTask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31703705-8B22-3248-9A5B-37382CBDB5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056" y="944462"/>
            <a:ext cx="2871036" cy="507192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954BCCD-11C1-1C47-B32C-A85DEB22F0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056" y="944460"/>
            <a:ext cx="2871036" cy="507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00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AsyncTask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331C2FA-9D08-F94B-B95C-DF41DF5C46D1}"/>
              </a:ext>
            </a:extLst>
          </p:cNvPr>
          <p:cNvSpPr/>
          <p:nvPr/>
        </p:nvSpPr>
        <p:spPr>
          <a:xfrm>
            <a:off x="873688" y="923542"/>
            <a:ext cx="8998443" cy="1724639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9525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private void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drawUI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numb = Integer.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parseInt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edtNumberOfControls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.getText().toString())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MyAsyncTask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myAsyncTask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MyAsyncTask()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myAsyncTask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.execute(numb)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66169-B9BE-A343-80E7-CFEA68A5313D}"/>
              </a:ext>
            </a:extLst>
          </p:cNvPr>
          <p:cNvSpPr/>
          <p:nvPr/>
        </p:nvSpPr>
        <p:spPr>
          <a:xfrm>
            <a:off x="728132" y="2784370"/>
            <a:ext cx="4724400" cy="3171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class 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MyAsyncTask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extends 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                </a:t>
            </a:r>
            <a:r>
              <a:rPr lang="en-US" b="1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AsyncTask&lt;Integer</a:t>
            </a:r>
            <a:r>
              <a:rPr lang="en-US" b="1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, </a:t>
            </a:r>
            <a:r>
              <a:rPr lang="en-US" b="1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Integer</a:t>
            </a:r>
            <a:r>
              <a:rPr lang="en-US" b="1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, </a:t>
            </a:r>
            <a:r>
              <a:rPr lang="en-US" b="1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Void&gt;{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/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@Override</a:t>
            </a:r>
            <a:b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protected void </a:t>
            </a:r>
            <a:r>
              <a:rPr lang="en-US" b="1" kern="1200">
                <a:solidFill>
                  <a:srgbClr val="C00000"/>
                </a:solidFill>
                <a:latin typeface="Georgia"/>
                <a:ea typeface="+mn-ea"/>
                <a:cs typeface="+mn-cs"/>
              </a:rPr>
              <a:t>onPreExecute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() {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super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.onPreExecute()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;</a:t>
            </a:r>
            <a:b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}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@Override</a:t>
            </a:r>
            <a:b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protected 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Void </a:t>
            </a:r>
            <a:r>
              <a:rPr lang="en-US" b="1" kern="1200">
                <a:solidFill>
                  <a:srgbClr val="C00000"/>
                </a:solidFill>
                <a:latin typeface="Georgia"/>
                <a:ea typeface="+mn-ea"/>
                <a:cs typeface="+mn-cs"/>
              </a:rPr>
              <a:t>doInBackground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(Integer... integers)  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{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return null;</a:t>
            </a:r>
            <a:b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}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b="1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b="1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…..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2BBAD3-2E6F-7D41-809E-D81149CA2F3D}"/>
              </a:ext>
            </a:extLst>
          </p:cNvPr>
          <p:cNvSpPr/>
          <p:nvPr/>
        </p:nvSpPr>
        <p:spPr>
          <a:xfrm>
            <a:off x="5300132" y="2781870"/>
            <a:ext cx="4724400" cy="291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/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@Override</a:t>
            </a:r>
            <a:b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protected void </a:t>
            </a:r>
            <a:r>
              <a:rPr lang="en-US" b="1" kern="1200">
                <a:solidFill>
                  <a:srgbClr val="C00000"/>
                </a:solidFill>
                <a:latin typeface="Georgia"/>
                <a:ea typeface="+mn-ea"/>
                <a:cs typeface="+mn-cs"/>
              </a:rPr>
              <a:t>onProgressUpdate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(Integer... values)   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{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super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.onProgressUpdate(values)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;</a:t>
            </a:r>
            <a:b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}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@Override</a:t>
            </a:r>
            <a:b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BBB529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protected void </a:t>
            </a:r>
            <a:r>
              <a:rPr lang="en-US" b="1" kern="1200">
                <a:solidFill>
                  <a:srgbClr val="C00000"/>
                </a:solidFill>
                <a:latin typeface="Georgia"/>
                <a:ea typeface="+mn-ea"/>
                <a:cs typeface="+mn-cs"/>
              </a:rPr>
              <a:t>onPostExecute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(Void aVoid) {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        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super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.onPostExecute(aVoid)</a:t>
            </a: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;</a:t>
            </a:r>
            <a:b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</a:br>
            <a:r>
              <a:rPr lang="en-US" kern="1200">
                <a:solidFill>
                  <a:srgbClr val="CC7832"/>
                </a:solidFill>
                <a:latin typeface="Georgia"/>
                <a:ea typeface="+mn-ea"/>
                <a:cs typeface="+mn-cs"/>
              </a:rPr>
              <a:t>    </a:t>
            </a:r>
            <a: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}</a:t>
            </a:r>
            <a:br>
              <a:rPr lang="en-US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</a:br>
            <a:r>
              <a:rPr lang="en-US" b="1" kern="1200">
                <a:solidFill>
                  <a:prstClr val="black"/>
                </a:solidFill>
                <a:latin typeface="Georgia"/>
                <a:ea typeface="+mn-ea"/>
                <a:cs typeface="+mn-cs"/>
              </a:rPr>
              <a:t>}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C6D535-EFB0-A34D-A0EA-45084B351DF6}"/>
              </a:ext>
            </a:extLst>
          </p:cNvPr>
          <p:cNvCxnSpPr/>
          <p:nvPr/>
        </p:nvCxnSpPr>
        <p:spPr>
          <a:xfrm>
            <a:off x="5300132" y="2934270"/>
            <a:ext cx="0" cy="3021737"/>
          </a:xfrm>
          <a:prstGeom prst="line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88286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AsyncTask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963853FF-BA6D-094F-9C7C-FCC2DFEE9F09}"/>
              </a:ext>
            </a:extLst>
          </p:cNvPr>
          <p:cNvSpPr/>
          <p:nvPr/>
        </p:nvSpPr>
        <p:spPr>
          <a:xfrm>
            <a:off x="838393" y="930596"/>
            <a:ext cx="8030378" cy="4962962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7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onPreExecute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.onPreExecute()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txtPercent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.setText(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"0 %"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layoutControls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.removeAllViews()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Void </a:t>
            </a:r>
            <a:r>
              <a:rPr kumimoji="0" lang="en-US" sz="17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doInBackground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(Integer... integers) {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 = integers[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]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percent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for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i=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i&lt;=n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i++){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percent = i*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100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/n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 =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random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.nextInt(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100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7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publishProgress(percent</a:t>
            </a:r>
            <a:r>
              <a:rPr kumimoji="0" lang="en-US" sz="17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7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value)</a:t>
            </a:r>
            <a:r>
              <a:rPr kumimoji="0" lang="en-US" sz="17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SystemClock.</a:t>
            </a:r>
            <a:r>
              <a:rPr kumimoji="0" lang="en-US" sz="17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sleep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100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return null;</a:t>
            </a:r>
            <a:b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2127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AsyncTask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853FF-BA6D-094F-9C7C-FCC2DFEE9F09}"/>
              </a:ext>
            </a:extLst>
          </p:cNvPr>
          <p:cNvSpPr/>
          <p:nvPr/>
        </p:nvSpPr>
        <p:spPr>
          <a:xfrm>
            <a:off x="872511" y="941908"/>
            <a:ext cx="8030378" cy="4716227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7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onProgressUpdate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(Integer... values) 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.onProgressUpdate(values)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int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percent = values[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]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int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 = values[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]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txtPercent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.setText(percent +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 %"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pbPercent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.setProgress(percent)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//UPDATE UI …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7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onPostExecute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(Void aVoid) 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.onPostExecute(aVoid)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txtPercent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.setText(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"DONE"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227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AsyncTask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36A1A0D-DB59-8644-8518-3D0A403C87E3}"/>
              </a:ext>
            </a:extLst>
          </p:cNvPr>
          <p:cNvSpPr txBox="1">
            <a:spLocks/>
          </p:cNvSpPr>
          <p:nvPr/>
        </p:nvSpPr>
        <p:spPr>
          <a:xfrm>
            <a:off x="528206" y="956572"/>
            <a:ext cx="10792611" cy="451694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just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</a:rPr>
              <a:t>More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</a:rPr>
              <a:t> Example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</a:rPr>
              <a:t>: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</a:rPr>
              <a:t> </a:t>
            </a:r>
            <a:r>
              <a:rPr lang="en-US" sz="2400" dirty="0" smtClean="0">
                <a:solidFill>
                  <a:sysClr val="windowText" lastClr="000000"/>
                </a:solidFill>
                <a:latin typeface="Georgia"/>
              </a:rPr>
              <a:t>using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</a:rPr>
              <a:t>AsyncTask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</a:rPr>
              <a:t> to load image from Internet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BA5B853-19AE-164B-9237-1D2B6BC1F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143" y="1623628"/>
            <a:ext cx="3327400" cy="39497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560EEC8-46F0-B44D-8F62-9D09D43A1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241" y="1623628"/>
            <a:ext cx="3505200" cy="364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7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AsyncTask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36A1A0D-DB59-8644-8518-3D0A403C87E3}"/>
              </a:ext>
            </a:extLst>
          </p:cNvPr>
          <p:cNvSpPr txBox="1">
            <a:spLocks/>
          </p:cNvSpPr>
          <p:nvPr/>
        </p:nvSpPr>
        <p:spPr>
          <a:xfrm>
            <a:off x="528206" y="956572"/>
            <a:ext cx="10792611" cy="451694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just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</a:rPr>
              <a:t>More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</a:rPr>
              <a:t> Example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</a:rPr>
              <a:t>: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</a:rPr>
              <a:t> </a:t>
            </a:r>
            <a:r>
              <a:rPr lang="en-US" sz="2400" dirty="0" smtClean="0">
                <a:solidFill>
                  <a:sysClr val="windowText" lastClr="000000"/>
                </a:solidFill>
                <a:latin typeface="Georgia"/>
              </a:rPr>
              <a:t>using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</a:rPr>
              <a:t>AsyncTask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</a:rPr>
              <a:t> to load image from Internet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025704-3F72-B844-842A-2E09087F0462}"/>
              </a:ext>
            </a:extLst>
          </p:cNvPr>
          <p:cNvSpPr/>
          <p:nvPr/>
        </p:nvSpPr>
        <p:spPr>
          <a:xfrm>
            <a:off x="972402" y="1675970"/>
            <a:ext cx="10696433" cy="3083921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btnDownLoad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.setOnClickListener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View.OnClickListener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onClick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(View view)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MyAsyncTask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myAsyncTask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MyAsyncTask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myAsyncTask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</a:p>
          <a:p>
            <a:pPr lvl="0">
              <a:lnSpc>
                <a:spcPct val="120000"/>
              </a:lnSpc>
              <a:buClrTx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execute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lang="en-US" sz="1800" kern="1200" dirty="0" smtClean="0">
                <a:solidFill>
                  <a:srgbClr val="6A8759"/>
                </a:solidFill>
                <a:latin typeface="Georgia"/>
                <a:ea typeface="+mn-ea"/>
                <a:cs typeface="+mn-cs"/>
              </a:rPr>
              <a:t>"https</a:t>
            </a:r>
            <a:r>
              <a:rPr lang="en-US" sz="1800" kern="1200" dirty="0">
                <a:solidFill>
                  <a:srgbClr val="6A8759"/>
                </a:solidFill>
                <a:latin typeface="Georgia"/>
                <a:ea typeface="+mn-ea"/>
                <a:cs typeface="+mn-cs"/>
              </a:rPr>
              <a:t>://media.worldnomads.com/explore/vietnam/halong-bay-vietnam-from-above-gettyimages.jpg 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25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AsyncTask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D2D1219-3ABD-5449-8300-1BE9698E1AD5}"/>
              </a:ext>
            </a:extLst>
          </p:cNvPr>
          <p:cNvSpPr/>
          <p:nvPr/>
        </p:nvSpPr>
        <p:spPr>
          <a:xfrm>
            <a:off x="875071" y="954028"/>
            <a:ext cx="10721454" cy="5262979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private class 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MyAsyncTask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extends 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AsyncTask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Void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Bitmap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&gt;{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onPreExecute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.onPreExecute()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Bitmap 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doInBackground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... strings) {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Bitmap bitmap =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null;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….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return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bitmap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onProgressUpdate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Void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... values) {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.onProgressUpdate(values)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onPostExecute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Bitmap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bitmap) {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.onPostExecute(bitmap)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337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AsyncTask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D2D1219-3ABD-5449-8300-1BE9698E1AD5}"/>
              </a:ext>
            </a:extLst>
          </p:cNvPr>
          <p:cNvSpPr/>
          <p:nvPr/>
        </p:nvSpPr>
        <p:spPr>
          <a:xfrm>
            <a:off x="776784" y="1041780"/>
            <a:ext cx="11001233" cy="4339650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onPreExecute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.onPreExecute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progressDialog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.show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Bitmap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doInBackground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... strings) 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Bitmap 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bitmap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null;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try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URL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url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URL(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strings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[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])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HttpURLConnection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connection = 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HttpURLConnection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url.openConnection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bitmap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BitmapFactory.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decodeStream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connection.getInputStream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catch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(Exception e){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Log.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"Error: "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e.toString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return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bitmap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457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AsyncTask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class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D2D1219-3ABD-5449-8300-1BE9698E1AD5}"/>
              </a:ext>
            </a:extLst>
          </p:cNvPr>
          <p:cNvSpPr/>
          <p:nvPr/>
        </p:nvSpPr>
        <p:spPr>
          <a:xfrm>
            <a:off x="920086" y="1055428"/>
            <a:ext cx="7543800" cy="3316101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onProgressUpdate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Void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... values) {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.onProgressUpdate(values)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onPostExecute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Bitmap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bitmap) {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.onPostExecute(bitmap)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progressDialog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.dismiss()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imvPhoto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.setImageBitmap(bitmap)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2705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Discussions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Q1: </a:t>
            </a:r>
            <a:r>
              <a:rPr lang="en-US" sz="2800" dirty="0" smtClean="0">
                <a:latin typeface="Cambria" panose="02040503050406030204" pitchFamily="18" charset="0"/>
              </a:rPr>
              <a:t>What are advantages of Multi-Threading?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Q2: </a:t>
            </a:r>
            <a:r>
              <a:rPr lang="en-US" sz="2800" dirty="0" smtClean="0">
                <a:latin typeface="Cambria" panose="02040503050406030204" pitchFamily="18" charset="0"/>
              </a:rPr>
              <a:t>How to do Handle class with </a:t>
            </a:r>
            <a:r>
              <a:rPr lang="en-US" sz="2800" dirty="0" err="1" smtClean="0">
                <a:latin typeface="Cambria" panose="02040503050406030204" pitchFamily="18" charset="0"/>
              </a:rPr>
              <a:t>sendMessage</a:t>
            </a:r>
            <a:r>
              <a:rPr lang="en-US" sz="2800" dirty="0" smtClean="0">
                <a:latin typeface="Cambria" panose="02040503050406030204" pitchFamily="18" charset="0"/>
              </a:rPr>
              <a:t> method?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Q3: </a:t>
            </a:r>
            <a:r>
              <a:rPr lang="en-US" sz="2800" dirty="0">
                <a:latin typeface="Cambria" panose="02040503050406030204" pitchFamily="18" charset="0"/>
              </a:rPr>
              <a:t>How to do Handle class with </a:t>
            </a:r>
            <a:r>
              <a:rPr lang="en-US" sz="2800" dirty="0" smtClean="0">
                <a:latin typeface="Cambria" panose="02040503050406030204" pitchFamily="18" charset="0"/>
              </a:rPr>
              <a:t>post </a:t>
            </a:r>
            <a:r>
              <a:rPr lang="en-US" sz="2800" dirty="0">
                <a:latin typeface="Cambria" panose="02040503050406030204" pitchFamily="18" charset="0"/>
              </a:rPr>
              <a:t>method?</a:t>
            </a:r>
            <a:endParaRPr lang="en-US" sz="2800" dirty="0" smtClean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Q4: How to do </a:t>
            </a:r>
            <a:r>
              <a:rPr lang="en-US" sz="2800" dirty="0" err="1" smtClean="0">
                <a:latin typeface="Cambria" panose="02040503050406030204" pitchFamily="18" charset="0"/>
              </a:rPr>
              <a:t>AsyncTask</a:t>
            </a:r>
            <a:r>
              <a:rPr lang="en-US" sz="2800" dirty="0" smtClean="0">
                <a:latin typeface="Cambria" panose="02040503050406030204" pitchFamily="18" charset="0"/>
              </a:rPr>
              <a:t> class?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Q5: How to get image from Internet?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062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83931" y="30539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Next Lesson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26709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smtClean="0">
                <a:solidFill>
                  <a:prstClr val="black"/>
                </a:solidFill>
                <a:latin typeface="Georgia"/>
              </a:rPr>
              <a:t>Web</a:t>
            </a:r>
            <a:r>
              <a:rPr lang="en-US" sz="2800" i="1" smtClean="0">
                <a:solidFill>
                  <a:prstClr val="black"/>
                </a:solidFill>
                <a:latin typeface="Georgia"/>
              </a:rPr>
              <a:t> </a:t>
            </a:r>
            <a:r>
              <a:rPr lang="en-US" sz="2800" i="1" dirty="0" smtClean="0">
                <a:solidFill>
                  <a:prstClr val="black"/>
                </a:solidFill>
                <a:latin typeface="Georgia"/>
              </a:rPr>
              <a:t>Services</a:t>
            </a:r>
            <a:endParaRPr lang="en-US" sz="2800" i="1" dirty="0">
              <a:solidFill>
                <a:prstClr val="black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13195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</a:pPr>
            <a:r>
              <a:rPr lang="en-US"/>
              <a:t>THANK YOU!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896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</TotalTime>
  <Words>1071</Words>
  <Application>Microsoft Office PowerPoint</Application>
  <PresentationFormat>Widescreen</PresentationFormat>
  <Paragraphs>201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Cambria</vt:lpstr>
      <vt:lpstr>Calibri</vt:lpstr>
      <vt:lpstr>Muli</vt:lpstr>
      <vt:lpstr>Wingdings</vt:lpstr>
      <vt:lpstr>Georgia</vt:lpstr>
      <vt:lpstr>Lato Black</vt:lpstr>
      <vt:lpstr>Lato</vt:lpstr>
      <vt:lpstr>Times New Roman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Pí Yeah</dc:creator>
  <cp:lastModifiedBy>thanhtd</cp:lastModifiedBy>
  <cp:revision>590</cp:revision>
  <dcterms:created xsi:type="dcterms:W3CDTF">2022-12-02T04:21:00Z</dcterms:created>
  <dcterms:modified xsi:type="dcterms:W3CDTF">2024-02-18T11:05:37Z</dcterms:modified>
</cp:coreProperties>
</file>