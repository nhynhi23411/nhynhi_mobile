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83" r:id="rId3"/>
    <p:sldId id="267" r:id="rId4"/>
    <p:sldId id="274" r:id="rId5"/>
    <p:sldId id="268" r:id="rId6"/>
    <p:sldId id="276" r:id="rId7"/>
    <p:sldId id="280" r:id="rId8"/>
    <p:sldId id="277" r:id="rId9"/>
    <p:sldId id="281" r:id="rId10"/>
    <p:sldId id="258" r:id="rId11"/>
    <p:sldId id="269" r:id="rId12"/>
    <p:sldId id="282" r:id="rId13"/>
    <p:sldId id="270" r:id="rId14"/>
    <p:sldId id="271" r:id="rId15"/>
    <p:sldId id="275" r:id="rId16"/>
    <p:sldId id="272" r:id="rId17"/>
    <p:sldId id="284" r:id="rId18"/>
    <p:sldId id="263" r:id="rId19"/>
  </p:sldIdLst>
  <p:sldSz cx="12192000" cy="6858000"/>
  <p:notesSz cx="6858000" cy="9144000"/>
  <p:embeddedFontLst>
    <p:embeddedFont>
      <p:font typeface="Lato Black" panose="020B0604020202020204" charset="0"/>
      <p:bold r:id="rId21"/>
      <p:boldItalic r:id="rId22"/>
    </p:embeddedFont>
    <p:embeddedFont>
      <p:font typeface="Lato" panose="020B0604020202020204" charset="0"/>
      <p:regular r:id="rId23"/>
      <p:bold r:id="rId24"/>
      <p:italic r:id="rId25"/>
      <p:boldItalic r:id="rId26"/>
    </p:embeddedFont>
    <p:embeddedFont>
      <p:font typeface="SimSun" panose="02010600030101010101" pitchFamily="2" charset="-122"/>
      <p:regular r:id="rId27"/>
    </p:embeddedFon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h4VrLQLvjXUsQeVJWWu9hsLYoG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26" autoAdjust="0"/>
    <p:restoredTop sz="71967" autoAdjust="0"/>
  </p:normalViewPr>
  <p:slideViewPr>
    <p:cSldViewPr snapToGrid="0">
      <p:cViewPr varScale="1">
        <p:scale>
          <a:sx n="90" d="100"/>
          <a:sy n="90" d="100"/>
        </p:scale>
        <p:origin x="98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heme" Target="theme/theme1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8456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213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4581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4015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9683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7334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5002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5033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183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1752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06820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1876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23678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18201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6885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</a:pP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Faculty of Information Systems</a:t>
            </a:r>
            <a:endParaRPr lang="en-US"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5306" y="-33086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  <a:defRPr sz="96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944" y="330860"/>
            <a:ext cx="2890753" cy="117634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2805445" y="1354975"/>
            <a:ext cx="6410498" cy="68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</a:pPr>
            <a:r>
              <a:rPr lang="en-US" sz="2000" b="1" i="0" u="none" strike="noStrike" cap="none" smtClean="0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lang="en-US" sz="2000" b="1" i="0" u="none" strike="noStrike" cap="none" smtClean="0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lang="en-US" sz="2000" b="1" i="0" u="none" strike="noStrike" cap="none" smtClean="0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lang="en-US" sz="1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Faculty of Information Systems</a:t>
            </a:r>
            <a:endParaRPr lang="en-US"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6" r:id="rId3"/>
    <p:sldLayoutId id="2147483657" r:id="rId4"/>
    <p:sldLayoutId id="2147483658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hanhtd@uel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randuythanh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ms.uel.edu.vn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tranduythanh.com/" TargetMode="External"/><Relationship Id="rId3" Type="http://schemas.openxmlformats.org/officeDocument/2006/relationships/hyperlink" Target="https://www.w3schools.com/" TargetMode="External"/><Relationship Id="rId7" Type="http://schemas.openxmlformats.org/officeDocument/2006/relationships/hyperlink" Target="https://www.codeproject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ackoverflow.com/" TargetMode="External"/><Relationship Id="rId5" Type="http://schemas.openxmlformats.org/officeDocument/2006/relationships/hyperlink" Target="https://www.google.com/" TargetMode="External"/><Relationship Id="rId4" Type="http://schemas.openxmlformats.org/officeDocument/2006/relationships/hyperlink" Target="https://www.tutorialspoint.com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thanhtd@uel.edu.vn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randuythanh.com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F9BAC58-9AA6-A91A-085E-F1421DCCF43A}"/>
              </a:ext>
            </a:extLst>
          </p:cNvPr>
          <p:cNvSpPr txBox="1">
            <a:spLocks/>
          </p:cNvSpPr>
          <p:nvPr/>
        </p:nvSpPr>
        <p:spPr bwMode="auto">
          <a:xfrm>
            <a:off x="2132317" y="1977662"/>
            <a:ext cx="8763000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200" kern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200" kern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Mobile-Commerce Development</a:t>
            </a:r>
            <a:endParaRPr lang="en-US" sz="3200" ker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97E3A-A23C-B018-8E45-86B8BF858946}"/>
              </a:ext>
            </a:extLst>
          </p:cNvPr>
          <p:cNvSpPr txBox="1"/>
          <p:nvPr/>
        </p:nvSpPr>
        <p:spPr>
          <a:xfrm>
            <a:off x="7958878" y="4079089"/>
            <a:ext cx="378180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u="sng">
                <a:latin typeface="Times New Roman" panose="02020603050405020304" pitchFamily="18" charset="0"/>
                <a:cs typeface="Times New Roman" panose="02020603050405020304" pitchFamily="18" charset="0"/>
              </a:rPr>
              <a:t>Lecturer:</a:t>
            </a:r>
          </a:p>
          <a:p>
            <a:pPr algn="ctr"/>
            <a:r>
              <a:rPr lang="en-US" sz="2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 Duy Thanh, </a:t>
            </a:r>
            <a:r>
              <a:rPr lang="en-US" sz="22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</a:p>
          <a:p>
            <a:pPr algn="ctr"/>
            <a:r>
              <a:rPr lang="en-US" sz="2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Nguyen Quang Phuc, </a:t>
            </a:r>
            <a:r>
              <a:rPr lang="en-US" sz="22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endParaRPr lang="en-US" sz="22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thanhtd@uel.edu.vn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Blog: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https://tranduythanh.com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Phone: 0987773061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Lesson Objective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-Students clearly understand the Objective of the course</a:t>
            </a: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-Understand the Learning Outcome of the course</a:t>
            </a: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-Collect the documents of the course </a:t>
            </a: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-Know clearly the assessment of the course</a:t>
            </a: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-Know good methods for learning of the course</a:t>
            </a: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-Know the rules of the course</a:t>
            </a: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29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Course Information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 b="1" smtClean="0">
                <a:latin typeface="Cambria" panose="02040503050406030204" pitchFamily="18" charset="0"/>
              </a:rPr>
              <a:t>Course name</a:t>
            </a:r>
            <a:r>
              <a:rPr lang="vi-VN" sz="2800" b="1" smtClean="0">
                <a:latin typeface="Cambria" panose="02040503050406030204" pitchFamily="18" charset="0"/>
              </a:rPr>
              <a:t>: </a:t>
            </a:r>
            <a:endParaRPr lang="en-US" sz="2800" b="1">
              <a:latin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vi-VN" sz="2800" b="1">
                <a:latin typeface="Cambria" panose="02040503050406030204" pitchFamily="18" charset="0"/>
              </a:rPr>
              <a:t>Mobile-Commerce Development</a:t>
            </a:r>
            <a:endParaRPr lang="en-US" sz="2800" b="1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b="1" smtClean="0">
                <a:latin typeface="Cambria" panose="02040503050406030204" pitchFamily="18" charset="0"/>
              </a:rPr>
              <a:t>Credits: </a:t>
            </a:r>
            <a:r>
              <a:rPr lang="en-US" sz="2800" smtClean="0">
                <a:latin typeface="Cambria" panose="02040503050406030204" pitchFamily="18" charset="0"/>
              </a:rPr>
              <a:t>3 (2 Theories+ </a:t>
            </a:r>
            <a:r>
              <a:rPr lang="en-US" sz="2800">
                <a:latin typeface="Cambria" panose="02040503050406030204" pitchFamily="18" charset="0"/>
              </a:rPr>
              <a:t>1 </a:t>
            </a:r>
            <a:r>
              <a:rPr lang="en-US" sz="2800" smtClean="0">
                <a:latin typeface="Cambria" panose="02040503050406030204" pitchFamily="18" charset="0"/>
              </a:rPr>
              <a:t>Practice)</a:t>
            </a:r>
            <a:endParaRPr lang="en-US" sz="280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smtClean="0">
                <a:latin typeface="Cambria" panose="02040503050406030204" pitchFamily="18" charset="0"/>
              </a:rPr>
              <a:t>The </a:t>
            </a:r>
            <a:r>
              <a:rPr lang="en-US" sz="2800">
                <a:latin typeface="Cambria" panose="02040503050406030204" pitchFamily="18" charset="0"/>
              </a:rPr>
              <a:t>course introduces the knowledge of mobile commerce development, business models and marketing on mobile platforms; knowledge about designing and building applications on mobile devices.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sz="280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14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Objective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Provide students the knowledge of mobile commerce, mobile technology, and knowledge of designing and building apps on the Android platform to help students build and deploy real-world applications on a mobile platform. Students have the ability to analyze and identify business opportunities through mobile commerce and can participate in projects in the field.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sz="280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459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Objective</a:t>
              </a: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lang="en-US" sz="2800">
                <a:latin typeface="Cambria" panose="02040503050406030204" pitchFamily="18" charset="0"/>
              </a:rPr>
              <a:t>After finish the course, students have the ability to: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>
                <a:latin typeface="Cambria" panose="02040503050406030204" pitchFamily="18" charset="0"/>
              </a:rPr>
              <a:t>G1.	Analyze and propose solutions to build business models on mobile platforms.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>
                <a:latin typeface="Cambria" panose="02040503050406030204" pitchFamily="18" charset="0"/>
              </a:rPr>
              <a:t>G2.	Design and build apps on Android mobile devices.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>
                <a:latin typeface="Cambria" panose="02040503050406030204" pitchFamily="18" charset="0"/>
              </a:rPr>
              <a:t>G3.	Build server-side Web services and data connectivity on mobile devices.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>
                <a:latin typeface="Cambria" panose="02040503050406030204" pitchFamily="18" charset="0"/>
              </a:rPr>
              <a:t>G4.	Test the application on virtual and real Android devices, deploy real applications to the Google Play Store.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>
                <a:latin typeface="Cambria" panose="02040503050406030204" pitchFamily="18" charset="0"/>
              </a:rPr>
              <a:t>G5.	Recognize the role of mobile commerce in business.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>
                <a:latin typeface="Cambria" panose="02040503050406030204" pitchFamily="18" charset="0"/>
              </a:rPr>
              <a:t>G6.	Improve skill of team work and communication via documents, negotiation, compromise and conflict resolution.</a:t>
            </a:r>
          </a:p>
        </p:txBody>
      </p:sp>
    </p:spTree>
    <p:extLst>
      <p:ext uri="{BB962C8B-B14F-4D97-AF65-F5344CB8AC3E}">
        <p14:creationId xmlns:p14="http://schemas.microsoft.com/office/powerpoint/2010/main" val="3166243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346749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Learning outcomes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574365"/>
              </p:ext>
            </p:extLst>
          </p:nvPr>
        </p:nvGraphicFramePr>
        <p:xfrm>
          <a:off x="607850" y="1148292"/>
          <a:ext cx="10729016" cy="5047488"/>
        </p:xfrm>
        <a:graphic>
          <a:graphicData uri="http://schemas.openxmlformats.org/drawingml/2006/table">
            <a:tbl>
              <a:tblPr firstRow="1" firstCol="1" bandRow="1"/>
              <a:tblGrid>
                <a:gridCol w="1698833">
                  <a:extLst>
                    <a:ext uri="{9D8B030D-6E8A-4147-A177-3AD203B41FA5}">
                      <a16:colId xmlns:a16="http://schemas.microsoft.com/office/drawing/2014/main" val="1080503025"/>
                    </a:ext>
                  </a:extLst>
                </a:gridCol>
                <a:gridCol w="4755204">
                  <a:extLst>
                    <a:ext uri="{9D8B030D-6E8A-4147-A177-3AD203B41FA5}">
                      <a16:colId xmlns:a16="http://schemas.microsoft.com/office/drawing/2014/main" val="2478782569"/>
                    </a:ext>
                  </a:extLst>
                </a:gridCol>
                <a:gridCol w="1516152">
                  <a:extLst>
                    <a:ext uri="{9D8B030D-6E8A-4147-A177-3AD203B41FA5}">
                      <a16:colId xmlns:a16="http://schemas.microsoft.com/office/drawing/2014/main" val="2907529123"/>
                    </a:ext>
                  </a:extLst>
                </a:gridCol>
                <a:gridCol w="2758827">
                  <a:extLst>
                    <a:ext uri="{9D8B030D-6E8A-4147-A177-3AD203B41FA5}">
                      <a16:colId xmlns:a16="http://schemas.microsoft.com/office/drawing/2014/main" val="514535427"/>
                    </a:ext>
                  </a:extLst>
                </a:gridCol>
              </a:tblGrid>
              <a:tr h="1887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Objectives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Learning outcomes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29853"/>
                  </a:ext>
                </a:extLst>
              </a:tr>
              <a:tr h="5914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LO1</a:t>
                      </a: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Present the mobile commerce development trends, business models on mobile platforms.</a:t>
                      </a: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1.2.3, 1.3.7, 2.2.3, 4.3.2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84832"/>
                  </a:ext>
                </a:extLst>
              </a:tr>
              <a:tr h="5663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LO2</a:t>
                      </a: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Identify problems, make assumptions and propose business solutions on mobile platforms.</a:t>
                      </a: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1.3.7, 2.1.1, 2.2.3, 4.1.2, 4.2.3,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9777710"/>
                  </a:ext>
                </a:extLst>
              </a:tr>
              <a:tr h="5663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LO3</a:t>
                      </a: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Be proficient in Android Studio software to design and build mobile apps.</a:t>
                      </a: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1.1.2, 1.3.6, 4.5.1, 4.5.2, 4.5.3, 4.6.4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9625110"/>
                  </a:ext>
                </a:extLst>
              </a:tr>
              <a:tr h="3877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LO4</a:t>
                      </a: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Build Web services with SOAP, Restful.</a:t>
                      </a: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1.1.2, 4.5.2, 4.5.3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026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375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346749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Learning outcomes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132470"/>
              </p:ext>
            </p:extLst>
          </p:nvPr>
        </p:nvGraphicFramePr>
        <p:xfrm>
          <a:off x="607850" y="1148292"/>
          <a:ext cx="10729016" cy="5047488"/>
        </p:xfrm>
        <a:graphic>
          <a:graphicData uri="http://schemas.openxmlformats.org/drawingml/2006/table">
            <a:tbl>
              <a:tblPr firstRow="1" firstCol="1" bandRow="1"/>
              <a:tblGrid>
                <a:gridCol w="1698833">
                  <a:extLst>
                    <a:ext uri="{9D8B030D-6E8A-4147-A177-3AD203B41FA5}">
                      <a16:colId xmlns:a16="http://schemas.microsoft.com/office/drawing/2014/main" val="1080503025"/>
                    </a:ext>
                  </a:extLst>
                </a:gridCol>
                <a:gridCol w="4755204">
                  <a:extLst>
                    <a:ext uri="{9D8B030D-6E8A-4147-A177-3AD203B41FA5}">
                      <a16:colId xmlns:a16="http://schemas.microsoft.com/office/drawing/2014/main" val="2478782569"/>
                    </a:ext>
                  </a:extLst>
                </a:gridCol>
                <a:gridCol w="1516152">
                  <a:extLst>
                    <a:ext uri="{9D8B030D-6E8A-4147-A177-3AD203B41FA5}">
                      <a16:colId xmlns:a16="http://schemas.microsoft.com/office/drawing/2014/main" val="2907529123"/>
                    </a:ext>
                  </a:extLst>
                </a:gridCol>
                <a:gridCol w="2758827">
                  <a:extLst>
                    <a:ext uri="{9D8B030D-6E8A-4147-A177-3AD203B41FA5}">
                      <a16:colId xmlns:a16="http://schemas.microsoft.com/office/drawing/2014/main" val="514535427"/>
                    </a:ext>
                  </a:extLst>
                </a:gridCol>
              </a:tblGrid>
              <a:tr h="1887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Objectives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Learning outcomes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29853"/>
                  </a:ext>
                </a:extLst>
              </a:tr>
              <a:tr h="4161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LO5</a:t>
                      </a: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Analysis and handling of program errors, test the application.</a:t>
                      </a: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2.1.1, 4.5.3, 4.6.4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321745"/>
                  </a:ext>
                </a:extLst>
              </a:tr>
              <a:tr h="4209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LO6</a:t>
                      </a: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Deploy real applications to the Google Play Store.</a:t>
                      </a: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4.5.1, 4.6.4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787570"/>
                  </a:ext>
                </a:extLst>
              </a:tr>
              <a:tr h="4256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LO7</a:t>
                      </a: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Make a plan to participate in a project in the mobile commerce sector.</a:t>
                      </a: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G5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2.5.4, 4.1.2, 4.2.3, 4.3.1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467775"/>
                  </a:ext>
                </a:extLst>
              </a:tr>
              <a:tr h="9439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LO8</a:t>
                      </a: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Improve skill of teamwork and communication via documents (email) among members and lecturers in the process of developing the specific apps on mobile platforms.</a:t>
                      </a: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G6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3.1.1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4858" marR="5485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455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8200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346749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Contents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297458"/>
              </p:ext>
            </p:extLst>
          </p:nvPr>
        </p:nvGraphicFramePr>
        <p:xfrm>
          <a:off x="893315" y="939554"/>
          <a:ext cx="10054085" cy="5405004"/>
        </p:xfrm>
        <a:graphic>
          <a:graphicData uri="http://schemas.openxmlformats.org/drawingml/2006/table">
            <a:tbl>
              <a:tblPr firstRow="1" firstCol="1" bandRow="1"/>
              <a:tblGrid>
                <a:gridCol w="8589352">
                  <a:extLst>
                    <a:ext uri="{9D8B030D-6E8A-4147-A177-3AD203B41FA5}">
                      <a16:colId xmlns:a16="http://schemas.microsoft.com/office/drawing/2014/main" val="4176634099"/>
                    </a:ext>
                  </a:extLst>
                </a:gridCol>
                <a:gridCol w="1464733">
                  <a:extLst>
                    <a:ext uri="{9D8B030D-6E8A-4147-A177-3AD203B41FA5}">
                      <a16:colId xmlns:a16="http://schemas.microsoft.com/office/drawing/2014/main" val="2996250953"/>
                    </a:ext>
                  </a:extLst>
                </a:gridCol>
              </a:tblGrid>
              <a:tr h="3204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Chapter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51" marR="64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Lectures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51" marR="64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78714"/>
                  </a:ext>
                </a:extLst>
              </a:tr>
              <a:tr h="8398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Chapter 1.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Overview of mobile commerce and mobile programming platforms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Lecture: 3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1275597"/>
                  </a:ext>
                </a:extLst>
              </a:tr>
              <a:tr h="5351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Chapter 2. </a:t>
                      </a:r>
                      <a:endParaRPr lang="en-US" sz="2200" b="1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</a:t>
                      </a: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Android Development Environment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Lecture: 3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Practice: </a:t>
                      </a:r>
                      <a:r>
                        <a:rPr lang="en-US" sz="220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920410"/>
                  </a:ext>
                </a:extLst>
              </a:tr>
              <a:tr h="47586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Chapter 3: </a:t>
                      </a:r>
                      <a:endParaRPr lang="en-US" sz="2200" b="1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View</a:t>
                      </a: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Event, Dialog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Lecture: 6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Practice: 9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038034"/>
                  </a:ext>
                </a:extLst>
              </a:tr>
              <a:tr h="4205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Chapter 4: </a:t>
                      </a:r>
                      <a:endParaRPr lang="en-US" sz="2200" b="1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Activity</a:t>
                      </a: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Fragment, Intent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Lecture: 3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Practice: 3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926364"/>
                  </a:ext>
                </a:extLst>
              </a:tr>
              <a:tr h="7038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Chapter 5: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Manage data resources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Lecture: 3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Practice: 3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602015"/>
                  </a:ext>
                </a:extLst>
              </a:tr>
              <a:tr h="6409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Chapter 6: </a:t>
                      </a:r>
                      <a:endParaRPr lang="en-US" sz="2200" b="1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Menu</a:t>
                      </a:r>
                      <a:endParaRPr lang="en-US" sz="22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Lecture: 3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Practice: 3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515104"/>
                  </a:ext>
                </a:extLst>
              </a:tr>
              <a:tr h="618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Chapter 7: </a:t>
                      </a:r>
                      <a:r>
                        <a:rPr lang="en-US" sz="2200" b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Animation</a:t>
                      </a:r>
                      <a:endParaRPr lang="en-US" sz="22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624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058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346749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Contents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284974"/>
              </p:ext>
            </p:extLst>
          </p:nvPr>
        </p:nvGraphicFramePr>
        <p:xfrm>
          <a:off x="791715" y="1064683"/>
          <a:ext cx="10155685" cy="4663406"/>
        </p:xfrm>
        <a:graphic>
          <a:graphicData uri="http://schemas.openxmlformats.org/drawingml/2006/table">
            <a:tbl>
              <a:tblPr firstRow="1" firstCol="1" bandRow="1"/>
              <a:tblGrid>
                <a:gridCol w="8597818">
                  <a:extLst>
                    <a:ext uri="{9D8B030D-6E8A-4147-A177-3AD203B41FA5}">
                      <a16:colId xmlns:a16="http://schemas.microsoft.com/office/drawing/2014/main" val="4176634099"/>
                    </a:ext>
                  </a:extLst>
                </a:gridCol>
                <a:gridCol w="1557867">
                  <a:extLst>
                    <a:ext uri="{9D8B030D-6E8A-4147-A177-3AD203B41FA5}">
                      <a16:colId xmlns:a16="http://schemas.microsoft.com/office/drawing/2014/main" val="2996250953"/>
                    </a:ext>
                  </a:extLst>
                </a:gridCol>
              </a:tblGrid>
              <a:tr h="3204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Chapter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51" marR="64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Lectures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51" marR="64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78714"/>
                  </a:ext>
                </a:extLst>
              </a:tr>
              <a:tr h="9613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Chapter 8: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Multi-Thread </a:t>
                      </a: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 Android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Lecture: 3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Practice: 3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163348"/>
                  </a:ext>
                </a:extLst>
              </a:tr>
              <a:tr h="4220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Chapter 9</a:t>
                      </a:r>
                      <a:r>
                        <a:rPr lang="en-US" sz="2200" b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Service</a:t>
                      </a: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Broadcast Receiver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07588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Chapter 10: </a:t>
                      </a:r>
                      <a:endParaRPr lang="en-US" sz="2200" b="1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2200" b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Internet </a:t>
                      </a: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service interaction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Lecture: 3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Practice: 3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68245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Chapter 11:</a:t>
                      </a: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endParaRPr lang="en-US" sz="220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Firebase </a:t>
                      </a: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Cloud Message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Lecture: 3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Practice: 3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691942"/>
                  </a:ext>
                </a:extLst>
              </a:tr>
              <a:tr h="9613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Chapter 12: </a:t>
                      </a:r>
                      <a:endParaRPr lang="en-US" sz="2200" b="1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Deploy </a:t>
                      </a:r>
                      <a:r>
                        <a:rPr lang="en-US" sz="22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mobile application</a:t>
                      </a:r>
                    </a:p>
                  </a:txBody>
                  <a:tcPr marL="6451" marR="645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587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59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B064EE3-94D0-16A0-E5E5-2FF2F4BBCE3C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10" name="AutoShape 52">
              <a:extLst>
                <a:ext uri="{FF2B5EF4-FFF2-40B4-BE49-F238E27FC236}">
                  <a16:creationId xmlns:a16="http://schemas.microsoft.com/office/drawing/2014/main" id="{D9FCDF26-1903-F72D-3478-63FDBFC4E6B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Assessment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11" name="Group 17">
              <a:extLst>
                <a:ext uri="{FF2B5EF4-FFF2-40B4-BE49-F238E27FC236}">
                  <a16:creationId xmlns:a16="http://schemas.microsoft.com/office/drawing/2014/main" id="{A2A94BA0-62F6-1DC9-83F0-8A1DA8A043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2" name="AutoShape 18">
                <a:extLst>
                  <a:ext uri="{FF2B5EF4-FFF2-40B4-BE49-F238E27FC236}">
                    <a16:creationId xmlns:a16="http://schemas.microsoft.com/office/drawing/2014/main" id="{8722050F-8352-87D9-B408-703A339DBFE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" name="AutoShape 19">
                <a:extLst>
                  <a:ext uri="{FF2B5EF4-FFF2-40B4-BE49-F238E27FC236}">
                    <a16:creationId xmlns:a16="http://schemas.microsoft.com/office/drawing/2014/main" id="{149B5DEF-85FC-54A6-5644-6A82E84A865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" name="AutoShape 20">
                <a:extLst>
                  <a:ext uri="{FF2B5EF4-FFF2-40B4-BE49-F238E27FC236}">
                    <a16:creationId xmlns:a16="http://schemas.microsoft.com/office/drawing/2014/main" id="{0594A95B-50C0-B072-1D21-3706EFCFDEE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959500"/>
              </p:ext>
            </p:extLst>
          </p:nvPr>
        </p:nvGraphicFramePr>
        <p:xfrm>
          <a:off x="728132" y="1280679"/>
          <a:ext cx="10642602" cy="4513707"/>
        </p:xfrm>
        <a:graphic>
          <a:graphicData uri="http://schemas.openxmlformats.org/drawingml/2006/table">
            <a:tbl>
              <a:tblPr firstRow="1" firstCol="1" bandRow="1"/>
              <a:tblGrid>
                <a:gridCol w="3293513">
                  <a:extLst>
                    <a:ext uri="{9D8B030D-6E8A-4147-A177-3AD203B41FA5}">
                      <a16:colId xmlns:a16="http://schemas.microsoft.com/office/drawing/2014/main" val="613085611"/>
                    </a:ext>
                  </a:extLst>
                </a:gridCol>
                <a:gridCol w="1403685">
                  <a:extLst>
                    <a:ext uri="{9D8B030D-6E8A-4147-A177-3AD203B41FA5}">
                      <a16:colId xmlns:a16="http://schemas.microsoft.com/office/drawing/2014/main" val="909615577"/>
                    </a:ext>
                  </a:extLst>
                </a:gridCol>
                <a:gridCol w="948199">
                  <a:extLst>
                    <a:ext uri="{9D8B030D-6E8A-4147-A177-3AD203B41FA5}">
                      <a16:colId xmlns:a16="http://schemas.microsoft.com/office/drawing/2014/main" val="4025723284"/>
                    </a:ext>
                  </a:extLst>
                </a:gridCol>
                <a:gridCol w="4997205">
                  <a:extLst>
                    <a:ext uri="{9D8B030D-6E8A-4147-A177-3AD203B41FA5}">
                      <a16:colId xmlns:a16="http://schemas.microsoft.com/office/drawing/2014/main" val="1253360945"/>
                    </a:ext>
                  </a:extLst>
                </a:gridCol>
              </a:tblGrid>
              <a:tr h="3949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Details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Symbol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Ratio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Note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262654"/>
                  </a:ext>
                </a:extLst>
              </a:tr>
              <a:tr h="394948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On-going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30%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875794"/>
                  </a:ext>
                </a:extLst>
              </a:tr>
              <a:tr h="6055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Scores of exercises after each class practice session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ĐG1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15 %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Exercises to be done in class and at home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099567"/>
                  </a:ext>
                </a:extLst>
              </a:tr>
              <a:tr h="6055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Scores for homework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ĐG2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15%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Conduct seminars on the topics that the teacher requires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7210246"/>
                  </a:ext>
                </a:extLst>
              </a:tr>
              <a:tr h="302793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vi-VN" sz="2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Midterm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20%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048028"/>
                  </a:ext>
                </a:extLst>
              </a:tr>
              <a:tr h="3027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Individual Essay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ĐG3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20%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Practice on the computer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22577"/>
                  </a:ext>
                </a:extLst>
              </a:tr>
              <a:tr h="302793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Final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50%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408971"/>
                  </a:ext>
                </a:extLst>
              </a:tr>
              <a:tr h="3027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Final Project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ĐG4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50%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Presentation and documentation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512353"/>
                  </a:ext>
                </a:extLst>
              </a:tr>
              <a:tr h="302793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200" b="1" smtClea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Bonus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ĐG5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Any volunteer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167390"/>
                  </a:ext>
                </a:extLst>
              </a:tr>
              <a:tr h="3181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Total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100%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97399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67722D5-54B5-15AD-F093-FBA6B57A4C34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10" name="AutoShape 52">
              <a:extLst>
                <a:ext uri="{FF2B5EF4-FFF2-40B4-BE49-F238E27FC236}">
                  <a16:creationId xmlns:a16="http://schemas.microsoft.com/office/drawing/2014/main" id="{174120C2-51C1-0A43-BD3D-952D8B05BD1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Assessment</a:t>
              </a:r>
            </a:p>
          </p:txBody>
        </p:sp>
        <p:grpSp>
          <p:nvGrpSpPr>
            <p:cNvPr id="11" name="Group 17">
              <a:extLst>
                <a:ext uri="{FF2B5EF4-FFF2-40B4-BE49-F238E27FC236}">
                  <a16:creationId xmlns:a16="http://schemas.microsoft.com/office/drawing/2014/main" id="{87A65E59-49DD-2118-3FE4-DDA41C31C4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2" name="AutoShape 18">
                <a:extLst>
                  <a:ext uri="{FF2B5EF4-FFF2-40B4-BE49-F238E27FC236}">
                    <a16:creationId xmlns:a16="http://schemas.microsoft.com/office/drawing/2014/main" id="{75093DBC-F652-6E0A-4755-37A2B9D2B0E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" name="AutoShape 19">
                <a:extLst>
                  <a:ext uri="{FF2B5EF4-FFF2-40B4-BE49-F238E27FC236}">
                    <a16:creationId xmlns:a16="http://schemas.microsoft.com/office/drawing/2014/main" id="{0B23DBBE-38E4-ED8F-67DE-A1CC6F107EE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" name="AutoShape 20">
                <a:extLst>
                  <a:ext uri="{FF2B5EF4-FFF2-40B4-BE49-F238E27FC236}">
                    <a16:creationId xmlns:a16="http://schemas.microsoft.com/office/drawing/2014/main" id="{3A842880-4130-C448-FEB7-99870BC7AF3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9365C3B-3083-683F-0B3A-C2EDEDB0A4F3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3538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2800" smtClean="0">
                <a:latin typeface="Cambria" panose="02040503050406030204" pitchFamily="18" charset="0"/>
              </a:rPr>
              <a:t>Absence </a:t>
            </a:r>
            <a:r>
              <a:rPr lang="en-US" sz="2800">
                <a:latin typeface="Cambria" panose="02040503050406030204" pitchFamily="18" charset="0"/>
              </a:rPr>
              <a:t>without information: -2 on-going/ 1 time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smtClean="0">
                <a:latin typeface="Cambria" panose="02040503050406030204" pitchFamily="18" charset="0"/>
              </a:rPr>
              <a:t>Absence </a:t>
            </a:r>
            <a:r>
              <a:rPr lang="en-US" sz="2800">
                <a:latin typeface="Cambria" panose="02040503050406030204" pitchFamily="18" charset="0"/>
              </a:rPr>
              <a:t>with suitable information: -0.5 on-going/ 1 time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smtClean="0">
                <a:latin typeface="Cambria" panose="02040503050406030204" pitchFamily="18" charset="0"/>
              </a:rPr>
              <a:t>Absence </a:t>
            </a:r>
            <a:r>
              <a:rPr lang="en-US" sz="2800">
                <a:latin typeface="Cambria" panose="02040503050406030204" pitchFamily="18" charset="0"/>
              </a:rPr>
              <a:t>of unsuitable information: -1 on-going/ 1 time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smtClean="0">
                <a:latin typeface="Cambria" panose="02040503050406030204" pitchFamily="18" charset="0"/>
              </a:rPr>
              <a:t>Late</a:t>
            </a:r>
            <a:r>
              <a:rPr lang="en-US" sz="2800">
                <a:latin typeface="Cambria" panose="02040503050406030204" pitchFamily="18" charset="0"/>
              </a:rPr>
              <a:t>: -1 on-going/ 1 time</a:t>
            </a:r>
          </a:p>
        </p:txBody>
      </p:sp>
    </p:spTree>
    <p:extLst>
      <p:ext uri="{BB962C8B-B14F-4D97-AF65-F5344CB8AC3E}">
        <p14:creationId xmlns:p14="http://schemas.microsoft.com/office/powerpoint/2010/main" val="12590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67722D5-54B5-15AD-F093-FBA6B57A4C34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10" name="AutoShape 52">
              <a:extLst>
                <a:ext uri="{FF2B5EF4-FFF2-40B4-BE49-F238E27FC236}">
                  <a16:creationId xmlns:a16="http://schemas.microsoft.com/office/drawing/2014/main" id="{174120C2-51C1-0A43-BD3D-952D8B05BD1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Assessment</a:t>
              </a:r>
            </a:p>
          </p:txBody>
        </p:sp>
        <p:grpSp>
          <p:nvGrpSpPr>
            <p:cNvPr id="11" name="Group 17">
              <a:extLst>
                <a:ext uri="{FF2B5EF4-FFF2-40B4-BE49-F238E27FC236}">
                  <a16:creationId xmlns:a16="http://schemas.microsoft.com/office/drawing/2014/main" id="{87A65E59-49DD-2118-3FE4-DDA41C31C4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2" name="AutoShape 18">
                <a:extLst>
                  <a:ext uri="{FF2B5EF4-FFF2-40B4-BE49-F238E27FC236}">
                    <a16:creationId xmlns:a16="http://schemas.microsoft.com/office/drawing/2014/main" id="{75093DBC-F652-6E0A-4755-37A2B9D2B0E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" name="AutoShape 19">
                <a:extLst>
                  <a:ext uri="{FF2B5EF4-FFF2-40B4-BE49-F238E27FC236}">
                    <a16:creationId xmlns:a16="http://schemas.microsoft.com/office/drawing/2014/main" id="{0B23DBBE-38E4-ED8F-67DE-A1CC6F107EE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" name="AutoShape 20">
                <a:extLst>
                  <a:ext uri="{FF2B5EF4-FFF2-40B4-BE49-F238E27FC236}">
                    <a16:creationId xmlns:a16="http://schemas.microsoft.com/office/drawing/2014/main" id="{3A842880-4130-C448-FEB7-99870BC7AF3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9365C3B-3083-683F-0B3A-C2EDEDB0A4F3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3538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Assignments, discussions, projects, exams… all must be submitted on </a:t>
            </a:r>
            <a:r>
              <a:rPr lang="en-US" sz="2800">
                <a:latin typeface="Cambria" panose="02040503050406030204" pitchFamily="18" charset="0"/>
                <a:hlinkClick r:id="rId3"/>
              </a:rPr>
              <a:t>https://lms.uel.edu.vn/</a:t>
            </a:r>
            <a:endParaRPr lang="en-US" sz="2800">
              <a:latin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Absence from school for more than 3 sessions: Forbidden Exam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Do not submit required assignments on Elearning more than 3 times: Banned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Study the lecture before going to class</a:t>
            </a:r>
          </a:p>
        </p:txBody>
      </p:sp>
    </p:spTree>
    <p:extLst>
      <p:ext uri="{BB962C8B-B14F-4D97-AF65-F5344CB8AC3E}">
        <p14:creationId xmlns:p14="http://schemas.microsoft.com/office/powerpoint/2010/main" val="2419976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3EB32B-02E0-2515-5919-B13C39731294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6206FBF3-BF33-8C80-E9B4-2942B0035FA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Softwares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2768C993-8F7A-72BA-603F-2B7CE557B4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9BEFDA17-73C8-E0C5-FCB2-FDA7E088737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08B28289-F71C-E44C-40C6-72BB204C936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F25AEDBA-0889-4AC7-B179-E12D1BA0884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96A68F-B526-27FA-F525-6FAEEE4C0A25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3538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400" smtClean="0">
                <a:latin typeface="Cambria" panose="02040503050406030204" pitchFamily="18" charset="0"/>
              </a:rPr>
              <a:t>Mobile Development:</a:t>
            </a:r>
            <a:endParaRPr lang="en-US" sz="2400">
              <a:latin typeface="Cambria" panose="02040503050406030204" pitchFamily="18" charset="0"/>
            </a:endParaRPr>
          </a:p>
          <a:p>
            <a:pPr lvl="1"/>
            <a:r>
              <a:rPr lang="en-US" sz="2400" smtClean="0">
                <a:latin typeface="Cambria" panose="02040503050406030204" pitchFamily="18" charset="0"/>
              </a:rPr>
              <a:t>Android Studio</a:t>
            </a:r>
          </a:p>
          <a:p>
            <a:pPr lvl="1"/>
            <a:r>
              <a:rPr lang="en-US" sz="2400" smtClean="0">
                <a:latin typeface="Cambria" panose="02040503050406030204" pitchFamily="18" charset="0"/>
              </a:rPr>
              <a:t>Vysor, DB Browser</a:t>
            </a:r>
            <a:endParaRPr lang="en-US" sz="2400">
              <a:latin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smtClean="0">
                <a:latin typeface="Cambria" panose="02040503050406030204" pitchFamily="18" charset="0"/>
              </a:rPr>
              <a:t>Device:</a:t>
            </a:r>
            <a:endParaRPr lang="en-US" sz="2400">
              <a:latin typeface="Cambria" panose="02040503050406030204" pitchFamily="18" charset="0"/>
            </a:endParaRPr>
          </a:p>
          <a:p>
            <a:pPr lvl="1"/>
            <a:r>
              <a:rPr lang="en-US" sz="2400" smtClean="0">
                <a:latin typeface="Cambria" panose="02040503050406030204" pitchFamily="18" charset="0"/>
              </a:rPr>
              <a:t>Real device: Android mobile device</a:t>
            </a:r>
          </a:p>
          <a:p>
            <a:pPr lvl="1"/>
            <a:r>
              <a:rPr lang="en-US" sz="2400" smtClean="0">
                <a:latin typeface="Cambria" panose="02040503050406030204" pitchFamily="18" charset="0"/>
              </a:rPr>
              <a:t>Android Emulator</a:t>
            </a:r>
            <a:endParaRPr lang="en-US" sz="2400">
              <a:latin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smtClean="0">
                <a:latin typeface="Cambria" panose="02040503050406030204" pitchFamily="18" charset="0"/>
              </a:rPr>
              <a:t>Web </a:t>
            </a:r>
            <a:r>
              <a:rPr lang="en-US" sz="2400">
                <a:latin typeface="Cambria" panose="02040503050406030204" pitchFamily="18" charset="0"/>
              </a:rPr>
              <a:t>Server</a:t>
            </a:r>
          </a:p>
          <a:p>
            <a:pPr lvl="1"/>
            <a:r>
              <a:rPr lang="en-US" sz="2400">
                <a:latin typeface="Cambria" panose="02040503050406030204" pitchFamily="18" charset="0"/>
              </a:rPr>
              <a:t>IIS Web </a:t>
            </a:r>
            <a:r>
              <a:rPr lang="en-US" sz="2400" smtClean="0">
                <a:latin typeface="Cambria" panose="02040503050406030204" pitchFamily="18" charset="0"/>
              </a:rPr>
              <a:t>Server</a:t>
            </a:r>
          </a:p>
          <a:p>
            <a:pPr lvl="1"/>
            <a:r>
              <a:rPr lang="en-US" sz="2400" smtClean="0">
                <a:latin typeface="Cambria" panose="02040503050406030204" pitchFamily="18" charset="0"/>
              </a:rPr>
              <a:t>External API</a:t>
            </a:r>
            <a:endParaRPr lang="en-US" sz="2400">
              <a:latin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>
                <a:latin typeface="Cambria" panose="02040503050406030204" pitchFamily="18" charset="0"/>
              </a:rPr>
              <a:t>Web Browser:</a:t>
            </a:r>
          </a:p>
          <a:p>
            <a:pPr lvl="1"/>
            <a:r>
              <a:rPr lang="en-US" sz="2400">
                <a:latin typeface="Cambria" panose="02040503050406030204" pitchFamily="18" charset="0"/>
              </a:rPr>
              <a:t>Chrome</a:t>
            </a:r>
          </a:p>
          <a:p>
            <a:pPr lvl="1"/>
            <a:r>
              <a:rPr lang="en-US" sz="2400" smtClean="0">
                <a:latin typeface="Cambria" panose="02040503050406030204" pitchFamily="18" charset="0"/>
              </a:rPr>
              <a:t>Firefox</a:t>
            </a:r>
            <a:endParaRPr lang="en-US" sz="240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15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A46954-015D-3592-10D7-8A6E0C21AD82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9FAE1AFB-689F-0655-3BDC-C3E59221AA5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Documents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D90C4E2C-EB98-5DD9-C6C4-A6F2348FF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EEFA21E6-4AF5-F52D-FDCE-C3B9636205C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33CD66CC-ED56-4E0E-E3DB-D5D0057B253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F7DF3577-50FF-2DA7-6C02-E48F0F0F559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38CA455-B53E-13EA-C954-6DD77C36D59A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3538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Books: 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M-Commerce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Paul Skeldon, Crimson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Publishing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First Android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Development; David Griffiths and Dawn Griffiths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development; Lê Hoành Sử, Hồ Trung Thành, Trần Duy Thanh, VNU HCM publisher, 2017, ISBN: 978-604-73-5672-0</a:t>
            </a:r>
          </a:p>
          <a:p>
            <a:pPr lvl="1"/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development; Lê Hoành Sử, Hồ Trung Thành, Trần Duy Thanh, VNU HCM publisher, 2017, ISBN: 978-604-73-5673-7</a:t>
            </a:r>
          </a:p>
        </p:txBody>
      </p:sp>
    </p:spTree>
    <p:extLst>
      <p:ext uri="{BB962C8B-B14F-4D97-AF65-F5344CB8AC3E}">
        <p14:creationId xmlns:p14="http://schemas.microsoft.com/office/powerpoint/2010/main" val="2048811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A46954-015D-3592-10D7-8A6E0C21AD82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9FAE1AFB-689F-0655-3BDC-C3E59221AA5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Documents</a:t>
              </a: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D90C4E2C-EB98-5DD9-C6C4-A6F2348FF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EEFA21E6-4AF5-F52D-FDCE-C3B9636205C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33CD66CC-ED56-4E0E-E3DB-D5D0057B253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F7DF3577-50FF-2DA7-6C02-E48F0F0F559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38CA455-B53E-13EA-C954-6DD77C36D59A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3538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://www.w3schools.com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lvl="1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https://www.tutorialspoint.com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https://www.google.com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hlinkClick r:id="rId6"/>
            </a:endParaRPr>
          </a:p>
          <a:p>
            <a:pPr lvl="1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https://stackoverflow.com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</a:p>
          <a:p>
            <a:pPr lvl="1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https://www.codeproject.com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https://tranduythanh.com/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96274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226D36-C5A0-0DC8-2214-813B32E42958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B023F21A-96CB-1E39-5B08-7C49343E34B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Lecturer information</a:t>
              </a: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087F7109-D1B5-CDFB-3833-29A66B3271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C4EACDFC-90C5-3A2B-91B7-FDF31F90C0E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B632AEB3-79F2-BCB7-02B4-6279C0AF394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8590ABCF-7CB4-481B-C775-BC629856E15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2" name="Content Placeholder 2"/>
          <p:cNvSpPr txBox="1">
            <a:spLocks/>
          </p:cNvSpPr>
          <p:nvPr/>
        </p:nvSpPr>
        <p:spPr>
          <a:xfrm>
            <a:off x="457200" y="1076325"/>
            <a:ext cx="113538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2800" smtClean="0">
                <a:latin typeface="Cambria" panose="02040503050406030204" pitchFamily="18" charset="0"/>
              </a:rPr>
              <a:t>Full name: </a:t>
            </a:r>
            <a:r>
              <a:rPr lang="en-US" sz="2800" b="1" smtClean="0">
                <a:latin typeface="Cambria" panose="02040503050406030204" pitchFamily="18" charset="0"/>
              </a:rPr>
              <a:t>Tran </a:t>
            </a:r>
            <a:r>
              <a:rPr lang="en-US" sz="2800" b="1">
                <a:latin typeface="Cambria" panose="02040503050406030204" pitchFamily="18" charset="0"/>
              </a:rPr>
              <a:t>Duy Thanh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>
                <a:latin typeface="Cambria" panose="02040503050406030204" pitchFamily="18" charset="0"/>
              </a:rPr>
              <a:t>Email: </a:t>
            </a:r>
            <a:r>
              <a:rPr lang="en-US">
                <a:latin typeface="Cambria" panose="02040503050406030204" pitchFamily="18" charset="0"/>
                <a:hlinkClick r:id="rId3"/>
              </a:rPr>
              <a:t>thanhtd@uel.edu.vn</a:t>
            </a:r>
            <a:endParaRPr lang="en-US">
              <a:latin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>
                <a:latin typeface="Cambria" panose="02040503050406030204" pitchFamily="18" charset="0"/>
              </a:rPr>
              <a:t>Phone: 0987773061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>
                <a:latin typeface="Cambria" panose="02040503050406030204" pitchFamily="18" charset="0"/>
              </a:rPr>
              <a:t>Blog </a:t>
            </a:r>
            <a:r>
              <a:rPr lang="en-US" smtClean="0">
                <a:latin typeface="Cambria" panose="02040503050406030204" pitchFamily="18" charset="0"/>
              </a:rPr>
              <a:t>: </a:t>
            </a:r>
            <a:r>
              <a:rPr lang="en-US">
                <a:latin typeface="Cambria" panose="02040503050406030204" pitchFamily="18" charset="0"/>
                <a:hlinkClick r:id="rId4"/>
              </a:rPr>
              <a:t>https://</a:t>
            </a:r>
            <a:r>
              <a:rPr lang="en-US" smtClean="0">
                <a:latin typeface="Cambria" panose="02040503050406030204" pitchFamily="18" charset="0"/>
                <a:hlinkClick r:id="rId4"/>
              </a:rPr>
              <a:t>tranduythanh.com</a:t>
            </a:r>
            <a:r>
              <a:rPr lang="en-US">
                <a:latin typeface="Cambria" panose="020405030504060302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b="1" u="sng">
                <a:latin typeface="Cambria" panose="02040503050406030204" pitchFamily="18" charset="0"/>
              </a:rPr>
              <a:t>Note</a:t>
            </a:r>
            <a:r>
              <a:rPr lang="en-US" u="sng">
                <a:latin typeface="Cambria" panose="02040503050406030204" pitchFamily="18" charset="0"/>
              </a:rPr>
              <a:t>:</a:t>
            </a:r>
            <a:r>
              <a:rPr lang="en-US">
                <a:latin typeface="Cambria" panose="02040503050406030204" pitchFamily="18" charset="0"/>
              </a:rPr>
              <a:t> All emails about learning issues will be answered at the latest after 24 hours, if you do not see a reply, please call to remind because the email may be in Spam.</a:t>
            </a:r>
          </a:p>
        </p:txBody>
      </p:sp>
    </p:spTree>
    <p:extLst>
      <p:ext uri="{BB962C8B-B14F-4D97-AF65-F5344CB8AC3E}">
        <p14:creationId xmlns:p14="http://schemas.microsoft.com/office/powerpoint/2010/main" val="2118822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226D36-C5A0-0DC8-2214-813B32E42958}"/>
              </a:ext>
            </a:extLst>
          </p:cNvPr>
          <p:cNvGrpSpPr/>
          <p:nvPr/>
        </p:nvGrpSpPr>
        <p:grpSpPr>
          <a:xfrm>
            <a:off x="194733" y="287873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B023F21A-96CB-1E39-5B08-7C49343E34B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Next Lesson</a:t>
              </a:r>
              <a:endParaRPr lang="en-US" sz="2800" b="1" dirty="0"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087F7109-D1B5-CDFB-3833-29A66B3271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C4EACDFC-90C5-3A2B-91B7-FDF31F90C0E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B632AEB3-79F2-BCB7-02B4-6279C0AF394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8590ABCF-7CB4-481B-C775-BC629856E15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2" name="Content Placeholder 2"/>
          <p:cNvSpPr txBox="1">
            <a:spLocks/>
          </p:cNvSpPr>
          <p:nvPr/>
        </p:nvSpPr>
        <p:spPr>
          <a:xfrm>
            <a:off x="523243" y="993000"/>
            <a:ext cx="113538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800" b="1" dirty="0" smtClean="0">
                <a:latin typeface="Cambria" panose="02040503050406030204" pitchFamily="18" charset="0"/>
              </a:rPr>
              <a:t>Overview of Mobile commerce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Cambria" panose="02040503050406030204" pitchFamily="18" charset="0"/>
              </a:rPr>
              <a:t>Introduction M-Commerce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Cambria" panose="02040503050406030204" pitchFamily="18" charset="0"/>
              </a:rPr>
              <a:t>Features of M-Commerce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Cambria" panose="02040503050406030204" pitchFamily="18" charset="0"/>
              </a:rPr>
              <a:t>Applications of M-Commerce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Cambria" panose="02040503050406030204" pitchFamily="18" charset="0"/>
              </a:rPr>
              <a:t>Implementing mobile commerce attentions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Cambria" panose="02040503050406030204" pitchFamily="18" charset="0"/>
              </a:rPr>
              <a:t>Development Mobile Applications, why Android?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Cambria" panose="02040503050406030204" pitchFamily="18" charset="0"/>
              </a:rPr>
              <a:t>Discussions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01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974</Words>
  <Application>Microsoft Office PowerPoint</Application>
  <PresentationFormat>Widescreen</PresentationFormat>
  <Paragraphs>244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Lato Black</vt:lpstr>
      <vt:lpstr>Times New Roman</vt:lpstr>
      <vt:lpstr>Lato</vt:lpstr>
      <vt:lpstr>Arial</vt:lpstr>
      <vt:lpstr>SimSun</vt:lpstr>
      <vt:lpstr>Cambria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Pí Yeah</dc:creator>
  <cp:lastModifiedBy>thanhtd</cp:lastModifiedBy>
  <cp:revision>94</cp:revision>
  <dcterms:created xsi:type="dcterms:W3CDTF">2022-12-02T04:21:00Z</dcterms:created>
  <dcterms:modified xsi:type="dcterms:W3CDTF">2024-01-25T13:27:31Z</dcterms:modified>
</cp:coreProperties>
</file>