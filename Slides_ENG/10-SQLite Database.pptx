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59" r:id="rId2"/>
  </p:sldMasterIdLst>
  <p:notesMasterIdLst>
    <p:notesMasterId r:id="rId32"/>
  </p:notesMasterIdLst>
  <p:sldIdLst>
    <p:sldId id="256" r:id="rId3"/>
    <p:sldId id="267" r:id="rId4"/>
    <p:sldId id="281" r:id="rId5"/>
    <p:sldId id="318" r:id="rId6"/>
    <p:sldId id="322" r:id="rId7"/>
    <p:sldId id="319" r:id="rId8"/>
    <p:sldId id="324" r:id="rId9"/>
    <p:sldId id="326" r:id="rId10"/>
    <p:sldId id="327" r:id="rId11"/>
    <p:sldId id="328" r:id="rId12"/>
    <p:sldId id="329" r:id="rId13"/>
    <p:sldId id="323" r:id="rId14"/>
    <p:sldId id="325" r:id="rId15"/>
    <p:sldId id="330" r:id="rId16"/>
    <p:sldId id="320" r:id="rId17"/>
    <p:sldId id="331" r:id="rId18"/>
    <p:sldId id="332" r:id="rId19"/>
    <p:sldId id="333" r:id="rId20"/>
    <p:sldId id="334" r:id="rId21"/>
    <p:sldId id="335" r:id="rId22"/>
    <p:sldId id="336" r:id="rId23"/>
    <p:sldId id="337" r:id="rId24"/>
    <p:sldId id="321" r:id="rId25"/>
    <p:sldId id="338" r:id="rId26"/>
    <p:sldId id="339" r:id="rId27"/>
    <p:sldId id="317" r:id="rId28"/>
    <p:sldId id="340" r:id="rId29"/>
    <p:sldId id="308" r:id="rId30"/>
    <p:sldId id="269" r:id="rId31"/>
  </p:sldIdLst>
  <p:sldSz cx="12192000" cy="6858000"/>
  <p:notesSz cx="6858000" cy="9144000"/>
  <p:embeddedFontLst>
    <p:embeddedFont>
      <p:font typeface="Lato Black" panose="020B0604020202020204" charset="0"/>
      <p:bold r:id="rId33"/>
      <p:boldItalic r:id="rId34"/>
    </p:embeddedFont>
    <p:embeddedFont>
      <p:font typeface="Lato" panose="020B0604020202020204" charset="0"/>
      <p:regular r:id="rId35"/>
      <p:bold r:id="rId36"/>
      <p:italic r:id="rId37"/>
      <p:boldItalic r:id="rId38"/>
    </p:embeddedFont>
    <p:embeddedFont>
      <p:font typeface="Calibri" panose="020F0502020204030204" pitchFamily="34" charset="0"/>
      <p:regular r:id="rId39"/>
      <p:bold r:id="rId40"/>
      <p:italic r:id="rId41"/>
      <p:boldItalic r:id="rId42"/>
    </p:embeddedFont>
    <p:embeddedFont>
      <p:font typeface="Cambria" panose="02040503050406030204" pitchFamily="18" charset="0"/>
      <p:regular r:id="rId43"/>
      <p:bold r:id="rId44"/>
      <p:italic r:id="rId45"/>
      <p:boldItalic r:id="rId46"/>
    </p:embeddedFont>
    <p:embeddedFont>
      <p:font typeface="Georgia" panose="02040502050405020303" pitchFamily="18" charset="0"/>
      <p:regular r:id="rId47"/>
      <p:bold r:id="rId48"/>
      <p:italic r:id="rId49"/>
      <p:boldItalic r:id="rId5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92" roundtripDataSignature="AMtx7mh4VrLQLvjXUsQeVJWWu9hsLYoG6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315" autoAdjust="0"/>
    <p:restoredTop sz="89605" autoAdjust="0"/>
  </p:normalViewPr>
  <p:slideViewPr>
    <p:cSldViewPr snapToGrid="0">
      <p:cViewPr varScale="1">
        <p:scale>
          <a:sx n="112" d="100"/>
          <a:sy n="112" d="100"/>
        </p:scale>
        <p:origin x="254" y="6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font" Target="fonts/font7.fntdata"/><Relationship Id="rId21" Type="http://schemas.openxmlformats.org/officeDocument/2006/relationships/slide" Target="slides/slide19.xml"/><Relationship Id="rId34" Type="http://schemas.openxmlformats.org/officeDocument/2006/relationships/font" Target="fonts/font2.fntdata"/><Relationship Id="rId42" Type="http://schemas.openxmlformats.org/officeDocument/2006/relationships/font" Target="fonts/font10.fntdata"/><Relationship Id="rId47" Type="http://schemas.openxmlformats.org/officeDocument/2006/relationships/font" Target="fonts/font15.fntdata"/><Relationship Id="rId50" Type="http://schemas.openxmlformats.org/officeDocument/2006/relationships/font" Target="fonts/font18.fntdata"/><Relationship Id="rId7" Type="http://schemas.openxmlformats.org/officeDocument/2006/relationships/slide" Target="slides/slide5.xml"/><Relationship Id="rId92" Type="http://customschemas.google.com/relationships/presentationmetadata" Target="meta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5.fntdata"/><Relationship Id="rId40" Type="http://schemas.openxmlformats.org/officeDocument/2006/relationships/font" Target="fonts/font8.fntdata"/><Relationship Id="rId45" Type="http://schemas.openxmlformats.org/officeDocument/2006/relationships/font" Target="fonts/font13.fntdata"/><Relationship Id="rId5" Type="http://schemas.openxmlformats.org/officeDocument/2006/relationships/slide" Target="slides/slide3.xml"/><Relationship Id="rId95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font" Target="fonts/font12.fntdata"/><Relationship Id="rId94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font" Target="fonts/font3.fntdata"/><Relationship Id="rId43" Type="http://schemas.openxmlformats.org/officeDocument/2006/relationships/font" Target="fonts/font11.fntdata"/><Relationship Id="rId48" Type="http://schemas.openxmlformats.org/officeDocument/2006/relationships/font" Target="fonts/font16.fntdata"/><Relationship Id="rId8" Type="http://schemas.openxmlformats.org/officeDocument/2006/relationships/slide" Target="slides/slide6.xml"/><Relationship Id="rId93" Type="http://schemas.openxmlformats.org/officeDocument/2006/relationships/presProps" Target="pres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font" Target="fonts/font1.fntdata"/><Relationship Id="rId38" Type="http://schemas.openxmlformats.org/officeDocument/2006/relationships/font" Target="fonts/font6.fntdata"/><Relationship Id="rId46" Type="http://schemas.openxmlformats.org/officeDocument/2006/relationships/font" Target="fonts/font14.fntdata"/><Relationship Id="rId20" Type="http://schemas.openxmlformats.org/officeDocument/2006/relationships/slide" Target="slides/slide18.xml"/><Relationship Id="rId41" Type="http://schemas.openxmlformats.org/officeDocument/2006/relationships/font" Target="fonts/font9.fntdata"/><Relationship Id="rId9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font" Target="fonts/font4.fntdata"/><Relationship Id="rId49" Type="http://schemas.openxmlformats.org/officeDocument/2006/relationships/font" Target="fonts/font1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782133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120551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945453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68597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702828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668235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619960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866185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383103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251357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744776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7259022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7780004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6460008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8096681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578447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5283722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293541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8162757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6400050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9320355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1472444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9787042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2854903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0344389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7329918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0831260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928143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Blank">
  <p:cSld name="2_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10"/>
          <p:cNvPicPr preferRelativeResize="0"/>
          <p:nvPr/>
        </p:nvPicPr>
        <p:blipFill rotWithShape="1">
          <a:blip r:embed="rId2">
            <a:alphaModFix/>
          </a:blip>
          <a:srcRect r="21016"/>
          <a:stretch/>
        </p:blipFill>
        <p:spPr>
          <a:xfrm>
            <a:off x="0" y="880629"/>
            <a:ext cx="8673353" cy="6176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10"/>
          <p:cNvPicPr preferRelativeResize="0"/>
          <p:nvPr/>
        </p:nvPicPr>
        <p:blipFill rotWithShape="1">
          <a:blip r:embed="rId3">
            <a:alphaModFix/>
          </a:blip>
          <a:srcRect r="-3333" b="87407"/>
          <a:stretch/>
        </p:blipFill>
        <p:spPr>
          <a:xfrm>
            <a:off x="0" y="0"/>
            <a:ext cx="12598400" cy="4318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10"/>
          <p:cNvSpPr txBox="1">
            <a:spLocks noGrp="1"/>
          </p:cNvSpPr>
          <p:nvPr>
            <p:ph type="title"/>
          </p:nvPr>
        </p:nvSpPr>
        <p:spPr>
          <a:xfrm>
            <a:off x="1595351" y="2187196"/>
            <a:ext cx="9001297" cy="778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4E8C"/>
              </a:buClr>
              <a:buSzPts val="4400"/>
              <a:buFont typeface="Lato Black"/>
              <a:buNone/>
              <a:defRPr sz="4400">
                <a:latin typeface="Lato Black"/>
                <a:ea typeface="Lato Black"/>
                <a:cs typeface="Lato Black"/>
                <a:sym typeface="Lat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9" name="Google Shape;19;p10"/>
          <p:cNvPicPr preferRelativeResize="0"/>
          <p:nvPr userDrawn="1"/>
        </p:nvPicPr>
        <p:blipFill rotWithShape="1">
          <a:blip r:embed="rId4">
            <a:alphaModFix/>
          </a:blip>
          <a:srcRect/>
          <a:stretch/>
        </p:blipFill>
        <p:spPr>
          <a:xfrm>
            <a:off x="4847885" y="210692"/>
            <a:ext cx="2496230" cy="1015802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10"/>
          <p:cNvSpPr txBox="1"/>
          <p:nvPr userDrawn="1"/>
        </p:nvSpPr>
        <p:spPr>
          <a:xfrm>
            <a:off x="1595350" y="1017973"/>
            <a:ext cx="9144000" cy="778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2500" lnSpcReduction="20000"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4E8C"/>
              </a:buClr>
              <a:buSzPts val="2000"/>
              <a:buFont typeface="Lato Black"/>
              <a:buNone/>
            </a:pPr>
            <a:r>
              <a:rPr lang="en-US" sz="2400" b="1" i="0" u="none" strike="noStrike" cap="none">
                <a:solidFill>
                  <a:srgbClr val="144E8C"/>
                </a:solidFill>
                <a:latin typeface="Cambria" panose="02040503050406030204" pitchFamily="18" charset="0"/>
                <a:ea typeface="Cambria" panose="02040503050406030204" pitchFamily="18" charset="0"/>
                <a:cs typeface="Lato Black"/>
                <a:sym typeface="Lato Black"/>
              </a:rPr>
              <a:t>VIETNAM NATIONAL UNIVERSITY HO CHI MINH CITY</a:t>
            </a:r>
            <a:br>
              <a:rPr lang="en-US" sz="2400" b="1" i="0" u="none" strike="noStrike" cap="none">
                <a:solidFill>
                  <a:srgbClr val="144E8C"/>
                </a:solidFill>
                <a:latin typeface="Cambria" panose="02040503050406030204" pitchFamily="18" charset="0"/>
                <a:ea typeface="Cambria" panose="02040503050406030204" pitchFamily="18" charset="0"/>
                <a:cs typeface="Lato Black"/>
                <a:sym typeface="Lato Black"/>
              </a:rPr>
            </a:br>
            <a:r>
              <a:rPr lang="en-US" sz="2400" b="1" i="0" u="none" strike="noStrike" cap="none">
                <a:solidFill>
                  <a:srgbClr val="144E8C"/>
                </a:solidFill>
                <a:latin typeface="Cambria" panose="02040503050406030204" pitchFamily="18" charset="0"/>
                <a:ea typeface="Cambria" panose="02040503050406030204" pitchFamily="18" charset="0"/>
                <a:cs typeface="Lato Black"/>
                <a:sym typeface="Lato Black"/>
              </a:rPr>
              <a:t>University of Economics and Law</a:t>
            </a:r>
            <a:endParaRPr sz="16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2"/>
          <p:cNvSpPr txBox="1">
            <a:spLocks noGrp="1"/>
          </p:cNvSpPr>
          <p:nvPr>
            <p:ph type="title"/>
          </p:nvPr>
        </p:nvSpPr>
        <p:spPr>
          <a:xfrm>
            <a:off x="839788" y="659342"/>
            <a:ext cx="3932237" cy="1070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4E8C"/>
              </a:buClr>
              <a:buSzPts val="3200"/>
              <a:buFont typeface="Lato Black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33" name="Google Shape;33;p1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pic>
        <p:nvPicPr>
          <p:cNvPr id="34" name="Google Shape;34;p12"/>
          <p:cNvPicPr preferRelativeResize="0"/>
          <p:nvPr/>
        </p:nvPicPr>
        <p:blipFill rotWithShape="1">
          <a:blip r:embed="rId2">
            <a:alphaModFix/>
          </a:blip>
          <a:srcRect r="-3333" b="87407"/>
          <a:stretch/>
        </p:blipFill>
        <p:spPr>
          <a:xfrm flipH="1">
            <a:off x="-406400" y="-1"/>
            <a:ext cx="12598400" cy="43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5;p12"/>
          <p:cNvPicPr preferRelativeResize="0"/>
          <p:nvPr/>
        </p:nvPicPr>
        <p:blipFill rotWithShape="1">
          <a:blip r:embed="rId3">
            <a:alphaModFix/>
          </a:blip>
          <a:srcRect l="15000" t="43307" r="32291" b="37052"/>
          <a:stretch/>
        </p:blipFill>
        <p:spPr>
          <a:xfrm>
            <a:off x="211666" y="6201820"/>
            <a:ext cx="3590248" cy="65618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12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1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2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lvl="1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lvl="2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lvl="3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lvl="4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lvl="5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lvl="6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lvl="7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lvl="8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8"/>
          <p:cNvSpPr txBox="1">
            <a:spLocks noGrp="1"/>
          </p:cNvSpPr>
          <p:nvPr>
            <p:ph type="title"/>
          </p:nvPr>
        </p:nvSpPr>
        <p:spPr>
          <a:xfrm>
            <a:off x="839788" y="577547"/>
            <a:ext cx="3932237" cy="1292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4E8C"/>
              </a:buClr>
              <a:buSzPts val="3200"/>
              <a:buFont typeface="Lato Black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8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9" name="Google Shape;79;p18"/>
          <p:cNvSpPr txBox="1">
            <a:spLocks noGrp="1"/>
          </p:cNvSpPr>
          <p:nvPr>
            <p:ph type="body" idx="2"/>
          </p:nvPr>
        </p:nvSpPr>
        <p:spPr>
          <a:xfrm>
            <a:off x="839788" y="2201630"/>
            <a:ext cx="3932237" cy="3667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pic>
        <p:nvPicPr>
          <p:cNvPr id="80" name="Google Shape;80;p18"/>
          <p:cNvPicPr preferRelativeResize="0"/>
          <p:nvPr/>
        </p:nvPicPr>
        <p:blipFill rotWithShape="1">
          <a:blip r:embed="rId2">
            <a:alphaModFix/>
          </a:blip>
          <a:srcRect r="-3333" b="87407"/>
          <a:stretch/>
        </p:blipFill>
        <p:spPr>
          <a:xfrm flipH="1">
            <a:off x="-406400" y="-1"/>
            <a:ext cx="12598400" cy="43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8"/>
          <p:cNvPicPr preferRelativeResize="0"/>
          <p:nvPr/>
        </p:nvPicPr>
        <p:blipFill rotWithShape="1">
          <a:blip r:embed="rId3">
            <a:alphaModFix/>
          </a:blip>
          <a:srcRect l="24127" t="66898" r="25919" b="25925"/>
          <a:stretch/>
        </p:blipFill>
        <p:spPr>
          <a:xfrm>
            <a:off x="810734" y="1911095"/>
            <a:ext cx="2855494" cy="115369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8"/>
          <p:cNvPicPr preferRelativeResize="0"/>
          <p:nvPr/>
        </p:nvPicPr>
        <p:blipFill rotWithShape="1">
          <a:blip r:embed="rId4">
            <a:alphaModFix/>
          </a:blip>
          <a:srcRect l="15000" t="43307" r="32291" b="37052"/>
          <a:stretch/>
        </p:blipFill>
        <p:spPr>
          <a:xfrm>
            <a:off x="211666" y="6160255"/>
            <a:ext cx="3590248" cy="65618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8"/>
          <p:cNvSpPr txBox="1">
            <a:spLocks noGrp="1"/>
          </p:cNvSpPr>
          <p:nvPr>
            <p:ph type="ftr" idx="11"/>
          </p:nvPr>
        </p:nvSpPr>
        <p:spPr>
          <a:xfrm>
            <a:off x="728132" y="6387798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1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sldNum" idx="12"/>
          </p:nvPr>
        </p:nvSpPr>
        <p:spPr>
          <a:xfrm>
            <a:off x="3098799" y="6335940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lvl="1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lvl="2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lvl="3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lvl="4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lvl="5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lvl="6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lvl="7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lvl="8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 type="blank">
  <p:cSld name="BLANK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9"/>
          <p:cNvSpPr txBox="1">
            <a:spLocks noGrp="1"/>
          </p:cNvSpPr>
          <p:nvPr>
            <p:ph type="ftr" idx="11"/>
          </p:nvPr>
        </p:nvSpPr>
        <p:spPr>
          <a:xfrm>
            <a:off x="3581400" y="6356350"/>
            <a:ext cx="5029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Blank">
  <p:cSld name="2_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10"/>
          <p:cNvPicPr preferRelativeResize="0"/>
          <p:nvPr/>
        </p:nvPicPr>
        <p:blipFill rotWithShape="1">
          <a:blip r:embed="rId2">
            <a:alphaModFix/>
          </a:blip>
          <a:srcRect r="21016"/>
          <a:stretch/>
        </p:blipFill>
        <p:spPr>
          <a:xfrm>
            <a:off x="0" y="880629"/>
            <a:ext cx="8673353" cy="6176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10"/>
          <p:cNvPicPr preferRelativeResize="0"/>
          <p:nvPr/>
        </p:nvPicPr>
        <p:blipFill rotWithShape="1">
          <a:blip r:embed="rId3">
            <a:alphaModFix/>
          </a:blip>
          <a:srcRect r="-3333" b="87407"/>
          <a:stretch/>
        </p:blipFill>
        <p:spPr>
          <a:xfrm>
            <a:off x="0" y="0"/>
            <a:ext cx="12598400" cy="4318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10"/>
          <p:cNvSpPr txBox="1">
            <a:spLocks noGrp="1"/>
          </p:cNvSpPr>
          <p:nvPr>
            <p:ph type="title"/>
          </p:nvPr>
        </p:nvSpPr>
        <p:spPr>
          <a:xfrm>
            <a:off x="1595351" y="2187196"/>
            <a:ext cx="9001297" cy="778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4E8C"/>
              </a:buClr>
              <a:buSzPts val="4400"/>
              <a:buFont typeface="Lato Black"/>
              <a:buNone/>
              <a:defRPr sz="4400">
                <a:latin typeface="Lato Black"/>
                <a:ea typeface="Lato Black"/>
                <a:cs typeface="Lato Black"/>
                <a:sym typeface="Lat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9" name="Google Shape;19;p10"/>
          <p:cNvPicPr preferRelativeResize="0"/>
          <p:nvPr userDrawn="1"/>
        </p:nvPicPr>
        <p:blipFill rotWithShape="1">
          <a:blip r:embed="rId4">
            <a:alphaModFix/>
          </a:blip>
          <a:srcRect/>
          <a:stretch/>
        </p:blipFill>
        <p:spPr>
          <a:xfrm>
            <a:off x="4847885" y="210692"/>
            <a:ext cx="2496230" cy="1015802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10"/>
          <p:cNvSpPr txBox="1"/>
          <p:nvPr userDrawn="1"/>
        </p:nvSpPr>
        <p:spPr>
          <a:xfrm>
            <a:off x="1595350" y="1017973"/>
            <a:ext cx="9144000" cy="778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2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4E8C"/>
              </a:buClr>
              <a:buSzPts val="2000"/>
              <a:buFont typeface="Lato Black"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>
                <a:ln>
                  <a:noFill/>
                </a:ln>
                <a:solidFill>
                  <a:srgbClr val="144E8C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Lato Black"/>
                <a:sym typeface="Lato Black"/>
              </a:rPr>
              <a:t>VIETNAM NATIONAL UNIVERSITY HO CHI MINH CITY</a:t>
            </a:r>
            <a:br>
              <a:rPr kumimoji="0" lang="en-US" sz="2400" b="1" i="0" u="none" strike="noStrike" kern="0" cap="none" spc="0" normalizeH="0" baseline="0" noProof="0">
                <a:ln>
                  <a:noFill/>
                </a:ln>
                <a:solidFill>
                  <a:srgbClr val="144E8C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Lato Black"/>
                <a:sym typeface="Lato Black"/>
              </a:rPr>
            </a:br>
            <a:r>
              <a:rPr kumimoji="0" lang="en-US" sz="2400" b="1" i="0" u="none" strike="noStrike" kern="0" cap="none" spc="0" normalizeH="0" baseline="0" noProof="0">
                <a:ln>
                  <a:noFill/>
                </a:ln>
                <a:solidFill>
                  <a:srgbClr val="144E8C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Lato Black"/>
                <a:sym typeface="Lato Black"/>
              </a:rPr>
              <a:t>University of Economics and Law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509783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2"/>
          <p:cNvSpPr txBox="1">
            <a:spLocks noGrp="1"/>
          </p:cNvSpPr>
          <p:nvPr>
            <p:ph type="title"/>
          </p:nvPr>
        </p:nvSpPr>
        <p:spPr>
          <a:xfrm>
            <a:off x="839788" y="659342"/>
            <a:ext cx="3932237" cy="1070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4E8C"/>
              </a:buClr>
              <a:buSzPts val="3200"/>
              <a:buFont typeface="Lato Black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33" name="Google Shape;33;p1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pic>
        <p:nvPicPr>
          <p:cNvPr id="34" name="Google Shape;34;p12"/>
          <p:cNvPicPr preferRelativeResize="0"/>
          <p:nvPr/>
        </p:nvPicPr>
        <p:blipFill rotWithShape="1">
          <a:blip r:embed="rId2">
            <a:alphaModFix/>
          </a:blip>
          <a:srcRect r="-3333" b="87407"/>
          <a:stretch/>
        </p:blipFill>
        <p:spPr>
          <a:xfrm flipH="1">
            <a:off x="-406400" y="-1"/>
            <a:ext cx="12598400" cy="43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5;p12"/>
          <p:cNvPicPr preferRelativeResize="0"/>
          <p:nvPr/>
        </p:nvPicPr>
        <p:blipFill rotWithShape="1">
          <a:blip r:embed="rId3">
            <a:alphaModFix/>
          </a:blip>
          <a:srcRect l="15000" t="43307" r="32291" b="37052"/>
          <a:stretch/>
        </p:blipFill>
        <p:spPr>
          <a:xfrm>
            <a:off x="211666" y="6201820"/>
            <a:ext cx="3590248" cy="65618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12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1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smtClean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Faculty of Information Systems</a:t>
            </a:r>
            <a:endParaRPr kumimoji="0" lang="en-US" sz="1200" b="1" i="1" u="none" strike="noStrike" kern="0" cap="none" spc="0" normalizeH="0" baseline="0" noProof="0">
              <a:ln>
                <a:noFill/>
              </a:ln>
              <a:solidFill>
                <a:srgbClr val="E7E6E6"/>
              </a:solidFill>
              <a:effectLst/>
              <a:uLnTx/>
              <a:uFillTx/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7" name="Google Shape;37;p12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lvl="1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lvl="2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lvl="3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lvl="4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lvl="5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lvl="6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lvl="7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lvl="8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sz="12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3003634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7"/>
          <p:cNvPicPr preferRelativeResize="0"/>
          <p:nvPr/>
        </p:nvPicPr>
        <p:blipFill rotWithShape="1">
          <a:blip r:embed="rId2">
            <a:alphaModFix/>
          </a:blip>
          <a:srcRect r="-3333" b="87407"/>
          <a:stretch/>
        </p:blipFill>
        <p:spPr>
          <a:xfrm>
            <a:off x="0" y="0"/>
            <a:ext cx="12598400" cy="43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85306" y="-33086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7"/>
          <p:cNvSpPr txBox="1">
            <a:spLocks noGrp="1"/>
          </p:cNvSpPr>
          <p:nvPr>
            <p:ph type="title"/>
          </p:nvPr>
        </p:nvSpPr>
        <p:spPr>
          <a:xfrm>
            <a:off x="838200" y="2581306"/>
            <a:ext cx="10515600" cy="1566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4E8C"/>
              </a:buClr>
              <a:buSzPts val="9600"/>
              <a:buFont typeface="Lato Black"/>
              <a:buNone/>
              <a:defRPr sz="9600">
                <a:latin typeface="Lato Black"/>
                <a:ea typeface="Lato Black"/>
                <a:cs typeface="Lato Black"/>
                <a:sym typeface="Lat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74" name="Google Shape;74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57944" y="330860"/>
            <a:ext cx="2890753" cy="1176347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7"/>
          <p:cNvSpPr txBox="1"/>
          <p:nvPr/>
        </p:nvSpPr>
        <p:spPr>
          <a:xfrm>
            <a:off x="2805445" y="1354975"/>
            <a:ext cx="6410498" cy="688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4E8C"/>
              </a:buClr>
              <a:buSzPts val="2000"/>
              <a:buFont typeface="Lato Black"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144E8C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Lato Black"/>
                <a:sym typeface="Lato Black"/>
              </a:rPr>
              <a:t>VIETNAM NATIONAL UNIVERSITY HO CHI MINH CITY</a:t>
            </a:r>
            <a:br>
              <a:rPr kumimoji="0" 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144E8C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Lato Black"/>
                <a:sym typeface="Lato Black"/>
              </a:rPr>
            </a:br>
            <a:r>
              <a:rPr kumimoji="0" 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144E8C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Lato Black"/>
                <a:sym typeface="Lato Black"/>
              </a:rPr>
              <a:t>University of Economics and Law</a:t>
            </a: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813302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8"/>
          <p:cNvSpPr txBox="1">
            <a:spLocks noGrp="1"/>
          </p:cNvSpPr>
          <p:nvPr>
            <p:ph type="title"/>
          </p:nvPr>
        </p:nvSpPr>
        <p:spPr>
          <a:xfrm>
            <a:off x="839788" y="577547"/>
            <a:ext cx="3932237" cy="1292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4E8C"/>
              </a:buClr>
              <a:buSzPts val="3200"/>
              <a:buFont typeface="Lato Black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8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9" name="Google Shape;79;p18"/>
          <p:cNvSpPr txBox="1">
            <a:spLocks noGrp="1"/>
          </p:cNvSpPr>
          <p:nvPr>
            <p:ph type="body" idx="2"/>
          </p:nvPr>
        </p:nvSpPr>
        <p:spPr>
          <a:xfrm>
            <a:off x="839788" y="2201630"/>
            <a:ext cx="3932237" cy="3667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pic>
        <p:nvPicPr>
          <p:cNvPr id="80" name="Google Shape;80;p18"/>
          <p:cNvPicPr preferRelativeResize="0"/>
          <p:nvPr/>
        </p:nvPicPr>
        <p:blipFill rotWithShape="1">
          <a:blip r:embed="rId2">
            <a:alphaModFix/>
          </a:blip>
          <a:srcRect r="-3333" b="87407"/>
          <a:stretch/>
        </p:blipFill>
        <p:spPr>
          <a:xfrm flipH="1">
            <a:off x="-406400" y="-1"/>
            <a:ext cx="12598400" cy="43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8"/>
          <p:cNvPicPr preferRelativeResize="0"/>
          <p:nvPr/>
        </p:nvPicPr>
        <p:blipFill rotWithShape="1">
          <a:blip r:embed="rId3">
            <a:alphaModFix/>
          </a:blip>
          <a:srcRect l="24127" t="66898" r="25919" b="25925"/>
          <a:stretch/>
        </p:blipFill>
        <p:spPr>
          <a:xfrm>
            <a:off x="810734" y="1911095"/>
            <a:ext cx="2855494" cy="115369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8"/>
          <p:cNvPicPr preferRelativeResize="0"/>
          <p:nvPr/>
        </p:nvPicPr>
        <p:blipFill rotWithShape="1">
          <a:blip r:embed="rId4">
            <a:alphaModFix/>
          </a:blip>
          <a:srcRect l="15000" t="43307" r="32291" b="37052"/>
          <a:stretch/>
        </p:blipFill>
        <p:spPr>
          <a:xfrm>
            <a:off x="211666" y="6160255"/>
            <a:ext cx="3590248" cy="65618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8"/>
          <p:cNvSpPr txBox="1">
            <a:spLocks noGrp="1"/>
          </p:cNvSpPr>
          <p:nvPr>
            <p:ph type="ftr" idx="11"/>
          </p:nvPr>
        </p:nvSpPr>
        <p:spPr>
          <a:xfrm>
            <a:off x="728132" y="6387798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1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smtClean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Faculty of Information Systems</a:t>
            </a:r>
            <a:endParaRPr kumimoji="0" lang="en-US" sz="1200" b="1" i="1" u="none" strike="noStrike" kern="0" cap="none" spc="0" normalizeH="0" baseline="0" noProof="0">
              <a:ln>
                <a:noFill/>
              </a:ln>
              <a:solidFill>
                <a:srgbClr val="E7E6E6"/>
              </a:solidFill>
              <a:effectLst/>
              <a:uLnTx/>
              <a:uFillTx/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4" name="Google Shape;84;p18"/>
          <p:cNvSpPr txBox="1">
            <a:spLocks noGrp="1"/>
          </p:cNvSpPr>
          <p:nvPr>
            <p:ph type="sldNum" idx="12"/>
          </p:nvPr>
        </p:nvSpPr>
        <p:spPr>
          <a:xfrm>
            <a:off x="3098799" y="6335940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lvl="1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lvl="2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lvl="3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lvl="4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lvl="5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lvl="6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lvl="7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lvl="8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sz="12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5290390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 type="blank">
  <p:cSld name="1_Blank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9"/>
          <p:cNvSpPr txBox="1">
            <a:spLocks noGrp="1"/>
          </p:cNvSpPr>
          <p:nvPr>
            <p:ph type="ftr" idx="11"/>
          </p:nvPr>
        </p:nvSpPr>
        <p:spPr>
          <a:xfrm>
            <a:off x="3581400" y="6356350"/>
            <a:ext cx="5029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8" name="Google Shape;88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303219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9.xml"/><Relationship Id="rId4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4E8C"/>
              </a:buClr>
              <a:buSzPts val="4400"/>
              <a:buFont typeface="Lato Black"/>
              <a:buNone/>
              <a:defRPr sz="4400" b="1" i="0" u="none" strike="noStrike" cap="none">
                <a:solidFill>
                  <a:srgbClr val="144E8C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9"/>
          <p:cNvSpPr txBox="1">
            <a:spLocks noGrp="1"/>
          </p:cNvSpPr>
          <p:nvPr>
            <p:ph type="ftr" idx="11"/>
          </p:nvPr>
        </p:nvSpPr>
        <p:spPr>
          <a:xfrm>
            <a:off x="3581400" y="6356350"/>
            <a:ext cx="5029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7" r:id="rId3"/>
    <p:sldLayoutId id="2147483658" r:id="rId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4E8C"/>
              </a:buClr>
              <a:buSzPts val="4400"/>
              <a:buFont typeface="Lato Black"/>
              <a:buNone/>
              <a:defRPr sz="4400" b="1" i="0" u="none" strike="noStrike" cap="none">
                <a:solidFill>
                  <a:srgbClr val="144E8C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9"/>
          <p:cNvSpPr txBox="1">
            <a:spLocks noGrp="1"/>
          </p:cNvSpPr>
          <p:nvPr>
            <p:ph type="ftr" idx="11"/>
          </p:nvPr>
        </p:nvSpPr>
        <p:spPr>
          <a:xfrm>
            <a:off x="3581400" y="6356350"/>
            <a:ext cx="5029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" name="Google Shape;1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1920289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thanhtd@uel.edu.vn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tranduythanh.com/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sqlitebrowser.org/dl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tranduythanh.com/2024/01/04/bai-25-xu-ly-du-lieu-dang-bang-qtablewidget-va-sqlite-database-part-4/" TargetMode="Externa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ediafire.com/file/8pd05w41bs2bbpl/databases.rar/file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7F9BAC58-9AA6-A91A-085E-F1421DCCF43A}"/>
              </a:ext>
            </a:extLst>
          </p:cNvPr>
          <p:cNvSpPr txBox="1">
            <a:spLocks/>
          </p:cNvSpPr>
          <p:nvPr/>
        </p:nvSpPr>
        <p:spPr bwMode="auto">
          <a:xfrm>
            <a:off x="2132317" y="1977662"/>
            <a:ext cx="8763000" cy="1904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800" b="1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US" sz="3200" kern="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Mobile-Commerce </a:t>
            </a:r>
            <a:r>
              <a:rPr lang="en-US" sz="3200" kern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Development</a:t>
            </a:r>
          </a:p>
          <a:p>
            <a:pPr>
              <a:defRPr/>
            </a:pPr>
            <a:r>
              <a:rPr lang="en-US" sz="3200" u="sng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Lesson</a:t>
            </a:r>
            <a:r>
              <a:rPr lang="en-US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3200" kern="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SQLite Database</a:t>
            </a:r>
            <a:endParaRPr lang="en-US" sz="3200" kern="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F97E3A-A23C-B018-8E45-86B8BF858946}"/>
              </a:ext>
            </a:extLst>
          </p:cNvPr>
          <p:cNvSpPr txBox="1"/>
          <p:nvPr/>
        </p:nvSpPr>
        <p:spPr>
          <a:xfrm>
            <a:off x="7958878" y="4079089"/>
            <a:ext cx="3781805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Lecturer:</a:t>
            </a:r>
          </a:p>
          <a:p>
            <a:pPr algn="ctr"/>
            <a:r>
              <a:rPr lang="en-US" sz="2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 </a:t>
            </a:r>
            <a:r>
              <a:rPr lang="en-US" sz="22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Duy</a:t>
            </a:r>
            <a:r>
              <a:rPr lang="en-US" sz="2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Thanh, </a:t>
            </a:r>
            <a:r>
              <a:rPr lang="en-US" sz="2200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Phd</a:t>
            </a:r>
            <a:endParaRPr lang="en-US" sz="22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2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Nguyen </a:t>
            </a:r>
            <a:r>
              <a:rPr lang="en-US" sz="2200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Quang</a:t>
            </a:r>
            <a:r>
              <a:rPr lang="en-US" sz="22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Phuc</a:t>
            </a:r>
            <a:r>
              <a:rPr lang="en-US" sz="22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Msc</a:t>
            </a:r>
            <a:endParaRPr lang="en-US" sz="22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thanhtd@uel.edu.vn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Blog: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https://tranduythanh.com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Phone: 0987773061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52400" y="482600"/>
            <a:ext cx="4620576" cy="508000"/>
            <a:chOff x="789624" y="1191463"/>
            <a:chExt cx="4620576" cy="508000"/>
          </a:xfrm>
        </p:grpSpPr>
        <p:sp>
          <p:nvSpPr>
            <p:cNvPr id="3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600" y="1191463"/>
              <a:ext cx="4419600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800" b="1" dirty="0" smtClean="0">
                  <a:latin typeface="Cambria" panose="02040503050406030204" pitchFamily="18" charset="0"/>
                </a:rPr>
                <a:t>Lesson Objective</a:t>
              </a:r>
              <a:endParaRPr lang="en-US" sz="2800" b="1" kern="0" dirty="0">
                <a:solidFill>
                  <a:srgbClr val="000000"/>
                </a:solidFill>
                <a:latin typeface="Cambria" panose="02040503050406030204" pitchFamily="18" charset="0"/>
              </a:endParaRPr>
            </a:p>
          </p:txBody>
        </p:sp>
        <p:grpSp>
          <p:nvGrpSpPr>
            <p:cNvPr id="4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5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6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7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E6E6F45-0E21-2332-E20D-00463EF17E7E}"/>
              </a:ext>
            </a:extLst>
          </p:cNvPr>
          <p:cNvSpPr txBox="1">
            <a:spLocks/>
          </p:cNvSpPr>
          <p:nvPr/>
        </p:nvSpPr>
        <p:spPr>
          <a:xfrm>
            <a:off x="457200" y="1076325"/>
            <a:ext cx="11430000" cy="52482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66738" indent="-457200"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FontTx/>
              <a:buChar char="-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work with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SQLite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 well</a:t>
            </a:r>
          </a:p>
          <a:p>
            <a:pPr marL="566738" indent="-457200"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FontTx/>
              <a:buChar char="-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use DB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Browser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tool as well</a:t>
            </a: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66738" indent="-457200"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FontTx/>
              <a:buChar char="-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can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 CRUD with SQLite by coding</a:t>
            </a: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66738" indent="-457200"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FontTx/>
              <a:buChar char="-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work image data in SQLite</a:t>
            </a: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3145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E6E6F45-0E21-2332-E20D-00463EF17E7E}"/>
              </a:ext>
            </a:extLst>
          </p:cNvPr>
          <p:cNvSpPr txBox="1">
            <a:spLocks/>
          </p:cNvSpPr>
          <p:nvPr/>
        </p:nvSpPr>
        <p:spPr>
          <a:xfrm>
            <a:off x="526858" y="935452"/>
            <a:ext cx="11430000" cy="52482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23888" indent="-51435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Font typeface="+mj-lt"/>
              <a:buAutoNum type="arabicPeriod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Introducing SQLite</a:t>
            </a:r>
          </a:p>
          <a:p>
            <a:pPr marL="623888" indent="-51435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Font typeface="+mj-lt"/>
              <a:buAutoNum type="arabicPeriod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SQLite database</a:t>
            </a:r>
          </a:p>
          <a:p>
            <a:pPr marL="623888" indent="-51435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Font typeface="+mj-lt"/>
              <a:buAutoNum type="arabicPeriod"/>
            </a:pP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CRUD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SQLite database</a:t>
            </a:r>
          </a:p>
          <a:p>
            <a:pPr marL="623888" indent="-51435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Font typeface="+mj-lt"/>
              <a:buAutoNum type="arabicPeriod"/>
            </a:pP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Working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image data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Outlines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94794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1. Introducing </a:t>
              </a:r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SQLite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7" name="Content Placeholder 2"/>
          <p:cNvSpPr txBox="1">
            <a:spLocks/>
          </p:cNvSpPr>
          <p:nvPr/>
        </p:nvSpPr>
        <p:spPr>
          <a:xfrm>
            <a:off x="613012" y="1005476"/>
            <a:ext cx="11151358" cy="3182112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•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indent="-246888" algn="l" rtl="0" eaLnBrk="1" latinLnBrk="0" hangingPunct="1">
              <a:spcBef>
                <a:spcPts val="300"/>
              </a:spcBef>
              <a:buClr>
                <a:schemeClr val="accent2"/>
              </a:buClr>
              <a:buFont typeface="Georgia"/>
              <a:buChar char="▫"/>
              <a:defRPr kumimoji="0" sz="2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23544" indent="-219456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179576" indent="-201168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38988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2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63550" lvl="0" indent="-354013"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ysClr val="windowText" lastClr="000000">
                  <a:lumMod val="95000"/>
                  <a:lumOff val="5000"/>
                </a:sysClr>
              </a:buClr>
              <a:buFont typeface="Wingdings" pitchFamily="2" charset="2"/>
              <a:buChar char="Ø"/>
            </a:pPr>
            <a:r>
              <a:rPr lang="en-US" sz="2400" b="1" dirty="0">
                <a:solidFill>
                  <a:sysClr val="windowText" lastClr="000000"/>
                </a:solidFill>
                <a:latin typeface="Georgia"/>
              </a:rPr>
              <a:t>SQLite</a:t>
            </a:r>
            <a:r>
              <a:rPr lang="en-US" sz="2400" dirty="0">
                <a:solidFill>
                  <a:sysClr val="windowText" lastClr="000000"/>
                </a:solidFill>
                <a:latin typeface="Georgia"/>
              </a:rPr>
              <a:t> is an open database embedded directly into Android, supporting standard database relational features such as: command syntax, transactions, ...</a:t>
            </a:r>
          </a:p>
          <a:p>
            <a:pPr marL="463550" lvl="0" indent="-354013"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ysClr val="windowText" lastClr="000000">
                  <a:lumMod val="95000"/>
                  <a:lumOff val="5000"/>
                </a:sysClr>
              </a:buClr>
              <a:buFont typeface="Wingdings" pitchFamily="2" charset="2"/>
              <a:buChar char="Ø"/>
            </a:pPr>
            <a:r>
              <a:rPr lang="en-US" sz="2400" dirty="0">
                <a:solidFill>
                  <a:sysClr val="windowText" lastClr="000000"/>
                </a:solidFill>
                <a:latin typeface="Georgia"/>
              </a:rPr>
              <a:t>SQLite is small, compact in size with full configuration no more than 300kb</a:t>
            </a:r>
          </a:p>
          <a:p>
            <a:pPr marL="463550" lvl="0" indent="-354013"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ysClr val="windowText" lastClr="000000">
                  <a:lumMod val="95000"/>
                  <a:lumOff val="5000"/>
                </a:sysClr>
              </a:buClr>
              <a:buFont typeface="Wingdings" pitchFamily="2" charset="2"/>
              <a:buChar char="Ø"/>
            </a:pPr>
            <a:r>
              <a:rPr lang="en-US" sz="2400" dirty="0">
                <a:solidFill>
                  <a:sysClr val="windowText" lastClr="000000"/>
                </a:solidFill>
                <a:latin typeface="Georgia"/>
              </a:rPr>
              <a:t>SQLite supports data types such as: Text, Integer, Real, Blob</a:t>
            </a:r>
            <a:endParaRPr kumimoji="0" lang="en-US" sz="2400" i="1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eorgia"/>
            </a:endParaRPr>
          </a:p>
        </p:txBody>
      </p:sp>
    </p:spTree>
    <p:extLst>
      <p:ext uri="{BB962C8B-B14F-4D97-AF65-F5344CB8AC3E}">
        <p14:creationId xmlns:p14="http://schemas.microsoft.com/office/powerpoint/2010/main" val="3543939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1. Introducing </a:t>
              </a:r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SQLite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8" name="Content Placeholder 2"/>
          <p:cNvSpPr txBox="1">
            <a:spLocks/>
          </p:cNvSpPr>
          <p:nvPr/>
        </p:nvSpPr>
        <p:spPr>
          <a:xfrm>
            <a:off x="528207" y="998653"/>
            <a:ext cx="9144000" cy="515112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•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indent="-246888" algn="l" rtl="0" eaLnBrk="1" latinLnBrk="0" hangingPunct="1">
              <a:spcBef>
                <a:spcPts val="300"/>
              </a:spcBef>
              <a:buClr>
                <a:schemeClr val="accent2"/>
              </a:buClr>
              <a:buFont typeface="Georgia"/>
              <a:buChar char="▫"/>
              <a:defRPr kumimoji="0" sz="2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23544" indent="-219456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179576" indent="-201168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38988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2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63550" lvl="0" indent="-354013"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ysClr val="windowText" lastClr="000000">
                  <a:lumMod val="95000"/>
                  <a:lumOff val="5000"/>
                </a:sysClr>
              </a:buClr>
              <a:buFont typeface="Wingdings" pitchFamily="2" charset="2"/>
              <a:buChar char="Ø"/>
            </a:pPr>
            <a:r>
              <a:rPr lang="en-US" sz="2400" dirty="0">
                <a:solidFill>
                  <a:sysClr val="windowText" lastClr="000000"/>
                </a:solidFill>
                <a:latin typeface="Georgia"/>
              </a:rPr>
              <a:t>Path of SQLite database on device: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C82DF57D-12C5-C44F-B59F-A120F2A0D49E}"/>
              </a:ext>
            </a:extLst>
          </p:cNvPr>
          <p:cNvSpPr txBox="1">
            <a:spLocks/>
          </p:cNvSpPr>
          <p:nvPr/>
        </p:nvSpPr>
        <p:spPr>
          <a:xfrm>
            <a:off x="909206" y="2580565"/>
            <a:ext cx="10657271" cy="1295400"/>
          </a:xfrm>
          <a:prstGeom prst="rect">
            <a:avLst/>
          </a:prstGeom>
        </p:spPr>
        <p:txBody>
          <a:bodyPr vert="horz">
            <a:normAutofit lnSpcReduction="10000"/>
          </a:bodyPr>
          <a:lstStyle>
            <a:lvl1pPr marL="365760" indent="-256032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•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indent="-246888" algn="l" rtl="0" eaLnBrk="1" latinLnBrk="0" hangingPunct="1">
              <a:spcBef>
                <a:spcPts val="300"/>
              </a:spcBef>
              <a:buClr>
                <a:schemeClr val="accent2"/>
              </a:buClr>
              <a:buFont typeface="Georgia"/>
              <a:buChar char="▫"/>
              <a:defRPr kumimoji="0" sz="2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23544" indent="-219456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179576" indent="-201168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38988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2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9537" indent="0"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prstClr val="black">
                  <a:lumMod val="95000"/>
                  <a:lumOff val="5000"/>
                </a:prstClr>
              </a:buClr>
              <a:buNone/>
            </a:pPr>
            <a:r>
              <a:rPr lang="en-US" sz="2400" dirty="0">
                <a:solidFill>
                  <a:prstClr val="black"/>
                </a:solidFill>
                <a:latin typeface="Georgia"/>
                <a:sym typeface="Wingdings" pitchFamily="2" charset="2"/>
              </a:rPr>
              <a:t> SQLite database is used locally for the application. In case </a:t>
            </a:r>
            <a:r>
              <a:rPr lang="en-US" sz="2400" dirty="0" smtClean="0">
                <a:solidFill>
                  <a:prstClr val="black"/>
                </a:solidFill>
                <a:latin typeface="Georgia"/>
                <a:sym typeface="Wingdings" pitchFamily="2" charset="2"/>
              </a:rPr>
              <a:t>we need </a:t>
            </a:r>
            <a:r>
              <a:rPr lang="en-US" sz="2400" dirty="0">
                <a:solidFill>
                  <a:prstClr val="black"/>
                </a:solidFill>
                <a:latin typeface="Georgia"/>
                <a:sym typeface="Wingdings" pitchFamily="2" charset="2"/>
              </a:rPr>
              <a:t>to provide or share data with other applications, </a:t>
            </a:r>
            <a:r>
              <a:rPr lang="en-US" sz="2400" dirty="0" smtClean="0">
                <a:solidFill>
                  <a:prstClr val="black"/>
                </a:solidFill>
                <a:latin typeface="Georgia"/>
                <a:sym typeface="Wingdings" pitchFamily="2" charset="2"/>
              </a:rPr>
              <a:t>we </a:t>
            </a:r>
            <a:r>
              <a:rPr lang="en-US" sz="2400" dirty="0">
                <a:solidFill>
                  <a:prstClr val="black"/>
                </a:solidFill>
                <a:latin typeface="Georgia"/>
                <a:sym typeface="Wingdings" pitchFamily="2" charset="2"/>
              </a:rPr>
              <a:t>should use Content Provider.</a:t>
            </a:r>
            <a:endParaRPr lang="en-US" sz="2400" i="1" dirty="0">
              <a:solidFill>
                <a:prstClr val="black"/>
              </a:solidFill>
              <a:latin typeface="Georgia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E580502-2D63-DC4D-8D46-CE4D0ED59322}"/>
              </a:ext>
            </a:extLst>
          </p:cNvPr>
          <p:cNvSpPr/>
          <p:nvPr/>
        </p:nvSpPr>
        <p:spPr>
          <a:xfrm>
            <a:off x="1480707" y="1814101"/>
            <a:ext cx="7581900" cy="461665"/>
          </a:xfrm>
          <a:prstGeom prst="rect">
            <a:avLst/>
          </a:prstGeom>
          <a:ln>
            <a:solidFill>
              <a:srgbClr val="009DD9">
                <a:lumMod val="50000"/>
              </a:srgbClr>
            </a:solidFill>
          </a:ln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data/data/APP_NAME/databases/FILE_NAME</a:t>
            </a:r>
          </a:p>
        </p:txBody>
      </p:sp>
    </p:spTree>
    <p:extLst>
      <p:ext uri="{BB962C8B-B14F-4D97-AF65-F5344CB8AC3E}">
        <p14:creationId xmlns:p14="http://schemas.microsoft.com/office/powerpoint/2010/main" val="3857553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2. Create </a:t>
              </a:r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SQLite database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7" name="Content Placeholder 2"/>
          <p:cNvSpPr txBox="1">
            <a:spLocks/>
          </p:cNvSpPr>
          <p:nvPr/>
        </p:nvSpPr>
        <p:spPr>
          <a:xfrm>
            <a:off x="528207" y="951178"/>
            <a:ext cx="10318845" cy="515112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•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indent="-246888" algn="l" rtl="0" eaLnBrk="1" latinLnBrk="0" hangingPunct="1">
              <a:spcBef>
                <a:spcPts val="300"/>
              </a:spcBef>
              <a:buClr>
                <a:schemeClr val="accent2"/>
              </a:buClr>
              <a:buFont typeface="Georgia"/>
              <a:buChar char="▫"/>
              <a:defRPr kumimoji="0" sz="2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23544" indent="-219456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179576" indent="-201168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38988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2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63550" marR="0" lvl="0" indent="-354013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ysClr val="windowText" lastClr="000000">
                  <a:lumMod val="95000"/>
                  <a:lumOff val="5000"/>
                </a:sysClr>
              </a:buClr>
              <a:buSzTx/>
              <a:buFont typeface="Wingdings" pitchFamily="2" charset="2"/>
              <a:buChar char="Ø"/>
              <a:tabLst/>
              <a:defRPr/>
            </a:pPr>
            <a:r>
              <a:rPr kumimoji="0" 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Using Tool: DB Browser, SQLite Studio, </a:t>
            </a:r>
            <a:r>
              <a:rPr kumimoji="0" lang="en-US" sz="2400" b="1" i="0" u="none" strike="noStrike" kern="120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SQLiteFlow</a:t>
            </a:r>
            <a:r>
              <a:rPr kumimoji="0" 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  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65B6974-8C85-4642-A8AA-DE4433FF540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2367" y="1466290"/>
            <a:ext cx="5521657" cy="3927987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1B479050-77A1-A249-BD54-8103315BF36C}"/>
              </a:ext>
            </a:extLst>
          </p:cNvPr>
          <p:cNvSpPr txBox="1">
            <a:spLocks/>
          </p:cNvSpPr>
          <p:nvPr/>
        </p:nvSpPr>
        <p:spPr>
          <a:xfrm>
            <a:off x="858671" y="5774252"/>
            <a:ext cx="9220200" cy="515112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•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indent="-246888" algn="l" rtl="0" eaLnBrk="1" latinLnBrk="0" hangingPunct="1">
              <a:spcBef>
                <a:spcPts val="300"/>
              </a:spcBef>
              <a:buClr>
                <a:schemeClr val="accent2"/>
              </a:buClr>
              <a:buFont typeface="Georgia"/>
              <a:buChar char="▫"/>
              <a:defRPr kumimoji="0" sz="2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23544" indent="-219456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179576" indent="-201168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38988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2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63550" indent="-354013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prstClr val="black">
                  <a:lumMod val="95000"/>
                  <a:lumOff val="5000"/>
                </a:prstClr>
              </a:buClr>
              <a:buFont typeface="Wingdings" pitchFamily="2" charset="2"/>
              <a:buChar char="Ø"/>
            </a:pPr>
            <a:r>
              <a:rPr lang="en-US" sz="2400" b="1" dirty="0">
                <a:solidFill>
                  <a:prstClr val="black"/>
                </a:solidFill>
                <a:latin typeface="Georgia"/>
              </a:rPr>
              <a:t>Coding directly creates database for the application</a:t>
            </a:r>
          </a:p>
        </p:txBody>
      </p:sp>
      <p:pic>
        <p:nvPicPr>
          <p:cNvPr id="1026" name="Picture 2" descr="https://tranduythanh.com/wp-content/uploads/2024/01/QtDesigner-293-1-1024x795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913" y="1623937"/>
            <a:ext cx="4953637" cy="38458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1508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2. Create </a:t>
              </a:r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SQLite database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3" name="Rectangle 2"/>
          <p:cNvSpPr/>
          <p:nvPr/>
        </p:nvSpPr>
        <p:spPr>
          <a:xfrm>
            <a:off x="661253" y="934521"/>
            <a:ext cx="417005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SQLite DB Browser: 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://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sqlitebrowser.org/dl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4" name="Picture 2" descr="https://tranduythanh.com/wp-content/uploads/2024/01/QtDesigner-298-1024x790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8799" y="1817376"/>
            <a:ext cx="5627871" cy="43418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528207" y="6069727"/>
            <a:ext cx="969253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hlinkClick r:id="rId5"/>
              </a:rPr>
              <a:t>https://tranduythanh.com/2024/01/04/bai-25-xu-ly-du-lieu-dang-bang-qtablewidget-va-sqlite-database-part-4</a:t>
            </a:r>
            <a:r>
              <a:rPr lang="en-US" dirty="0" smtClean="0">
                <a:hlinkClick r:id="rId5"/>
              </a:rPr>
              <a:t>/</a:t>
            </a:r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99375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2. Create </a:t>
              </a:r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SQLite database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pic>
        <p:nvPicPr>
          <p:cNvPr id="5122" name="Picture 2" descr="https://tranduythanh.com/wp-content/uploads/2024/01/QtDesigner-301-1024x786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2322" y="906612"/>
            <a:ext cx="6912592" cy="53059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8224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2. Create </a:t>
              </a:r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SQLite database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pic>
        <p:nvPicPr>
          <p:cNvPr id="6146" name="Picture 2" descr="https://tranduythanh.com/wp-content/uploads/2024/01/QtDesigner-302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8774" y="944617"/>
            <a:ext cx="5525514" cy="52299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61947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2. Create </a:t>
              </a:r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SQLite database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pic>
        <p:nvPicPr>
          <p:cNvPr id="7170" name="Picture 2" descr="https://tranduythanh.com/wp-content/uploads/2024/01/QtDesigner-303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6064" y="938740"/>
            <a:ext cx="6297685" cy="53454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3229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2. Create </a:t>
              </a:r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SQLite database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pic>
        <p:nvPicPr>
          <p:cNvPr id="8194" name="Picture 2" descr="https://tranduythanh.com/wp-content/uploads/2024/01/QtDesigner-305-1024x685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7637" y="936641"/>
            <a:ext cx="7902954" cy="52866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75569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2. Create </a:t>
              </a:r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SQLite database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D4F49C3-F7F0-5448-8E08-B62F957E2D7B}"/>
              </a:ext>
            </a:extLst>
          </p:cNvPr>
          <p:cNvGrpSpPr/>
          <p:nvPr/>
        </p:nvGrpSpPr>
        <p:grpSpPr>
          <a:xfrm>
            <a:off x="1315303" y="1008797"/>
            <a:ext cx="7734300" cy="4876800"/>
            <a:chOff x="876300" y="1219200"/>
            <a:chExt cx="7734300" cy="4876800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D722F804-8546-9947-92C5-A9FA17CC35C5}"/>
                </a:ext>
              </a:extLst>
            </p:cNvPr>
            <p:cNvGrpSpPr/>
            <p:nvPr/>
          </p:nvGrpSpPr>
          <p:grpSpPr>
            <a:xfrm>
              <a:off x="876300" y="1219200"/>
              <a:ext cx="7734300" cy="4876800"/>
              <a:chOff x="647700" y="1485900"/>
              <a:chExt cx="7734300" cy="4876800"/>
            </a:xfrm>
          </p:grpSpPr>
          <p:pic>
            <p:nvPicPr>
              <p:cNvPr id="29" name="Picture 28">
                <a:extLst>
                  <a:ext uri="{FF2B5EF4-FFF2-40B4-BE49-F238E27FC236}">
                    <a16:creationId xmlns:a16="http://schemas.microsoft.com/office/drawing/2014/main" id="{27C0D9D0-4596-C540-8D14-02FFD0F4343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47700" y="3429000"/>
                <a:ext cx="7734300" cy="2933700"/>
              </a:xfrm>
              <a:prstGeom prst="rect">
                <a:avLst/>
              </a:prstGeom>
            </p:spPr>
          </p:pic>
          <p:pic>
            <p:nvPicPr>
              <p:cNvPr id="30" name="Picture 29">
                <a:extLst>
                  <a:ext uri="{FF2B5EF4-FFF2-40B4-BE49-F238E27FC236}">
                    <a16:creationId xmlns:a16="http://schemas.microsoft.com/office/drawing/2014/main" id="{CAB04600-67F8-9F4C-BCB7-B5B4F57B0CB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67647"/>
              <a:stretch/>
            </p:blipFill>
            <p:spPr>
              <a:xfrm>
                <a:off x="647700" y="1485900"/>
                <a:ext cx="7734300" cy="1257300"/>
              </a:xfrm>
              <a:prstGeom prst="rect">
                <a:avLst/>
              </a:prstGeom>
            </p:spPr>
          </p:pic>
          <p:pic>
            <p:nvPicPr>
              <p:cNvPr id="31" name="Picture 30">
                <a:extLst>
                  <a:ext uri="{FF2B5EF4-FFF2-40B4-BE49-F238E27FC236}">
                    <a16:creationId xmlns:a16="http://schemas.microsoft.com/office/drawing/2014/main" id="{2FE1DF7A-A3F6-A245-92FF-99F7B0972B6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79843"/>
              <a:stretch/>
            </p:blipFill>
            <p:spPr>
              <a:xfrm>
                <a:off x="647700" y="2667000"/>
                <a:ext cx="7734300" cy="783336"/>
              </a:xfrm>
              <a:prstGeom prst="rect">
                <a:avLst/>
              </a:prstGeom>
            </p:spPr>
          </p:pic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332E9D17-5917-0D42-A68A-37B17F00CB11}"/>
                </a:ext>
              </a:extLst>
            </p:cNvPr>
            <p:cNvGrpSpPr/>
            <p:nvPr/>
          </p:nvGrpSpPr>
          <p:grpSpPr>
            <a:xfrm>
              <a:off x="1905000" y="1219200"/>
              <a:ext cx="2654300" cy="4699000"/>
              <a:chOff x="1905000" y="1219200"/>
              <a:chExt cx="2654300" cy="4699000"/>
            </a:xfrm>
          </p:grpSpPr>
          <p:sp>
            <p:nvSpPr>
              <p:cNvPr id="23" name="Left Arrow 22">
                <a:extLst>
                  <a:ext uri="{FF2B5EF4-FFF2-40B4-BE49-F238E27FC236}">
                    <a16:creationId xmlns:a16="http://schemas.microsoft.com/office/drawing/2014/main" id="{421F2FE1-65B1-5240-A1C3-F7818884E237}"/>
                  </a:ext>
                </a:extLst>
              </p:cNvPr>
              <p:cNvSpPr/>
              <p:nvPr/>
            </p:nvSpPr>
            <p:spPr>
              <a:xfrm>
                <a:off x="1905000" y="1219200"/>
                <a:ext cx="381000" cy="304800"/>
              </a:xfrm>
              <a:prstGeom prst="leftArrow">
                <a:avLst/>
              </a:prstGeom>
              <a:solidFill>
                <a:sysClr val="window" lastClr="FFFFFF"/>
              </a:solidFill>
              <a:ln w="19050" cap="flat" cmpd="sng" algn="ctr">
                <a:solidFill>
                  <a:srgbClr val="0F6FC6">
                    <a:shade val="50000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endParaRPr>
              </a:p>
            </p:txBody>
          </p:sp>
          <p:sp>
            <p:nvSpPr>
              <p:cNvPr id="24" name="Left Arrow 23">
                <a:extLst>
                  <a:ext uri="{FF2B5EF4-FFF2-40B4-BE49-F238E27FC236}">
                    <a16:creationId xmlns:a16="http://schemas.microsoft.com/office/drawing/2014/main" id="{D2B13AAA-0F28-3E46-B928-CFA675D19532}"/>
                  </a:ext>
                </a:extLst>
              </p:cNvPr>
              <p:cNvSpPr/>
              <p:nvPr/>
            </p:nvSpPr>
            <p:spPr>
              <a:xfrm>
                <a:off x="2133600" y="2432050"/>
                <a:ext cx="381000" cy="304800"/>
              </a:xfrm>
              <a:prstGeom prst="leftArrow">
                <a:avLst/>
              </a:prstGeom>
              <a:solidFill>
                <a:sysClr val="window" lastClr="FFFFFF"/>
              </a:solidFill>
              <a:ln w="19050" cap="flat" cmpd="sng" algn="ctr">
                <a:solidFill>
                  <a:srgbClr val="0F6FC6">
                    <a:shade val="50000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endParaRPr>
              </a:p>
            </p:txBody>
          </p:sp>
          <p:sp>
            <p:nvSpPr>
              <p:cNvPr id="25" name="Left Arrow 24">
                <a:extLst>
                  <a:ext uri="{FF2B5EF4-FFF2-40B4-BE49-F238E27FC236}">
                    <a16:creationId xmlns:a16="http://schemas.microsoft.com/office/drawing/2014/main" id="{B5CB5819-C4BE-074C-8607-BFA662ED84CC}"/>
                  </a:ext>
                </a:extLst>
              </p:cNvPr>
              <p:cNvSpPr/>
              <p:nvPr/>
            </p:nvSpPr>
            <p:spPr>
              <a:xfrm>
                <a:off x="4165600" y="3124200"/>
                <a:ext cx="381000" cy="304800"/>
              </a:xfrm>
              <a:prstGeom prst="leftArrow">
                <a:avLst/>
              </a:prstGeom>
              <a:solidFill>
                <a:sysClr val="window" lastClr="FFFFFF"/>
              </a:solidFill>
              <a:ln w="19050" cap="flat" cmpd="sng" algn="ctr">
                <a:solidFill>
                  <a:srgbClr val="0F6FC6">
                    <a:shade val="50000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endParaRPr>
              </a:p>
            </p:txBody>
          </p:sp>
          <p:sp>
            <p:nvSpPr>
              <p:cNvPr id="26" name="Left Arrow 25">
                <a:extLst>
                  <a:ext uri="{FF2B5EF4-FFF2-40B4-BE49-F238E27FC236}">
                    <a16:creationId xmlns:a16="http://schemas.microsoft.com/office/drawing/2014/main" id="{83EB8FCB-FB66-7845-A1F3-74B2735EF328}"/>
                  </a:ext>
                </a:extLst>
              </p:cNvPr>
              <p:cNvSpPr/>
              <p:nvPr/>
            </p:nvSpPr>
            <p:spPr>
              <a:xfrm>
                <a:off x="4178300" y="4612386"/>
                <a:ext cx="381000" cy="304800"/>
              </a:xfrm>
              <a:prstGeom prst="leftArrow">
                <a:avLst/>
              </a:prstGeom>
              <a:solidFill>
                <a:sysClr val="window" lastClr="FFFFFF"/>
              </a:solidFill>
              <a:ln w="19050" cap="flat" cmpd="sng" algn="ctr">
                <a:solidFill>
                  <a:srgbClr val="0F6FC6">
                    <a:shade val="50000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endParaRPr>
              </a:p>
            </p:txBody>
          </p:sp>
          <p:sp>
            <p:nvSpPr>
              <p:cNvPr id="27" name="Left Arrow 26">
                <a:extLst>
                  <a:ext uri="{FF2B5EF4-FFF2-40B4-BE49-F238E27FC236}">
                    <a16:creationId xmlns:a16="http://schemas.microsoft.com/office/drawing/2014/main" id="{BCBBF9D1-2400-1D49-8D47-F01BE49B70A6}"/>
                  </a:ext>
                </a:extLst>
              </p:cNvPr>
              <p:cNvSpPr/>
              <p:nvPr/>
            </p:nvSpPr>
            <p:spPr>
              <a:xfrm>
                <a:off x="3505200" y="4059936"/>
                <a:ext cx="381000" cy="304800"/>
              </a:xfrm>
              <a:prstGeom prst="leftArrow">
                <a:avLst/>
              </a:prstGeom>
              <a:solidFill>
                <a:sysClr val="window" lastClr="FFFFFF"/>
              </a:solidFill>
              <a:ln w="19050" cap="flat" cmpd="sng" algn="ctr">
                <a:solidFill>
                  <a:srgbClr val="0F6FC6">
                    <a:shade val="50000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endParaRPr>
              </a:p>
            </p:txBody>
          </p:sp>
          <p:sp>
            <p:nvSpPr>
              <p:cNvPr id="28" name="Left Arrow 27">
                <a:extLst>
                  <a:ext uri="{FF2B5EF4-FFF2-40B4-BE49-F238E27FC236}">
                    <a16:creationId xmlns:a16="http://schemas.microsoft.com/office/drawing/2014/main" id="{47EA4F9A-2C5F-034A-B39E-7A197B1E241D}"/>
                  </a:ext>
                </a:extLst>
              </p:cNvPr>
              <p:cNvSpPr/>
              <p:nvPr/>
            </p:nvSpPr>
            <p:spPr>
              <a:xfrm>
                <a:off x="3429000" y="5613400"/>
                <a:ext cx="381000" cy="304800"/>
              </a:xfrm>
              <a:prstGeom prst="leftArrow">
                <a:avLst/>
              </a:prstGeom>
              <a:solidFill>
                <a:sysClr val="window" lastClr="FFFFFF"/>
              </a:solidFill>
              <a:ln w="19050" cap="flat" cmpd="sng" algn="ctr">
                <a:solidFill>
                  <a:srgbClr val="0F6FC6">
                    <a:shade val="50000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042770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2. Create </a:t>
              </a:r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SQLite database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53DEB4C-4DD1-1442-983F-20CA5E5476EB}"/>
              </a:ext>
            </a:extLst>
          </p:cNvPr>
          <p:cNvSpPr txBox="1">
            <a:spLocks/>
          </p:cNvSpPr>
          <p:nvPr/>
        </p:nvSpPr>
        <p:spPr>
          <a:xfrm>
            <a:off x="528207" y="805027"/>
            <a:ext cx="9220200" cy="515112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•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indent="-246888" algn="l" rtl="0" eaLnBrk="1" latinLnBrk="0" hangingPunct="1">
              <a:spcBef>
                <a:spcPts val="300"/>
              </a:spcBef>
              <a:buClr>
                <a:schemeClr val="accent2"/>
              </a:buClr>
              <a:buFont typeface="Georgia"/>
              <a:buChar char="▫"/>
              <a:defRPr kumimoji="0" sz="2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23544" indent="-219456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179576" indent="-201168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38988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2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63550" marR="0" lvl="0" indent="-354013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ysClr val="windowText" lastClr="000000">
                  <a:lumMod val="95000"/>
                  <a:lumOff val="5000"/>
                </a:sysClr>
              </a:buClr>
              <a:buSzTx/>
              <a:buFont typeface="Wingdings" pitchFamily="2" charset="2"/>
              <a:buChar char="Ø"/>
              <a:tabLst/>
              <a:defRPr/>
            </a:pPr>
            <a:r>
              <a:rPr kumimoji="0" 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Coding copy SQLite database</a:t>
            </a:r>
            <a:r>
              <a:rPr kumimoji="0" lang="en-US" sz="2400" b="1" i="0" u="none" strike="noStrike" kern="1200" cap="none" spc="0" normalizeH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into </a:t>
            </a:r>
            <a:r>
              <a:rPr kumimoji="0" 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device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97E1114-E876-EA4D-BFF4-91C5A3A6652A}"/>
              </a:ext>
            </a:extLst>
          </p:cNvPr>
          <p:cNvSpPr/>
          <p:nvPr/>
        </p:nvSpPr>
        <p:spPr>
          <a:xfrm>
            <a:off x="1751956" y="1308888"/>
            <a:ext cx="7793736" cy="5016758"/>
          </a:xfrm>
          <a:prstGeom prst="rect">
            <a:avLst/>
          </a:prstGeom>
          <a:ln>
            <a:solidFill>
              <a:srgbClr val="009DD9">
                <a:lumMod val="50000"/>
              </a:srgbClr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public static final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String </a:t>
            </a:r>
            <a:r>
              <a:rPr kumimoji="0" lang="en-US" sz="1600" b="0" i="1" u="none" strike="noStrike" kern="1200" cap="none" spc="0" normalizeH="0" baseline="0" noProof="0" dirty="0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DATABASE_NAME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=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"</a:t>
            </a:r>
            <a:r>
              <a:rPr kumimoji="0" 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songs.db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"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public static final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String </a:t>
            </a:r>
            <a:r>
              <a:rPr kumimoji="0" lang="en-US" sz="1600" b="0" i="1" u="none" strike="noStrike" kern="1200" cap="none" spc="0" normalizeH="0" baseline="0" noProof="0" dirty="0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DB_PATH_SUFFIX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=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"/databases/"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public static </a:t>
            </a:r>
            <a:r>
              <a:rPr kumimoji="0" 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SQLiteDatabase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1600" b="0" i="1" u="none" strike="noStrike" kern="1200" cap="none" spc="0" normalizeH="0" baseline="0" noProof="0" dirty="0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database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=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null;</a:t>
            </a:r>
            <a:endParaRPr kumimoji="0" lang="en-US" sz="16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 smtClean="0">
              <a:ln>
                <a:noFill/>
              </a:ln>
              <a:solidFill>
                <a:srgbClr val="CC7832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private void </a:t>
            </a:r>
            <a:r>
              <a:rPr kumimoji="0" lang="en-US" sz="16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FFC66D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copyDataBase</a:t>
            </a:r>
            <a:r>
              <a:rPr kumimoji="0" 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()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{</a:t>
            </a:r>
            <a:b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try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{</a:t>
            </a:r>
            <a:b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File </a:t>
            </a:r>
            <a:r>
              <a:rPr kumimoji="0" 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dbFile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= </a:t>
            </a:r>
            <a:r>
              <a:rPr kumimoji="0" 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getDatabasePath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1600" b="0" i="1" u="none" strike="noStrike" kern="1200" cap="none" spc="0" normalizeH="0" baseline="0" noProof="0" dirty="0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DATABASE_NAME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if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(!</a:t>
            </a:r>
            <a:r>
              <a:rPr kumimoji="0" 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dbFile.exists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()){</a:t>
            </a:r>
            <a:b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   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if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16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CopyDBFromAsset</a:t>
            </a:r>
            <a:r>
              <a:rPr kumimoji="0" 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()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){</a:t>
            </a:r>
            <a:b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        </a:t>
            </a:r>
            <a:r>
              <a:rPr kumimoji="0" 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Toast.</a:t>
            </a:r>
            <a:r>
              <a:rPr kumimoji="0" lang="en-US" sz="1600" b="0" i="1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makeText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MainActivity.</a:t>
            </a:r>
            <a:r>
              <a:rPr kumimoji="0" 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this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</a:t>
            </a:r>
            <a:b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               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"Copy database successful!"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 </a:t>
            </a:r>
            <a:r>
              <a:rPr kumimoji="0" 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Toast.</a:t>
            </a:r>
            <a:r>
              <a:rPr kumimoji="0" lang="en-US" sz="1600" b="0" i="1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LENGTH_LONG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).show()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   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}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else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{</a:t>
            </a:r>
            <a:b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        </a:t>
            </a:r>
            <a:r>
              <a:rPr kumimoji="0" 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Toast.</a:t>
            </a:r>
            <a:r>
              <a:rPr kumimoji="0" lang="en-US" sz="1600" b="0" i="1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makeText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MainActivity.</a:t>
            </a:r>
            <a:r>
              <a:rPr kumimoji="0" 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this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</a:t>
            </a:r>
            <a:b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               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"Copy database fail!"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 </a:t>
            </a:r>
            <a:r>
              <a:rPr kumimoji="0" 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Toast.</a:t>
            </a:r>
            <a:r>
              <a:rPr kumimoji="0" lang="en-US" sz="1600" b="0" i="1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LENGTH_LONG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).show()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   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}</a:t>
            </a:r>
            <a:b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}</a:t>
            </a:r>
            <a:b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}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catch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(Exception e){</a:t>
            </a:r>
            <a:b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</a:t>
            </a:r>
            <a:r>
              <a:rPr kumimoji="0" 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Log.</a:t>
            </a:r>
            <a:r>
              <a:rPr kumimoji="0" lang="en-US" sz="1600" b="0" i="1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e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"Error: "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 </a:t>
            </a:r>
            <a:r>
              <a:rPr kumimoji="0" 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e.toString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())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}</a:t>
            </a:r>
            <a:b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06380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2. Create </a:t>
              </a:r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SQLite database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53DEB4C-4DD1-1442-983F-20CA5E5476EB}"/>
              </a:ext>
            </a:extLst>
          </p:cNvPr>
          <p:cNvSpPr txBox="1">
            <a:spLocks/>
          </p:cNvSpPr>
          <p:nvPr/>
        </p:nvSpPr>
        <p:spPr>
          <a:xfrm>
            <a:off x="528207" y="805027"/>
            <a:ext cx="9220200" cy="515112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•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indent="-246888" algn="l" rtl="0" eaLnBrk="1" latinLnBrk="0" hangingPunct="1">
              <a:spcBef>
                <a:spcPts val="300"/>
              </a:spcBef>
              <a:buClr>
                <a:schemeClr val="accent2"/>
              </a:buClr>
              <a:buFont typeface="Georgia"/>
              <a:buChar char="▫"/>
              <a:defRPr kumimoji="0" sz="2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23544" indent="-219456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179576" indent="-201168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38988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2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63550" marR="0" lvl="0" indent="-354013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ysClr val="windowText" lastClr="000000">
                  <a:lumMod val="95000"/>
                  <a:lumOff val="5000"/>
                </a:sysClr>
              </a:buClr>
              <a:buSzTx/>
              <a:buFont typeface="Wingdings" pitchFamily="2" charset="2"/>
              <a:buChar char="Ø"/>
              <a:tabLst/>
              <a:defRPr/>
            </a:pPr>
            <a:r>
              <a:rPr kumimoji="0" 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Coding copy SQLite database</a:t>
            </a:r>
            <a:r>
              <a:rPr kumimoji="0" lang="en-US" sz="2400" b="1" i="0" u="none" strike="noStrike" kern="1200" cap="none" spc="0" normalizeH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into </a:t>
            </a:r>
            <a:r>
              <a:rPr kumimoji="0" 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device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5E5B8C4-D67C-1E43-BF1E-55011A9BD044}"/>
              </a:ext>
            </a:extLst>
          </p:cNvPr>
          <p:cNvSpPr/>
          <p:nvPr/>
        </p:nvSpPr>
        <p:spPr>
          <a:xfrm>
            <a:off x="1502390" y="1269191"/>
            <a:ext cx="9361227" cy="5016758"/>
          </a:xfrm>
          <a:prstGeom prst="rect">
            <a:avLst/>
          </a:prstGeom>
          <a:ln>
            <a:solidFill>
              <a:srgbClr val="009DD9">
                <a:lumMod val="50000"/>
              </a:srgbClr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private boolean </a:t>
            </a:r>
            <a:r>
              <a:rPr kumimoji="0" lang="en-US" sz="1600" b="1" i="0" u="none" strike="noStrike" kern="1200" cap="none" spc="0" normalizeH="0" baseline="0" noProof="0" smtClean="0">
                <a:ln>
                  <a:noFill/>
                </a:ln>
                <a:solidFill>
                  <a:srgbClr val="FFC66D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CopyDBFromAsset</a:t>
            </a:r>
            <a:r>
              <a:rPr kumimoji="0" lang="en-US" sz="16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()</a:t>
            </a: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{</a:t>
            </a:r>
            <a:b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String dbPath = getApplicationInfo().</a:t>
            </a: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dataDir </a:t>
            </a: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+ </a:t>
            </a:r>
            <a:r>
              <a:rPr kumimoji="0" lang="en-US" sz="1600" b="0" i="1" u="none" strike="noStrike" kern="1200" cap="none" spc="0" normalizeH="0" baseline="0" noProof="0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DB_PATH_SUFFIX </a:t>
            </a: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+ </a:t>
            </a:r>
            <a:r>
              <a:rPr kumimoji="0" lang="en-US" sz="1600" b="0" i="1" u="none" strike="noStrike" kern="1200" cap="none" spc="0" normalizeH="0" baseline="0" noProof="0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DATABASE_NAME</a:t>
            </a: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try </a:t>
            </a: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{</a:t>
            </a:r>
            <a:b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InputStream inputStream = getAssets().open(</a:t>
            </a:r>
            <a:r>
              <a:rPr kumimoji="0" lang="en-US" sz="1600" b="0" i="1" u="none" strike="noStrike" kern="1200" cap="none" spc="0" normalizeH="0" baseline="0" noProof="0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DATABASE_NAME</a:t>
            </a: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</a:t>
            </a: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</a:t>
            </a: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File f = </a:t>
            </a: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new </a:t>
            </a: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File(getApplicationInfo().</a:t>
            </a: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dataDir </a:t>
            </a: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+ </a:t>
            </a:r>
            <a:r>
              <a:rPr kumimoji="0" lang="en-US" sz="1600" b="0" i="1" u="none" strike="noStrike" kern="1200" cap="none" spc="0" normalizeH="0" baseline="0" noProof="0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DB_PATH_SUFFIX</a:t>
            </a: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</a:t>
            </a: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if</a:t>
            </a: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(!f.exists()){</a:t>
            </a:r>
            <a:b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    f.mkdir()</a:t>
            </a: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</a:t>
            </a: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}</a:t>
            </a:r>
            <a:b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OutputStream outputStream = </a:t>
            </a: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new </a:t>
            </a: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FileOutputStream(dbPath)</a:t>
            </a: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byte</a:t>
            </a: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[] buffer = </a:t>
            </a: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new byte</a:t>
            </a: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[</a:t>
            </a: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1024</a:t>
            </a: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]</a:t>
            </a: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 int </a:t>
            </a: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length</a:t>
            </a: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while</a:t>
            </a: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((length=inputStream.read(buffer))&gt;</a:t>
            </a: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0</a:t>
            </a: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){</a:t>
            </a:r>
            <a:b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    outputStream.write(buffer</a:t>
            </a: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</a:t>
            </a: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0</a:t>
            </a: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 </a:t>
            </a: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length)</a:t>
            </a: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</a:t>
            </a: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}</a:t>
            </a:r>
            <a:b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outputStream.flush()</a:t>
            </a: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  </a:t>
            </a: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outputStream.close()</a:t>
            </a: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 </a:t>
            </a: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inputStream.close()</a:t>
            </a: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return  true;</a:t>
            </a:r>
            <a:b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} </a:t>
            </a: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catch </a:t>
            </a: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(IOException e) {</a:t>
            </a:r>
            <a:b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e.printStackTrace()</a:t>
            </a: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return false;</a:t>
            </a:r>
            <a:b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}</a:t>
            </a:r>
            <a:b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9893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3. CRUD </a:t>
              </a:r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on SQLite database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7" name="Content Placeholder 2"/>
          <p:cNvSpPr txBox="1">
            <a:spLocks/>
          </p:cNvSpPr>
          <p:nvPr/>
        </p:nvSpPr>
        <p:spPr>
          <a:xfrm>
            <a:off x="424049" y="845389"/>
            <a:ext cx="9220200" cy="515112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•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indent="-246888" algn="l" rtl="0" eaLnBrk="1" latinLnBrk="0" hangingPunct="1">
              <a:spcBef>
                <a:spcPts val="300"/>
              </a:spcBef>
              <a:buClr>
                <a:schemeClr val="accent2"/>
              </a:buClr>
              <a:buFont typeface="Georgia"/>
              <a:buChar char="▫"/>
              <a:defRPr kumimoji="0" sz="2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23544" indent="-219456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179576" indent="-201168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38988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2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63550" marR="0" lvl="0" indent="-354013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ysClr val="windowText" lastClr="000000">
                  <a:lumMod val="95000"/>
                  <a:lumOff val="5000"/>
                </a:sysClr>
              </a:buClr>
              <a:buSzTx/>
              <a:buFont typeface="Wingdings" pitchFamily="2" charset="2"/>
              <a:buChar char="Ø"/>
              <a:tabLst/>
              <a:defRPr/>
            </a:pPr>
            <a:r>
              <a:rPr kumimoji="0" 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Open SQLite Database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1242776-A7C5-0A40-BB6D-39B4DC6C0317}"/>
              </a:ext>
            </a:extLst>
          </p:cNvPr>
          <p:cNvSpPr/>
          <p:nvPr/>
        </p:nvSpPr>
        <p:spPr>
          <a:xfrm>
            <a:off x="1414649" y="1378790"/>
            <a:ext cx="8077200" cy="2031325"/>
          </a:xfrm>
          <a:prstGeom prst="rect">
            <a:avLst/>
          </a:prstGeom>
          <a:ln>
            <a:solidFill>
              <a:srgbClr val="009DD9">
                <a:lumMod val="50000"/>
              </a:srgbClr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public static final 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String </a:t>
            </a:r>
            <a:r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DATABASE_NAME 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= 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"songs.db"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public static final 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String </a:t>
            </a:r>
            <a:r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TABLE_NAME 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= 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"song"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/>
            </a:r>
            <a:b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public static 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SQLiteDatabase </a:t>
            </a:r>
            <a:r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database 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= 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null;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database 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= </a:t>
            </a:r>
            <a:r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openOrCreateDatabase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DATABASE_NAME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                                                                                       </a:t>
            </a:r>
            <a:r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MODE_PRIVATE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 null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51753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3. CRUD </a:t>
              </a:r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on SQLite database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9" name="Content Placeholder 2"/>
          <p:cNvSpPr txBox="1">
            <a:spLocks/>
          </p:cNvSpPr>
          <p:nvPr/>
        </p:nvSpPr>
        <p:spPr>
          <a:xfrm>
            <a:off x="597068" y="845389"/>
            <a:ext cx="9220200" cy="515112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•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indent="-246888" algn="l" rtl="0" eaLnBrk="1" latinLnBrk="0" hangingPunct="1">
              <a:spcBef>
                <a:spcPts val="300"/>
              </a:spcBef>
              <a:buClr>
                <a:schemeClr val="accent2"/>
              </a:buClr>
              <a:buFont typeface="Georgia"/>
              <a:buChar char="▫"/>
              <a:defRPr kumimoji="0" sz="2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23544" indent="-219456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179576" indent="-201168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38988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2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63550" marR="0" lvl="0" indent="-354013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ysClr val="windowText" lastClr="000000">
                  <a:lumMod val="95000"/>
                  <a:lumOff val="5000"/>
                </a:sysClr>
              </a:buClr>
              <a:buSzTx/>
              <a:buFont typeface="Wingdings" pitchFamily="2" charset="2"/>
              <a:buChar char="Ø"/>
              <a:tabLst/>
              <a:defRPr/>
            </a:pPr>
            <a:r>
              <a:rPr kumimoji="0" 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Query with “</a:t>
            </a:r>
            <a:r>
              <a:rPr kumimoji="0" lang="en-US" sz="2400" b="1" i="0" u="none" strike="noStrike" kern="120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rawQuery</a:t>
            </a:r>
            <a:r>
              <a:rPr kumimoji="0" 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”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DD6EEDD-C853-A842-BE0C-5CCCCC3A1C73}"/>
              </a:ext>
            </a:extLst>
          </p:cNvPr>
          <p:cNvSpPr/>
          <p:nvPr/>
        </p:nvSpPr>
        <p:spPr>
          <a:xfrm>
            <a:off x="1296788" y="1493451"/>
            <a:ext cx="8022336" cy="3719031"/>
          </a:xfrm>
          <a:prstGeom prst="rect">
            <a:avLst/>
          </a:prstGeom>
          <a:ln>
            <a:solidFill>
              <a:srgbClr val="009DD9">
                <a:lumMod val="50000"/>
              </a:srgbClr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Cursor cursor = </a:t>
            </a:r>
            <a:r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database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</a:t>
            </a:r>
            <a:r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rawQuery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"SELECT * FROM " 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+ </a:t>
            </a:r>
            <a:r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TABLE_NAME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 </a:t>
            </a:r>
          </a:p>
          <a:p>
            <a:pPr marL="0" marR="0" lvl="0" indent="0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                                                                                        </a:t>
            </a:r>
            <a:r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selectionArgs:</a:t>
            </a:r>
            <a:r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null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</a:p>
          <a:p>
            <a:pPr marL="0" marR="0" lvl="0" indent="0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while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cursor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.moveToNext()){</a:t>
            </a:r>
            <a:b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int 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id = </a:t>
            </a:r>
            <a:r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cursor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.getInt(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0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int 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songCode = </a:t>
            </a:r>
            <a:r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cursor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.getInt(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1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String songName = </a:t>
            </a:r>
            <a:r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cursor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.getString(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2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String singer = </a:t>
            </a:r>
            <a:r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cursor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.getString(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3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int 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favourite = </a:t>
            </a:r>
            <a:r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cursor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.getInt(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4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//To do something ….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/>
            </a:r>
            <a:b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}</a:t>
            </a:r>
          </a:p>
          <a:p>
            <a:pPr marL="0" marR="0" lvl="0" indent="0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cursor.close();</a:t>
            </a:r>
          </a:p>
        </p:txBody>
      </p:sp>
    </p:spTree>
    <p:extLst>
      <p:ext uri="{BB962C8B-B14F-4D97-AF65-F5344CB8AC3E}">
        <p14:creationId xmlns:p14="http://schemas.microsoft.com/office/powerpoint/2010/main" val="1666518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3. CRUD </a:t>
              </a:r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on SQLite database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9" name="Content Placeholder 2"/>
          <p:cNvSpPr txBox="1">
            <a:spLocks/>
          </p:cNvSpPr>
          <p:nvPr/>
        </p:nvSpPr>
        <p:spPr>
          <a:xfrm>
            <a:off x="597068" y="845389"/>
            <a:ext cx="9220200" cy="515112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•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indent="-246888" algn="l" rtl="0" eaLnBrk="1" latinLnBrk="0" hangingPunct="1">
              <a:spcBef>
                <a:spcPts val="300"/>
              </a:spcBef>
              <a:buClr>
                <a:schemeClr val="accent2"/>
              </a:buClr>
              <a:buFont typeface="Georgia"/>
              <a:buChar char="▫"/>
              <a:defRPr kumimoji="0" sz="2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23544" indent="-219456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179576" indent="-201168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38988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2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63550" marR="0" lvl="0" indent="-354013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ysClr val="windowText" lastClr="000000">
                  <a:lumMod val="95000"/>
                  <a:lumOff val="5000"/>
                </a:sysClr>
              </a:buClr>
              <a:buSzTx/>
              <a:buFont typeface="Wingdings" pitchFamily="2" charset="2"/>
              <a:buChar char="Ø"/>
              <a:tabLst/>
              <a:defRPr/>
            </a:pPr>
            <a:r>
              <a:rPr kumimoji="0" 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Query with “</a:t>
            </a:r>
            <a:r>
              <a:rPr kumimoji="0" lang="en-US" sz="2400" b="1" i="0" u="none" strike="noStrike" kern="120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rawQuery</a:t>
            </a:r>
            <a:r>
              <a:rPr kumimoji="0" 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”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BC4BE9C-96D9-CA4B-B78F-0659D58D3995}"/>
              </a:ext>
            </a:extLst>
          </p:cNvPr>
          <p:cNvSpPr/>
          <p:nvPr/>
        </p:nvSpPr>
        <p:spPr>
          <a:xfrm>
            <a:off x="1196000" y="1511490"/>
            <a:ext cx="8022336" cy="4051430"/>
          </a:xfrm>
          <a:prstGeom prst="rect">
            <a:avLst/>
          </a:prstGeom>
          <a:ln>
            <a:solidFill>
              <a:srgbClr val="009DD9">
                <a:lumMod val="50000"/>
              </a:srgbClr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Cursor </a:t>
            </a:r>
            <a:r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cursor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= </a:t>
            </a:r>
            <a:r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database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</a:t>
            </a:r>
            <a:r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rawQuery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b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"SELECT * FROM " 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+ </a:t>
            </a:r>
            <a:r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TABLE_NAME 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+ 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" WHERE Favourite = </a:t>
            </a:r>
            <a:r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?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AND </a:t>
            </a:r>
          </a:p>
          <a:p>
            <a:pPr marL="0" marR="0" lvl="0" indent="0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(SongCode LIKE </a:t>
            </a:r>
            <a:r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?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OR SongName LIKE </a:t>
            </a:r>
            <a:r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?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OR Singer LIKE </a:t>
            </a:r>
            <a:r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?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)"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</a:t>
            </a:r>
            <a:b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</a:t>
            </a:r>
            <a:r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new </a:t>
            </a:r>
            <a:r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String[]{</a:t>
            </a:r>
            <a:r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"1"</a:t>
            </a:r>
            <a:r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 </a:t>
            </a:r>
            <a:r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"%" </a:t>
            </a:r>
            <a:r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+ s + </a:t>
            </a:r>
            <a:r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"%"</a:t>
            </a:r>
            <a:r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 </a:t>
            </a:r>
            <a:r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"%" </a:t>
            </a:r>
            <a:r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+ s + </a:t>
            </a:r>
            <a:r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"%"</a:t>
            </a:r>
            <a:r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 </a:t>
            </a:r>
            <a:r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"%" </a:t>
            </a:r>
            <a:r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+ s + </a:t>
            </a:r>
            <a:r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"%"</a:t>
            </a:r>
            <a:r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}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rgbClr val="CC7832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while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cursor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.moveToNext()){</a:t>
            </a:r>
            <a:b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int 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id = </a:t>
            </a:r>
            <a:r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cursor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.getInt(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0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int 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songCode = </a:t>
            </a:r>
            <a:r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cursor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.getInt(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1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String songName = </a:t>
            </a:r>
            <a:r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cursor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.getString(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2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//To do something ….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/>
            </a:r>
            <a:b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}</a:t>
            </a:r>
          </a:p>
          <a:p>
            <a:pPr marL="0" marR="0" lvl="0" indent="0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cursor.close();</a:t>
            </a:r>
          </a:p>
        </p:txBody>
      </p:sp>
    </p:spTree>
    <p:extLst>
      <p:ext uri="{BB962C8B-B14F-4D97-AF65-F5344CB8AC3E}">
        <p14:creationId xmlns:p14="http://schemas.microsoft.com/office/powerpoint/2010/main" val="2644246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3. CRUD </a:t>
              </a:r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on SQLite database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9" name="Content Placeholder 2"/>
          <p:cNvSpPr txBox="1">
            <a:spLocks/>
          </p:cNvSpPr>
          <p:nvPr/>
        </p:nvSpPr>
        <p:spPr>
          <a:xfrm>
            <a:off x="597068" y="845389"/>
            <a:ext cx="9220200" cy="515112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•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indent="-246888" algn="l" rtl="0" eaLnBrk="1" latinLnBrk="0" hangingPunct="1">
              <a:spcBef>
                <a:spcPts val="300"/>
              </a:spcBef>
              <a:buClr>
                <a:schemeClr val="accent2"/>
              </a:buClr>
              <a:buFont typeface="Georgia"/>
              <a:buChar char="▫"/>
              <a:defRPr kumimoji="0" sz="2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23544" indent="-219456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179576" indent="-201168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38988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2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63550" marR="0" lvl="0" indent="-354013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ysClr val="windowText" lastClr="000000">
                  <a:lumMod val="95000"/>
                  <a:lumOff val="5000"/>
                </a:sysClr>
              </a:buClr>
              <a:buSzTx/>
              <a:buFont typeface="Wingdings" pitchFamily="2" charset="2"/>
              <a:buChar char="Ø"/>
              <a:tabLst/>
              <a:defRPr/>
            </a:pPr>
            <a:r>
              <a:rPr kumimoji="0" 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Product SQLite</a:t>
            </a:r>
            <a:r>
              <a:rPr kumimoji="0" lang="en-US" sz="2400" b="1" i="0" u="none" strike="noStrike" kern="1200" cap="none" spc="0" normalizeH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database: Query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1B91263-F3D3-C648-826A-937330062C96}"/>
              </a:ext>
            </a:extLst>
          </p:cNvPr>
          <p:cNvSpPr/>
          <p:nvPr/>
        </p:nvSpPr>
        <p:spPr>
          <a:xfrm>
            <a:off x="1740068" y="1360501"/>
            <a:ext cx="8077200" cy="1059842"/>
          </a:xfrm>
          <a:prstGeom prst="rect">
            <a:avLst/>
          </a:prstGeom>
          <a:ln>
            <a:solidFill>
              <a:srgbClr val="009DD9">
                <a:lumMod val="50000"/>
              </a:srgbClr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Cursor cursor = </a:t>
            </a:r>
            <a:r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database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</a:t>
            </a:r>
            <a:r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query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"Product"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 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columns: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null,    </a:t>
            </a:r>
          </a:p>
          <a:p>
            <a:pPr marL="0" marR="0" lvl="0" indent="0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                                                    selection: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null, 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selectionArgs: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null,</a:t>
            </a:r>
            <a:b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                                                    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groupBy: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null, 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having: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null, 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orderBy: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null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92A85E1-3393-9F4C-A23E-7E4ED726ED2A}"/>
              </a:ext>
            </a:extLst>
          </p:cNvPr>
          <p:cNvSpPr/>
          <p:nvPr/>
        </p:nvSpPr>
        <p:spPr>
          <a:xfrm>
            <a:off x="1740068" y="2807939"/>
            <a:ext cx="8077200" cy="1059842"/>
          </a:xfrm>
          <a:prstGeom prst="rect">
            <a:avLst/>
          </a:prstGeom>
          <a:ln>
            <a:solidFill>
              <a:srgbClr val="009DD9">
                <a:lumMod val="50000"/>
              </a:srgbClr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Cursor cursor = </a:t>
            </a:r>
            <a:r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database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.rawQuery(</a:t>
            </a:r>
            <a:b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"SELECT * FROM Product WHERE ProductId = ? OR ProductId = ?"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</a:t>
            </a:r>
            <a:b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new 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String[] {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"2"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 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"3"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})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2AB8EEA-57A3-3041-B7D3-838AE5E2A4C9}"/>
              </a:ext>
            </a:extLst>
          </p:cNvPr>
          <p:cNvSpPr/>
          <p:nvPr/>
        </p:nvSpPr>
        <p:spPr>
          <a:xfrm>
            <a:off x="1740068" y="4616099"/>
            <a:ext cx="8077200" cy="1392241"/>
          </a:xfrm>
          <a:prstGeom prst="rect">
            <a:avLst/>
          </a:prstGeom>
          <a:ln>
            <a:solidFill>
              <a:srgbClr val="009DD9">
                <a:lumMod val="50000"/>
              </a:srgbClr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Cursor cursor = </a:t>
            </a:r>
            <a:r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database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</a:t>
            </a:r>
            <a:r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query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"Product"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 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columns: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null,    </a:t>
            </a:r>
          </a:p>
          <a:p>
            <a:pPr marL="0" marR="0" lvl="0" indent="0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                                                    selection: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“ProductId = ? OR ProductId = ?”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 </a:t>
            </a:r>
          </a:p>
          <a:p>
            <a:pPr marL="0" marR="0" lvl="0" indent="0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                                                    selectionArgs: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new 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String[] {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"2"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 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"3"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}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</a:t>
            </a:r>
            <a:b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                                                    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groupBy: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null, 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having: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null, 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orderBy: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null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F0297354-61D2-2641-B5AF-36DDCE48C98A}"/>
              </a:ext>
            </a:extLst>
          </p:cNvPr>
          <p:cNvSpPr/>
          <p:nvPr/>
        </p:nvSpPr>
        <p:spPr>
          <a:xfrm>
            <a:off x="5092868" y="1749008"/>
            <a:ext cx="3657600" cy="310615"/>
          </a:xfrm>
          <a:prstGeom prst="roundRect">
            <a:avLst/>
          </a:prstGeom>
          <a:noFill/>
          <a:ln w="38100" cap="flat" cmpd="sng" algn="ctr">
            <a:solidFill>
              <a:srgbClr val="FF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23" name="Up-Down Arrow 22">
            <a:extLst>
              <a:ext uri="{FF2B5EF4-FFF2-40B4-BE49-F238E27FC236}">
                <a16:creationId xmlns:a16="http://schemas.microsoft.com/office/drawing/2014/main" id="{5CA282C0-0ABE-A943-8790-613890926084}"/>
              </a:ext>
            </a:extLst>
          </p:cNvPr>
          <p:cNvSpPr/>
          <p:nvPr/>
        </p:nvSpPr>
        <p:spPr>
          <a:xfrm>
            <a:off x="5473868" y="3950940"/>
            <a:ext cx="304800" cy="588959"/>
          </a:xfrm>
          <a:prstGeom prst="upDownArrow">
            <a:avLst/>
          </a:prstGeom>
          <a:solidFill>
            <a:srgbClr val="FF0000"/>
          </a:solidFill>
          <a:ln w="19050" cap="flat" cmpd="sng" algn="ctr">
            <a:solidFill>
              <a:srgbClr val="FF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99681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3. CRUD </a:t>
              </a:r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on SQLite database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9" name="Content Placeholder 2"/>
          <p:cNvSpPr txBox="1">
            <a:spLocks/>
          </p:cNvSpPr>
          <p:nvPr/>
        </p:nvSpPr>
        <p:spPr>
          <a:xfrm>
            <a:off x="597068" y="845389"/>
            <a:ext cx="9220200" cy="515112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•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indent="-246888" algn="l" rtl="0" eaLnBrk="1" latinLnBrk="0" hangingPunct="1">
              <a:spcBef>
                <a:spcPts val="300"/>
              </a:spcBef>
              <a:buClr>
                <a:schemeClr val="accent2"/>
              </a:buClr>
              <a:buFont typeface="Georgia"/>
              <a:buChar char="▫"/>
              <a:defRPr kumimoji="0" sz="2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23544" indent="-219456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179576" indent="-201168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38988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2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63550" marR="0" lvl="0" indent="-354013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ysClr val="windowText" lastClr="000000">
                  <a:lumMod val="95000"/>
                  <a:lumOff val="5000"/>
                </a:sysClr>
              </a:buClr>
              <a:buSzTx/>
              <a:buFont typeface="Wingdings" pitchFamily="2" charset="2"/>
              <a:buChar char="Ø"/>
              <a:tabLst/>
              <a:defRPr/>
            </a:pPr>
            <a:r>
              <a:rPr kumimoji="0" 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Product SQLite</a:t>
            </a:r>
            <a:r>
              <a:rPr kumimoji="0" lang="en-US" sz="2400" b="1" i="0" u="none" strike="noStrike" kern="1200" cap="none" spc="0" normalizeH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database: Insert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1D106D0-25EE-FF41-B12F-37570B173A37}"/>
              </a:ext>
            </a:extLst>
          </p:cNvPr>
          <p:cNvSpPr/>
          <p:nvPr/>
        </p:nvSpPr>
        <p:spPr>
          <a:xfrm>
            <a:off x="1296810" y="1478794"/>
            <a:ext cx="8098536" cy="3386633"/>
          </a:xfrm>
          <a:prstGeom prst="rect">
            <a:avLst/>
          </a:prstGeom>
          <a:ln>
            <a:solidFill>
              <a:srgbClr val="009DD9">
                <a:lumMod val="50000"/>
              </a:srgbClr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ContentValues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values =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new </a:t>
            </a:r>
            <a:r>
              <a:rPr kumimoji="0" lang="en-US" sz="18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ContentValues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()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values.put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"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ProductName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"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pName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values.put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"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ProductPrice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"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pPrice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long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flag = </a:t>
            </a:r>
            <a:r>
              <a:rPr kumimoji="0" lang="en-US" sz="1800" b="0" i="1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database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</a:t>
            </a:r>
            <a:r>
              <a:rPr kumimoji="0" lang="en-US" sz="18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insert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"Product"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nullColumnHack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: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null,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values)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if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(flag &gt;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0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Toast.</a:t>
            </a:r>
            <a:r>
              <a:rPr kumimoji="0" lang="en-US" sz="1800" b="0" i="1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makeText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AddProductActivity.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this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"Add product successful!"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   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Toast.</a:t>
            </a:r>
            <a:r>
              <a:rPr kumimoji="0" lang="en-US" sz="1800" b="0" i="1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LENGTH_LONG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).show()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else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Toast.</a:t>
            </a:r>
            <a:r>
              <a:rPr kumimoji="0" lang="en-US" sz="1800" b="0" i="1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makeText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AddProductActivity.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this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"Add product fail!"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   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Toast.</a:t>
            </a:r>
            <a:r>
              <a:rPr kumimoji="0" lang="en-US" sz="1800" b="0" i="1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LENGTH_LONG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).show()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endParaRPr kumimoji="0" lang="en-US" sz="18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69279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3. CRUD </a:t>
              </a:r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on SQLite database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9" name="Content Placeholder 2"/>
          <p:cNvSpPr txBox="1">
            <a:spLocks/>
          </p:cNvSpPr>
          <p:nvPr/>
        </p:nvSpPr>
        <p:spPr>
          <a:xfrm>
            <a:off x="597068" y="845389"/>
            <a:ext cx="9220200" cy="515112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•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indent="-246888" algn="l" rtl="0" eaLnBrk="1" latinLnBrk="0" hangingPunct="1">
              <a:spcBef>
                <a:spcPts val="300"/>
              </a:spcBef>
              <a:buClr>
                <a:schemeClr val="accent2"/>
              </a:buClr>
              <a:buFont typeface="Georgia"/>
              <a:buChar char="▫"/>
              <a:defRPr kumimoji="0" sz="2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23544" indent="-219456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179576" indent="-201168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38988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2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63550" marR="0" lvl="0" indent="-354013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ysClr val="windowText" lastClr="000000">
                  <a:lumMod val="95000"/>
                  <a:lumOff val="5000"/>
                </a:sysClr>
              </a:buClr>
              <a:buSzTx/>
              <a:buFont typeface="Wingdings" pitchFamily="2" charset="2"/>
              <a:buChar char="Ø"/>
              <a:tabLst/>
              <a:defRPr/>
            </a:pPr>
            <a:r>
              <a:rPr kumimoji="0" 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Product SQLite</a:t>
            </a:r>
            <a:r>
              <a:rPr kumimoji="0" lang="en-US" sz="2400" b="1" i="0" u="none" strike="noStrike" kern="1200" cap="none" spc="0" normalizeH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database: Insert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1D106D0-25EE-FF41-B12F-37570B173A37}"/>
              </a:ext>
            </a:extLst>
          </p:cNvPr>
          <p:cNvSpPr/>
          <p:nvPr/>
        </p:nvSpPr>
        <p:spPr>
          <a:xfrm>
            <a:off x="982910" y="1567808"/>
            <a:ext cx="9505393" cy="757130"/>
          </a:xfrm>
          <a:prstGeom prst="rect">
            <a:avLst/>
          </a:prstGeom>
          <a:ln>
            <a:solidFill>
              <a:srgbClr val="009DD9">
                <a:lumMod val="50000"/>
              </a:srgbClr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databases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.QueryData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"INSERT INTO Product VALUES(</a:t>
            </a:r>
          </a:p>
          <a:p>
            <a:pPr marL="0" marR="0" lvl="0" indent="0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                                                                null, ‘Laptop Dell XPS’, 26500000)"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endParaRPr kumimoji="0" lang="en-US" sz="18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67621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3. CRUD </a:t>
              </a:r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on SQLite database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9" name="Content Placeholder 2"/>
          <p:cNvSpPr txBox="1">
            <a:spLocks/>
          </p:cNvSpPr>
          <p:nvPr/>
        </p:nvSpPr>
        <p:spPr>
          <a:xfrm>
            <a:off x="597068" y="845389"/>
            <a:ext cx="9220200" cy="515112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•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indent="-246888" algn="l" rtl="0" eaLnBrk="1" latinLnBrk="0" hangingPunct="1">
              <a:spcBef>
                <a:spcPts val="300"/>
              </a:spcBef>
              <a:buClr>
                <a:schemeClr val="accent2"/>
              </a:buClr>
              <a:buFont typeface="Georgia"/>
              <a:buChar char="▫"/>
              <a:defRPr kumimoji="0" sz="2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23544" indent="-219456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179576" indent="-201168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38988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2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63550" marR="0" lvl="0" indent="-354013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ysClr val="windowText" lastClr="000000">
                  <a:lumMod val="95000"/>
                  <a:lumOff val="5000"/>
                </a:sysClr>
              </a:buClr>
              <a:buSzTx/>
              <a:buFont typeface="Wingdings" pitchFamily="2" charset="2"/>
              <a:buChar char="Ø"/>
              <a:tabLst/>
              <a:defRPr/>
            </a:pPr>
            <a:r>
              <a:rPr kumimoji="0" 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Product SQLite</a:t>
            </a:r>
            <a:r>
              <a:rPr kumimoji="0" lang="en-US" sz="2400" b="1" i="0" u="none" strike="noStrike" kern="1200" cap="none" spc="0" normalizeH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database: Delete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24E842D-1665-CE41-8F5C-C0D324923C44}"/>
              </a:ext>
            </a:extLst>
          </p:cNvPr>
          <p:cNvSpPr/>
          <p:nvPr/>
        </p:nvSpPr>
        <p:spPr>
          <a:xfrm>
            <a:off x="1079311" y="1464026"/>
            <a:ext cx="8098536" cy="1724639"/>
          </a:xfrm>
          <a:prstGeom prst="rect">
            <a:avLst/>
          </a:prstGeom>
          <a:ln>
            <a:solidFill>
              <a:srgbClr val="009DD9">
                <a:lumMod val="50000"/>
              </a:srgbClr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int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flag = </a:t>
            </a:r>
            <a:r>
              <a:rPr kumimoji="0" lang="en-US" sz="1800" b="0" i="1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database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</a:t>
            </a:r>
            <a:r>
              <a:rPr kumimoji="0" lang="en-US" sz="18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delete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"Product"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"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ProductId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=?"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 new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String[]{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“1”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})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if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(flag &gt;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0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//Delete successful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/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else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//Delete</a:t>
            </a:r>
            <a:r>
              <a:rPr kumimoji="0" lang="en-US" sz="1800" b="0" i="0" u="none" strike="noStrike" kern="1200" cap="none" spc="0" normalizeH="0" noProof="0" dirty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failed</a:t>
            </a:r>
            <a:endParaRPr kumimoji="0" lang="en-US" sz="1800" b="0" i="0" u="none" strike="noStrike" kern="1200" cap="none" spc="0" normalizeH="0" baseline="0" noProof="0" dirty="0" smtClean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CBBF190-74D6-0A41-BF3E-61506CC71CC9}"/>
              </a:ext>
            </a:extLst>
          </p:cNvPr>
          <p:cNvSpPr/>
          <p:nvPr/>
        </p:nvSpPr>
        <p:spPr>
          <a:xfrm>
            <a:off x="1057975" y="3362792"/>
            <a:ext cx="8098536" cy="1089529"/>
          </a:xfrm>
          <a:prstGeom prst="rect">
            <a:avLst/>
          </a:prstGeom>
          <a:ln>
            <a:solidFill>
              <a:srgbClr val="009DD9">
                <a:lumMod val="50000"/>
              </a:srgbClr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 smtClean="0">
              <a:ln>
                <a:noFill/>
              </a:ln>
              <a:solidFill>
                <a:srgbClr val="808080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//Delete data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databases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.QueryData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"DELETE FROM Product WHERE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ProductId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= 1"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endParaRPr kumimoji="0" lang="en-US" sz="18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24077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3. CRUD </a:t>
              </a:r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on SQLite database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9" name="Content Placeholder 2"/>
          <p:cNvSpPr txBox="1">
            <a:spLocks/>
          </p:cNvSpPr>
          <p:nvPr/>
        </p:nvSpPr>
        <p:spPr>
          <a:xfrm>
            <a:off x="597068" y="845389"/>
            <a:ext cx="9220200" cy="515112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•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indent="-246888" algn="l" rtl="0" eaLnBrk="1" latinLnBrk="0" hangingPunct="1">
              <a:spcBef>
                <a:spcPts val="300"/>
              </a:spcBef>
              <a:buClr>
                <a:schemeClr val="accent2"/>
              </a:buClr>
              <a:buFont typeface="Georgia"/>
              <a:buChar char="▫"/>
              <a:defRPr kumimoji="0" sz="2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23544" indent="-219456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179576" indent="-201168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38988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2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63550" marR="0" lvl="0" indent="-354013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ysClr val="windowText" lastClr="000000">
                  <a:lumMod val="95000"/>
                  <a:lumOff val="5000"/>
                </a:sysClr>
              </a:buClr>
              <a:buSzTx/>
              <a:buFont typeface="Wingdings" pitchFamily="2" charset="2"/>
              <a:buChar char="Ø"/>
              <a:tabLst/>
              <a:defRPr/>
            </a:pPr>
            <a:r>
              <a:rPr kumimoji="0" 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Product SQLite</a:t>
            </a:r>
            <a:r>
              <a:rPr kumimoji="0" lang="en-US" sz="2400" b="1" i="0" u="none" strike="noStrike" kern="1200" cap="none" spc="0" normalizeH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database: Update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1D106D0-25EE-FF41-B12F-37570B173A37}"/>
              </a:ext>
            </a:extLst>
          </p:cNvPr>
          <p:cNvSpPr/>
          <p:nvPr/>
        </p:nvSpPr>
        <p:spPr>
          <a:xfrm>
            <a:off x="1801778" y="1423950"/>
            <a:ext cx="8098536" cy="2419124"/>
          </a:xfrm>
          <a:prstGeom prst="rect">
            <a:avLst/>
          </a:prstGeom>
          <a:ln>
            <a:solidFill>
              <a:srgbClr val="009DD9">
                <a:lumMod val="50000"/>
              </a:srgbClr>
            </a:solidFill>
          </a:ln>
        </p:spPr>
        <p:txBody>
          <a:bodyPr wrap="square">
            <a:spAutoFit/>
          </a:bodyPr>
          <a:lstStyle/>
          <a:p>
            <a:pPr lvl="0">
              <a:lnSpc>
                <a:spcPct val="120000"/>
              </a:lnSpc>
              <a:buClrTx/>
            </a:pPr>
            <a:r>
              <a:rPr kumimoji="0" lang="en-US" sz="18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ContentValues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values =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new </a:t>
            </a:r>
            <a:r>
              <a:rPr kumimoji="0" lang="en-US" sz="18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ContentValues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()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values.put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"</a:t>
            </a:r>
            <a:r>
              <a:rPr lang="en-US" sz="1800" kern="1200" dirty="0" err="1" smtClean="0">
                <a:solidFill>
                  <a:srgbClr val="6A8759"/>
                </a:solidFill>
                <a:latin typeface="Georgia"/>
              </a:rPr>
              <a:t>ProductName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"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"new name"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int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flag = </a:t>
            </a:r>
            <a:r>
              <a:rPr kumimoji="0" lang="en-US" sz="1800" b="0" i="1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database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</a:t>
            </a:r>
            <a:r>
              <a:rPr kumimoji="0" lang="en-US" sz="18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update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"Product"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values,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"Id=?"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 new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String[]{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“1”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})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if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(flag &gt;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0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//update</a:t>
            </a:r>
            <a:r>
              <a:rPr kumimoji="0" lang="en-US" sz="1800" b="0" i="0" u="none" strike="noStrike" kern="1200" cap="none" spc="0" normalizeH="0" noProof="0" dirty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successful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/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else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//</a:t>
            </a:r>
            <a:r>
              <a:rPr lang="en-US" sz="1800" kern="1200" dirty="0">
                <a:solidFill>
                  <a:prstClr val="white">
                    <a:lumMod val="50000"/>
                  </a:prstClr>
                </a:solidFill>
                <a:latin typeface="Georgia"/>
              </a:rPr>
              <a:t> update </a:t>
            </a:r>
            <a:r>
              <a:rPr lang="en-US" sz="1800" kern="1200" dirty="0" smtClean="0">
                <a:solidFill>
                  <a:prstClr val="white">
                    <a:lumMod val="50000"/>
                  </a:prstClr>
                </a:solidFill>
                <a:latin typeface="Georgia"/>
              </a:rPr>
              <a:t>failed</a:t>
            </a:r>
            <a:endParaRPr kumimoji="0" lang="en-US" sz="18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7314F8E-6D9C-1843-B50D-E0D9025EB6CB}"/>
              </a:ext>
            </a:extLst>
          </p:cNvPr>
          <p:cNvSpPr/>
          <p:nvPr/>
        </p:nvSpPr>
        <p:spPr>
          <a:xfrm>
            <a:off x="1801778" y="4076992"/>
            <a:ext cx="8098536" cy="1089529"/>
          </a:xfrm>
          <a:prstGeom prst="rect">
            <a:avLst/>
          </a:prstGeom>
          <a:ln>
            <a:solidFill>
              <a:srgbClr val="009DD9">
                <a:lumMod val="50000"/>
              </a:srgbClr>
            </a:solidFill>
          </a:ln>
        </p:spPr>
        <p:txBody>
          <a:bodyPr wrap="square">
            <a:spAutoFit/>
          </a:bodyPr>
          <a:lstStyle/>
          <a:p>
            <a:pPr lvl="0">
              <a:lnSpc>
                <a:spcPct val="120000"/>
              </a:lnSpc>
              <a:buClrTx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//Update data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databases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.QueryData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"UPDATE </a:t>
            </a:r>
            <a:r>
              <a:rPr lang="en-US" sz="1800" kern="1200" dirty="0">
                <a:solidFill>
                  <a:srgbClr val="6A8759"/>
                </a:solidFill>
                <a:latin typeface="Georgia"/>
              </a:rPr>
              <a:t>Product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SET </a:t>
            </a:r>
            <a:r>
              <a:rPr lang="en-US" sz="1800" kern="1200" dirty="0" err="1">
                <a:solidFill>
                  <a:srgbClr val="6A8759"/>
                </a:solidFill>
                <a:latin typeface="Georgia"/>
              </a:rPr>
              <a:t>ProductName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= 'new name' WHERE </a:t>
            </a:r>
            <a:r>
              <a:rPr lang="en-US" sz="1800" kern="1200" dirty="0" err="1">
                <a:solidFill>
                  <a:srgbClr val="6A8759"/>
                </a:solidFill>
                <a:latin typeface="Georgia"/>
              </a:rPr>
              <a:t>ProductId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= 1"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endParaRPr kumimoji="0" lang="en-US" sz="18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65683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4. Working </a:t>
              </a:r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with image data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5915CB77-5C59-2F45-AE07-E8817BCA9249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403"/>
          <a:stretch/>
        </p:blipFill>
        <p:spPr>
          <a:xfrm>
            <a:off x="3199263" y="885566"/>
            <a:ext cx="2590800" cy="54102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7AF9394-F896-1C47-B46A-4D6BD1F7021D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403"/>
          <a:stretch/>
        </p:blipFill>
        <p:spPr>
          <a:xfrm>
            <a:off x="6399663" y="875269"/>
            <a:ext cx="2590800" cy="541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0023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4. Working </a:t>
              </a:r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with image data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41690F99-EA44-C14E-B3C3-A4A75A695094}"/>
              </a:ext>
            </a:extLst>
          </p:cNvPr>
          <p:cNvSpPr/>
          <p:nvPr/>
        </p:nvSpPr>
        <p:spPr>
          <a:xfrm>
            <a:off x="959893" y="1034955"/>
            <a:ext cx="8327136" cy="4491358"/>
          </a:xfrm>
          <a:prstGeom prst="rect">
            <a:avLst/>
          </a:prstGeom>
          <a:ln>
            <a:solidFill>
              <a:srgbClr val="009DD9">
                <a:lumMod val="50000"/>
              </a:srgbClr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public void </a:t>
            </a:r>
            <a:r>
              <a:rPr kumimoji="0" lang="en-US" sz="2000" b="1" i="0" u="none" strike="noStrike" kern="1200" cap="none" spc="0" normalizeH="0" baseline="0" noProof="0" smtClean="0">
                <a:ln>
                  <a:noFill/>
                </a:ln>
                <a:solidFill>
                  <a:srgbClr val="FFC66D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insertData</a:t>
            </a: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(String name</a:t>
            </a: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 </a:t>
            </a: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String des</a:t>
            </a: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 </a:t>
            </a:r>
            <a:r>
              <a:rPr kumimoji="0" lang="en-US" sz="2000" b="1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byte</a:t>
            </a:r>
            <a:r>
              <a:rPr kumimoji="0" lang="en-US" sz="20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[] photo</a:t>
            </a: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){</a:t>
            </a:r>
            <a:b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SQLiteDatabase database = getWritableDatabase()</a:t>
            </a: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String sql = </a:t>
            </a: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"INSERT INTO Product VALUES(null, ?, ?, </a:t>
            </a:r>
            <a:r>
              <a:rPr kumimoji="0" lang="en-US" sz="2000" b="1" i="0" u="none" strike="noStrike" kern="1200" cap="none" spc="0" normalizeH="0" baseline="0" noProof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?</a:t>
            </a: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)"</a:t>
            </a: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</a:p>
          <a:p>
            <a:pPr marL="0" marR="0" lvl="0" indent="0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SQLiteStatement statement = database.compileStatement(sql)</a:t>
            </a: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statement.clearBindings()</a:t>
            </a: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statement.bindString(</a:t>
            </a: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1</a:t>
            </a: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 </a:t>
            </a: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name)</a:t>
            </a: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statement.bindString(</a:t>
            </a: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2</a:t>
            </a: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 </a:t>
            </a: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des)</a:t>
            </a: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20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statement.bindBlob(</a:t>
            </a:r>
            <a:r>
              <a:rPr kumimoji="0" lang="en-US" sz="2000" b="1" i="0" u="none" strike="noStrike" kern="1200" cap="none" spc="0" normalizeH="0" baseline="0" noProof="0" smtClean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3</a:t>
            </a:r>
            <a:r>
              <a:rPr kumimoji="0" lang="en-US" sz="2000" b="1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 </a:t>
            </a:r>
            <a:r>
              <a:rPr kumimoji="0" lang="en-US" sz="20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photo)</a:t>
            </a:r>
            <a:r>
              <a:rPr kumimoji="0" lang="en-US" sz="2000" b="1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</a:p>
          <a:p>
            <a:pPr marL="0" marR="0" lvl="0" indent="0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/>
            </a:r>
            <a:b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statement.executeInsert()</a:t>
            </a: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79393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4. Working </a:t>
              </a:r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with image data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41690F99-EA44-C14E-B3C3-A4A75A695094}"/>
              </a:ext>
            </a:extLst>
          </p:cNvPr>
          <p:cNvSpPr/>
          <p:nvPr/>
        </p:nvSpPr>
        <p:spPr>
          <a:xfrm>
            <a:off x="728132" y="1089547"/>
            <a:ext cx="8327136" cy="2389437"/>
          </a:xfrm>
          <a:prstGeom prst="rect">
            <a:avLst/>
          </a:prstGeom>
          <a:ln>
            <a:solidFill>
              <a:srgbClr val="009DD9">
                <a:lumMod val="50000"/>
              </a:srgbClr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private byte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[] </a:t>
            </a:r>
            <a:r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srgbClr val="FFC66D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convertPhoto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() {</a:t>
            </a:r>
            <a:b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BitmapDrawable drawable = (BitmapDrawable) 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imgPhoto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.getDrawable()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Bitmap bitmap = drawable.getBitmap()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ByteArrayOutputStream outputStream = 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new 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ByteArrayOutputStream()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bitmap.compress(Bitmap.CompressFormat.</a:t>
            </a:r>
            <a:r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PNG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 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100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 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outputStream)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return 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outputStream.toByteArray()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}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1ABA075-D976-C848-9098-0304AACF3507}"/>
              </a:ext>
            </a:extLst>
          </p:cNvPr>
          <p:cNvSpPr/>
          <p:nvPr/>
        </p:nvSpPr>
        <p:spPr>
          <a:xfrm>
            <a:off x="728132" y="3661236"/>
            <a:ext cx="8327136" cy="400110"/>
          </a:xfrm>
          <a:prstGeom prst="rect">
            <a:avLst/>
          </a:prstGeom>
          <a:ln>
            <a:solidFill>
              <a:srgbClr val="009DD9">
                <a:lumMod val="50000"/>
              </a:srgbClr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1" u="none" strike="noStrike" kern="1200" cap="none" spc="0" normalizeH="0" baseline="0" noProof="0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database</a:t>
            </a: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.insertData(</a:t>
            </a: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“Sofa carpet”</a:t>
            </a: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 </a:t>
            </a: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“Torned”</a:t>
            </a: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 </a:t>
            </a:r>
            <a:r>
              <a:rPr kumimoji="0" lang="en-US" sz="20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convertPhoto()</a:t>
            </a: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</a:t>
            </a:r>
            <a:r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endParaRPr kumimoji="0" lang="en-US" sz="20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63088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52400" y="482600"/>
            <a:ext cx="6350000" cy="508000"/>
            <a:chOff x="789624" y="1191463"/>
            <a:chExt cx="6350000" cy="508000"/>
          </a:xfrm>
        </p:grpSpPr>
        <p:sp>
          <p:nvSpPr>
            <p:cNvPr id="3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800" b="1" dirty="0" smtClean="0">
                  <a:latin typeface="Cambria" panose="02040503050406030204" pitchFamily="18" charset="0"/>
                </a:rPr>
                <a:t>Exercise</a:t>
              </a:r>
              <a:endParaRPr lang="en-US" sz="2800" b="1" kern="0" dirty="0">
                <a:solidFill>
                  <a:srgbClr val="000000"/>
                </a:solidFill>
                <a:latin typeface="Cambria" panose="02040503050406030204" pitchFamily="18" charset="0"/>
              </a:endParaRPr>
            </a:p>
          </p:txBody>
        </p:sp>
        <p:grpSp>
          <p:nvGrpSpPr>
            <p:cNvPr id="4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5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6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7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9" name="Rectangle 8"/>
          <p:cNvSpPr/>
          <p:nvPr/>
        </p:nvSpPr>
        <p:spPr>
          <a:xfrm>
            <a:off x="568181" y="1193829"/>
            <a:ext cx="70839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 dirty="0">
                <a:hlinkClick r:id="rId3"/>
              </a:rPr>
              <a:t>https://</a:t>
            </a:r>
            <a:r>
              <a:rPr lang="en-US" sz="1800" dirty="0" smtClean="0">
                <a:hlinkClick r:id="rId3"/>
              </a:rPr>
              <a:t>www.mediafire.com/file/8pd05w41bs2bbpl/databases.rar/file</a:t>
            </a:r>
            <a:r>
              <a:rPr lang="en-US" sz="1800" dirty="0" smtClean="0"/>
              <a:t> </a:t>
            </a:r>
            <a:endParaRPr lang="en-US" sz="1800" dirty="0"/>
          </a:p>
        </p:txBody>
      </p:sp>
      <p:pic>
        <p:nvPicPr>
          <p:cNvPr id="13" name="Picture 12"/>
          <p:cNvPicPr/>
          <p:nvPr/>
        </p:nvPicPr>
        <p:blipFill>
          <a:blip r:embed="rId4"/>
          <a:stretch>
            <a:fillRect/>
          </a:stretch>
        </p:blipFill>
        <p:spPr>
          <a:xfrm>
            <a:off x="3026035" y="2212062"/>
            <a:ext cx="6172200" cy="3819525"/>
          </a:xfrm>
          <a:prstGeom prst="rect">
            <a:avLst/>
          </a:prstGeom>
        </p:spPr>
      </p:pic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8E6E6F45-0E21-2332-E20D-00463EF17E7E}"/>
              </a:ext>
            </a:extLst>
          </p:cNvPr>
          <p:cNvSpPr txBox="1">
            <a:spLocks/>
          </p:cNvSpPr>
          <p:nvPr/>
        </p:nvSpPr>
        <p:spPr>
          <a:xfrm>
            <a:off x="568181" y="1631894"/>
            <a:ext cx="11430000" cy="838352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Char char="ü"/>
            </a:pPr>
            <a:r>
              <a:rPr lang="en-US" sz="2800" b="1" dirty="0" err="1" smtClean="0">
                <a:latin typeface="Cambria" panose="02040503050406030204" pitchFamily="18" charset="0"/>
              </a:rPr>
              <a:t>Arirang.sqlite</a:t>
            </a:r>
            <a:r>
              <a:rPr lang="en-US" sz="2800" dirty="0" smtClean="0">
                <a:latin typeface="Cambria" panose="02040503050406030204" pitchFamily="18" charset="0"/>
              </a:rPr>
              <a:t> database</a:t>
            </a:r>
            <a:endParaRPr lang="en-US" sz="2800" dirty="0"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7727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52400" y="482600"/>
            <a:ext cx="6350000" cy="508000"/>
            <a:chOff x="789624" y="1191463"/>
            <a:chExt cx="6350000" cy="508000"/>
          </a:xfrm>
        </p:grpSpPr>
        <p:sp>
          <p:nvSpPr>
            <p:cNvPr id="3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800" b="1" smtClean="0">
                  <a:latin typeface="Cambria" panose="02040503050406030204" pitchFamily="18" charset="0"/>
                </a:rPr>
                <a:t>Discussions</a:t>
              </a:r>
              <a:endParaRPr lang="en-US" sz="2800" b="1" kern="0">
                <a:solidFill>
                  <a:srgbClr val="000000"/>
                </a:solidFill>
                <a:latin typeface="Cambria" panose="02040503050406030204" pitchFamily="18" charset="0"/>
              </a:endParaRPr>
            </a:p>
          </p:txBody>
        </p:sp>
        <p:grpSp>
          <p:nvGrpSpPr>
            <p:cNvPr id="4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5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6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7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E6E6F45-0E21-2332-E20D-00463EF17E7E}"/>
              </a:ext>
            </a:extLst>
          </p:cNvPr>
          <p:cNvSpPr txBox="1">
            <a:spLocks/>
          </p:cNvSpPr>
          <p:nvPr/>
        </p:nvSpPr>
        <p:spPr>
          <a:xfrm>
            <a:off x="457200" y="1076325"/>
            <a:ext cx="11430000" cy="52482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Char char="ü"/>
            </a:pPr>
            <a:r>
              <a:rPr lang="en-US" sz="2800" dirty="0">
                <a:latin typeface="Cambria" panose="02040503050406030204" pitchFamily="18" charset="0"/>
              </a:rPr>
              <a:t>Q1: Present </a:t>
            </a:r>
            <a:r>
              <a:rPr lang="en-US" sz="2800" dirty="0" smtClean="0">
                <a:latin typeface="Cambria" panose="02040503050406030204" pitchFamily="18" charset="0"/>
              </a:rPr>
              <a:t>SQLite database</a:t>
            </a:r>
            <a:endParaRPr lang="en-US" sz="2800" dirty="0">
              <a:latin typeface="Cambria" panose="02040503050406030204" pitchFamily="18" charset="0"/>
            </a:endParaRP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800" dirty="0">
                <a:latin typeface="Cambria" panose="02040503050406030204" pitchFamily="18" charset="0"/>
              </a:rPr>
              <a:t>Q2: Present </a:t>
            </a:r>
            <a:r>
              <a:rPr lang="en-US" sz="2800" dirty="0" smtClean="0">
                <a:latin typeface="Cambria" panose="02040503050406030204" pitchFamily="18" charset="0"/>
              </a:rPr>
              <a:t>using DB Browser</a:t>
            </a:r>
            <a:endParaRPr lang="en-US" sz="2800" dirty="0">
              <a:latin typeface="Cambria" panose="02040503050406030204" pitchFamily="18" charset="0"/>
            </a:endParaRP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800" dirty="0" smtClean="0">
                <a:latin typeface="Cambria" panose="02040503050406030204" pitchFamily="18" charset="0"/>
              </a:rPr>
              <a:t>Q3: </a:t>
            </a:r>
            <a:r>
              <a:rPr lang="en-US" sz="2800" dirty="0" smtClean="0">
                <a:latin typeface="Cambria" panose="02040503050406030204" pitchFamily="18" charset="0"/>
              </a:rPr>
              <a:t>How to copy SQLite database into Device?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800" dirty="0" smtClean="0">
                <a:latin typeface="Cambria" panose="02040503050406030204" pitchFamily="18" charset="0"/>
              </a:rPr>
              <a:t>Q4: Present CRUD algorithms for SQLite database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800" dirty="0" smtClean="0">
                <a:latin typeface="Cambria" panose="02040503050406030204" pitchFamily="18" charset="0"/>
              </a:rPr>
              <a:t>Q5: How to work </a:t>
            </a:r>
            <a:r>
              <a:rPr lang="en-US" sz="2800" dirty="0" smtClean="0">
                <a:latin typeface="Cambria" panose="02040503050406030204" pitchFamily="18" charset="0"/>
              </a:rPr>
              <a:t>with image data in SQLite database?</a:t>
            </a:r>
            <a:endParaRPr lang="en-US" sz="2800" dirty="0"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499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83931" y="305390"/>
            <a:ext cx="4620576" cy="508000"/>
            <a:chOff x="789624" y="1191463"/>
            <a:chExt cx="4620576" cy="508000"/>
          </a:xfrm>
        </p:grpSpPr>
        <p:sp>
          <p:nvSpPr>
            <p:cNvPr id="3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600" y="1191463"/>
              <a:ext cx="4419600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800" b="1" dirty="0" smtClean="0">
                  <a:latin typeface="Cambria" panose="02040503050406030204" pitchFamily="18" charset="0"/>
                </a:rPr>
                <a:t>Next Lesson</a:t>
              </a:r>
              <a:endParaRPr lang="en-US" sz="2800" b="1" kern="0" dirty="0">
                <a:solidFill>
                  <a:srgbClr val="000000"/>
                </a:solidFill>
                <a:latin typeface="Cambria" panose="02040503050406030204" pitchFamily="18" charset="0"/>
              </a:endParaRPr>
            </a:p>
          </p:txBody>
        </p:sp>
        <p:grpSp>
          <p:nvGrpSpPr>
            <p:cNvPr id="4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5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6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7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8E6E6F45-0E21-2332-E20D-00463EF17E7E}"/>
              </a:ext>
            </a:extLst>
          </p:cNvPr>
          <p:cNvSpPr txBox="1">
            <a:spLocks/>
          </p:cNvSpPr>
          <p:nvPr/>
        </p:nvSpPr>
        <p:spPr>
          <a:xfrm>
            <a:off x="457200" y="1026709"/>
            <a:ext cx="11430000" cy="52482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23888" indent="-51435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prstClr val="black">
                  <a:lumMod val="85000"/>
                  <a:lumOff val="15000"/>
                </a:prstClr>
              </a:buClr>
              <a:buFont typeface="Wingdings" charset="2"/>
              <a:buChar char="§"/>
            </a:pPr>
            <a:r>
              <a:rPr lang="en-US" sz="2800" i="1" dirty="0" smtClean="0">
                <a:solidFill>
                  <a:prstClr val="black"/>
                </a:solidFill>
                <a:latin typeface="Georgia"/>
              </a:rPr>
              <a:t>Content </a:t>
            </a:r>
            <a:r>
              <a:rPr lang="en-US" sz="2800" i="1" dirty="0" smtClean="0">
                <a:solidFill>
                  <a:prstClr val="black"/>
                </a:solidFill>
                <a:latin typeface="Georgia"/>
              </a:rPr>
              <a:t>Provider</a:t>
            </a:r>
            <a:endParaRPr lang="en-US" sz="2800" i="1" dirty="0">
              <a:solidFill>
                <a:prstClr val="black"/>
              </a:solidFill>
              <a:latin typeface="Georgia"/>
            </a:endParaRPr>
          </a:p>
        </p:txBody>
      </p:sp>
    </p:spTree>
    <p:extLst>
      <p:ext uri="{BB962C8B-B14F-4D97-AF65-F5344CB8AC3E}">
        <p14:creationId xmlns:p14="http://schemas.microsoft.com/office/powerpoint/2010/main" val="2131959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8"/>
          <p:cNvSpPr txBox="1">
            <a:spLocks noGrp="1"/>
          </p:cNvSpPr>
          <p:nvPr>
            <p:ph type="title"/>
          </p:nvPr>
        </p:nvSpPr>
        <p:spPr>
          <a:xfrm>
            <a:off x="838200" y="2581306"/>
            <a:ext cx="10515600" cy="1566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4E8C"/>
              </a:buClr>
              <a:buSzPts val="9600"/>
              <a:buFont typeface="Lato Black"/>
              <a:buNone/>
            </a:pPr>
            <a:r>
              <a:rPr lang="en-US"/>
              <a:t>THANK YOU!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38968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1273</TotalTime>
  <Words>729</Words>
  <Application>Microsoft Office PowerPoint</Application>
  <PresentationFormat>Widescreen</PresentationFormat>
  <Paragraphs>164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29</vt:i4>
      </vt:variant>
    </vt:vector>
  </HeadingPairs>
  <TitlesOfParts>
    <vt:vector size="39" baseType="lpstr">
      <vt:lpstr>Times New Roman</vt:lpstr>
      <vt:lpstr>Arial</vt:lpstr>
      <vt:lpstr>Lato Black</vt:lpstr>
      <vt:lpstr>Lato</vt:lpstr>
      <vt:lpstr>Calibri</vt:lpstr>
      <vt:lpstr>Wingdings</vt:lpstr>
      <vt:lpstr>Cambria</vt:lpstr>
      <vt:lpstr>Georgia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Pí Yeah</dc:creator>
  <cp:lastModifiedBy>thanhtd</cp:lastModifiedBy>
  <cp:revision>502</cp:revision>
  <dcterms:created xsi:type="dcterms:W3CDTF">2022-12-02T04:21:00Z</dcterms:created>
  <dcterms:modified xsi:type="dcterms:W3CDTF">2024-02-17T12:43:44Z</dcterms:modified>
</cp:coreProperties>
</file>