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59"/>
  </p:notesMasterIdLst>
  <p:sldIdLst>
    <p:sldId id="256" r:id="rId3"/>
    <p:sldId id="267" r:id="rId4"/>
    <p:sldId id="281" r:id="rId5"/>
    <p:sldId id="428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84" r:id="rId21"/>
    <p:sldId id="374" r:id="rId22"/>
    <p:sldId id="375" r:id="rId23"/>
    <p:sldId id="379" r:id="rId24"/>
    <p:sldId id="380" r:id="rId25"/>
    <p:sldId id="381" r:id="rId26"/>
    <p:sldId id="414" r:id="rId27"/>
    <p:sldId id="417" r:id="rId28"/>
    <p:sldId id="419" r:id="rId29"/>
    <p:sldId id="420" r:id="rId30"/>
    <p:sldId id="421" r:id="rId31"/>
    <p:sldId id="422" r:id="rId32"/>
    <p:sldId id="424" r:id="rId33"/>
    <p:sldId id="423" r:id="rId34"/>
    <p:sldId id="425" r:id="rId35"/>
    <p:sldId id="426" r:id="rId36"/>
    <p:sldId id="429" r:id="rId37"/>
    <p:sldId id="431" r:id="rId38"/>
    <p:sldId id="430" r:id="rId39"/>
    <p:sldId id="427" r:id="rId40"/>
    <p:sldId id="432" r:id="rId41"/>
    <p:sldId id="437" r:id="rId42"/>
    <p:sldId id="436" r:id="rId43"/>
    <p:sldId id="438" r:id="rId44"/>
    <p:sldId id="439" r:id="rId45"/>
    <p:sldId id="433" r:id="rId46"/>
    <p:sldId id="441" r:id="rId47"/>
    <p:sldId id="442" r:id="rId48"/>
    <p:sldId id="443" r:id="rId49"/>
    <p:sldId id="445" r:id="rId50"/>
    <p:sldId id="446" r:id="rId51"/>
    <p:sldId id="440" r:id="rId52"/>
    <p:sldId id="447" r:id="rId53"/>
    <p:sldId id="434" r:id="rId54"/>
    <p:sldId id="448" r:id="rId55"/>
    <p:sldId id="359" r:id="rId56"/>
    <p:sldId id="308" r:id="rId57"/>
    <p:sldId id="269" r:id="rId58"/>
  </p:sldIdLst>
  <p:sldSz cx="12192000" cy="6858000"/>
  <p:notesSz cx="6858000" cy="9144000"/>
  <p:embeddedFontLst>
    <p:embeddedFont>
      <p:font typeface="Cambria" panose="02040503050406030204" pitchFamily="18" charset="0"/>
      <p:regular r:id="rId60"/>
      <p:bold r:id="rId61"/>
      <p:italic r:id="rId62"/>
      <p:boldItalic r:id="rId63"/>
    </p:embeddedFont>
    <p:embeddedFont>
      <p:font typeface="Georgia" panose="02040502050405020303" pitchFamily="18" charset="0"/>
      <p:regular r:id="rId64"/>
      <p:bold r:id="rId65"/>
      <p:italic r:id="rId66"/>
      <p:boldItalic r:id="rId67"/>
    </p:embeddedFont>
    <p:embeddedFont>
      <p:font typeface="Lato" panose="020F0502020204030203" pitchFamily="34" charset="0"/>
      <p:regular r:id="rId68"/>
      <p:bold r:id="rId69"/>
      <p:italic r:id="rId70"/>
      <p:boldItalic r:id="rId71"/>
    </p:embeddedFont>
    <p:embeddedFont>
      <p:font typeface="Lato Black" panose="020F0502020204030203" pitchFamily="34" charset="0"/>
      <p:bold r:id="rId72"/>
      <p:boldItalic r:id="rId7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5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5" autoAdjust="0"/>
    <p:restoredTop sz="93195" autoAdjust="0"/>
  </p:normalViewPr>
  <p:slideViewPr>
    <p:cSldViewPr snapToGrid="0">
      <p:cViewPr varScale="1">
        <p:scale>
          <a:sx n="61" d="100"/>
          <a:sy n="61" d="100"/>
        </p:scale>
        <p:origin x="518" y="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font" Target="fonts/font2.fntdata"/><Relationship Id="rId9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font" Target="fonts/font14.fntdata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3.fntdata"/><Relationship Id="rId98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3.fntdata"/><Relationship Id="rId70" Type="http://schemas.openxmlformats.org/officeDocument/2006/relationships/font" Target="fonts/font11.fntdata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7F2E265-0669-DA7D-1A0C-13F99E6E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687134-816A-3BD6-C555-7BCC2459A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F18A7444-853D-0294-3A18-56E4E2BE1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362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3379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2032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3360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05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1197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9468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246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1751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928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2814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99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1783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3704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606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329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931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6930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679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23443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755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8069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8908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4292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75224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07951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6049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2343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3224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69576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5233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2F67B736-A3C3-42F2-2479-016AAD22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B437026-1818-06E5-9957-F9CDCBDE8B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A143703E-64BF-D7CE-8A80-0A8ACC22B1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4534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B490230-4234-C3C3-FC07-4E0047E5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4339580-7543-3102-B6B5-B0353638E5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4365A266-E22F-D5BA-8EB8-A14045A61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60707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60BD992-336F-B54C-0669-181211FD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A58C411-AAFA-9E0E-9B5A-7618A6A17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E2F1E6BA-0A15-56B0-8945-B9846E0BF6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53680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1F53C34E-F84F-8504-95B6-6BA9ACD4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B8EEB2E-2A2C-2763-88D1-7FEADD1ED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C6BDF277-DC32-0B43-B90B-A66A2C687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65159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14F518C4-F01B-EDC7-4E42-08235E90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B350C32-8D9D-6C6B-2B0C-7F4FE5BFD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BBD49B6A-3179-72D8-2507-E3ADD28AE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043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D6936B2-5682-AFBA-F05A-F35E283EB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E4B6DD-A5D0-E318-4CB2-196F9FC88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344EBFC-B2EB-70F6-7F1C-4EDC6A119A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00706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155192CC-60B7-9A85-C4FF-7ED0DE5F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8F4AD821-148E-54F2-751B-5D413BDE4C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80C8CC5-E361-97CF-91C1-8525AA8164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49624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A8FEB3C-65EA-C590-A020-DBD391F5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26F0ED6-4CDE-5F63-6E51-07A941639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3365A1F7-DA9B-1995-34B7-C87AFCF8C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95619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D76B75D-3F82-DFF7-A759-B196C796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32E734E-E851-CF18-EBDD-42FCE6AE5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B60F11E-184D-4A0E-0623-B4DDDDBEAB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10622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396409B-BA06-C973-EA34-F3F1CF42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2B8D6A8-B4F3-9A49-1996-E085256EF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F7585AE9-4F98-BAE1-AA36-BA09DABA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76627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F63044CE-774A-3FE9-F960-CF5A8A3D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477E5ED-451C-3EE8-0AB5-1F2609315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3D1D3A2D-1FA4-3623-84B4-C30241341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56337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F2DA463A-B9C4-2109-6857-8221919C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5BAE426-1F91-81BB-D96F-9C6D39DE8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A9C5626E-A8E8-64F9-4E61-D4BFEB47D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19291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1590B1F3-3CA9-8C9D-FA79-D8C47EAE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DB67B82-5E4B-3B1B-6CF4-393AC114C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C7AD053-5905-5306-321A-273CF32BD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88001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EE3B71A-A2F8-EB47-E587-48FA9B0A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A3A5851-0B6C-623D-94FA-B8541AF8F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CEEE7E88-E385-F30D-0167-8A234AC84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3954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7645649-6E58-B385-FC3F-098CEF98C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DD51AA2-4A85-0D25-F4F0-AC2A311B6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758FEFF8-A838-CA6D-1E48-D9D7A92915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06563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1261A6E-33F0-C662-7C55-B866679B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41D355E-C610-23F3-0061-702613B4C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FD31BA46-98DB-7847-624A-97F579BB7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65382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2C9FF50-57E6-F3C4-717C-14A23D6AD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1F926ED-8923-0C95-5EEC-47823061E5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5F7FF7A6-6BAC-61F5-12C8-C969ED19F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63148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C216242A-15CD-5A61-8D56-07EFF8EF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8489E98-48E5-70EC-013C-36FFA9DA9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E53AAB75-5B0C-D53A-95A1-540C0BACC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46205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ECCC330A-4F5D-5165-3099-B6AB1791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FD0787B-6A4E-4308-3A9C-38A983E5A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>
            <a:extLst>
              <a:ext uri="{FF2B5EF4-FFF2-40B4-BE49-F238E27FC236}">
                <a16:creationId xmlns:a16="http://schemas.microsoft.com/office/drawing/2014/main" id="{06F4663C-AD72-6ACE-8971-CA7DBB7C28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283874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39511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duythanh.com/category/firebas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tranduythanh.com/2018/10/15/phat-trien-ung-dung-co-so-du-lieu-thoi-gian-thuc-voi-firebase-phan-5/" TargetMode="External"/><Relationship Id="rId3" Type="http://schemas.openxmlformats.org/officeDocument/2006/relationships/hyperlink" Target="https://firebase.google.com/docs/database" TargetMode="External"/><Relationship Id="rId7" Type="http://schemas.openxmlformats.org/officeDocument/2006/relationships/hyperlink" Target="https://tranduythanh.com/2018/10/15/phat-trien-ung-dung-co-so-du-lieu-thoi-gian-thuc-voi-firebase-phan-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randuythanh.com/2018/10/15/phat-trien-ung-dung-co-so-du-lieu-thoi-gian-thuc-voi-firebase-phan-3/" TargetMode="External"/><Relationship Id="rId5" Type="http://schemas.openxmlformats.org/officeDocument/2006/relationships/hyperlink" Target="https://tranduythanh.com/2018/10/13/phat-trien-ung-dung-co-so-du-lieu-thoi-gian-thuc-voi-firebase-phan-2/" TargetMode="External"/><Relationship Id="rId4" Type="http://schemas.openxmlformats.org/officeDocument/2006/relationships/hyperlink" Target="https://tranduythanh.com/2018/10/11/phat-trien-ung-dung-co-so-du-lieu-thoi-gian-thuc-voi-firebase-phan-1/" TargetMode="Externa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Development</a:t>
            </a:r>
          </a:p>
          <a:p>
            <a:pPr>
              <a:defRPr/>
            </a:pPr>
            <a:r>
              <a:rPr lang="en-US" sz="32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Firebase Realtime Database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know advantages of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Create Firebase Account and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Connect Android App to Firebase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 List from Firebase Realtime Database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Insert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Read Single data from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Update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Delete Firebase Realtime Database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Details of the instruction: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https://tranduythanh.com/category/firebase/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66738" indent="-457200" algn="just"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Connect App to Firebase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Add the Realtime Database to App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 List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Insert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 Single data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Update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Delete Firebase Realtime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C1AE19A-2731-E6F4-E862-A2AF206D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86E4667-54AD-8811-0823-1D4A51A943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A61855D-FD14-9DD6-0701-EF890F528A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1D50E0-C9CB-9419-A2E7-4EA7291A87A4}"/>
              </a:ext>
            </a:extLst>
          </p:cNvPr>
          <p:cNvGrpSpPr/>
          <p:nvPr/>
        </p:nvGrpSpPr>
        <p:grpSpPr>
          <a:xfrm>
            <a:off x="199697" y="285531"/>
            <a:ext cx="7350634" cy="508000"/>
            <a:chOff x="789624" y="1191463"/>
            <a:chExt cx="7350634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FD3A7CCC-9965-A556-00F3-CDA9CD83523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7149659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Introduction Firebase Realtime Database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75B1B7A4-1690-7082-E0AB-9AE87CDD74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745A6B68-C0D7-0884-DE53-D62EBDB3335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BC23E229-DBD1-4DDF-816B-FF757B2F66E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CA1CF49E-DE72-CDF7-5E6F-6404F075383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9FBDF5-EC1D-CEFF-4BDD-7B74034BEB51}"/>
              </a:ext>
            </a:extLst>
          </p:cNvPr>
          <p:cNvSpPr txBox="1"/>
          <p:nvPr/>
        </p:nvSpPr>
        <p:spPr>
          <a:xfrm>
            <a:off x="528207" y="1190045"/>
            <a:ext cx="66822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Firebase Realtime Database is a cloud-hosted database. Data is stored as JSON and synchronized in realtime to every connected client. When you build cross-platform apps with our Apple platforms, Android, and JavaScript SDKs, all of your clients share one Realtime Database instance and automatically receive updates with the newest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1173E-4EE7-3857-9537-E42CBB29DC8B}"/>
              </a:ext>
            </a:extLst>
          </p:cNvPr>
          <p:cNvSpPr txBox="1"/>
          <p:nvPr/>
        </p:nvSpPr>
        <p:spPr>
          <a:xfrm>
            <a:off x="580953" y="4168340"/>
            <a:ext cx="8016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More Reading: </a:t>
            </a:r>
            <a:r>
              <a:rPr lang="en-US" sz="2400">
                <a:hlinkClick r:id="rId3"/>
              </a:rPr>
              <a:t>https://firebase.google.com/docs/database</a:t>
            </a:r>
            <a:r>
              <a:rPr lang="en-US" sz="240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CE77F-E2C8-C2BF-7C4E-CB964D86A13B}"/>
              </a:ext>
            </a:extLst>
          </p:cNvPr>
          <p:cNvSpPr txBox="1"/>
          <p:nvPr/>
        </p:nvSpPr>
        <p:spPr>
          <a:xfrm>
            <a:off x="580953" y="4842035"/>
            <a:ext cx="106971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hlinkClick r:id="rId4"/>
              </a:rPr>
              <a:t>https://tranduythanh.com/2018/10/11/phat-trien-ung-dung-co-so-du-lieu-thoi-gian-thuc-voi-firebase-phan-1/</a:t>
            </a:r>
            <a:endParaRPr lang="en-US" sz="1600"/>
          </a:p>
          <a:p>
            <a:r>
              <a:rPr lang="en-US" sz="1600">
                <a:hlinkClick r:id="rId5"/>
              </a:rPr>
              <a:t>https://tranduythanh.com/2018/10/13/phat-trien-ung-dung-co-so-du-lieu-thoi-gian-thuc-voi-firebase-phan-2/</a:t>
            </a:r>
            <a:endParaRPr lang="en-US" sz="1600"/>
          </a:p>
          <a:p>
            <a:r>
              <a:rPr lang="en-US" sz="1600">
                <a:hlinkClick r:id="rId6"/>
              </a:rPr>
              <a:t>https://tranduythanh.com/2018/10/15/phat-trien-ung-dung-co-so-du-lieu-thoi-gian-thuc-voi-firebase-phan-3/</a:t>
            </a:r>
            <a:endParaRPr lang="en-US" sz="1600"/>
          </a:p>
          <a:p>
            <a:r>
              <a:rPr lang="en-US" sz="1600">
                <a:hlinkClick r:id="rId7"/>
              </a:rPr>
              <a:t>https://tranduythanh.com/2018/10/15/phat-trien-ung-dung-co-so-du-lieu-thoi-gian-thuc-voi-firebase-phan-4/</a:t>
            </a:r>
            <a:endParaRPr lang="en-US" sz="1600"/>
          </a:p>
          <a:p>
            <a:r>
              <a:rPr lang="en-US" sz="1600">
                <a:hlinkClick r:id="rId8"/>
              </a:rPr>
              <a:t>https://tranduythanh.com/2018/10/15/phat-trien-ung-dung-co-so-du-lieu-thoi-gian-thuc-voi-firebase-phan-5/</a:t>
            </a:r>
            <a:endParaRPr lang="en-US" sz="1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93699A-2397-1B18-358C-7A5966788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0423" y="1050671"/>
            <a:ext cx="4853913" cy="274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75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140" y="793531"/>
            <a:ext cx="4836301" cy="53120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A4B0E1-CE5D-D9F4-9192-E502D5583193}"/>
              </a:ext>
            </a:extLst>
          </p:cNvPr>
          <p:cNvSpPr txBox="1"/>
          <p:nvPr/>
        </p:nvSpPr>
        <p:spPr>
          <a:xfrm>
            <a:off x="400672" y="2189335"/>
            <a:ext cx="53400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Create a Project in Android Studio with name “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LearnFirebase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 go to Tools/select “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3260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03" y="1033303"/>
            <a:ext cx="8539583" cy="5195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E39594-1E51-7F03-7533-C08D77006171}"/>
              </a:ext>
            </a:extLst>
          </p:cNvPr>
          <p:cNvSpPr txBox="1"/>
          <p:nvPr/>
        </p:nvSpPr>
        <p:spPr>
          <a:xfrm>
            <a:off x="8454282" y="3856156"/>
            <a:ext cx="394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Select “Realtime Database”</a:t>
            </a:r>
          </a:p>
        </p:txBody>
      </p:sp>
    </p:spTree>
    <p:extLst>
      <p:ext uri="{BB962C8B-B14F-4D97-AF65-F5344CB8AC3E}">
        <p14:creationId xmlns:p14="http://schemas.microsoft.com/office/powerpoint/2010/main" val="67933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102" y="1178414"/>
            <a:ext cx="7232248" cy="429231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FF76BFD-3290-F37B-65B9-40BBC10C1D46}"/>
              </a:ext>
            </a:extLst>
          </p:cNvPr>
          <p:cNvSpPr/>
          <p:nvPr/>
        </p:nvSpPr>
        <p:spPr>
          <a:xfrm>
            <a:off x="3098799" y="4895959"/>
            <a:ext cx="4017846" cy="508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A4AE97-950C-3CB0-2BDD-44A0320E3FA6}"/>
              </a:ext>
            </a:extLst>
          </p:cNvPr>
          <p:cNvCxnSpPr/>
          <p:nvPr/>
        </p:nvCxnSpPr>
        <p:spPr>
          <a:xfrm flipH="1">
            <a:off x="7210697" y="5136315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50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732" y="907728"/>
            <a:ext cx="5088178" cy="54074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AA410C-899A-2CD1-DBA8-46C39C4E5D7C}"/>
              </a:ext>
            </a:extLst>
          </p:cNvPr>
          <p:cNvSpPr/>
          <p:nvPr/>
        </p:nvSpPr>
        <p:spPr>
          <a:xfrm>
            <a:off x="3872120" y="3357447"/>
            <a:ext cx="1734458" cy="508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9B21651-11DC-4FEF-B074-D97C2C10BE8D}"/>
              </a:ext>
            </a:extLst>
          </p:cNvPr>
          <p:cNvCxnSpPr/>
          <p:nvPr/>
        </p:nvCxnSpPr>
        <p:spPr>
          <a:xfrm flipH="1">
            <a:off x="5690180" y="3566453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2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157" y="969869"/>
            <a:ext cx="6555725" cy="519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50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102" y="880436"/>
            <a:ext cx="6701679" cy="5306134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2A2412-89D0-EB33-07AE-FC5A06D1FC01}"/>
              </a:ext>
            </a:extLst>
          </p:cNvPr>
          <p:cNvCxnSpPr/>
          <p:nvPr/>
        </p:nvCxnSpPr>
        <p:spPr>
          <a:xfrm flipH="1">
            <a:off x="5682322" y="5881191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35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27" y="862235"/>
            <a:ext cx="6313207" cy="540793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28A127-6AEF-8501-BE15-F08BAA6F973F}"/>
              </a:ext>
            </a:extLst>
          </p:cNvPr>
          <p:cNvCxnSpPr/>
          <p:nvPr/>
        </p:nvCxnSpPr>
        <p:spPr>
          <a:xfrm flipH="1">
            <a:off x="8182573" y="5933443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825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621" y="933223"/>
            <a:ext cx="6163239" cy="527947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63509C-179E-04E6-27A4-11271700AA0D}"/>
              </a:ext>
            </a:extLst>
          </p:cNvPr>
          <p:cNvCxnSpPr/>
          <p:nvPr/>
        </p:nvCxnSpPr>
        <p:spPr>
          <a:xfrm flipH="1">
            <a:off x="7874290" y="5327326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31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799" y="994921"/>
            <a:ext cx="6223073" cy="533072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BC55576-E587-744D-423A-7434867EB009}"/>
              </a:ext>
            </a:extLst>
          </p:cNvPr>
          <p:cNvCxnSpPr/>
          <p:nvPr/>
        </p:nvCxnSpPr>
        <p:spPr>
          <a:xfrm flipH="1">
            <a:off x="7994468" y="5390028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176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6547" y="1001506"/>
            <a:ext cx="6040827" cy="517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67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7579" y="963208"/>
            <a:ext cx="6705993" cy="5362438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9F373B-1F08-CBC5-9583-7AB92E085D6D}"/>
              </a:ext>
            </a:extLst>
          </p:cNvPr>
          <p:cNvCxnSpPr/>
          <p:nvPr/>
        </p:nvCxnSpPr>
        <p:spPr>
          <a:xfrm flipH="1">
            <a:off x="6735208" y="5008592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206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77" y="974372"/>
            <a:ext cx="6629193" cy="530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97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997" y="845388"/>
            <a:ext cx="6751288" cy="539865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BCEDCE8-92A9-50FB-6B1E-D2DCB255FF6B}"/>
              </a:ext>
            </a:extLst>
          </p:cNvPr>
          <p:cNvCxnSpPr/>
          <p:nvPr/>
        </p:nvCxnSpPr>
        <p:spPr>
          <a:xfrm flipH="1">
            <a:off x="7106194" y="5301201"/>
            <a:ext cx="9614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94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85" y="480155"/>
            <a:ext cx="3655079" cy="60799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73" y="1500833"/>
            <a:ext cx="5972832" cy="4776166"/>
          </a:xfrm>
          <a:prstGeom prst="rect">
            <a:avLst/>
          </a:prstGeom>
        </p:spPr>
      </p:pic>
      <p:cxnSp>
        <p:nvCxnSpPr>
          <p:cNvPr id="6" name="Elbow Connector 5"/>
          <p:cNvCxnSpPr>
            <a:stCxn id="4" idx="3"/>
          </p:cNvCxnSpPr>
          <p:nvPr/>
        </p:nvCxnSpPr>
        <p:spPr>
          <a:xfrm>
            <a:off x="6373505" y="3888916"/>
            <a:ext cx="3206913" cy="217244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73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Connect App to Firebase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672" y="965568"/>
            <a:ext cx="7521818" cy="52680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35C4D8A-5339-BF0D-EF97-3D52D83070D4}"/>
              </a:ext>
            </a:extLst>
          </p:cNvPr>
          <p:cNvSpPr/>
          <p:nvPr/>
        </p:nvSpPr>
        <p:spPr>
          <a:xfrm>
            <a:off x="5893961" y="2920855"/>
            <a:ext cx="2398341" cy="16041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00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Add the Realtime Database to App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019" y="925349"/>
            <a:ext cx="3786115" cy="5504014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3596010" y="4622730"/>
            <a:ext cx="76427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940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Add the Realtime Database to App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198" y="917320"/>
            <a:ext cx="7553049" cy="5311049"/>
          </a:xfrm>
          <a:prstGeom prst="rect">
            <a:avLst/>
          </a:prstGeom>
        </p:spPr>
      </p:pic>
      <p:cxnSp>
        <p:nvCxnSpPr>
          <p:cNvPr id="17" name="Straight Arrow Connector 16"/>
          <p:cNvCxnSpPr/>
          <p:nvPr/>
        </p:nvCxnSpPr>
        <p:spPr>
          <a:xfrm>
            <a:off x="6434744" y="5926014"/>
            <a:ext cx="76427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183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Add the Realtime Database to App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794" y="842899"/>
            <a:ext cx="7942627" cy="54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51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Add the Realtime Database to App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51" y="890009"/>
            <a:ext cx="10341766" cy="553935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7765" y="5005414"/>
            <a:ext cx="3573298" cy="177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3. Add the Realtime Database to App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38" y="993019"/>
            <a:ext cx="11584662" cy="408059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179729" y="2008711"/>
            <a:ext cx="2970382" cy="177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296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49" y="879981"/>
            <a:ext cx="7043347" cy="551479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CE8800-ABDF-BDAC-0020-92E191213F71}"/>
              </a:ext>
            </a:extLst>
          </p:cNvPr>
          <p:cNvSpPr/>
          <p:nvPr/>
        </p:nvSpPr>
        <p:spPr>
          <a:xfrm>
            <a:off x="2210235" y="3845705"/>
            <a:ext cx="1541418" cy="21684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430CB-AE6E-7236-49AD-DFE8C6425405}"/>
              </a:ext>
            </a:extLst>
          </p:cNvPr>
          <p:cNvSpPr/>
          <p:nvPr/>
        </p:nvSpPr>
        <p:spPr>
          <a:xfrm>
            <a:off x="2272939" y="4645152"/>
            <a:ext cx="1395114" cy="297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6296E5-BB04-C623-4BDE-50C4DB9D0FAA}"/>
              </a:ext>
            </a:extLst>
          </p:cNvPr>
          <p:cNvCxnSpPr/>
          <p:nvPr/>
        </p:nvCxnSpPr>
        <p:spPr>
          <a:xfrm flipH="1">
            <a:off x="4749657" y="3182112"/>
            <a:ext cx="75242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276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878" y="906925"/>
            <a:ext cx="6986881" cy="547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48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244" y="918541"/>
            <a:ext cx="6749405" cy="528464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95C7EC-0919-EC4C-C13E-BDCA32F269D3}"/>
              </a:ext>
            </a:extLst>
          </p:cNvPr>
          <p:cNvCxnSpPr/>
          <p:nvPr/>
        </p:nvCxnSpPr>
        <p:spPr>
          <a:xfrm>
            <a:off x="7644384" y="4666053"/>
            <a:ext cx="0" cy="3657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750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424" y="893690"/>
            <a:ext cx="6989728" cy="54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24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5584" y="859803"/>
            <a:ext cx="6980832" cy="54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82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49" y="900194"/>
            <a:ext cx="6995476" cy="547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47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237" y="845389"/>
            <a:ext cx="7131707" cy="55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8926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344" y="876129"/>
            <a:ext cx="7097422" cy="555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20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4. Create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8" y="994243"/>
            <a:ext cx="9339825" cy="54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33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995325" cy="508000"/>
            <a:chOff x="789624" y="1191463"/>
            <a:chExt cx="6995325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79435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5. Read List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03EEE3E-2987-F016-25F8-263F89D4CE5C}"/>
              </a:ext>
            </a:extLst>
          </p:cNvPr>
          <p:cNvSpPr txBox="1"/>
          <p:nvPr/>
        </p:nvSpPr>
        <p:spPr>
          <a:xfrm>
            <a:off x="1038497" y="1709525"/>
            <a:ext cx="9892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fr-FR" sz="2400">
                <a:solidFill>
                  <a:srgbClr val="0033B3"/>
                </a:solidFill>
                <a:effectLst/>
                <a:latin typeface="JetBrains Mono"/>
              </a:rPr>
              <a:t>uses-permission </a:t>
            </a:r>
            <a:r>
              <a:rPr lang="fr-FR" sz="24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fr-FR" sz="2400">
                <a:solidFill>
                  <a:srgbClr val="174AD4"/>
                </a:solidFill>
                <a:effectLst/>
                <a:latin typeface="JetBrains Mono"/>
              </a:rPr>
              <a:t>:name</a:t>
            </a:r>
            <a:r>
              <a:rPr lang="fr-FR" sz="2400">
                <a:solidFill>
                  <a:srgbClr val="067D17"/>
                </a:solidFill>
                <a:effectLst/>
                <a:latin typeface="JetBrains Mono"/>
              </a:rPr>
              <a:t>="android.permission.INTERNET"</a:t>
            </a:r>
            <a:r>
              <a:rPr lang="fr-FR" sz="2400">
                <a:solidFill>
                  <a:srgbClr val="080808"/>
                </a:solidFill>
                <a:effectLst/>
                <a:latin typeface="JetBrains Mono"/>
              </a:rPr>
              <a:t>/&gt;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05EF9-9A78-354A-02A9-54D6822D6024}"/>
              </a:ext>
            </a:extLst>
          </p:cNvPr>
          <p:cNvSpPr txBox="1"/>
          <p:nvPr/>
        </p:nvSpPr>
        <p:spPr>
          <a:xfrm>
            <a:off x="1075073" y="2944251"/>
            <a:ext cx="86332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application</a:t>
            </a:r>
          </a:p>
          <a:p>
            <a:r>
              <a:rPr lang="en-US" sz="2400">
                <a:solidFill>
                  <a:srgbClr val="0033B3"/>
                </a:solidFill>
                <a:latin typeface="JetBrains Mono"/>
              </a:rPr>
              <a:t>…</a:t>
            </a:r>
            <a:br>
              <a:rPr lang="en-US" sz="240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033B3"/>
                </a:solidFill>
                <a:latin typeface="JetBrains Mono"/>
              </a:rPr>
              <a:t>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2400">
                <a:solidFill>
                  <a:srgbClr val="174AD4"/>
                </a:solidFill>
                <a:effectLst/>
                <a:latin typeface="JetBrains Mono"/>
              </a:rPr>
              <a:t>:usesCleartextTraffic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="true"</a:t>
            </a:r>
          </a:p>
          <a:p>
            <a:r>
              <a:rPr lang="en-US" sz="2400">
                <a:solidFill>
                  <a:srgbClr val="067D17"/>
                </a:solidFill>
                <a:latin typeface="JetBrains Mono"/>
              </a:rPr>
              <a:t>…</a:t>
            </a:r>
            <a:br>
              <a:rPr lang="en-US" sz="24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72B5D3-B97A-51B7-E45D-FA34354F3E51}"/>
              </a:ext>
            </a:extLst>
          </p:cNvPr>
          <p:cNvSpPr txBox="1"/>
          <p:nvPr/>
        </p:nvSpPr>
        <p:spPr>
          <a:xfrm>
            <a:off x="887258" y="936466"/>
            <a:ext cx="42647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AndroidManifest</a:t>
            </a:r>
          </a:p>
        </p:txBody>
      </p:sp>
    </p:spTree>
    <p:extLst>
      <p:ext uri="{BB962C8B-B14F-4D97-AF65-F5344CB8AC3E}">
        <p14:creationId xmlns:p14="http://schemas.microsoft.com/office/powerpoint/2010/main" val="5514389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7A82077-86F6-D23F-3E54-37CA89F9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CE957A66-B923-3F9C-C541-259359B8536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3CD95934-E719-E0DF-DB94-0A5220B36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D780B46-9446-B583-90B4-F259A706AEEB}"/>
              </a:ext>
            </a:extLst>
          </p:cNvPr>
          <p:cNvGrpSpPr/>
          <p:nvPr/>
        </p:nvGrpSpPr>
        <p:grpSpPr>
          <a:xfrm>
            <a:off x="199697" y="285531"/>
            <a:ext cx="7230456" cy="508000"/>
            <a:chOff x="789624" y="1191463"/>
            <a:chExt cx="7230456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8037D4DF-1224-D42D-B81F-05D20B2299C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702948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5. Read List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B807F400-37A1-16F7-B05D-4370AB6FB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74F3D476-1EB2-380C-A387-7DB925CE8A8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CC6C23A3-36B1-E4D3-F030-EAB5CE136AC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3E0975B5-0159-9FD1-4A92-DFA13736B40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34AFC74-0F76-1092-C172-8437D1D3D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07" y="1757606"/>
            <a:ext cx="5692566" cy="4063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D4EDC2-B205-5D70-1B61-B4D5B8486DF4}"/>
              </a:ext>
            </a:extLst>
          </p:cNvPr>
          <p:cNvSpPr txBox="1"/>
          <p:nvPr/>
        </p:nvSpPr>
        <p:spPr>
          <a:xfrm>
            <a:off x="6770916" y="1273136"/>
            <a:ext cx="50901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>
                <a:solidFill>
                  <a:srgbClr val="080808"/>
                </a:solidFill>
                <a:effectLst/>
                <a:latin typeface="JetBrains Mono"/>
              </a:rPr>
              <a:t>&lt;?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xml version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="1.0" 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encoding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="utf-8"</a:t>
            </a:r>
            <a:r>
              <a:rPr lang="en-US" sz="1800" i="1">
                <a:solidFill>
                  <a:srgbClr val="080808"/>
                </a:solidFill>
                <a:effectLst/>
                <a:latin typeface="JetBrains Mono"/>
              </a:rPr>
              <a:t>?&gt;</a:t>
            </a:r>
            <a:br>
              <a:rPr lang="en-US" sz="1800" i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LinearLayout 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xmlns: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="http://schemas.android.com/apk/res/android"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xmlns: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app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="http://schemas.android.com/apk/res-auto"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xmlns: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tools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="http://schemas.android.com/tools"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:layout_width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="match_parent"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:layout_height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="match_parent"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:orientation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="vertical"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tools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:context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=".MainActivity"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&lt;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ListView</a:t>
            </a:r>
            <a:br>
              <a:rPr lang="en-US" sz="1800">
                <a:solidFill>
                  <a:srgbClr val="0033B3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:id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="@+id/lvContact"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:layout_width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="match_parent"</a:t>
            </a:r>
            <a:br>
              <a:rPr lang="en-US" sz="1800">
                <a:solidFill>
                  <a:srgbClr val="067D17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android</a:t>
            </a:r>
            <a:r>
              <a:rPr lang="en-US" sz="1800">
                <a:solidFill>
                  <a:srgbClr val="174AD4"/>
                </a:solidFill>
                <a:effectLst/>
                <a:latin typeface="JetBrains Mono"/>
              </a:rPr>
              <a:t>:layout_height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="match_parent"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/&gt;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&lt;/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LinearLayout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32E882-2910-42BB-37E5-EDB3E1A274AC}"/>
              </a:ext>
            </a:extLst>
          </p:cNvPr>
          <p:cNvSpPr txBox="1"/>
          <p:nvPr/>
        </p:nvSpPr>
        <p:spPr>
          <a:xfrm>
            <a:off x="437606" y="939772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</p:spTree>
    <p:extLst>
      <p:ext uri="{BB962C8B-B14F-4D97-AF65-F5344CB8AC3E}">
        <p14:creationId xmlns:p14="http://schemas.microsoft.com/office/powerpoint/2010/main" val="3502373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BE8CDF2-813A-85AE-6803-4B9B142E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C7A9180-AD48-47A8-488C-244B63D28A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5D712B42-2E4B-2D5F-8CE3-0EFCBF85C9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F155A-E51D-01DB-C424-106F64B9D7F6}"/>
              </a:ext>
            </a:extLst>
          </p:cNvPr>
          <p:cNvGrpSpPr/>
          <p:nvPr/>
        </p:nvGrpSpPr>
        <p:grpSpPr>
          <a:xfrm>
            <a:off x="199697" y="285531"/>
            <a:ext cx="7047576" cy="508000"/>
            <a:chOff x="789624" y="1191463"/>
            <a:chExt cx="7047576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40ED5FDD-E7AB-7AF8-9812-143FF01162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4660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5. Read List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C0B9CA8F-F005-09BE-CA24-983FE39B08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2E1D34AF-5578-7C6F-0143-EFE6E31D5D0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B28CC688-A4F0-C046-35F1-C59059B02B1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D8A4776F-A747-C292-B249-2ADD3CC7EC0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CE5298E-B114-F6D7-B541-373B07E7CB08}"/>
              </a:ext>
            </a:extLst>
          </p:cNvPr>
          <p:cNvSpPr txBox="1"/>
          <p:nvPr/>
        </p:nvSpPr>
        <p:spPr>
          <a:xfrm>
            <a:off x="1410937" y="907862"/>
            <a:ext cx="98544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MainActivity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AppCompatActivity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ListView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lvContact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ArrayAdapter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&gt;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TAG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"FIREBASE"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8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protected void </a:t>
            </a:r>
            <a:r>
              <a:rPr lang="en-US" sz="1800">
                <a:solidFill>
                  <a:srgbClr val="00627A"/>
                </a:solidFill>
                <a:effectLst/>
                <a:latin typeface="JetBrains Mono"/>
              </a:rPr>
              <a:t>onCreate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Bundle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savedInstanceState)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.onCreate(savedInstanceState);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setContentView(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layout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>
                <a:solidFill>
                  <a:srgbClr val="871094"/>
                </a:solidFill>
                <a:effectLst/>
                <a:latin typeface="JetBrains Mono"/>
              </a:rPr>
              <a:t>activity_main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addViews();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 sz="1800">
                <a:solidFill>
                  <a:srgbClr val="00627A"/>
                </a:solidFill>
                <a:effectLst/>
                <a:latin typeface="JetBrains Mono"/>
              </a:rPr>
              <a:t>addViews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lvContact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>
                <a:solidFill>
                  <a:srgbClr val="871094"/>
                </a:solidFill>
                <a:effectLst/>
                <a:latin typeface="JetBrains Mono"/>
              </a:rPr>
              <a:t>lvContact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ArrayAdapter&lt;&gt;(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MainActivity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android.R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layout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>
                <a:solidFill>
                  <a:srgbClr val="871094"/>
                </a:solidFill>
                <a:effectLst/>
                <a:latin typeface="JetBrains Mono"/>
              </a:rPr>
              <a:t>simple_list_item_1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lvContact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.setAdapter(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loadData();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66850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7DCF34F-D204-2BC8-BFA3-102D55FAC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A53304B-57CF-7732-B833-11C2E18658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B672C288-4A3B-C152-7DBD-EF304088F5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3F5BD9-BB25-B109-C44B-155C132B4544}"/>
              </a:ext>
            </a:extLst>
          </p:cNvPr>
          <p:cNvGrpSpPr/>
          <p:nvPr/>
        </p:nvGrpSpPr>
        <p:grpSpPr>
          <a:xfrm>
            <a:off x="199697" y="285531"/>
            <a:ext cx="7037126" cy="508000"/>
            <a:chOff x="789624" y="1191463"/>
            <a:chExt cx="7037126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29DBB73B-67D9-D6DD-7B70-15873416A5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36151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5. Read List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DD3CBF27-C10D-DE95-F368-A2D76A61C9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8722A13A-957D-8DC9-19F1-6C785181C2F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B020C64B-41E5-F5FD-9042-7B076FC9B53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7B1AF536-9C66-D9BB-0BDC-9639B998C43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044FAD-EE29-7269-E376-074C9F4B2DFE}"/>
              </a:ext>
            </a:extLst>
          </p:cNvPr>
          <p:cNvSpPr txBox="1"/>
          <p:nvPr/>
        </p:nvSpPr>
        <p:spPr>
          <a:xfrm>
            <a:off x="1437062" y="793531"/>
            <a:ext cx="79382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 sz="1800">
                <a:solidFill>
                  <a:srgbClr val="00627A"/>
                </a:solidFill>
                <a:effectLst/>
                <a:latin typeface="JetBrains Mono"/>
              </a:rPr>
              <a:t>loadData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FirebaseDatabase database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FirebaseDatabase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DatabaseReference myRef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database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.getReference(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"contacts"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.addValueEventListener(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ValueEventListener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8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1800">
                <a:solidFill>
                  <a:srgbClr val="00627A"/>
                </a:solidFill>
                <a:effectLst/>
                <a:latin typeface="JetBrains Mono"/>
              </a:rPr>
              <a:t>onDataChange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DataSnapshot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dataSnapshot)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.clear();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DataSnapshot data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: dataSnapshot.getChildren())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String key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.getKey();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String value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.getValue().toString();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.add(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+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value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18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9E880D"/>
                </a:solidFill>
                <a:effectLst/>
                <a:latin typeface="JetBrains Mono"/>
              </a:rPr>
              <a:t>            </a:t>
            </a:r>
            <a:r>
              <a:rPr lang="en-US" sz="18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1800">
                <a:solidFill>
                  <a:srgbClr val="00627A"/>
                </a:solidFill>
                <a:effectLst/>
                <a:latin typeface="JetBrains Mono"/>
              </a:rPr>
              <a:t>onCancelled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DatabaseError 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databaseError) {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 sz="1800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800" i="1">
                <a:solidFill>
                  <a:srgbClr val="080808"/>
                </a:solidFill>
                <a:effectLst/>
                <a:latin typeface="JetBrains Mono"/>
              </a:rPr>
              <a:t>w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1800">
                <a:solidFill>
                  <a:srgbClr val="871094"/>
                </a:solidFill>
                <a:effectLst/>
                <a:latin typeface="JetBrains Mono"/>
              </a:rPr>
              <a:t>TAG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800">
                <a:solidFill>
                  <a:srgbClr val="067D17"/>
                </a:solidFill>
                <a:effectLst/>
                <a:latin typeface="JetBrains Mono"/>
              </a:rPr>
              <a:t>"loadPost:onCancelled"</a:t>
            </a: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, databaseError.toException());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    });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18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8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632589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E8C1112-9F72-8546-FEBE-3216957E8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7788426-E45B-CBF1-448C-AA0E61736DC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8EB7544E-97C2-DAF3-36E7-830922B7DF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F1E12D-7772-A205-DEA3-5FF939FC6372}"/>
              </a:ext>
            </a:extLst>
          </p:cNvPr>
          <p:cNvGrpSpPr/>
          <p:nvPr/>
        </p:nvGrpSpPr>
        <p:grpSpPr>
          <a:xfrm>
            <a:off x="199697" y="285531"/>
            <a:ext cx="7021450" cy="508000"/>
            <a:chOff x="789624" y="1191463"/>
            <a:chExt cx="702145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A1CA8AF5-AAF6-2267-A2E5-05B8A499C75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2047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5. Read List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60EB4A14-3661-FC72-DADD-105208FF57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10EB873A-C53F-9069-0FFA-1B2F7BA92BE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59A5836-6111-DC49-E4E1-A8EEAE497EC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C1388BEA-A492-F1A1-190F-61D550AFC4D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AC1A467-42DF-6838-C5B9-099D137CA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1" y="1037874"/>
            <a:ext cx="8666738" cy="50434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2F7C5F-6EB6-9997-DD72-9D4A0FCF46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3627"/>
          <a:stretch/>
        </p:blipFill>
        <p:spPr>
          <a:xfrm>
            <a:off x="8995341" y="2245650"/>
            <a:ext cx="2699567" cy="3381830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9AFAC3-F980-2876-ABB8-5BD5B6DE6FF4}"/>
              </a:ext>
            </a:extLst>
          </p:cNvPr>
          <p:cNvSpPr/>
          <p:nvPr/>
        </p:nvSpPr>
        <p:spPr>
          <a:xfrm>
            <a:off x="2090057" y="2643922"/>
            <a:ext cx="3443369" cy="32134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C6568D8-9953-653B-A8A5-24EDD6959705}"/>
              </a:ext>
            </a:extLst>
          </p:cNvPr>
          <p:cNvCxnSpPr/>
          <p:nvPr/>
        </p:nvCxnSpPr>
        <p:spPr>
          <a:xfrm>
            <a:off x="5642305" y="4143538"/>
            <a:ext cx="288222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5FB1042-0AE4-5A4B-7820-54C754F85E9F}"/>
              </a:ext>
            </a:extLst>
          </p:cNvPr>
          <p:cNvSpPr txBox="1"/>
          <p:nvPr/>
        </p:nvSpPr>
        <p:spPr>
          <a:xfrm>
            <a:off x="5781000" y="4467497"/>
            <a:ext cx="3214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Automatic updating UI</a:t>
            </a:r>
          </a:p>
        </p:txBody>
      </p:sp>
    </p:spTree>
    <p:extLst>
      <p:ext uri="{BB962C8B-B14F-4D97-AF65-F5344CB8AC3E}">
        <p14:creationId xmlns:p14="http://schemas.microsoft.com/office/powerpoint/2010/main" val="25212911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D828B-17F8-8A00-81CC-BC6CCAAF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2A551F7-1C6F-72E7-AED2-7D28B52CEB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174E78F-19BC-2CD5-245F-72CDB808E7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C1DC02-10C8-6637-5DB8-1AB55CA8941E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7D03E83F-F8CC-5B9B-5304-47801C4354C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6. Insert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5F6F917F-1955-F6F9-7DB6-02E639D86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962DA1F5-BE52-33BB-16AB-1B8361488CA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02FFDB97-F128-1A3B-453E-B185C60827A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C03A105A-6829-07E1-4814-B94CF713D03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DBF6-60AB-DE10-39E2-6F752D4F0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45" y="3781974"/>
            <a:ext cx="5397364" cy="2595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80CA55-1FD9-8DC0-20C1-EC54E4247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973" y="838830"/>
            <a:ext cx="5975130" cy="3054238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F888E62-643F-F16E-2F3A-05D147BDE0B3}"/>
              </a:ext>
            </a:extLst>
          </p:cNvPr>
          <p:cNvCxnSpPr>
            <a:endCxn id="8" idx="2"/>
          </p:cNvCxnSpPr>
          <p:nvPr/>
        </p:nvCxnSpPr>
        <p:spPr>
          <a:xfrm flipV="1">
            <a:off x="5627479" y="3893068"/>
            <a:ext cx="3409059" cy="39677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564365-8E00-8AF9-B01F-2DA98371F370}"/>
              </a:ext>
            </a:extLst>
          </p:cNvPr>
          <p:cNvSpPr txBox="1"/>
          <p:nvPr/>
        </p:nvSpPr>
        <p:spPr>
          <a:xfrm>
            <a:off x="1388582" y="3198167"/>
            <a:ext cx="3000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90A8D9-14C0-9A94-E1D0-C86298C152AB}"/>
              </a:ext>
            </a:extLst>
          </p:cNvPr>
          <p:cNvSpPr txBox="1"/>
          <p:nvPr/>
        </p:nvSpPr>
        <p:spPr>
          <a:xfrm>
            <a:off x="8238745" y="4358148"/>
            <a:ext cx="3000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InsertContactActivity</a:t>
            </a:r>
          </a:p>
        </p:txBody>
      </p:sp>
    </p:spTree>
    <p:extLst>
      <p:ext uri="{BB962C8B-B14F-4D97-AF65-F5344CB8AC3E}">
        <p14:creationId xmlns:p14="http://schemas.microsoft.com/office/powerpoint/2010/main" val="2755332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26ADB020-1294-349F-1DA2-3896414F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99E1B89-216E-2874-2930-39F19B0057C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0DF02CC-8736-50E1-5F2B-4D22D0E538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4F2FC9-727A-6EB5-6FC1-E084FB963262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D4F97EB0-10BE-744C-9E2E-5907AD5C91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6. Insert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C4F4D260-534D-A48B-1619-9F13C7BC4E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05CF09C7-2A8B-A507-4664-A1FE2BBF06D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2CA8BC39-1BDF-F9BB-825A-52640A45A78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7A6237CD-5957-D6C2-701F-B13229755A8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8CA5A9A-5A4D-BF74-04FB-C7D64918E9C7}"/>
              </a:ext>
            </a:extLst>
          </p:cNvPr>
          <p:cNvSpPr txBox="1"/>
          <p:nvPr/>
        </p:nvSpPr>
        <p:spPr>
          <a:xfrm>
            <a:off x="528207" y="897468"/>
            <a:ext cx="3000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InsertContactActivity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70DD8-0A5E-EEFA-9717-E1306D3E3D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057"/>
          <a:stretch/>
        </p:blipFill>
        <p:spPr>
          <a:xfrm>
            <a:off x="550107" y="1896757"/>
            <a:ext cx="3086100" cy="3699372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A7F766-1B23-6D62-A8E8-7CB2B9833DC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144"/>
          <a:stretch/>
        </p:blipFill>
        <p:spPr>
          <a:xfrm>
            <a:off x="4819432" y="1865406"/>
            <a:ext cx="3086100" cy="376207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F09B2C-6DA1-A477-7556-566419BF33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5600"/>
          <a:stretch/>
        </p:blipFill>
        <p:spPr>
          <a:xfrm>
            <a:off x="8717388" y="1865406"/>
            <a:ext cx="3086100" cy="3730723"/>
          </a:xfrm>
          <a:prstGeom prst="rect">
            <a:avLst/>
          </a:prstGeom>
          <a:ln>
            <a:solidFill>
              <a:srgbClr val="7030A0"/>
            </a:solidFill>
          </a:ln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1A3B866-E38F-76D8-0C03-11DA0E0860AE}"/>
              </a:ext>
            </a:extLst>
          </p:cNvPr>
          <p:cNvCxnSpPr/>
          <p:nvPr/>
        </p:nvCxnSpPr>
        <p:spPr>
          <a:xfrm>
            <a:off x="3528745" y="2210235"/>
            <a:ext cx="1215685" cy="621792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7824C62-7FE4-A5F6-6EBA-64AB409BE94E}"/>
              </a:ext>
            </a:extLst>
          </p:cNvPr>
          <p:cNvCxnSpPr>
            <a:endCxn id="8" idx="1"/>
          </p:cNvCxnSpPr>
          <p:nvPr/>
        </p:nvCxnSpPr>
        <p:spPr>
          <a:xfrm flipV="1">
            <a:off x="7623483" y="3730768"/>
            <a:ext cx="1093905" cy="1065913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8376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AC0F20-2EBE-2778-C1C8-4B2BE866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985E5774-64AD-888F-7264-52ACB31278A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3EC955E-F2EE-6314-4929-506330CD5A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AB2EA2-1C32-BD3C-D251-F6A388FD4AF1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883EE84F-DCC1-1CA5-7456-C388E608E72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6. Insert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8AEE740D-ACC0-A8D4-BBAF-9F0D6CBFA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FB3A336E-071B-0F3B-7BC0-4A51E64153D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F6BFA98E-811A-2E49-0A20-4A79869A96D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DB7C49CB-56D5-89B3-2301-E22CE21D993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DEA5BE0-CA98-D3B2-1BBE-022D3D0F215A}"/>
              </a:ext>
            </a:extLst>
          </p:cNvPr>
          <p:cNvSpPr txBox="1"/>
          <p:nvPr/>
        </p:nvSpPr>
        <p:spPr>
          <a:xfrm>
            <a:off x="528207" y="805027"/>
            <a:ext cx="990640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InsertContactActivity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AppCompatActivity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EditText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24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protected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onCreate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Bundle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savedInstanceState)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.onCreate(savedInstanceState);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setContentView(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layout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activity_insert_contact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addViews();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addViews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edtContactId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6799682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9C3D096-FD83-B64F-247D-2B57E7F7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E726206-D881-4563-3633-AB60E8EA3BD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C71BD518-11B0-42CC-B882-BA49F91C63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C4BE74-B838-56D9-575B-C109532D61B6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01030C3E-CE69-9C82-9203-4ED9AA76AC8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6. Insert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D148944E-6454-1B72-928C-4AD503CA01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EAA99F-9BC7-124C-60EA-6B54716CC3F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022CE464-720E-D391-0835-9CCF528D873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E9774CC7-8D2F-4169-2B25-FD74DFC5069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4975C4-99BD-F675-3A21-3594CF662E9C}"/>
              </a:ext>
            </a:extLst>
          </p:cNvPr>
          <p:cNvSpPr txBox="1"/>
          <p:nvPr/>
        </p:nvSpPr>
        <p:spPr>
          <a:xfrm>
            <a:off x="528207" y="805027"/>
            <a:ext cx="115157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0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2000">
                <a:solidFill>
                  <a:srgbClr val="00627A"/>
                </a:solidFill>
                <a:effectLst/>
                <a:latin typeface="JetBrains Mono"/>
              </a:rPr>
              <a:t>processInsertContact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View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view) {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000">
                <a:solidFill>
                  <a:srgbClr val="0033B3"/>
                </a:solidFill>
                <a:effectLst/>
                <a:latin typeface="JetBrains Mono"/>
              </a:rPr>
              <a:t>try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FirebaseDatabase database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FirebaseDatabase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000" i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DatabaseReference myRef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database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.getReference(</a:t>
            </a:r>
            <a:r>
              <a:rPr lang="en-US" sz="2000">
                <a:solidFill>
                  <a:srgbClr val="067D17"/>
                </a:solidFill>
                <a:effectLst/>
                <a:latin typeface="JetBrains Mono"/>
              </a:rPr>
              <a:t>"contacts"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String contactId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0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String name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0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String phone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0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String email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0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contactId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000">
                <a:solidFill>
                  <a:srgbClr val="067D17"/>
                </a:solidFill>
                <a:effectLst/>
                <a:latin typeface="JetBrains Mono"/>
              </a:rPr>
              <a:t>"phone"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phone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contactId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000">
                <a:solidFill>
                  <a:srgbClr val="067D17"/>
                </a:solidFill>
                <a:effectLst/>
                <a:latin typeface="JetBrains Mono"/>
              </a:rPr>
              <a:t>"email"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email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contactId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000">
                <a:solidFill>
                  <a:srgbClr val="067D17"/>
                </a:solidFill>
                <a:effectLst/>
                <a:latin typeface="JetBrains Mono"/>
              </a:rPr>
              <a:t>"name"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name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finish();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000">
                <a:solidFill>
                  <a:srgbClr val="0033B3"/>
                </a:solidFill>
                <a:effectLst/>
                <a:latin typeface="JetBrains Mono"/>
              </a:rPr>
              <a:t>catch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ex) {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Toast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000" i="1">
                <a:solidFill>
                  <a:srgbClr val="080808"/>
                </a:solidFill>
                <a:effectLst/>
                <a:latin typeface="JetBrains Mono"/>
              </a:rPr>
              <a:t>makeText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000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000">
                <a:solidFill>
                  <a:srgbClr val="067D17"/>
                </a:solidFill>
                <a:effectLst/>
                <a:latin typeface="JetBrains Mono"/>
              </a:rPr>
              <a:t>"Error:"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+ex.toString(),</a:t>
            </a:r>
            <a:r>
              <a:rPr lang="en-US" sz="2000">
                <a:solidFill>
                  <a:srgbClr val="000000"/>
                </a:solidFill>
                <a:effectLst/>
                <a:latin typeface="JetBrains Mono"/>
              </a:rPr>
              <a:t>Toast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000" i="1">
                <a:solidFill>
                  <a:srgbClr val="871094"/>
                </a:solidFill>
                <a:effectLst/>
                <a:latin typeface="JetBrains Mono"/>
              </a:rPr>
              <a:t>LENGTH_LONG</a:t>
            </a: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).show();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0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0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0711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70D3ECD-58C9-4A88-150E-869759DF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CC738AAF-2D7D-30BB-1875-D635B0E4496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14D256CA-B916-56B7-DFD4-30764DC57F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20A611A-A1D1-439E-72FB-C25445B124A8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5299B15E-F779-314E-B9C3-1609EEC7582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6. Insert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A7777585-FDF9-4D16-4F1C-037C1789A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2D356B68-1ABC-CAEE-5420-6A39CCB355E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252F2127-803E-885F-11DD-44F8AEC38BC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DF6F2FEC-32BE-9998-BCB6-9545FA2BAE2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194C695-C227-8101-2CD0-5EF76FD109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4"/>
          <a:stretch/>
        </p:blipFill>
        <p:spPr>
          <a:xfrm>
            <a:off x="477338" y="940556"/>
            <a:ext cx="3086100" cy="376207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7ABEAD-8C1D-5D89-8349-B5715BF13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987" y="4418727"/>
            <a:ext cx="5534747" cy="2323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CA0A2A-4954-88FB-C6D3-C3B7BFB2D1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588" y="455290"/>
            <a:ext cx="4384481" cy="39686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07C18D-7EDD-DB0C-B7F5-2C7A943BF94E}"/>
              </a:ext>
            </a:extLst>
          </p:cNvPr>
          <p:cNvSpPr/>
          <p:nvPr/>
        </p:nvSpPr>
        <p:spPr>
          <a:xfrm>
            <a:off x="7142770" y="5789458"/>
            <a:ext cx="647918" cy="778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A36FC2-2591-2200-0EF2-C2469AE766CD}"/>
              </a:ext>
            </a:extLst>
          </p:cNvPr>
          <p:cNvSpPr/>
          <p:nvPr/>
        </p:nvSpPr>
        <p:spPr>
          <a:xfrm>
            <a:off x="8063266" y="3585318"/>
            <a:ext cx="647918" cy="70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C02CD6BB-B244-5231-4960-8DAA011FA40C}"/>
              </a:ext>
            </a:extLst>
          </p:cNvPr>
          <p:cNvCxnSpPr>
            <a:cxnSpLocks/>
            <a:stCxn id="8" idx="0"/>
            <a:endCxn id="21" idx="1"/>
          </p:cNvCxnSpPr>
          <p:nvPr/>
        </p:nvCxnSpPr>
        <p:spPr>
          <a:xfrm rot="5400000" flipH="1" flipV="1">
            <a:off x="6840365" y="4566558"/>
            <a:ext cx="1849265" cy="596537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82F4E94-544F-528D-5200-5FE567D57F6F}"/>
              </a:ext>
            </a:extLst>
          </p:cNvPr>
          <p:cNvSpPr/>
          <p:nvPr/>
        </p:nvSpPr>
        <p:spPr>
          <a:xfrm>
            <a:off x="8387225" y="4603351"/>
            <a:ext cx="897854" cy="3553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4187F62F-0016-4562-0CBF-253B1CC27517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8475182" y="2254649"/>
            <a:ext cx="809897" cy="2526357"/>
          </a:xfrm>
          <a:prstGeom prst="bentConnector4">
            <a:avLst>
              <a:gd name="adj1" fmla="val -28226"/>
              <a:gd name="adj2" fmla="val 1002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ECA6D65-B838-E84C-9FC0-ACC1C9FFB579}"/>
              </a:ext>
            </a:extLst>
          </p:cNvPr>
          <p:cNvSpPr/>
          <p:nvPr/>
        </p:nvSpPr>
        <p:spPr>
          <a:xfrm>
            <a:off x="4942985" y="5789458"/>
            <a:ext cx="800317" cy="77854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440672DE-BDC9-9F83-98E6-02FC603DE4EE}"/>
              </a:ext>
            </a:extLst>
          </p:cNvPr>
          <p:cNvCxnSpPr>
            <a:cxnSpLocks/>
            <a:stCxn id="30" idx="0"/>
          </p:cNvCxnSpPr>
          <p:nvPr/>
        </p:nvCxnSpPr>
        <p:spPr>
          <a:xfrm rot="5400000" flipH="1" flipV="1">
            <a:off x="5483352" y="3288792"/>
            <a:ext cx="2360458" cy="2640874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247AED8-205F-68B2-9229-E0F63D1F9866}"/>
              </a:ext>
            </a:extLst>
          </p:cNvPr>
          <p:cNvSpPr/>
          <p:nvPr/>
        </p:nvSpPr>
        <p:spPr>
          <a:xfrm>
            <a:off x="7962682" y="3283098"/>
            <a:ext cx="800317" cy="25519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363AB35D-5BDF-685E-4F3D-264591BFA203}"/>
              </a:ext>
            </a:extLst>
          </p:cNvPr>
          <p:cNvCxnSpPr>
            <a:stCxn id="2" idx="3"/>
          </p:cNvCxnSpPr>
          <p:nvPr/>
        </p:nvCxnSpPr>
        <p:spPr>
          <a:xfrm>
            <a:off x="3563438" y="2821593"/>
            <a:ext cx="1180992" cy="1597134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32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586C187-E976-BDF9-1CC4-94916F03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3B12351-2794-E772-DB5D-52A86961F5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C326D6F2-81B0-D009-B5BD-2A8110A11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D8CD30-24EA-3870-DDC4-C868A237740B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D24072C8-6E20-2685-A650-D23F0E13448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5691C35-C222-530E-DA49-3F6BF0882B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D7031AC5-B40E-C6B5-0A53-A2B38BA5DAB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F7C205C5-C581-FB82-96C2-5D3569ABB0FE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F3660716-ECDF-3B68-6D62-C1399AFB601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D7DC6D8-4913-2913-951F-BAA8E9C05F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4"/>
          <a:stretch/>
        </p:blipFill>
        <p:spPr>
          <a:xfrm>
            <a:off x="1466921" y="1409651"/>
            <a:ext cx="3086100" cy="376207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78CE80A-52BF-7160-711D-7B69A99132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362"/>
          <a:stretch/>
        </p:blipFill>
        <p:spPr>
          <a:xfrm>
            <a:off x="6925165" y="1409651"/>
            <a:ext cx="3086100" cy="3678501"/>
          </a:xfrm>
          <a:prstGeom prst="rect">
            <a:avLst/>
          </a:prstGeom>
          <a:ln>
            <a:solidFill>
              <a:srgbClr val="7030A0"/>
            </a:solidFill>
          </a:ln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07A0AC2-559D-0D94-B531-3289524285E6}"/>
              </a:ext>
            </a:extLst>
          </p:cNvPr>
          <p:cNvCxnSpPr/>
          <p:nvPr/>
        </p:nvCxnSpPr>
        <p:spPr>
          <a:xfrm>
            <a:off x="4336869" y="2220686"/>
            <a:ext cx="2445366" cy="386660"/>
          </a:xfrm>
          <a:prstGeom prst="bentConnector3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D223C62-D4D8-3EBB-185C-C7843AE22F8C}"/>
              </a:ext>
            </a:extLst>
          </p:cNvPr>
          <p:cNvCxnSpPr>
            <a:stCxn id="17" idx="2"/>
            <a:endCxn id="7" idx="2"/>
          </p:cNvCxnSpPr>
          <p:nvPr/>
        </p:nvCxnSpPr>
        <p:spPr>
          <a:xfrm rot="5400000">
            <a:off x="5697307" y="2400816"/>
            <a:ext cx="83572" cy="5458244"/>
          </a:xfrm>
          <a:prstGeom prst="bentConnector3">
            <a:avLst>
              <a:gd name="adj1" fmla="val 692403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D9B210A-0A12-DF36-900F-BFB0E3063608}"/>
              </a:ext>
            </a:extLst>
          </p:cNvPr>
          <p:cNvSpPr txBox="1"/>
          <p:nvPr/>
        </p:nvSpPr>
        <p:spPr>
          <a:xfrm>
            <a:off x="1864070" y="5710937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C3E3B3-3900-50BC-ECE3-0FFA8FE250A9}"/>
              </a:ext>
            </a:extLst>
          </p:cNvPr>
          <p:cNvSpPr txBox="1"/>
          <p:nvPr/>
        </p:nvSpPr>
        <p:spPr>
          <a:xfrm>
            <a:off x="7048718" y="5825890"/>
            <a:ext cx="3401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9C5FA3-3CA2-D454-AB3E-8A8182D59F23}"/>
              </a:ext>
            </a:extLst>
          </p:cNvPr>
          <p:cNvSpPr txBox="1"/>
          <p:nvPr/>
        </p:nvSpPr>
        <p:spPr>
          <a:xfrm>
            <a:off x="4695952" y="1769848"/>
            <a:ext cx="1114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touch</a:t>
            </a:r>
          </a:p>
        </p:txBody>
      </p:sp>
    </p:spTree>
    <p:extLst>
      <p:ext uri="{BB962C8B-B14F-4D97-AF65-F5344CB8AC3E}">
        <p14:creationId xmlns:p14="http://schemas.microsoft.com/office/powerpoint/2010/main" val="2633185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E9345C3-9115-5AC3-9E17-9829915AB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89571CC5-BF38-9B03-11A9-28B43E553FF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5CCBD5B-09AA-1330-8C03-D94AA3937E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132063A-939C-9119-0B4A-6712EDFD94E3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1B9DBBA7-9DF8-D97B-620C-E1D1DA65C5A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BEFA6E97-55C7-1E4A-3968-811A481BC9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BE46E063-57BD-DAC6-3BDF-31FE51306C2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FF3947FA-68EC-34E6-9981-680B81D6801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CD69F23C-312C-5140-0C54-0459C5151BB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144C56-75CD-ABC6-0143-75B399724832}"/>
              </a:ext>
            </a:extLst>
          </p:cNvPr>
          <p:cNvSpPr txBox="1"/>
          <p:nvPr/>
        </p:nvSpPr>
        <p:spPr>
          <a:xfrm>
            <a:off x="595667" y="945606"/>
            <a:ext cx="3401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4A011D-FAC1-E3DF-DC09-AB909AEA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986" y="1706208"/>
            <a:ext cx="6184673" cy="33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666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D7B71C4-152F-ACD9-94D8-12D7D080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E2D68A8-38B0-7706-D6AD-A477973F34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6B5D050F-5A6C-0844-A256-ABB89B6CBE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BC0D92-94C2-0297-B66D-2D4007F31D95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6A1DA3D-D14E-35D5-48B0-15FB272F02B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7D8E1F56-E03F-E62F-12B0-ED58F32C4E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E8AADDA8-D6BB-56A8-5D06-CC7E6F9B8CC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B4F088CA-2B66-DC4F-B1E7-508897C0E17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08AF8675-D25B-160E-35B9-4F8C7DCDCE2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E5F1C96-4EA3-87DD-1BBB-790BB694BE7F}"/>
              </a:ext>
            </a:extLst>
          </p:cNvPr>
          <p:cNvSpPr txBox="1"/>
          <p:nvPr/>
        </p:nvSpPr>
        <p:spPr>
          <a:xfrm>
            <a:off x="887258" y="982182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26FAE-E9AF-2D27-0347-6ABD6E03F609}"/>
              </a:ext>
            </a:extLst>
          </p:cNvPr>
          <p:cNvSpPr txBox="1"/>
          <p:nvPr/>
        </p:nvSpPr>
        <p:spPr>
          <a:xfrm>
            <a:off x="981310" y="1495705"/>
            <a:ext cx="109894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addEvents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lvContact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.setOnItemClickListener(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AdapterView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OnItemClickListener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24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onItemClick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AdapterView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&lt;?&gt; parent,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View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view,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position,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long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id)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data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contactAdapter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.getItem(position);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data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.split(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2400"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)[</a:t>
            </a:r>
            <a:r>
              <a:rPr lang="en-US" sz="240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];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Intent intent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Intent(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MainActivity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DetailContactActivity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intent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.putExtra(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"KEY"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    startActivity(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intent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});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5529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9E16E715-253D-EB07-B6C1-2B8D5660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FEFB3BE-F74C-FF4D-6151-3F1F669E631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891C9E25-072D-DA26-E6E1-D31FBFC6E6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EF8221-4A92-5D83-6A4A-CF048643E3CB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8ED5DB50-5DEE-6766-47E3-06310DA2EB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7A865BBE-C372-C4B2-649F-9BDAADFFF0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F41E3F82-B651-0F08-43DD-5C7C8383C81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6FC5D61F-DD3C-6A17-782E-70910EB1EA1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ED507C80-9A2F-52A3-E904-1266FE0E227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41A625-4F84-A706-305D-95C809F6D579}"/>
              </a:ext>
            </a:extLst>
          </p:cNvPr>
          <p:cNvSpPr txBox="1"/>
          <p:nvPr/>
        </p:nvSpPr>
        <p:spPr>
          <a:xfrm>
            <a:off x="8067620" y="389468"/>
            <a:ext cx="3401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BF9DF-2503-28D0-35AC-0DA4B9B20938}"/>
              </a:ext>
            </a:extLst>
          </p:cNvPr>
          <p:cNvSpPr txBox="1"/>
          <p:nvPr/>
        </p:nvSpPr>
        <p:spPr>
          <a:xfrm>
            <a:off x="698030" y="851133"/>
            <a:ext cx="107658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DetailContactActivity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extends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AppCompatActivity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EditText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 sz="2400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protected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onCreate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Bundle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savedInstanceState)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.onCreate(savedInstanceState);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setContentView(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layout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activity_detail_contact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addViews();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getContactDetail();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addViews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edtContactId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=findViewById(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1640501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DD74492B-FF00-8FDA-2575-A735C171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D932714-21B6-C3E4-0ADC-4A834303AC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11C449E-1EDE-6010-6861-EA10D0519B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9E76F1-61F4-6CE9-F9BE-688ACDF63F40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AB2B94DC-F5E9-FB17-0C57-EA24190D6BB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36253E1-AC16-78DF-3831-D19D2F439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EC8BC2AB-D531-FA23-5B7B-46D03A2FECE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758F5CB9-95ED-C1C2-12E6-E6D3D29F43F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A1F70EC7-843B-04EB-DF1C-76259F7BA83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A95181-109C-ED60-D5D0-EA1514B1C1FA}"/>
              </a:ext>
            </a:extLst>
          </p:cNvPr>
          <p:cNvSpPr txBox="1"/>
          <p:nvPr/>
        </p:nvSpPr>
        <p:spPr>
          <a:xfrm>
            <a:off x="8067620" y="389468"/>
            <a:ext cx="3401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9000B-B8E9-C31A-E92B-5D91F9F27ECA}"/>
              </a:ext>
            </a:extLst>
          </p:cNvPr>
          <p:cNvSpPr txBox="1"/>
          <p:nvPr/>
        </p:nvSpPr>
        <p:spPr>
          <a:xfrm>
            <a:off x="698030" y="851133"/>
            <a:ext cx="1117872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private void </a:t>
            </a:r>
            <a:r>
              <a:rPr lang="en-US">
                <a:solidFill>
                  <a:srgbClr val="00627A"/>
                </a:solidFill>
                <a:effectLst/>
                <a:latin typeface="JetBrains Mono"/>
              </a:rPr>
              <a:t>getContactDetail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Intent intent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=getIntent();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final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String key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intent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.getStringExtra(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"KEY"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FirebaseDatabase database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FirebaseDatabase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i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DatabaseReference myRef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database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.getReference(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"contacts"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).addListenerForSingleValueEvent(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ValueEventListener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>
                <a:solidFill>
                  <a:srgbClr val="9E880D"/>
                </a:solidFill>
                <a:effectLst/>
                <a:latin typeface="JetBrains Mono"/>
              </a:rPr>
              <a:t>        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>
                <a:solidFill>
                  <a:srgbClr val="00627A"/>
                </a:solidFill>
                <a:effectLst/>
                <a:latin typeface="JetBrains Mono"/>
              </a:rPr>
              <a:t>onDataChange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DataSnapshot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dataSnapshot) 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try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= 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&gt;) dataSnapshot.getValue();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lang="en-US">
                <a:solidFill>
                  <a:srgbClr val="851691"/>
                </a:solidFill>
                <a:effectLst/>
                <a:latin typeface="JetBrains Mono"/>
              </a:rPr>
              <a:t>key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.get(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"name"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).toString());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.get(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"email"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).toString());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.setText(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hashMap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.get(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"phone"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).toString());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catch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Exception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ex) 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i="1">
                <a:solidFill>
                  <a:srgbClr val="080808"/>
                </a:solidFill>
                <a:effectLst/>
                <a:latin typeface="JetBrains Mono"/>
              </a:rPr>
              <a:t>e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"MY_ERROR"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,ex.toString());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US">
                <a:solidFill>
                  <a:srgbClr val="9E880D"/>
                </a:solidFill>
                <a:effectLst/>
                <a:latin typeface="JetBrains Mono"/>
              </a:rPr>
              <a:t>@Override</a:t>
            </a:r>
            <a:br>
              <a:rPr lang="en-US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n-US">
                <a:solidFill>
                  <a:srgbClr val="9E880D"/>
                </a:solidFill>
                <a:effectLst/>
                <a:latin typeface="JetBrains Mono"/>
              </a:rPr>
              <a:t>            </a:t>
            </a:r>
            <a:r>
              <a:rPr lang="en-US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>
                <a:solidFill>
                  <a:srgbClr val="00627A"/>
                </a:solidFill>
                <a:effectLst/>
                <a:latin typeface="JetBrains Mono"/>
              </a:rPr>
              <a:t>onCancelled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DatabaseError 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databaseError) {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US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i="1">
                <a:solidFill>
                  <a:srgbClr val="080808"/>
                </a:solidFill>
                <a:effectLst/>
                <a:latin typeface="JetBrains Mono"/>
              </a:rPr>
              <a:t>w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"MY_ERROR"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>
                <a:solidFill>
                  <a:srgbClr val="067D17"/>
                </a:solidFill>
                <a:effectLst/>
                <a:latin typeface="JetBrains Mono"/>
              </a:rPr>
              <a:t>"loadPost:onCancelled"</a:t>
            </a: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, databaseError.toException());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    });</a:t>
            </a:r>
            <a:br>
              <a:rPr lang="en-US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671572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EAEB028-0FE8-D53C-9A44-C79298A9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79F8F4C-9538-C907-AF5F-B1C6F8BEB6F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BDC4BF2-1C85-032E-C200-6D6492DF5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D53C7E-D1DB-1864-EC73-9054C049394C}"/>
              </a:ext>
            </a:extLst>
          </p:cNvPr>
          <p:cNvGrpSpPr/>
          <p:nvPr/>
        </p:nvGrpSpPr>
        <p:grpSpPr>
          <a:xfrm>
            <a:off x="199697" y="285531"/>
            <a:ext cx="7094602" cy="508000"/>
            <a:chOff x="789624" y="1191463"/>
            <a:chExt cx="7094602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74328804-D9A8-6DA7-1B21-357F9F9ABFD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893627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7. Read Single Data Firebase Realtime Database</a:t>
              </a:r>
              <a:endPara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35858C5-A26C-9FC2-F982-46BE2075ED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52A7909D-2CC0-537E-CFCB-6A47350AB7D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2F9194F0-0D0A-A918-AECE-EA99B037A89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9C9A287-B450-2E18-CCA6-A5236B4BACA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EB9673C-DCE1-E6BF-8598-44A48B044D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4"/>
          <a:stretch/>
        </p:blipFill>
        <p:spPr>
          <a:xfrm>
            <a:off x="252874" y="1908464"/>
            <a:ext cx="3086100" cy="376207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256417-0D75-A660-061A-9BACF2D54B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362"/>
          <a:stretch/>
        </p:blipFill>
        <p:spPr>
          <a:xfrm>
            <a:off x="8877481" y="1815375"/>
            <a:ext cx="3086100" cy="3678501"/>
          </a:xfrm>
          <a:prstGeom prst="rect">
            <a:avLst/>
          </a:prstGeom>
          <a:ln>
            <a:solidFill>
              <a:srgbClr val="7030A0"/>
            </a:solidFill>
          </a:ln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2916012-57EA-270E-79F8-A208E79681DB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7766" y="4855104"/>
            <a:ext cx="5555263" cy="433645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CE0768-95D0-8647-095D-68CB92AF0750}"/>
              </a:ext>
            </a:extLst>
          </p:cNvPr>
          <p:cNvSpPr txBox="1"/>
          <p:nvPr/>
        </p:nvSpPr>
        <p:spPr>
          <a:xfrm>
            <a:off x="690153" y="5722395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39BDF-CAAB-A788-1329-5CE7E680C29A}"/>
              </a:ext>
            </a:extLst>
          </p:cNvPr>
          <p:cNvSpPr txBox="1"/>
          <p:nvPr/>
        </p:nvSpPr>
        <p:spPr>
          <a:xfrm>
            <a:off x="8914057" y="5619909"/>
            <a:ext cx="3239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7065C-89C3-D88F-62B5-9192825C8D39}"/>
              </a:ext>
            </a:extLst>
          </p:cNvPr>
          <p:cNvSpPr txBox="1"/>
          <p:nvPr/>
        </p:nvSpPr>
        <p:spPr>
          <a:xfrm>
            <a:off x="3393039" y="3122123"/>
            <a:ext cx="11144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touch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760789-CF67-64E7-5304-A30C21B97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117" y="916807"/>
            <a:ext cx="3648584" cy="3900765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9FB68FD-6CF1-3E69-7D60-BF268DCE4AD5}"/>
              </a:ext>
            </a:extLst>
          </p:cNvPr>
          <p:cNvCxnSpPr/>
          <p:nvPr/>
        </p:nvCxnSpPr>
        <p:spPr>
          <a:xfrm>
            <a:off x="2957431" y="2764091"/>
            <a:ext cx="1870601" cy="381436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6385488-3E53-EED3-FB45-CFBB3FEBAF65}"/>
              </a:ext>
            </a:extLst>
          </p:cNvPr>
          <p:cNvCxnSpPr/>
          <p:nvPr/>
        </p:nvCxnSpPr>
        <p:spPr>
          <a:xfrm>
            <a:off x="6938990" y="3429253"/>
            <a:ext cx="1870601" cy="381436"/>
          </a:xfrm>
          <a:prstGeom prst="bentConnector3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668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35DAD17-F6CC-BC81-4AE2-95F4A3E4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49F98AA2-BD2D-5530-62FB-6B9BF3D7C3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0829A96-C462-1231-3C57-650E1BE45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0C80AE-1609-7735-C425-A318B8E56598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5DF81C46-1152-6F97-DB5F-99CBAA489CC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 Update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94DA874-7552-852D-38A0-95020C138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85829F54-195B-9586-7326-B4187CF817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7241866D-7D58-8880-5358-E57A3620EE5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BAABA2B0-E39F-C2F5-EC47-0CF03E18451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A8185FA-C3F3-A652-4C29-E477F6562C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4"/>
          <a:stretch/>
        </p:blipFill>
        <p:spPr>
          <a:xfrm>
            <a:off x="173702" y="1483192"/>
            <a:ext cx="2710577" cy="3304296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B7B10-ACF2-9CE9-E4C2-CCC3273252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362"/>
          <a:stretch/>
        </p:blipFill>
        <p:spPr>
          <a:xfrm>
            <a:off x="3235062" y="1483192"/>
            <a:ext cx="2727267" cy="325078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16C78-A107-54A5-1355-26B6D6FEE8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6286"/>
          <a:stretch/>
        </p:blipFill>
        <p:spPr>
          <a:xfrm>
            <a:off x="9399959" y="1564182"/>
            <a:ext cx="2618339" cy="3125384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4AFD6-EBA2-10DC-1397-6092310F21D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7276"/>
          <a:stretch/>
        </p:blipFill>
        <p:spPr>
          <a:xfrm>
            <a:off x="6319680" y="1519769"/>
            <a:ext cx="2743343" cy="3214211"/>
          </a:xfrm>
          <a:prstGeom prst="rect">
            <a:avLst/>
          </a:prstGeom>
          <a:ln>
            <a:solidFill>
              <a:srgbClr val="7030A0"/>
            </a:solidFill>
          </a:ln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E6D0726-55F3-3969-46D3-33EC41C163B1}"/>
              </a:ext>
            </a:extLst>
          </p:cNvPr>
          <p:cNvCxnSpPr/>
          <p:nvPr/>
        </p:nvCxnSpPr>
        <p:spPr>
          <a:xfrm>
            <a:off x="2711849" y="2252037"/>
            <a:ext cx="8646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352857-DFA6-4DA2-5C6F-A1273629C01A}"/>
              </a:ext>
            </a:extLst>
          </p:cNvPr>
          <p:cNvCxnSpPr/>
          <p:nvPr/>
        </p:nvCxnSpPr>
        <p:spPr>
          <a:xfrm>
            <a:off x="5601794" y="3111199"/>
            <a:ext cx="8646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23DB97C-9129-E17E-F21A-69832DF11B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13449" y="2283636"/>
            <a:ext cx="1928077" cy="1729022"/>
          </a:xfrm>
          <a:prstGeom prst="bentConnector3">
            <a:avLst>
              <a:gd name="adj1" fmla="val 1001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72EAB713-D7D5-E520-8327-6EE6116E6BD3}"/>
              </a:ext>
            </a:extLst>
          </p:cNvPr>
          <p:cNvSpPr txBox="1"/>
          <p:nvPr/>
        </p:nvSpPr>
        <p:spPr>
          <a:xfrm>
            <a:off x="611775" y="4839346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FA8A183-F700-465F-BC62-9A6D192253F2}"/>
              </a:ext>
            </a:extLst>
          </p:cNvPr>
          <p:cNvSpPr txBox="1"/>
          <p:nvPr/>
        </p:nvSpPr>
        <p:spPr>
          <a:xfrm>
            <a:off x="4846657" y="4814044"/>
            <a:ext cx="3239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2CFE2A3-D5A7-E427-DF95-93D09A296614}"/>
              </a:ext>
            </a:extLst>
          </p:cNvPr>
          <p:cNvSpPr txBox="1"/>
          <p:nvPr/>
        </p:nvSpPr>
        <p:spPr>
          <a:xfrm>
            <a:off x="9603357" y="4827855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</p:spTree>
    <p:extLst>
      <p:ext uri="{BB962C8B-B14F-4D97-AF65-F5344CB8AC3E}">
        <p14:creationId xmlns:p14="http://schemas.microsoft.com/office/powerpoint/2010/main" val="42750390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5462421E-DECB-D783-5599-FF6F26E2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AD647E6-DCCD-82DE-52DC-BF476CA71E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4355585-C280-AAA7-9C09-38F1B75E96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4805F8-EA26-B48B-58B8-728960D2F3A7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07358BAB-D687-5F2F-12DE-6007F96775D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8. Update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ADCC6767-4AF4-38F4-C23F-247FE4B6E2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1A8DF727-B746-0477-40AF-71531DD254C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277D2D3C-46FE-B365-718A-6FC43C0669F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368BCA9A-FD17-7F8E-3B04-E22FB6A3380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3A2253-F341-15FC-05A7-145F7B6E333A}"/>
              </a:ext>
            </a:extLst>
          </p:cNvPr>
          <p:cNvSpPr txBox="1"/>
          <p:nvPr/>
        </p:nvSpPr>
        <p:spPr>
          <a:xfrm>
            <a:off x="550106" y="1751845"/>
            <a:ext cx="88237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processUpdateContact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View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view)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FirebaseDatabase database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FirebaseDatabase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DatabaseReference myRef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database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.getReference(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"contacts"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"phone"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phone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"email"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email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).child(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"name"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).setValue(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name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finish();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CDB92-E937-7713-3CC0-A6FF0A34A9E4}"/>
              </a:ext>
            </a:extLst>
          </p:cNvPr>
          <p:cNvSpPr txBox="1"/>
          <p:nvPr/>
        </p:nvSpPr>
        <p:spPr>
          <a:xfrm>
            <a:off x="459936" y="1013155"/>
            <a:ext cx="3239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1B8D4-AAA7-41CF-F977-F7F60949E6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276"/>
          <a:stretch/>
        </p:blipFill>
        <p:spPr>
          <a:xfrm>
            <a:off x="8898551" y="581840"/>
            <a:ext cx="2743343" cy="3214211"/>
          </a:xfrm>
          <a:prstGeom prst="rect">
            <a:avLst/>
          </a:prstGeom>
          <a:ln>
            <a:solidFill>
              <a:srgbClr val="7030A0"/>
            </a:solidFill>
          </a:ln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0602FD40-B391-2947-2EAB-F0442F5CCC14}"/>
              </a:ext>
            </a:extLst>
          </p:cNvPr>
          <p:cNvCxnSpPr>
            <a:cxnSpLocks/>
          </p:cNvCxnSpPr>
          <p:nvPr/>
        </p:nvCxnSpPr>
        <p:spPr>
          <a:xfrm rot="10800000">
            <a:off x="6635931" y="2011683"/>
            <a:ext cx="3281390" cy="1092053"/>
          </a:xfrm>
          <a:prstGeom prst="bentConnector3">
            <a:avLst>
              <a:gd name="adj1" fmla="val 47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674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52F3D0E-26B1-26B7-35E6-CAAB37FF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5A0562C-B2A2-35A5-8B1D-8C39CE99C2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141B757-3E22-979C-36A4-5D92F51FD7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FB2029-A595-7EA7-9792-7FD8C185699A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7B0C8A35-0712-7F1D-4D21-543C39C99F5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9. Delete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37D7774-9F90-0F1F-AEAA-4CC1CA92F8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2C1C8829-E433-B115-7791-20A6423F836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A409FCEB-1452-6A1B-1927-44A2B4E3DD3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54A0CF1-D0BA-6C7A-1D9C-8C3C9DDE4FF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0CC8B35-B3F6-4CC1-758B-5827863BAF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144"/>
          <a:stretch/>
        </p:blipFill>
        <p:spPr>
          <a:xfrm>
            <a:off x="173702" y="1483192"/>
            <a:ext cx="2710577" cy="3304296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59237A-62D1-6916-2FE2-E35F2F41EF6D}"/>
              </a:ext>
            </a:extLst>
          </p:cNvPr>
          <p:cNvSpPr txBox="1"/>
          <p:nvPr/>
        </p:nvSpPr>
        <p:spPr>
          <a:xfrm>
            <a:off x="611775" y="4839346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A8595-3E63-569E-728E-B3F88DFF82B2}"/>
              </a:ext>
            </a:extLst>
          </p:cNvPr>
          <p:cNvSpPr txBox="1"/>
          <p:nvPr/>
        </p:nvSpPr>
        <p:spPr>
          <a:xfrm>
            <a:off x="4185733" y="4913143"/>
            <a:ext cx="3239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086A5-B9AF-A500-8BF3-31F2B22808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1062"/>
          <a:stretch/>
        </p:blipFill>
        <p:spPr>
          <a:xfrm>
            <a:off x="4339258" y="1483192"/>
            <a:ext cx="3086100" cy="3356154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D93045-4CF1-E14C-3236-74C9F24480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6190"/>
          <a:stretch/>
        </p:blipFill>
        <p:spPr>
          <a:xfrm>
            <a:off x="8539734" y="1530967"/>
            <a:ext cx="3263216" cy="3176887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9557DC-2ACA-B895-FCB9-63A29400B726}"/>
              </a:ext>
            </a:extLst>
          </p:cNvPr>
          <p:cNvSpPr txBox="1"/>
          <p:nvPr/>
        </p:nvSpPr>
        <p:spPr>
          <a:xfrm>
            <a:off x="9065571" y="4913143"/>
            <a:ext cx="221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MainActivity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6A10F0-2F62-9344-2B3C-2BEE16D506D5}"/>
              </a:ext>
            </a:extLst>
          </p:cNvPr>
          <p:cNvCxnSpPr>
            <a:cxnSpLocks/>
          </p:cNvCxnSpPr>
          <p:nvPr/>
        </p:nvCxnSpPr>
        <p:spPr>
          <a:xfrm>
            <a:off x="2931305" y="4112188"/>
            <a:ext cx="116520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5BA92F-C324-9896-969C-22EF26EE983F}"/>
              </a:ext>
            </a:extLst>
          </p:cNvPr>
          <p:cNvCxnSpPr>
            <a:cxnSpLocks/>
          </p:cNvCxnSpPr>
          <p:nvPr/>
        </p:nvCxnSpPr>
        <p:spPr>
          <a:xfrm>
            <a:off x="7038267" y="4467498"/>
            <a:ext cx="150146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1128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FB267690-60EB-C80D-0EA0-4D86E965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B301E9A9-FC45-608D-4CBF-FB1AF6C34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4554E6B-E34B-B12C-04C0-3656269E0A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73EA7A9-4656-D293-82F2-B87DB354DA95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D4A30ABD-B4F7-208C-22C8-BED519E62D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it-IT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9. Delete Firebase Realtime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A2B67A1-9B98-8530-8CD6-674A92FDD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B1ED6CE1-4813-D07B-1AA4-314FEC6934F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62DC5C80-1B8E-3DF6-A2CE-38FB01D408A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52D34A94-C529-A8CE-798F-571B06DB3E2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1DEC5C-7E4D-3AD2-A682-5D914CEA7B30}"/>
              </a:ext>
            </a:extLst>
          </p:cNvPr>
          <p:cNvSpPr txBox="1"/>
          <p:nvPr/>
        </p:nvSpPr>
        <p:spPr>
          <a:xfrm>
            <a:off x="640277" y="1554512"/>
            <a:ext cx="107766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lang="en-US" sz="2400">
                <a:solidFill>
                  <a:srgbClr val="00627A"/>
                </a:solidFill>
                <a:effectLst/>
                <a:latin typeface="JetBrains Mono"/>
              </a:rPr>
              <a:t>processDeleteContact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View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view) {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String 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lang="en-US" sz="2400">
                <a:solidFill>
                  <a:srgbClr val="871094"/>
                </a:solidFill>
                <a:effectLst/>
                <a:latin typeface="JetBrains Mono"/>
              </a:rPr>
              <a:t>edtId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.getText().toString();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FirebaseDatabase database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FirebaseDatabase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2400" i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DatabaseReference myRef 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database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.getReference(</a:t>
            </a:r>
            <a:r>
              <a:rPr lang="en-US" sz="2400">
                <a:solidFill>
                  <a:srgbClr val="067D17"/>
                </a:solidFill>
                <a:effectLst/>
                <a:latin typeface="JetBrains Mono"/>
              </a:rPr>
              <a:t>"contacts"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myRef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.child(</a:t>
            </a:r>
            <a:r>
              <a:rPr lang="en-US" sz="2400">
                <a:solidFill>
                  <a:srgbClr val="000000"/>
                </a:solidFill>
                <a:effectLst/>
                <a:latin typeface="JetBrains Mono"/>
              </a:rPr>
              <a:t>key</a:t>
            </a: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).removeValue();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    finish();</a:t>
            </a:r>
            <a:br>
              <a:rPr lang="en-US" sz="24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4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9114F-140D-8E69-A83D-140EA0EB60D7}"/>
              </a:ext>
            </a:extLst>
          </p:cNvPr>
          <p:cNvSpPr txBox="1"/>
          <p:nvPr/>
        </p:nvSpPr>
        <p:spPr>
          <a:xfrm>
            <a:off x="550107" y="1019311"/>
            <a:ext cx="3239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DetailContactActivity</a:t>
            </a:r>
          </a:p>
        </p:txBody>
      </p:sp>
    </p:spTree>
    <p:extLst>
      <p:ext uri="{BB962C8B-B14F-4D97-AF65-F5344CB8AC3E}">
        <p14:creationId xmlns:p14="http://schemas.microsoft.com/office/powerpoint/2010/main" val="32163294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Q1: What are the advantages of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Q2: How to create Firebase account?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Q3: How to connect Mobile to Firebase?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Q4: How to Select list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Q5: How to Single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Q6: How to Update data for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>
                <a:latin typeface="Cambria" panose="02040503050406030204" pitchFamily="18" charset="0"/>
              </a:rPr>
              <a:t>Q7: How to Delete data from Firebase Realtime Database?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en-US" sz="280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62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>
                <a:solidFill>
                  <a:prstClr val="black"/>
                </a:solidFill>
                <a:latin typeface="Georgia"/>
              </a:rPr>
              <a:t>Google Firebase Cloud Messaging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2351</Words>
  <Application>Microsoft Office PowerPoint</Application>
  <PresentationFormat>Widescreen</PresentationFormat>
  <Paragraphs>247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Georgia</vt:lpstr>
      <vt:lpstr>Cambria</vt:lpstr>
      <vt:lpstr>Lato</vt:lpstr>
      <vt:lpstr>Times New Roman</vt:lpstr>
      <vt:lpstr>Lato Black</vt:lpstr>
      <vt:lpstr>Calibri</vt:lpstr>
      <vt:lpstr>Wingdings</vt:lpstr>
      <vt:lpstr>JetBrains Mono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Trần Duy Thanh</cp:lastModifiedBy>
  <cp:revision>690</cp:revision>
  <dcterms:created xsi:type="dcterms:W3CDTF">2022-12-02T04:21:00Z</dcterms:created>
  <dcterms:modified xsi:type="dcterms:W3CDTF">2024-02-20T14:24:56Z</dcterms:modified>
</cp:coreProperties>
</file>