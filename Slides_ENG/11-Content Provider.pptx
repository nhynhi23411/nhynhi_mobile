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9" r:id="rId2"/>
  </p:sldMasterIdLst>
  <p:notesMasterIdLst>
    <p:notesMasterId r:id="rId21"/>
  </p:notesMasterIdLst>
  <p:sldIdLst>
    <p:sldId id="256" r:id="rId3"/>
    <p:sldId id="267" r:id="rId4"/>
    <p:sldId id="281" r:id="rId5"/>
    <p:sldId id="341" r:id="rId6"/>
    <p:sldId id="346" r:id="rId7"/>
    <p:sldId id="342" r:id="rId8"/>
    <p:sldId id="347" r:id="rId9"/>
    <p:sldId id="348" r:id="rId10"/>
    <p:sldId id="349" r:id="rId11"/>
    <p:sldId id="350" r:id="rId12"/>
    <p:sldId id="343" r:id="rId13"/>
    <p:sldId id="351" r:id="rId14"/>
    <p:sldId id="344" r:id="rId15"/>
    <p:sldId id="345" r:id="rId16"/>
    <p:sldId id="352" r:id="rId17"/>
    <p:sldId id="340" r:id="rId18"/>
    <p:sldId id="308" r:id="rId19"/>
    <p:sldId id="269" r:id="rId20"/>
  </p:sldIdLst>
  <p:sldSz cx="12192000" cy="6858000"/>
  <p:notesSz cx="6858000" cy="9144000"/>
  <p:embeddedFontLst>
    <p:embeddedFont>
      <p:font typeface="Muli" panose="02000503040000090004" pitchFamily="2" charset="0"/>
      <p:regular r:id="rId22"/>
      <p:italic r:id="rId23"/>
    </p:embeddedFon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Georgia" panose="02040502050405020303" pitchFamily="18" charset="0"/>
      <p:regular r:id="rId32"/>
      <p:bold r:id="rId33"/>
      <p:italic r:id="rId34"/>
      <p:boldItalic r:id="rId35"/>
    </p:embeddedFont>
    <p:embeddedFont>
      <p:font typeface="Lato" panose="020B0604020202020204" charset="0"/>
      <p:regular r:id="rId36"/>
      <p:bold r:id="rId37"/>
      <p:italic r:id="rId38"/>
      <p:boldItalic r:id="rId39"/>
    </p:embeddedFont>
    <p:embeddedFont>
      <p:font typeface="Lato Black" panose="020B0604020202020204" charset="0"/>
      <p:bold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2" roundtripDataSignature="AMtx7mh4VrLQLvjXUsQeVJWWu9hsLYoG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15" autoAdjust="0"/>
    <p:restoredTop sz="89605" autoAdjust="0"/>
  </p:normalViewPr>
  <p:slideViewPr>
    <p:cSldViewPr snapToGrid="0">
      <p:cViewPr varScale="1">
        <p:scale>
          <a:sx n="112" d="100"/>
          <a:sy n="112" d="100"/>
        </p:scale>
        <p:origin x="254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5.xml"/><Relationship Id="rId92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font" Target="fonts/font19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95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0.fntdata"/><Relationship Id="rId9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6.xml"/><Relationship Id="rId93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20" Type="http://schemas.openxmlformats.org/officeDocument/2006/relationships/slide" Target="slides/slide18.xml"/><Relationship Id="rId41" Type="http://schemas.openxmlformats.org/officeDocument/2006/relationships/font" Target="fonts/font20.fntdata"/><Relationship Id="rId9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8213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2055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3842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4371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14362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71818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45392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93456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58943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09285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404291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19505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69928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27147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32991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83126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2814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 r="21016"/>
          <a:stretch/>
        </p:blipFill>
        <p:spPr>
          <a:xfrm>
            <a:off x="0" y="880629"/>
            <a:ext cx="8673353" cy="617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3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1595351" y="2187196"/>
            <a:ext cx="9001297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10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4847885" y="210692"/>
            <a:ext cx="2496230" cy="1015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0"/>
          <p:cNvSpPr txBox="1"/>
          <p:nvPr userDrawn="1"/>
        </p:nvSpPr>
        <p:spPr>
          <a:xfrm>
            <a:off x="1595350" y="1017973"/>
            <a:ext cx="9144000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</a:pPr>
            <a: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sz="16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839788" y="659342"/>
            <a:ext cx="3932237" cy="10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2"/>
          <p:cNvPicPr preferRelativeResize="0"/>
          <p:nvPr/>
        </p:nvPicPr>
        <p:blipFill rotWithShape="1">
          <a:blip r:embed="rId3">
            <a:alphaModFix/>
          </a:blip>
          <a:srcRect l="15000" t="43307" r="32291" b="37052"/>
          <a:stretch/>
        </p:blipFill>
        <p:spPr>
          <a:xfrm>
            <a:off x="211666" y="6201820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839788" y="577547"/>
            <a:ext cx="3932237" cy="129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2"/>
          </p:nvPr>
        </p:nvSpPr>
        <p:spPr>
          <a:xfrm>
            <a:off x="839788" y="2201630"/>
            <a:ext cx="3932237" cy="366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/>
          <p:cNvPicPr preferRelativeResize="0"/>
          <p:nvPr/>
        </p:nvPicPr>
        <p:blipFill rotWithShape="1">
          <a:blip r:embed="rId3">
            <a:alphaModFix/>
          </a:blip>
          <a:srcRect l="24127" t="66898" r="25919" b="25925"/>
          <a:stretch/>
        </p:blipFill>
        <p:spPr>
          <a:xfrm>
            <a:off x="810734" y="1911095"/>
            <a:ext cx="2855494" cy="11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/>
          <p:nvPr/>
        </p:nvPicPr>
        <p:blipFill rotWithShape="1">
          <a:blip r:embed="rId4">
            <a:alphaModFix/>
          </a:blip>
          <a:srcRect l="15000" t="43307" r="32291" b="37052"/>
          <a:stretch/>
        </p:blipFill>
        <p:spPr>
          <a:xfrm>
            <a:off x="211666" y="6160255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728132" y="6387798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098799" y="6335940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 r="21016"/>
          <a:stretch/>
        </p:blipFill>
        <p:spPr>
          <a:xfrm>
            <a:off x="0" y="880629"/>
            <a:ext cx="8673353" cy="617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3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1595351" y="2187196"/>
            <a:ext cx="9001297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10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4847885" y="210692"/>
            <a:ext cx="2496230" cy="1015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0"/>
          <p:cNvSpPr txBox="1"/>
          <p:nvPr userDrawn="1"/>
        </p:nvSpPr>
        <p:spPr>
          <a:xfrm>
            <a:off x="1595350" y="1017973"/>
            <a:ext cx="9144000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0978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839788" y="659342"/>
            <a:ext cx="3932237" cy="10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2"/>
          <p:cNvPicPr preferRelativeResize="0"/>
          <p:nvPr/>
        </p:nvPicPr>
        <p:blipFill rotWithShape="1">
          <a:blip r:embed="rId3">
            <a:alphaModFix/>
          </a:blip>
          <a:srcRect l="15000" t="43307" r="32291" b="37052"/>
          <a:stretch/>
        </p:blipFill>
        <p:spPr>
          <a:xfrm>
            <a:off x="211666" y="6201820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smtClean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Faculty of Information Systems</a:t>
            </a:r>
            <a:endParaRPr kumimoji="0" lang="en-US" sz="1200" b="1" i="1" u="none" strike="noStrike" kern="0" cap="none" spc="0" normalizeH="0" baseline="0" noProof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00363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7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5306" y="-33086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2581306"/>
            <a:ext cx="10515600" cy="156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9600"/>
              <a:buFont typeface="Lato Black"/>
              <a:buNone/>
              <a:defRPr sz="96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4" name="Google Shape;7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7944" y="330860"/>
            <a:ext cx="2890753" cy="117634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 txBox="1"/>
          <p:nvPr/>
        </p:nvSpPr>
        <p:spPr>
          <a:xfrm>
            <a:off x="2805445" y="1354975"/>
            <a:ext cx="6410498" cy="688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1330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839788" y="577547"/>
            <a:ext cx="3932237" cy="129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2"/>
          </p:nvPr>
        </p:nvSpPr>
        <p:spPr>
          <a:xfrm>
            <a:off x="839788" y="2201630"/>
            <a:ext cx="3932237" cy="366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/>
          <p:cNvPicPr preferRelativeResize="0"/>
          <p:nvPr/>
        </p:nvPicPr>
        <p:blipFill rotWithShape="1">
          <a:blip r:embed="rId3">
            <a:alphaModFix/>
          </a:blip>
          <a:srcRect l="24127" t="66898" r="25919" b="25925"/>
          <a:stretch/>
        </p:blipFill>
        <p:spPr>
          <a:xfrm>
            <a:off x="810734" y="1911095"/>
            <a:ext cx="2855494" cy="11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/>
          <p:nvPr/>
        </p:nvPicPr>
        <p:blipFill rotWithShape="1">
          <a:blip r:embed="rId4">
            <a:alphaModFix/>
          </a:blip>
          <a:srcRect l="15000" t="43307" r="32291" b="37052"/>
          <a:stretch/>
        </p:blipFill>
        <p:spPr>
          <a:xfrm>
            <a:off x="211666" y="6160255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728132" y="6387798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smtClean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Faculty of Information Systems</a:t>
            </a:r>
            <a:endParaRPr kumimoji="0" lang="en-US" sz="1200" b="1" i="1" u="none" strike="noStrike" kern="0" cap="none" spc="0" normalizeH="0" baseline="0" noProof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098799" y="6335940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29039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1_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032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 b="1" i="0" u="none" strike="noStrike" cap="none">
                <a:solidFill>
                  <a:srgbClr val="144E8C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7" r:id="rId3"/>
    <p:sldLayoutId id="2147483658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 b="1" i="0" u="none" strike="noStrike" cap="none">
                <a:solidFill>
                  <a:srgbClr val="144E8C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92028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hanhtd@uel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randuythanh.com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tif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F9BAC58-9AA6-A91A-085E-F1421DCCF43A}"/>
              </a:ext>
            </a:extLst>
          </p:cNvPr>
          <p:cNvSpPr txBox="1">
            <a:spLocks/>
          </p:cNvSpPr>
          <p:nvPr/>
        </p:nvSpPr>
        <p:spPr bwMode="auto">
          <a:xfrm>
            <a:off x="2132317" y="1977662"/>
            <a:ext cx="8763000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kern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Mobile-Commerce </a:t>
            </a:r>
            <a:r>
              <a:rPr lang="en-US" sz="320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</a:p>
          <a:p>
            <a:pPr>
              <a:defRPr/>
            </a:pPr>
            <a:r>
              <a:rPr lang="en-US" sz="3200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Lesson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kern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Provider</a:t>
            </a:r>
            <a:endParaRPr lang="en-US" sz="3200" kern="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97E3A-A23C-B018-8E45-86B8BF858946}"/>
              </a:ext>
            </a:extLst>
          </p:cNvPr>
          <p:cNvSpPr txBox="1"/>
          <p:nvPr/>
        </p:nvSpPr>
        <p:spPr>
          <a:xfrm>
            <a:off x="7958878" y="4079089"/>
            <a:ext cx="378180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Lecturer:</a:t>
            </a:r>
          </a:p>
          <a:p>
            <a:pPr algn="ctr"/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Thanh, </a:t>
            </a:r>
            <a:r>
              <a:rPr lang="en-US" sz="22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Phd</a:t>
            </a:r>
            <a:endParaRPr lang="en-US" sz="22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Nguyen </a:t>
            </a:r>
            <a:r>
              <a:rPr lang="en-US" sz="22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sz="2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Phuc</a:t>
            </a:r>
            <a:r>
              <a:rPr lang="en-US" sz="2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Msc</a:t>
            </a:r>
            <a:endParaRPr lang="en-US" sz="2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thanhtd@uel.edu.vn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Blog: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https://tranduythanh.com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Phone: 0987773061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 smtClean="0">
                  <a:latin typeface="Cambria" panose="02040503050406030204" pitchFamily="18" charset="0"/>
                </a:rPr>
                <a:t>Lesson Objective</a:t>
              </a:r>
              <a:endParaRPr lang="en-US" sz="2800" b="1" kern="0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understand Content Provider</a:t>
            </a:r>
          </a:p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use Content Provider for accessing and saving Contacts</a:t>
            </a:r>
          </a:p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access call log by Content Provider</a:t>
            </a:r>
          </a:p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access the SMS information</a:t>
            </a:r>
          </a:p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access Media </a:t>
            </a:r>
            <a:r>
              <a:rPr 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device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14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2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Introducing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Content Provider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Read and Write Contacts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Call Log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SMS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Media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Outlines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479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Introducing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Content Provider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7" name="Content Placeholder 2"/>
          <p:cNvSpPr txBox="1">
            <a:spLocks/>
          </p:cNvSpPr>
          <p:nvPr/>
        </p:nvSpPr>
        <p:spPr>
          <a:xfrm>
            <a:off x="469710" y="1039595"/>
            <a:ext cx="11069471" cy="404419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b="1" dirty="0" err="1">
                <a:solidFill>
                  <a:sysClr val="windowText" lastClr="000000"/>
                </a:solidFill>
                <a:latin typeface="Georgia"/>
              </a:rPr>
              <a:t>ContentProvider</a:t>
            </a: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 is a data access management component that provides various methods for applications to access data from other applications through the </a:t>
            </a:r>
            <a:r>
              <a:rPr lang="en-US" sz="2400" b="1" dirty="0" err="1">
                <a:solidFill>
                  <a:sysClr val="windowText" lastClr="000000"/>
                </a:solidFill>
                <a:latin typeface="Georgia"/>
              </a:rPr>
              <a:t>ContentResolver</a:t>
            </a: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 object.</a:t>
            </a:r>
          </a:p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An application can manage access to data saved by that application through the </a:t>
            </a:r>
            <a:r>
              <a:rPr lang="en-US" sz="2400" b="1" dirty="0" err="1">
                <a:solidFill>
                  <a:sysClr val="windowText" lastClr="000000"/>
                </a:solidFill>
                <a:latin typeface="Georgia"/>
              </a:rPr>
              <a:t>ContentProvider</a:t>
            </a: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.</a:t>
            </a:r>
          </a:p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Data is managed by </a:t>
            </a:r>
            <a:r>
              <a:rPr lang="en-US" sz="2400" b="1" dirty="0" err="1">
                <a:solidFill>
                  <a:sysClr val="windowText" lastClr="000000"/>
                </a:solidFill>
                <a:latin typeface="Georgia"/>
              </a:rPr>
              <a:t>ContentProvider</a:t>
            </a: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 like a relational </a:t>
            </a:r>
            <a:r>
              <a:rPr lang="en-US" sz="2400" dirty="0" smtClean="0">
                <a:solidFill>
                  <a:sysClr val="windowText" lastClr="000000"/>
                </a:solidFill>
                <a:latin typeface="Georgia"/>
              </a:rPr>
              <a:t>database: </a:t>
            </a: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query, add, update, and delete operations are performed through the methods: query(), insert(), update(), delete().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724043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Introducing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Content Provider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347A273-D611-1E4D-BB1C-9C57674EBF90}"/>
              </a:ext>
            </a:extLst>
          </p:cNvPr>
          <p:cNvSpPr/>
          <p:nvPr/>
        </p:nvSpPr>
        <p:spPr>
          <a:xfrm>
            <a:off x="1810598" y="1121189"/>
            <a:ext cx="8305800" cy="4876800"/>
          </a:xfrm>
          <a:prstGeom prst="roundRect">
            <a:avLst/>
          </a:prstGeom>
          <a:solidFill>
            <a:srgbClr val="006600"/>
          </a:solidFill>
          <a:ln w="19050" cap="flat" cmpd="sng" algn="ctr">
            <a:solidFill>
              <a:srgbClr val="0F6FC6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5750C6-A729-054B-9430-9407BE7EAC43}"/>
              </a:ext>
            </a:extLst>
          </p:cNvPr>
          <p:cNvSpPr/>
          <p:nvPr/>
        </p:nvSpPr>
        <p:spPr>
          <a:xfrm>
            <a:off x="3677498" y="1273589"/>
            <a:ext cx="4495800" cy="457200"/>
          </a:xfrm>
          <a:prstGeom prst="rect">
            <a:avLst/>
          </a:prstGeom>
          <a:noFill/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CONTENT PROVIDER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4B99A3-2E37-0D4E-8D2E-507F9D571FBA}"/>
              </a:ext>
            </a:extLst>
          </p:cNvPr>
          <p:cNvSpPr/>
          <p:nvPr/>
        </p:nvSpPr>
        <p:spPr>
          <a:xfrm>
            <a:off x="3677498" y="5388389"/>
            <a:ext cx="4495800" cy="457200"/>
          </a:xfrm>
          <a:prstGeom prst="rect">
            <a:avLst/>
          </a:prstGeom>
          <a:noFill/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40000"/>
                    <a:lumOff val="60000"/>
                  </a:srgb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 OS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B784220-4F77-484A-BA03-E931E9BDBC8C}"/>
              </a:ext>
            </a:extLst>
          </p:cNvPr>
          <p:cNvSpPr/>
          <p:nvPr/>
        </p:nvSpPr>
        <p:spPr>
          <a:xfrm>
            <a:off x="2039199" y="1883189"/>
            <a:ext cx="3124201" cy="3352800"/>
          </a:xfrm>
          <a:prstGeom prst="roundRect">
            <a:avLst/>
          </a:prstGeom>
          <a:solidFill>
            <a:srgbClr val="FF93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000910C-7307-9746-B21B-656773E973CB}"/>
              </a:ext>
            </a:extLst>
          </p:cNvPr>
          <p:cNvSpPr/>
          <p:nvPr/>
        </p:nvSpPr>
        <p:spPr>
          <a:xfrm>
            <a:off x="6839796" y="1897803"/>
            <a:ext cx="3124202" cy="3352800"/>
          </a:xfrm>
          <a:prstGeom prst="roundRect">
            <a:avLst/>
          </a:prstGeom>
          <a:solidFill>
            <a:srgbClr val="FF93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40214F-B171-8C4B-8AFF-8395762B99DF}"/>
              </a:ext>
            </a:extLst>
          </p:cNvPr>
          <p:cNvSpPr/>
          <p:nvPr/>
        </p:nvSpPr>
        <p:spPr>
          <a:xfrm>
            <a:off x="2039198" y="3229737"/>
            <a:ext cx="3124200" cy="457200"/>
          </a:xfrm>
          <a:prstGeom prst="rect">
            <a:avLst/>
          </a:prstGeom>
          <a:noFill/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Contacts App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6C9F6C-F66A-0A43-B473-4477C92BD906}"/>
              </a:ext>
            </a:extLst>
          </p:cNvPr>
          <p:cNvSpPr/>
          <p:nvPr/>
        </p:nvSpPr>
        <p:spPr>
          <a:xfrm>
            <a:off x="6839796" y="3178589"/>
            <a:ext cx="3124200" cy="699370"/>
          </a:xfrm>
          <a:prstGeom prst="rect">
            <a:avLst/>
          </a:prstGeom>
          <a:noFill/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What’s App/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Skype/Zalo/Viber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BDB4F9-9C64-8A44-9261-C6FFD900B5A9}"/>
              </a:ext>
            </a:extLst>
          </p:cNvPr>
          <p:cNvSpPr/>
          <p:nvPr/>
        </p:nvSpPr>
        <p:spPr>
          <a:xfrm>
            <a:off x="6839796" y="2340389"/>
            <a:ext cx="1905000" cy="609600"/>
          </a:xfrm>
          <a:prstGeom prst="rect">
            <a:avLst/>
          </a:prstGeom>
          <a:solidFill>
            <a:srgbClr val="7CCA62">
              <a:lumMod val="75000"/>
            </a:srgb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Content Resolver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C2CB87D-1CEB-1B42-83E2-A1E2C6701A36}"/>
              </a:ext>
            </a:extLst>
          </p:cNvPr>
          <p:cNvSpPr/>
          <p:nvPr/>
        </p:nvSpPr>
        <p:spPr>
          <a:xfrm>
            <a:off x="6839796" y="4091945"/>
            <a:ext cx="1905000" cy="609600"/>
          </a:xfrm>
          <a:prstGeom prst="rect">
            <a:avLst/>
          </a:prstGeom>
          <a:solidFill>
            <a:srgbClr val="0BD0D9">
              <a:lumMod val="50000"/>
            </a:srgb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</a:p>
        </p:txBody>
      </p:sp>
      <p:sp>
        <p:nvSpPr>
          <p:cNvPr id="27" name="Left Arrow 26">
            <a:extLst>
              <a:ext uri="{FF2B5EF4-FFF2-40B4-BE49-F238E27FC236}">
                <a16:creationId xmlns:a16="http://schemas.microsoft.com/office/drawing/2014/main" id="{AF81DA65-B3A1-3243-BBFC-6921C482A75C}"/>
              </a:ext>
            </a:extLst>
          </p:cNvPr>
          <p:cNvSpPr/>
          <p:nvPr/>
        </p:nvSpPr>
        <p:spPr>
          <a:xfrm>
            <a:off x="5201499" y="2049680"/>
            <a:ext cx="1600196" cy="1171706"/>
          </a:xfrm>
          <a:prstGeom prst="leftArrow">
            <a:avLst/>
          </a:prstGeom>
          <a:solidFill>
            <a:srgbClr val="00B0F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 request</a:t>
            </a:r>
          </a:p>
        </p:txBody>
      </p:sp>
      <p:sp>
        <p:nvSpPr>
          <p:cNvPr id="28" name="Left Arrow 27">
            <a:extLst>
              <a:ext uri="{FF2B5EF4-FFF2-40B4-BE49-F238E27FC236}">
                <a16:creationId xmlns:a16="http://schemas.microsoft.com/office/drawing/2014/main" id="{EC937F8E-0DBF-0847-94B5-AB5953A6A813}"/>
              </a:ext>
            </a:extLst>
          </p:cNvPr>
          <p:cNvSpPr/>
          <p:nvPr/>
        </p:nvSpPr>
        <p:spPr>
          <a:xfrm flipH="1">
            <a:off x="5201499" y="3810892"/>
            <a:ext cx="1600196" cy="1171706"/>
          </a:xfrm>
          <a:prstGeom prst="leftArrow">
            <a:avLst/>
          </a:prstGeom>
          <a:solidFill>
            <a:srgbClr val="00B0F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 response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DC33650-E2CB-8E45-9578-7C6BACC28AC2}"/>
              </a:ext>
            </a:extLst>
          </p:cNvPr>
          <p:cNvSpPr/>
          <p:nvPr/>
        </p:nvSpPr>
        <p:spPr>
          <a:xfrm>
            <a:off x="2953598" y="3897792"/>
            <a:ext cx="2095501" cy="957197"/>
          </a:xfrm>
          <a:prstGeom prst="ellipse">
            <a:avLst/>
          </a:prstGeom>
          <a:solidFill>
            <a:srgbClr val="C00000"/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CONTENT PROVIDER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13E5749-439E-9C45-971D-0F189EA63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599" y="4275392"/>
            <a:ext cx="742948" cy="78797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C55C415-C501-784D-8DF5-8AE9F1D8C26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A5C249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2496398" y="4092989"/>
            <a:ext cx="457200" cy="4572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A5F8B7F2-24D1-F441-9DF8-C4739CB6D541}"/>
              </a:ext>
            </a:extLst>
          </p:cNvPr>
          <p:cNvSpPr/>
          <p:nvPr/>
        </p:nvSpPr>
        <p:spPr>
          <a:xfrm>
            <a:off x="2233870" y="1883189"/>
            <a:ext cx="3124200" cy="457200"/>
          </a:xfrm>
          <a:prstGeom prst="rect">
            <a:avLst/>
          </a:prstGeom>
          <a:noFill/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getContentResolver()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940D304-5804-F54D-87AB-A295728A5FF8}"/>
              </a:ext>
            </a:extLst>
          </p:cNvPr>
          <p:cNvSpPr/>
          <p:nvPr/>
        </p:nvSpPr>
        <p:spPr>
          <a:xfrm>
            <a:off x="2039198" y="2340389"/>
            <a:ext cx="3124200" cy="457200"/>
          </a:xfrm>
          <a:prstGeom prst="rect">
            <a:avLst/>
          </a:prstGeom>
          <a:noFill/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URI – Uniform Resource Identifier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B773808-FBA3-6C4E-8990-1BB26EF1BED5}"/>
              </a:ext>
            </a:extLst>
          </p:cNvPr>
          <p:cNvSpPr/>
          <p:nvPr/>
        </p:nvSpPr>
        <p:spPr>
          <a:xfrm>
            <a:off x="2191598" y="2797589"/>
            <a:ext cx="3124200" cy="457200"/>
          </a:xfrm>
          <a:prstGeom prst="rect">
            <a:avLst/>
          </a:prstGeom>
          <a:noFill/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CRUD operations</a:t>
            </a:r>
          </a:p>
        </p:txBody>
      </p:sp>
    </p:spTree>
    <p:extLst>
      <p:ext uri="{BB962C8B-B14F-4D97-AF65-F5344CB8AC3E}">
        <p14:creationId xmlns:p14="http://schemas.microsoft.com/office/powerpoint/2010/main" val="2108126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Read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and Write Contacts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1E74688-79F8-224D-B835-C357983093ED}"/>
              </a:ext>
            </a:extLst>
          </p:cNvPr>
          <p:cNvGrpSpPr/>
          <p:nvPr/>
        </p:nvGrpSpPr>
        <p:grpSpPr>
          <a:xfrm>
            <a:off x="791569" y="781219"/>
            <a:ext cx="9067800" cy="451694"/>
            <a:chOff x="533400" y="1066618"/>
            <a:chExt cx="8382000" cy="451694"/>
          </a:xfrm>
        </p:grpSpPr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4539337E-4C7D-8647-995C-9F30BE077838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Chevron 18">
              <a:extLst>
                <a:ext uri="{FF2B5EF4-FFF2-40B4-BE49-F238E27FC236}">
                  <a16:creationId xmlns:a16="http://schemas.microsoft.com/office/drawing/2014/main" id="{C2917A06-FFD6-8242-BE7F-F94277744DE4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7FC8F00D-6CF9-C440-88CA-DB22AA46F400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Read Contacts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B0355E95-498C-D149-B4B7-A3223DE47D94}"/>
              </a:ext>
            </a:extLst>
          </p:cNvPr>
          <p:cNvSpPr/>
          <p:nvPr/>
        </p:nvSpPr>
        <p:spPr>
          <a:xfrm>
            <a:off x="711072" y="2115751"/>
            <a:ext cx="10690032" cy="923330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Uri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uri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ContactsContract.CommonDataKinds.Phone.</a:t>
            </a:r>
            <a:r>
              <a:rPr kumimoji="0" lang="en-US" sz="18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CONTENT_URI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getContentResolver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query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uri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projection: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null,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selection: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null,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selectionArgs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null,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sortOrder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null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08A542-6F77-6940-A799-473632BF8325}"/>
              </a:ext>
            </a:extLst>
          </p:cNvPr>
          <p:cNvSpPr/>
          <p:nvPr/>
        </p:nvSpPr>
        <p:spPr>
          <a:xfrm>
            <a:off x="711072" y="3306074"/>
            <a:ext cx="10724151" cy="2308324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while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.moveToNext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()){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nameIndex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.getColumnIndex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ContactsContract.Contacts.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DISPLAY_NAME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 name =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.getString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nameIndex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//Get Name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phoneIndex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.getColumnIndex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ContactsContract.CommonDataKinds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Phone.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NUMBER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 phone =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.getString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phoneIndex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//Get Phone Number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Todo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something …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.close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BD2528-57DC-C54D-A3E6-C8A30F7AB77E}"/>
              </a:ext>
            </a:extLst>
          </p:cNvPr>
          <p:cNvSpPr/>
          <p:nvPr/>
        </p:nvSpPr>
        <p:spPr>
          <a:xfrm>
            <a:off x="711072" y="1447821"/>
            <a:ext cx="8229600" cy="369332"/>
          </a:xfrm>
          <a:prstGeom prst="rect">
            <a:avLst/>
          </a:prstGeom>
          <a:solidFill>
            <a:sysClr val="windowText" lastClr="000000">
              <a:lumMod val="95000"/>
              <a:lumOff val="5000"/>
            </a:sysClr>
          </a:solidFill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&lt;uses-permission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:name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="android.permission.READ_CONTACTS"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/&gt;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4" name="Line Callout 1 (Border and Accent Bar) 23">
            <a:extLst>
              <a:ext uri="{FF2B5EF4-FFF2-40B4-BE49-F238E27FC236}">
                <a16:creationId xmlns:a16="http://schemas.microsoft.com/office/drawing/2014/main" id="{A4C16135-124E-AC48-847D-0F828BA5373C}"/>
              </a:ext>
            </a:extLst>
          </p:cNvPr>
          <p:cNvSpPr/>
          <p:nvPr/>
        </p:nvSpPr>
        <p:spPr>
          <a:xfrm>
            <a:off x="9223588" y="632244"/>
            <a:ext cx="2211635" cy="668542"/>
          </a:xfrm>
          <a:prstGeom prst="accentBorderCallout1">
            <a:avLst>
              <a:gd name="adj1" fmla="val 18750"/>
              <a:gd name="adj2" fmla="val -8333"/>
              <a:gd name="adj3" fmla="val 148834"/>
              <a:gd name="adj4" fmla="val -13586"/>
            </a:avLst>
          </a:prstGeom>
          <a:solidFill>
            <a:srgbClr val="009DD9">
              <a:lumMod val="50000"/>
            </a:srgbClr>
          </a:solidFill>
          <a:ln w="19050" cap="flat" cmpd="sng" algn="ctr">
            <a:solidFill>
              <a:srgbClr val="0F6FC6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Request permission</a:t>
            </a:r>
          </a:p>
        </p:txBody>
      </p:sp>
    </p:spTree>
    <p:extLst>
      <p:ext uri="{BB962C8B-B14F-4D97-AF65-F5344CB8AC3E}">
        <p14:creationId xmlns:p14="http://schemas.microsoft.com/office/powerpoint/2010/main" val="420332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Read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and Write Contacts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1E74688-79F8-224D-B835-C357983093ED}"/>
              </a:ext>
            </a:extLst>
          </p:cNvPr>
          <p:cNvGrpSpPr/>
          <p:nvPr/>
        </p:nvGrpSpPr>
        <p:grpSpPr>
          <a:xfrm>
            <a:off x="791569" y="781219"/>
            <a:ext cx="9067800" cy="451694"/>
            <a:chOff x="533400" y="1066618"/>
            <a:chExt cx="8382000" cy="451694"/>
          </a:xfrm>
        </p:grpSpPr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4539337E-4C7D-8647-995C-9F30BE077838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Chevron 18">
              <a:extLst>
                <a:ext uri="{FF2B5EF4-FFF2-40B4-BE49-F238E27FC236}">
                  <a16:creationId xmlns:a16="http://schemas.microsoft.com/office/drawing/2014/main" id="{C2917A06-FFD6-8242-BE7F-F94277744DE4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7FC8F00D-6CF9-C440-88CA-DB22AA46F400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lang="en-US" sz="2600" b="1" kern="1200" dirty="0" smtClean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Write</a:t>
              </a: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 Contacts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C8BD2528-57DC-C54D-A3E6-C8A30F7AB77E}"/>
              </a:ext>
            </a:extLst>
          </p:cNvPr>
          <p:cNvSpPr/>
          <p:nvPr/>
        </p:nvSpPr>
        <p:spPr>
          <a:xfrm>
            <a:off x="711071" y="1447821"/>
            <a:ext cx="8596701" cy="369332"/>
          </a:xfrm>
          <a:prstGeom prst="rect">
            <a:avLst/>
          </a:prstGeom>
          <a:solidFill>
            <a:sysClr val="windowText" lastClr="000000">
              <a:lumMod val="95000"/>
              <a:lumOff val="5000"/>
            </a:sysClr>
          </a:solidFill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&lt;uses-permission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:name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="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android.permission.WRITE_CONTACTS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/&gt;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4" name="Line Callout 1 (Border and Accent Bar) 23">
            <a:extLst>
              <a:ext uri="{FF2B5EF4-FFF2-40B4-BE49-F238E27FC236}">
                <a16:creationId xmlns:a16="http://schemas.microsoft.com/office/drawing/2014/main" id="{A4C16135-124E-AC48-847D-0F828BA5373C}"/>
              </a:ext>
            </a:extLst>
          </p:cNvPr>
          <p:cNvSpPr/>
          <p:nvPr/>
        </p:nvSpPr>
        <p:spPr>
          <a:xfrm>
            <a:off x="9223588" y="632244"/>
            <a:ext cx="2211635" cy="668542"/>
          </a:xfrm>
          <a:prstGeom prst="accentBorderCallout1">
            <a:avLst>
              <a:gd name="adj1" fmla="val 18750"/>
              <a:gd name="adj2" fmla="val -8333"/>
              <a:gd name="adj3" fmla="val 148834"/>
              <a:gd name="adj4" fmla="val -13586"/>
            </a:avLst>
          </a:prstGeom>
          <a:solidFill>
            <a:srgbClr val="009DD9">
              <a:lumMod val="50000"/>
            </a:srgbClr>
          </a:solidFill>
          <a:ln w="19050" cap="flat" cmpd="sng" algn="ctr">
            <a:solidFill>
              <a:srgbClr val="0F6FC6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Request permission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355E95-498C-D149-B4B7-A3223DE47D94}"/>
              </a:ext>
            </a:extLst>
          </p:cNvPr>
          <p:cNvSpPr/>
          <p:nvPr/>
        </p:nvSpPr>
        <p:spPr>
          <a:xfrm>
            <a:off x="711072" y="1887203"/>
            <a:ext cx="10350438" cy="2419124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Uri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addContactsUri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ContactsContract.Data.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CONTENT_URI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//Add an empty contact and get the generated Id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long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rowContactId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getRawContactId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//Add contact name data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insertContactDisplayName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addContactsUri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rowContactId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….”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//Add phone number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insertContactPhoneNumber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addContactsUri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rowContactId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“0903778899”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23D330-D718-724A-A14D-98A5EB04631B}"/>
              </a:ext>
            </a:extLst>
          </p:cNvPr>
          <p:cNvSpPr/>
          <p:nvPr/>
        </p:nvSpPr>
        <p:spPr>
          <a:xfrm>
            <a:off x="711072" y="4493791"/>
            <a:ext cx="11401316" cy="1754326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private long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getRawContactId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{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//Insert an empty contact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ContentValues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values =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ContentValues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Uri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rawContactUri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getContentResolver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().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insert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ContactsContract.RawContacts.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CONTENT_URI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values)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return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ContentUris.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parseId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rawContactUri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00915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Read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and Write Contacts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1E74688-79F8-224D-B835-C357983093ED}"/>
              </a:ext>
            </a:extLst>
          </p:cNvPr>
          <p:cNvGrpSpPr/>
          <p:nvPr/>
        </p:nvGrpSpPr>
        <p:grpSpPr>
          <a:xfrm>
            <a:off x="791569" y="781219"/>
            <a:ext cx="9067800" cy="451694"/>
            <a:chOff x="533400" y="1066618"/>
            <a:chExt cx="8382000" cy="451694"/>
          </a:xfrm>
        </p:grpSpPr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4539337E-4C7D-8647-995C-9F30BE077838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Chevron 18">
              <a:extLst>
                <a:ext uri="{FF2B5EF4-FFF2-40B4-BE49-F238E27FC236}">
                  <a16:creationId xmlns:a16="http://schemas.microsoft.com/office/drawing/2014/main" id="{C2917A06-FFD6-8242-BE7F-F94277744DE4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7FC8F00D-6CF9-C440-88CA-DB22AA46F400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lang="en-US" sz="2600" b="1" kern="1200" dirty="0" smtClean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Write</a:t>
              </a: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 Contacts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22E58898-37F0-094A-9F87-E76404BF9BCF}"/>
              </a:ext>
            </a:extLst>
          </p:cNvPr>
          <p:cNvSpPr/>
          <p:nvPr/>
        </p:nvSpPr>
        <p:spPr>
          <a:xfrm>
            <a:off x="620972" y="1396138"/>
            <a:ext cx="11041040" cy="3083921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private void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insertContactDisplayName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(Uri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addContactsUri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long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rawContactId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displayName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ContentValues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values =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ContentValues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values.put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ContactsContract.Data.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RAW_CONTACT_ID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rawContactId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values.put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ContactsContract.Data.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MIMETYPE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ContactsContract.CommonDataKinds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StructuredName.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CONTENT_ITEM_TYPE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values.put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ContactsContract.CommonDataKinds.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StructuredName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GIVEN_NAME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displayName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getContentResolver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().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insert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addContactsUri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values)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76196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Read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and Write Contacts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1E74688-79F8-224D-B835-C357983093ED}"/>
              </a:ext>
            </a:extLst>
          </p:cNvPr>
          <p:cNvGrpSpPr/>
          <p:nvPr/>
        </p:nvGrpSpPr>
        <p:grpSpPr>
          <a:xfrm>
            <a:off x="791569" y="781219"/>
            <a:ext cx="9067800" cy="451694"/>
            <a:chOff x="533400" y="1066618"/>
            <a:chExt cx="8382000" cy="451694"/>
          </a:xfrm>
        </p:grpSpPr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4539337E-4C7D-8647-995C-9F30BE077838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Chevron 18">
              <a:extLst>
                <a:ext uri="{FF2B5EF4-FFF2-40B4-BE49-F238E27FC236}">
                  <a16:creationId xmlns:a16="http://schemas.microsoft.com/office/drawing/2014/main" id="{C2917A06-FFD6-8242-BE7F-F94277744DE4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7FC8F00D-6CF9-C440-88CA-DB22AA46F400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lang="en-US" sz="2600" b="1" kern="1200" dirty="0" smtClean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Write</a:t>
              </a: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 Contacts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22E58898-37F0-094A-9F87-E76404BF9BCF}"/>
              </a:ext>
            </a:extLst>
          </p:cNvPr>
          <p:cNvSpPr/>
          <p:nvPr/>
        </p:nvSpPr>
        <p:spPr>
          <a:xfrm>
            <a:off x="655091" y="1517396"/>
            <a:ext cx="11197989" cy="3083921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private void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insertContactPhoneNumber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(Uri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addContactsUri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long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rawContactId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phoneNumber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ContentValues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values =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ContentValues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values.put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ContactsContract.Data.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RAW_CONTACT_ID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rawContactId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values.put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ContactsContract.Data.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MIMETYPE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             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ContactsContract.CommonDataKinds.Phone.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CONTENT_ITEM_TYPE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values.put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ContactsContract.CommonDataKinds.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Phone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NUMBER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phoneNumber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getContentResolver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().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insert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addContactsUri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values)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25705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Read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and Write Contacts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1E74688-79F8-224D-B835-C357983093ED}"/>
              </a:ext>
            </a:extLst>
          </p:cNvPr>
          <p:cNvGrpSpPr/>
          <p:nvPr/>
        </p:nvGrpSpPr>
        <p:grpSpPr>
          <a:xfrm>
            <a:off x="791569" y="781219"/>
            <a:ext cx="9067800" cy="451694"/>
            <a:chOff x="533400" y="1066618"/>
            <a:chExt cx="8382000" cy="451694"/>
          </a:xfrm>
        </p:grpSpPr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4539337E-4C7D-8647-995C-9F30BE077838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Chevron 18">
              <a:extLst>
                <a:ext uri="{FF2B5EF4-FFF2-40B4-BE49-F238E27FC236}">
                  <a16:creationId xmlns:a16="http://schemas.microsoft.com/office/drawing/2014/main" id="{C2917A06-FFD6-8242-BE7F-F94277744DE4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7FC8F00D-6CF9-C440-88CA-DB22AA46F400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lang="en-US" sz="2600" b="1" kern="1200" dirty="0" smtClean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Exercise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732" y="972652"/>
            <a:ext cx="2448497" cy="527759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92747" y="2604879"/>
            <a:ext cx="41706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 smtClean="0"/>
              <a:t>How to show Confirmation Dialog for Permission as automatically 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84250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Accessing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Call Log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0355E95-498C-D149-B4B7-A3223DE47D94}"/>
              </a:ext>
            </a:extLst>
          </p:cNvPr>
          <p:cNvSpPr/>
          <p:nvPr/>
        </p:nvSpPr>
        <p:spPr>
          <a:xfrm>
            <a:off x="895492" y="2475521"/>
            <a:ext cx="8229599" cy="2721835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String[]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projection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String[]{CallLog.Calls.</a:t>
            </a: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                        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CallLog.Calls.</a:t>
            </a: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NUMBER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                        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CallLog.Calls.</a:t>
            </a: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DURATION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getContentResolver()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query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                                            CallLog.Calls.</a:t>
            </a: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CONTENT_URI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                                            projection: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projection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                                        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selection: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null,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selectionArgs: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null, 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                                        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sortOrder: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null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BD2528-57DC-C54D-A3E6-C8A30F7AB77E}"/>
              </a:ext>
            </a:extLst>
          </p:cNvPr>
          <p:cNvSpPr/>
          <p:nvPr/>
        </p:nvSpPr>
        <p:spPr>
          <a:xfrm>
            <a:off x="921224" y="1784131"/>
            <a:ext cx="8229600" cy="369332"/>
          </a:xfrm>
          <a:prstGeom prst="rect">
            <a:avLst/>
          </a:prstGeom>
          <a:solidFill>
            <a:sysClr val="windowText" lastClr="000000">
              <a:lumMod val="95000"/>
              <a:lumOff val="5000"/>
            </a:sysClr>
          </a:solidFill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&lt;uses-permission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:name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="android.permission.READ_CALL_LOG"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/&gt;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9" name="Line Callout 1 (Border and Accent Bar) 18">
            <a:extLst>
              <a:ext uri="{FF2B5EF4-FFF2-40B4-BE49-F238E27FC236}">
                <a16:creationId xmlns:a16="http://schemas.microsoft.com/office/drawing/2014/main" id="{A4C16135-124E-AC48-847D-0F828BA5373C}"/>
              </a:ext>
            </a:extLst>
          </p:cNvPr>
          <p:cNvSpPr/>
          <p:nvPr/>
        </p:nvSpPr>
        <p:spPr>
          <a:xfrm>
            <a:off x="6950206" y="793531"/>
            <a:ext cx="2211635" cy="668542"/>
          </a:xfrm>
          <a:prstGeom prst="accentBorderCallout1">
            <a:avLst>
              <a:gd name="adj1" fmla="val 18750"/>
              <a:gd name="adj2" fmla="val -8333"/>
              <a:gd name="adj3" fmla="val 148834"/>
              <a:gd name="adj4" fmla="val -13586"/>
            </a:avLst>
          </a:prstGeom>
          <a:solidFill>
            <a:srgbClr val="009DD9">
              <a:lumMod val="50000"/>
            </a:srgbClr>
          </a:solidFill>
          <a:ln w="19050" cap="flat" cmpd="sng" algn="ctr">
            <a:solidFill>
              <a:srgbClr val="0F6FC6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Request permission</a:t>
            </a:r>
          </a:p>
        </p:txBody>
      </p:sp>
    </p:spTree>
    <p:extLst>
      <p:ext uri="{BB962C8B-B14F-4D97-AF65-F5344CB8AC3E}">
        <p14:creationId xmlns:p14="http://schemas.microsoft.com/office/powerpoint/2010/main" val="117398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Accessing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Call Log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534D4E3A-C9B7-1842-8531-80D620361303}"/>
              </a:ext>
            </a:extLst>
          </p:cNvPr>
          <p:cNvSpPr/>
          <p:nvPr/>
        </p:nvSpPr>
        <p:spPr>
          <a:xfrm>
            <a:off x="844138" y="1090969"/>
            <a:ext cx="8229599" cy="3386633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SimpleDateFormat dateFormat = 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         new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SimpleDateFormat(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"dd/MM/yyyy HH:mm:ss"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while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.moveToNext()){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Date date =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Date(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.getLong(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0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 sDate = dateFormat.format(date)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 number =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.getString(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1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long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duration =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.getLong(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//Todo something …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.close()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5494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Accessing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SMS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0355E95-498C-D149-B4B7-A3223DE47D94}"/>
              </a:ext>
            </a:extLst>
          </p:cNvPr>
          <p:cNvSpPr/>
          <p:nvPr/>
        </p:nvSpPr>
        <p:spPr>
          <a:xfrm>
            <a:off x="996287" y="1837268"/>
            <a:ext cx="8229599" cy="923330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Uri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uri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Uri.</a:t>
            </a:r>
            <a:r>
              <a:rPr kumimoji="0" lang="en-US" sz="1800" b="1" i="1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parse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"content://sms/inbox"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getContentResolver()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query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(uri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projection: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null,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selection: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null,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selectionArgs: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null,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sortOrder: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null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08A542-6F77-6940-A799-473632BF8325}"/>
              </a:ext>
            </a:extLst>
          </p:cNvPr>
          <p:cNvSpPr/>
          <p:nvPr/>
        </p:nvSpPr>
        <p:spPr>
          <a:xfrm>
            <a:off x="996287" y="2904069"/>
            <a:ext cx="8229599" cy="3386633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phoneColumnIdx =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.getColumnIndex(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"address"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timeColumnIdx =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.getColumnIndex(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"date"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bodyColumnIdx =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.getColumnIndex(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"body"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while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.moveToNext()){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String phoneNumber =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.getString(phoneColumnIdx)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Date date =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Date(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.getLong(timeColumnIdx))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String content =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.getString(bodyColumnIdx)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//Todo something …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.close()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BD2528-57DC-C54D-A3E6-C8A30F7AB77E}"/>
              </a:ext>
            </a:extLst>
          </p:cNvPr>
          <p:cNvSpPr/>
          <p:nvPr/>
        </p:nvSpPr>
        <p:spPr>
          <a:xfrm>
            <a:off x="996286" y="1380068"/>
            <a:ext cx="8229600" cy="369332"/>
          </a:xfrm>
          <a:prstGeom prst="rect">
            <a:avLst/>
          </a:prstGeom>
          <a:solidFill>
            <a:sysClr val="windowText" lastClr="000000">
              <a:lumMod val="95000"/>
              <a:lumOff val="5000"/>
            </a:sysClr>
          </a:solidFill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&lt;uses-permission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:name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="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android.permission.READ_SMS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/&gt;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0" name="Line Callout 1 (Border and Accent Bar) 19">
            <a:extLst>
              <a:ext uri="{FF2B5EF4-FFF2-40B4-BE49-F238E27FC236}">
                <a16:creationId xmlns:a16="http://schemas.microsoft.com/office/drawing/2014/main" id="{A4C16135-124E-AC48-847D-0F828BA5373C}"/>
              </a:ext>
            </a:extLst>
          </p:cNvPr>
          <p:cNvSpPr/>
          <p:nvPr/>
        </p:nvSpPr>
        <p:spPr>
          <a:xfrm>
            <a:off x="8860892" y="554716"/>
            <a:ext cx="2211635" cy="668542"/>
          </a:xfrm>
          <a:prstGeom prst="accentBorderCallout1">
            <a:avLst>
              <a:gd name="adj1" fmla="val 18750"/>
              <a:gd name="adj2" fmla="val -8333"/>
              <a:gd name="adj3" fmla="val 148834"/>
              <a:gd name="adj4" fmla="val -13586"/>
            </a:avLst>
          </a:prstGeom>
          <a:solidFill>
            <a:srgbClr val="009DD9">
              <a:lumMod val="50000"/>
            </a:srgbClr>
          </a:solidFill>
          <a:ln w="19050" cap="flat" cmpd="sng" algn="ctr">
            <a:solidFill>
              <a:srgbClr val="0F6FC6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Request permission</a:t>
            </a:r>
          </a:p>
        </p:txBody>
      </p:sp>
    </p:spTree>
    <p:extLst>
      <p:ext uri="{BB962C8B-B14F-4D97-AF65-F5344CB8AC3E}">
        <p14:creationId xmlns:p14="http://schemas.microsoft.com/office/powerpoint/2010/main" val="2174601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5. Accessing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Media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0355E95-498C-D149-B4B7-A3223DE47D94}"/>
              </a:ext>
            </a:extLst>
          </p:cNvPr>
          <p:cNvSpPr/>
          <p:nvPr/>
        </p:nvSpPr>
        <p:spPr>
          <a:xfrm>
            <a:off x="728133" y="2479344"/>
            <a:ext cx="8229599" cy="3054234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String[]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projection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{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MediaStore.MediaColumns.</a:t>
            </a: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DISPLAY_NAME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MediaStore.MediaColumns.</a:t>
            </a: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DATE_MODIFIED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MediaStore.MediaColumns.</a:t>
            </a: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MIME_TYPE</a:t>
            </a:r>
            <a:b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CursorLoader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cursorLoader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CursorLoader(MainActivity.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this,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MediaStore.Images.Media.</a:t>
            </a: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EXTERNAL_CONTENT_URI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projection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null, null, null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cursorLoader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.loadInBackground()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BD2528-57DC-C54D-A3E6-C8A30F7AB77E}"/>
              </a:ext>
            </a:extLst>
          </p:cNvPr>
          <p:cNvSpPr/>
          <p:nvPr/>
        </p:nvSpPr>
        <p:spPr>
          <a:xfrm>
            <a:off x="728132" y="1717345"/>
            <a:ext cx="8229600" cy="646331"/>
          </a:xfrm>
          <a:prstGeom prst="rect">
            <a:avLst/>
          </a:prstGeom>
          <a:solidFill>
            <a:sysClr val="windowText" lastClr="000000">
              <a:lumMod val="95000"/>
              <a:lumOff val="5000"/>
            </a:sysClr>
          </a:solidFill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&lt;uses-permission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:name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="android.permission.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READ_EXTERNAL_STORAGE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/&gt;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9" name="Line Callout 1 (Border and Accent Bar) 18">
            <a:extLst>
              <a:ext uri="{FF2B5EF4-FFF2-40B4-BE49-F238E27FC236}">
                <a16:creationId xmlns:a16="http://schemas.microsoft.com/office/drawing/2014/main" id="{A4C16135-124E-AC48-847D-0F828BA5373C}"/>
              </a:ext>
            </a:extLst>
          </p:cNvPr>
          <p:cNvSpPr/>
          <p:nvPr/>
        </p:nvSpPr>
        <p:spPr>
          <a:xfrm>
            <a:off x="6757114" y="726744"/>
            <a:ext cx="2211635" cy="668542"/>
          </a:xfrm>
          <a:prstGeom prst="accentBorderCallout1">
            <a:avLst>
              <a:gd name="adj1" fmla="val 18750"/>
              <a:gd name="adj2" fmla="val -8333"/>
              <a:gd name="adj3" fmla="val 148834"/>
              <a:gd name="adj4" fmla="val -13586"/>
            </a:avLst>
          </a:prstGeom>
          <a:solidFill>
            <a:srgbClr val="009DD9">
              <a:lumMod val="50000"/>
            </a:srgbClr>
          </a:solidFill>
          <a:ln w="19050" cap="flat" cmpd="sng" algn="ctr">
            <a:solidFill>
              <a:srgbClr val="0F6FC6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Request permission</a:t>
            </a:r>
          </a:p>
        </p:txBody>
      </p:sp>
    </p:spTree>
    <p:extLst>
      <p:ext uri="{BB962C8B-B14F-4D97-AF65-F5344CB8AC3E}">
        <p14:creationId xmlns:p14="http://schemas.microsoft.com/office/powerpoint/2010/main" val="713013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5. Accessing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Media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8F4ABFBA-295C-5645-BDB2-E64CBEC6827B}"/>
              </a:ext>
            </a:extLst>
          </p:cNvPr>
          <p:cNvSpPr/>
          <p:nvPr/>
        </p:nvSpPr>
        <p:spPr>
          <a:xfrm>
            <a:off x="607327" y="1103254"/>
            <a:ext cx="8229599" cy="2389437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while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.moveToNext()){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String name =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.getString(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0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Date date =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Date(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.getLong(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1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 type =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.getString(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//Todo something …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.close()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966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6350000" cy="508000"/>
            <a:chOff x="789624" y="1191463"/>
            <a:chExt cx="6350000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smtClean="0">
                  <a:latin typeface="Cambria" panose="02040503050406030204" pitchFamily="18" charset="0"/>
                </a:rPr>
                <a:t>Discussions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Q1: </a:t>
            </a:r>
            <a:r>
              <a:rPr lang="en-US" sz="2800" dirty="0" smtClean="0">
                <a:latin typeface="Cambria" panose="02040503050406030204" pitchFamily="18" charset="0"/>
              </a:rPr>
              <a:t>What are advantages of Content Provider?</a:t>
            </a:r>
            <a:endParaRPr lang="en-US" sz="2800" dirty="0">
              <a:latin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Q2: </a:t>
            </a:r>
            <a:r>
              <a:rPr lang="en-US" sz="2800" dirty="0" smtClean="0">
                <a:latin typeface="Cambria" panose="02040503050406030204" pitchFamily="18" charset="0"/>
              </a:rPr>
              <a:t>How to Delete Contact from device?</a:t>
            </a:r>
            <a:endParaRPr lang="en-US" sz="2800" dirty="0">
              <a:latin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Cambria" panose="02040503050406030204" pitchFamily="18" charset="0"/>
              </a:rPr>
              <a:t>Q3: </a:t>
            </a:r>
            <a:r>
              <a:rPr lang="en-US" sz="2800" dirty="0" smtClean="0">
                <a:latin typeface="Cambria" panose="02040503050406030204" pitchFamily="18" charset="0"/>
              </a:rPr>
              <a:t>How to Access Call log between dates [from … to]?</a:t>
            </a:r>
            <a:endParaRPr lang="en-US" sz="2800" dirty="0" smtClean="0">
              <a:latin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Cambria" panose="02040503050406030204" pitchFamily="18" charset="0"/>
              </a:rPr>
              <a:t>Q4: </a:t>
            </a:r>
            <a:r>
              <a:rPr lang="en-US" sz="2800" dirty="0" smtClean="0">
                <a:latin typeface="Cambria" panose="02040503050406030204" pitchFamily="18" charset="0"/>
              </a:rPr>
              <a:t>How to access SMS inbox</a:t>
            </a:r>
            <a:endParaRPr lang="en-US" sz="2800" dirty="0" smtClean="0">
              <a:latin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Cambria" panose="02040503050406030204" pitchFamily="18" charset="0"/>
              </a:rPr>
              <a:t>Q5: How to </a:t>
            </a:r>
            <a:r>
              <a:rPr lang="en-US" sz="2800" dirty="0" smtClean="0">
                <a:latin typeface="Cambria" panose="02040503050406030204" pitchFamily="18" charset="0"/>
              </a:rPr>
              <a:t>read Image from SD Card?</a:t>
            </a:r>
            <a:endParaRPr lang="en-US" sz="28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99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83931" y="30539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 smtClean="0">
                  <a:latin typeface="Cambria" panose="02040503050406030204" pitchFamily="18" charset="0"/>
                </a:rPr>
                <a:t>Next Lesson</a:t>
              </a:r>
              <a:endParaRPr lang="en-US" sz="2800" b="1" kern="0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26709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prstClr val="black">
                  <a:lumMod val="85000"/>
                  <a:lumOff val="15000"/>
                </a:prstClr>
              </a:buClr>
              <a:buFont typeface="Wingdings" charset="2"/>
              <a:buChar char="§"/>
            </a:pPr>
            <a:r>
              <a:rPr lang="en-US" sz="2800" i="1" dirty="0" smtClean="0">
                <a:solidFill>
                  <a:prstClr val="black"/>
                </a:solidFill>
                <a:latin typeface="Georgia"/>
              </a:rPr>
              <a:t>Broadcast Receiver</a:t>
            </a:r>
            <a:endParaRPr lang="en-US" sz="2800" i="1" dirty="0">
              <a:solidFill>
                <a:prstClr val="black"/>
              </a:solidFill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13195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838200" y="2581306"/>
            <a:ext cx="10515600" cy="156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9600"/>
              <a:buFont typeface="Lato Black"/>
              <a:buNone/>
            </a:pPr>
            <a:r>
              <a:rPr lang="en-US"/>
              <a:t>THANK YOU!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38968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1341</TotalTime>
  <Words>549</Words>
  <Application>Microsoft Office PowerPoint</Application>
  <PresentationFormat>Widescreen</PresentationFormat>
  <Paragraphs>131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Muli</vt:lpstr>
      <vt:lpstr>Cambria</vt:lpstr>
      <vt:lpstr>Calibri</vt:lpstr>
      <vt:lpstr>Wingdings</vt:lpstr>
      <vt:lpstr>Georgia</vt:lpstr>
      <vt:lpstr>Lato</vt:lpstr>
      <vt:lpstr>Lato Black</vt:lpstr>
      <vt:lpstr>Times New Roman</vt:lpstr>
      <vt:lpstr>Arial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Pí Yeah</dc:creator>
  <cp:lastModifiedBy>thanhtd</cp:lastModifiedBy>
  <cp:revision>529</cp:revision>
  <dcterms:created xsi:type="dcterms:W3CDTF">2022-12-02T04:21:00Z</dcterms:created>
  <dcterms:modified xsi:type="dcterms:W3CDTF">2024-02-18T09:08:00Z</dcterms:modified>
</cp:coreProperties>
</file>