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32"/>
  </p:notesMasterIdLst>
  <p:sldIdLst>
    <p:sldId id="256" r:id="rId3"/>
    <p:sldId id="267" r:id="rId4"/>
    <p:sldId id="281" r:id="rId5"/>
    <p:sldId id="282" r:id="rId6"/>
    <p:sldId id="286" r:id="rId7"/>
    <p:sldId id="283" r:id="rId8"/>
    <p:sldId id="287" r:id="rId9"/>
    <p:sldId id="288" r:id="rId10"/>
    <p:sldId id="284" r:id="rId11"/>
    <p:sldId id="292" r:id="rId12"/>
    <p:sldId id="293" r:id="rId13"/>
    <p:sldId id="289" r:id="rId14"/>
    <p:sldId id="290" r:id="rId15"/>
    <p:sldId id="291" r:id="rId16"/>
    <p:sldId id="294" r:id="rId17"/>
    <p:sldId id="295" r:id="rId18"/>
    <p:sldId id="297" r:id="rId19"/>
    <p:sldId id="298" r:id="rId20"/>
    <p:sldId id="299" r:id="rId21"/>
    <p:sldId id="300" r:id="rId22"/>
    <p:sldId id="302" r:id="rId23"/>
    <p:sldId id="285" r:id="rId24"/>
    <p:sldId id="303" r:id="rId25"/>
    <p:sldId id="304" r:id="rId26"/>
    <p:sldId id="305" r:id="rId27"/>
    <p:sldId id="307" r:id="rId28"/>
    <p:sldId id="275" r:id="rId29"/>
    <p:sldId id="308" r:id="rId30"/>
    <p:sldId id="269" r:id="rId31"/>
  </p:sldIdLst>
  <p:sldSz cx="12192000" cy="6858000"/>
  <p:notesSz cx="6858000" cy="9144000"/>
  <p:embeddedFontLst>
    <p:embeddedFont>
      <p:font typeface="Lato" panose="020B0604020202020204" charset="0"/>
      <p:regular r:id="rId33"/>
      <p:bold r:id="rId34"/>
      <p:italic r:id="rId35"/>
      <p:boldItalic r:id="rId36"/>
    </p:embeddedFont>
    <p:embeddedFont>
      <p:font typeface="JetBrains Mono" panose="02000009000000000000" pitchFamily="49" charset="0"/>
      <p:regular r:id="rId37"/>
      <p:bold r:id="rId38"/>
      <p:italic r:id="rId39"/>
      <p:boldItalic r:id="rId40"/>
    </p:embeddedFont>
    <p:embeddedFont>
      <p:font typeface="Cambria" panose="02040503050406030204" pitchFamily="18" charset="0"/>
      <p:regular r:id="rId41"/>
      <p:bold r:id="rId42"/>
      <p:italic r:id="rId43"/>
      <p:boldItalic r:id="rId44"/>
    </p:embeddedFont>
    <p:embeddedFont>
      <p:font typeface="Calibri" panose="020F0502020204030204" pitchFamily="34" charset="0"/>
      <p:regular r:id="rId45"/>
      <p:bold r:id="rId46"/>
      <p:italic r:id="rId47"/>
      <p:boldItalic r:id="rId48"/>
    </p:embeddedFont>
    <p:embeddedFont>
      <p:font typeface="Lato Black" panose="020B0604020202020204" charset="0"/>
      <p:bold r:id="rId49"/>
      <p:boldItalic r:id="rId50"/>
    </p:embeddedFont>
    <p:embeddedFont>
      <p:font typeface="Georgia" panose="02040502050405020303" pitchFamily="18"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2"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15" autoAdjust="0"/>
    <p:restoredTop sz="77148" autoAdjust="0"/>
  </p:normalViewPr>
  <p:slideViewPr>
    <p:cSldViewPr snapToGrid="0">
      <p:cViewPr varScale="1">
        <p:scale>
          <a:sx n="97" d="100"/>
          <a:sy n="97" d="100"/>
        </p:scale>
        <p:origin x="878" y="67"/>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7" Type="http://schemas.openxmlformats.org/officeDocument/2006/relationships/slide" Target="slides/slide5.xml"/><Relationship Id="rId92"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font" Target="fonts/font21.fntdata"/><Relationship Id="rId5" Type="http://schemas.openxmlformats.org/officeDocument/2006/relationships/slide" Target="slides/slide3.xml"/><Relationship Id="rId95" Type="http://schemas.openxmlformats.org/officeDocument/2006/relationships/theme" Target="theme/theme1.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6.xml"/><Relationship Id="rId51" Type="http://schemas.openxmlformats.org/officeDocument/2006/relationships/font" Target="fonts/font19.fntdata"/><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8.xml"/><Relationship Id="rId41" Type="http://schemas.openxmlformats.org/officeDocument/2006/relationships/font" Target="fonts/font9.fntdata"/><Relationship Id="rId54" Type="http://schemas.openxmlformats.org/officeDocument/2006/relationships/font" Target="fonts/font22.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49" Type="http://schemas.openxmlformats.org/officeDocument/2006/relationships/font" Target="fonts/font17.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2.fntdata"/><Relationship Id="rId52" Type="http://schemas.openxmlformats.org/officeDocument/2006/relationships/font" Target="fonts/font20.fntdata"/><Relationship Id="rId9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8213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055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5319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2371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4653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297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7685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6997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560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4385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3342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0679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4749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27712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0693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8949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35152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6875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8690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782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3840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6450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11827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2379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2374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3483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8312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2814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lnSpc>
                <a:spcPct val="120000"/>
              </a:lnSpc>
              <a:spcBef>
                <a:spcPts val="0"/>
              </a:spcBef>
              <a:spcAft>
                <a:spcPts val="0"/>
              </a:spcAft>
              <a:buClr>
                <a:srgbClr val="144E8C"/>
              </a:buClr>
              <a:buSzPts val="2000"/>
              <a:buFont typeface="Lato Black"/>
              <a:buNone/>
            </a:pP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VIETNAM NATIONAL UNIVERSITY HO CHI MINH CITY</a:t>
            </a:r>
            <a:b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b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University of Economics and Law</a:t>
            </a:r>
            <a:endParaRPr sz="1600">
              <a:latin typeface="Cambria" panose="02040503050406030204" pitchFamily="18" charset="0"/>
              <a:ea typeface="Cambria" panose="020405030504060302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sz="16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295097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3300363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pic>
        <p:nvPicPr>
          <p:cNvPr id="72" name="Google Shape;72;p17"/>
          <p:cNvPicPr preferRelativeResize="0"/>
          <p:nvPr/>
        </p:nvPicPr>
        <p:blipFill rotWithShape="1">
          <a:blip r:embed="rId3">
            <a:alphaModFix/>
          </a:blip>
          <a:srcRect/>
          <a:stretch/>
        </p:blipFill>
        <p:spPr>
          <a:xfrm>
            <a:off x="-85306" y="-330860"/>
            <a:ext cx="12192000" cy="68580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4" name="Google Shape;74;p17"/>
          <p:cNvPicPr preferRelativeResize="0"/>
          <p:nvPr/>
        </p:nvPicPr>
        <p:blipFill rotWithShape="1">
          <a:blip r:embed="rId4">
            <a:alphaModFix/>
          </a:blip>
          <a:srcRect/>
          <a:stretch/>
        </p:blipFill>
        <p:spPr>
          <a:xfrm>
            <a:off x="4357944" y="330860"/>
            <a:ext cx="2890753" cy="1176347"/>
          </a:xfrm>
          <a:prstGeom prst="rect">
            <a:avLst/>
          </a:prstGeom>
          <a:noFill/>
          <a:ln>
            <a:noFill/>
          </a:ln>
        </p:spPr>
      </p:pic>
      <p:sp>
        <p:nvSpPr>
          <p:cNvPr id="75" name="Google Shape;75;p17"/>
          <p:cNvSpPr txBox="1"/>
          <p:nvPr/>
        </p:nvSpPr>
        <p:spPr>
          <a:xfrm>
            <a:off x="2805445" y="1354975"/>
            <a:ext cx="6410498" cy="68841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lang="en-US" sz="14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3681330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252903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lank" type="blank">
  <p:cSld name="1_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303219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7" r:id="rId3"/>
    <p:sldLayoutId id="2147483658"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19202890"/>
      </p:ext>
    </p:extLst>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132317" y="1977662"/>
            <a:ext cx="8763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3200" kern="0" dirty="0">
                <a:solidFill>
                  <a:srgbClr val="002060"/>
                </a:solidFill>
                <a:latin typeface="Times New Roman" panose="02020603050405020304" pitchFamily="18" charset="0"/>
                <a:cs typeface="Times New Roman" panose="02020603050405020304" pitchFamily="18" charset="0"/>
              </a:rPr>
              <a:t>Mobile-Commerce </a:t>
            </a:r>
            <a:r>
              <a:rPr lang="en-US" sz="3200" kern="0" dirty="0" smtClean="0">
                <a:solidFill>
                  <a:srgbClr val="002060"/>
                </a:solidFill>
                <a:latin typeface="Times New Roman" panose="02020603050405020304" pitchFamily="18" charset="0"/>
                <a:cs typeface="Times New Roman" panose="02020603050405020304" pitchFamily="18" charset="0"/>
              </a:rPr>
              <a:t>Development</a:t>
            </a:r>
          </a:p>
          <a:p>
            <a:pPr>
              <a:defRPr/>
            </a:pPr>
            <a:r>
              <a:rPr lang="en-US" sz="3200" u="sng" dirty="0" smtClean="0">
                <a:solidFill>
                  <a:srgbClr val="002060"/>
                </a:solidFill>
                <a:latin typeface="Times New Roman" panose="02020603050405020304" pitchFamily="18" charset="0"/>
                <a:cs typeface="Times New Roman" panose="02020603050405020304" pitchFamily="18" charset="0"/>
              </a:rPr>
              <a:t>Lesson</a:t>
            </a:r>
            <a:r>
              <a:rPr lang="en-US" sz="3200" dirty="0" smtClean="0">
                <a:solidFill>
                  <a:srgbClr val="002060"/>
                </a:solidFill>
                <a:latin typeface="Times New Roman" panose="02020603050405020304" pitchFamily="18" charset="0"/>
                <a:cs typeface="Times New Roman" panose="02020603050405020304" pitchFamily="18" charset="0"/>
              </a:rPr>
              <a:t> </a:t>
            </a:r>
            <a:endParaRPr lang="en-US" sz="3200" kern="0" dirty="0" smtClean="0">
              <a:solidFill>
                <a:srgbClr val="002060"/>
              </a:solidFill>
              <a:latin typeface="Times New Roman" panose="02020603050405020304" pitchFamily="18" charset="0"/>
              <a:cs typeface="Times New Roman" panose="02020603050405020304" pitchFamily="18" charset="0"/>
            </a:endParaRPr>
          </a:p>
          <a:p>
            <a:pPr>
              <a:defRPr/>
            </a:pPr>
            <a:r>
              <a:rPr lang="en-US" sz="3200" dirty="0" smtClean="0">
                <a:solidFill>
                  <a:srgbClr val="002060"/>
                </a:solidFill>
                <a:latin typeface="Times New Roman" panose="02020603050405020304" pitchFamily="18" charset="0"/>
                <a:cs typeface="Times New Roman" panose="02020603050405020304" pitchFamily="18" charset="0"/>
              </a:rPr>
              <a:t>Dialogs and Notifications</a:t>
            </a:r>
            <a:endParaRPr lang="en-US" sz="3200" kern="0"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2F97E3A-A23C-B018-8E45-86B8BF858946}"/>
              </a:ext>
            </a:extLst>
          </p:cNvPr>
          <p:cNvSpPr txBox="1"/>
          <p:nvPr/>
        </p:nvSpPr>
        <p:spPr>
          <a:xfrm>
            <a:off x="7958878" y="4079089"/>
            <a:ext cx="3781805" cy="2123658"/>
          </a:xfrm>
          <a:prstGeom prst="rect">
            <a:avLst/>
          </a:prstGeom>
          <a:noFill/>
        </p:spPr>
        <p:txBody>
          <a:bodyPr wrap="none" rtlCol="0">
            <a:spAutoFit/>
          </a:bodyPr>
          <a:lstStyle/>
          <a:p>
            <a:pPr algn="ctr"/>
            <a:r>
              <a:rPr lang="en-US" sz="2200" u="sng">
                <a:latin typeface="Times New Roman" panose="02020603050405020304" pitchFamily="18" charset="0"/>
                <a:cs typeface="Times New Roman" panose="02020603050405020304" pitchFamily="18" charset="0"/>
              </a:rPr>
              <a:t>Lecturer:</a:t>
            </a:r>
          </a:p>
          <a:p>
            <a:pPr algn="ctr"/>
            <a:r>
              <a:rPr lang="en-US" sz="2200" b="1">
                <a:solidFill>
                  <a:srgbClr val="002060"/>
                </a:solidFill>
                <a:latin typeface="Times New Roman" panose="02020603050405020304" pitchFamily="18" charset="0"/>
                <a:cs typeface="Times New Roman" panose="02020603050405020304" pitchFamily="18" charset="0"/>
              </a:rPr>
              <a:t>Tran Duy Thanh, </a:t>
            </a:r>
            <a:r>
              <a:rPr lang="en-US" sz="2200" b="1" smtClean="0">
                <a:solidFill>
                  <a:srgbClr val="002060"/>
                </a:solidFill>
                <a:latin typeface="Times New Roman" panose="02020603050405020304" pitchFamily="18" charset="0"/>
                <a:cs typeface="Times New Roman" panose="02020603050405020304" pitchFamily="18" charset="0"/>
              </a:rPr>
              <a:t>Phd</a:t>
            </a:r>
          </a:p>
          <a:p>
            <a:pPr algn="ctr"/>
            <a:r>
              <a:rPr lang="en-US" sz="2200" b="1" smtClean="0">
                <a:solidFill>
                  <a:srgbClr val="002060"/>
                </a:solidFill>
                <a:latin typeface="Times New Roman" panose="02020603050405020304" pitchFamily="18" charset="0"/>
                <a:cs typeface="Times New Roman" panose="02020603050405020304" pitchFamily="18" charset="0"/>
              </a:rPr>
              <a:t>Nguyen Quang Phuc, Msc</a:t>
            </a:r>
            <a:endParaRPr lang="en-US" sz="2200" b="1">
              <a:solidFill>
                <a:srgbClr val="002060"/>
              </a:solidFill>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Email: </a:t>
            </a:r>
            <a:r>
              <a:rPr lang="en-US" sz="2200">
                <a:latin typeface="Times New Roman" panose="02020603050405020304" pitchFamily="18" charset="0"/>
                <a:cs typeface="Times New Roman" panose="02020603050405020304" pitchFamily="18" charset="0"/>
                <a:hlinkClick r:id="rId3"/>
              </a:rPr>
              <a:t>thanhtd@uel.edu.vn</a:t>
            </a:r>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Blog: </a:t>
            </a:r>
            <a:r>
              <a:rPr lang="en-US" sz="2200">
                <a:latin typeface="Times New Roman" panose="02020603050405020304" pitchFamily="18" charset="0"/>
                <a:cs typeface="Times New Roman" panose="02020603050405020304" pitchFamily="18" charset="0"/>
                <a:hlinkClick r:id="rId4"/>
              </a:rPr>
              <a:t>https://tranduythanh.com</a:t>
            </a:r>
            <a:r>
              <a:rPr lang="en-US" sz="2200">
                <a:latin typeface="Times New Roman" panose="02020603050405020304" pitchFamily="18" charset="0"/>
                <a:cs typeface="Times New Roman" panose="02020603050405020304" pitchFamily="18" charset="0"/>
              </a:rPr>
              <a:t> </a:t>
            </a:r>
          </a:p>
          <a:p>
            <a:r>
              <a:rPr lang="en-US" sz="2200">
                <a:latin typeface="Times New Roman" panose="02020603050405020304" pitchFamily="18" charset="0"/>
                <a:cs typeface="Times New Roman" panose="02020603050405020304" pitchFamily="18" charset="0"/>
              </a:rPr>
              <a:t>Phone: 0987773061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Lesson Objective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indent="0" algn="just">
              <a:lnSpc>
                <a:spcPct val="110000"/>
              </a:lnSpc>
              <a:spcBef>
                <a:spcPts val="600"/>
              </a:spcBef>
              <a:spcAft>
                <a:spcPts val="600"/>
              </a:spcAft>
              <a:buClr>
                <a:schemeClr val="tx1">
                  <a:lumMod val="85000"/>
                  <a:lumOff val="15000"/>
                </a:schemeClr>
              </a:buClr>
              <a:buNone/>
            </a:pPr>
            <a:r>
              <a:rPr lang="en-US" sz="2800" dirty="0" smtClean="0">
                <a:latin typeface="Times New Roman" panose="02020603050405020304" pitchFamily="18" charset="0"/>
                <a:cs typeface="Times New Roman" panose="02020603050405020304" pitchFamily="18" charset="0"/>
              </a:rPr>
              <a:t>-Students can use Toast, Alert Dialog</a:t>
            </a:r>
          </a:p>
          <a:p>
            <a:pPr marL="109538" indent="0" algn="just">
              <a:lnSpc>
                <a:spcPct val="110000"/>
              </a:lnSpc>
              <a:spcBef>
                <a:spcPts val="600"/>
              </a:spcBef>
              <a:spcAft>
                <a:spcPts val="600"/>
              </a:spcAft>
              <a:buClr>
                <a:schemeClr val="tx1">
                  <a:lumMod val="85000"/>
                  <a:lumOff val="15000"/>
                </a:schemeClr>
              </a:buClr>
              <a:buNone/>
            </a:pPr>
            <a:r>
              <a:rPr lang="en-US" sz="2800" dirty="0" smtClean="0">
                <a:latin typeface="Times New Roman" panose="02020603050405020304" pitchFamily="18" charset="0"/>
                <a:cs typeface="Times New Roman" panose="02020603050405020304" pitchFamily="18" charset="0"/>
              </a:rPr>
              <a:t>-Students can make custom dialogs</a:t>
            </a:r>
          </a:p>
          <a:p>
            <a:pPr marL="109538" indent="0" algn="just">
              <a:lnSpc>
                <a:spcPct val="110000"/>
              </a:lnSpc>
              <a:spcBef>
                <a:spcPts val="600"/>
              </a:spcBef>
              <a:spcAft>
                <a:spcPts val="600"/>
              </a:spcAft>
              <a:buClr>
                <a:schemeClr val="tx1">
                  <a:lumMod val="85000"/>
                  <a:lumOff val="15000"/>
                </a:schemeClr>
              </a:buClr>
              <a:buNone/>
            </a:pPr>
            <a:r>
              <a:rPr lang="en-US" sz="2800" dirty="0" smtClean="0">
                <a:latin typeface="Times New Roman" panose="02020603050405020304" pitchFamily="18" charset="0"/>
                <a:cs typeface="Times New Roman" panose="02020603050405020304" pitchFamily="18" charset="0"/>
              </a:rPr>
              <a:t>-Students can use notification</a:t>
            </a:r>
          </a:p>
          <a:p>
            <a:pPr marL="109538" indent="0" algn="just">
              <a:lnSpc>
                <a:spcPct val="110000"/>
              </a:lnSpc>
              <a:spcBef>
                <a:spcPts val="600"/>
              </a:spcBef>
              <a:spcAft>
                <a:spcPts val="600"/>
              </a:spcAft>
              <a:buClr>
                <a:schemeClr val="tx1">
                  <a:lumMod val="85000"/>
                  <a:lumOff val="15000"/>
                </a:schemeClr>
              </a:buClr>
              <a:buNone/>
            </a:pPr>
            <a:r>
              <a:rPr lang="en-US" sz="2800" dirty="0" smtClean="0">
                <a:latin typeface="Times New Roman" panose="02020603050405020304" pitchFamily="18" charset="0"/>
                <a:cs typeface="Times New Roman" panose="02020603050405020304" pitchFamily="18" charset="0"/>
              </a:rPr>
              <a:t>-Applying the dialogs and notifications in different use cases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1455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526858" y="935452"/>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Toast</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Alert Dialog</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Custom Dialog</a:t>
            </a: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Notification</a:t>
            </a:r>
            <a:endParaRPr lang="en-US" sz="2800" b="1"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Outlines</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947944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1. Toast</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7" name="Content Placeholder 2">
            <a:extLst>
              <a:ext uri="{FF2B5EF4-FFF2-40B4-BE49-F238E27FC236}">
                <a16:creationId xmlns:a16="http://schemas.microsoft.com/office/drawing/2014/main" id="{770BD8BD-C04E-D045-BC21-77F8FDEB287C}"/>
              </a:ext>
            </a:extLst>
          </p:cNvPr>
          <p:cNvSpPr txBox="1">
            <a:spLocks/>
          </p:cNvSpPr>
          <p:nvPr/>
        </p:nvSpPr>
        <p:spPr>
          <a:xfrm>
            <a:off x="528207" y="986713"/>
            <a:ext cx="10972738" cy="3001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Tx/>
              <a:buFont typeface="Wingdings" pitchFamily="2" charset="2"/>
              <a:buChar char="§"/>
            </a:pPr>
            <a:r>
              <a:rPr lang="en-US" sz="2400" dirty="0">
                <a:solidFill>
                  <a:prstClr val="black"/>
                </a:solidFill>
                <a:latin typeface="Times New Roman" panose="02020603050405020304" pitchFamily="18" charset="0"/>
              </a:rPr>
              <a:t>Toast can be created and displayed in Activity or in </a:t>
            </a:r>
            <a:r>
              <a:rPr lang="en-US" sz="2400" dirty="0" err="1">
                <a:solidFill>
                  <a:prstClr val="black"/>
                </a:solidFill>
                <a:latin typeface="Times New Roman" panose="02020603050405020304" pitchFamily="18" charset="0"/>
              </a:rPr>
              <a:t>Servive</a:t>
            </a:r>
            <a:r>
              <a:rPr lang="en-US" sz="2400" dirty="0">
                <a:solidFill>
                  <a:prstClr val="black"/>
                </a:solidFill>
                <a:latin typeface="Times New Roman" panose="02020603050405020304" pitchFamily="18" charset="0"/>
              </a:rPr>
              <a:t>.</a:t>
            </a:r>
          </a:p>
          <a:p>
            <a:pPr>
              <a:buClrTx/>
              <a:buFont typeface="Wingdings" pitchFamily="2" charset="2"/>
              <a:buChar char="§"/>
            </a:pPr>
            <a:r>
              <a:rPr lang="en-US" sz="2400" dirty="0">
                <a:solidFill>
                  <a:prstClr val="black"/>
                </a:solidFill>
                <a:latin typeface="Times New Roman" panose="02020603050405020304" pitchFamily="18" charset="0"/>
              </a:rPr>
              <a:t>Does not allow user interaction, display will close automatically after a certain period of time.</a:t>
            </a:r>
          </a:p>
          <a:p>
            <a:pPr>
              <a:buClrTx/>
              <a:buFont typeface="Wingdings" pitchFamily="2" charset="2"/>
              <a:buChar char="§"/>
            </a:pPr>
            <a:r>
              <a:rPr lang="en-US" sz="2400" dirty="0">
                <a:solidFill>
                  <a:prstClr val="black"/>
                </a:solidFill>
                <a:latin typeface="Times New Roman" panose="02020603050405020304" pitchFamily="18" charset="0"/>
              </a:rPr>
              <a:t>There are 2 default values:</a:t>
            </a:r>
          </a:p>
          <a:p>
            <a:pPr lvl="1">
              <a:buClrTx/>
              <a:buFont typeface="Wingdings" pitchFamily="2" charset="2"/>
              <a:buChar char="§"/>
            </a:pPr>
            <a:r>
              <a:rPr lang="en-US" sz="2400" dirty="0" err="1">
                <a:solidFill>
                  <a:prstClr val="black"/>
                </a:solidFill>
                <a:latin typeface="Times New Roman" panose="02020603050405020304" pitchFamily="18" charset="0"/>
              </a:rPr>
              <a:t>Toast.LENGTH_SHORT</a:t>
            </a:r>
            <a:r>
              <a:rPr lang="en-US" sz="2400" dirty="0">
                <a:solidFill>
                  <a:prstClr val="black"/>
                </a:solidFill>
                <a:latin typeface="Times New Roman" panose="02020603050405020304" pitchFamily="18" charset="0"/>
              </a:rPr>
              <a:t>,</a:t>
            </a:r>
          </a:p>
          <a:p>
            <a:pPr lvl="1">
              <a:buClrTx/>
              <a:buFont typeface="Wingdings" pitchFamily="2" charset="2"/>
              <a:buChar char="§"/>
            </a:pPr>
            <a:r>
              <a:rPr lang="en-US" sz="2400" dirty="0" err="1">
                <a:solidFill>
                  <a:prstClr val="black"/>
                </a:solidFill>
                <a:latin typeface="Times New Roman" panose="02020603050405020304" pitchFamily="18" charset="0"/>
              </a:rPr>
              <a:t>Toast.LENGTH_LONG</a:t>
            </a:r>
            <a:r>
              <a:rPr lang="en-US" sz="2400" dirty="0">
                <a:solidFill>
                  <a:prstClr val="black"/>
                </a:solidFill>
                <a:latin typeface="Times New Roman" panose="02020603050405020304" pitchFamily="18" charset="0"/>
              </a:rPr>
              <a:t>.</a:t>
            </a:r>
            <a:endParaRPr lang="en-US" sz="2400" dirty="0">
              <a:solidFill>
                <a:prstClr val="black"/>
              </a:solidFill>
              <a:latin typeface="Georgia"/>
            </a:endParaRPr>
          </a:p>
        </p:txBody>
      </p:sp>
      <p:pic>
        <p:nvPicPr>
          <p:cNvPr id="18" name="Picture 17">
            <a:extLst>
              <a:ext uri="{FF2B5EF4-FFF2-40B4-BE49-F238E27FC236}">
                <a16:creationId xmlns:a16="http://schemas.microsoft.com/office/drawing/2014/main" id="{FAC07884-74D6-604A-8501-A3A11439D151}"/>
              </a:ext>
            </a:extLst>
          </p:cNvPr>
          <p:cNvPicPr>
            <a:picLocks noChangeAspect="1"/>
          </p:cNvPicPr>
          <p:nvPr/>
        </p:nvPicPr>
        <p:blipFill>
          <a:blip r:embed="rId3"/>
          <a:stretch>
            <a:fillRect/>
          </a:stretch>
        </p:blipFill>
        <p:spPr>
          <a:xfrm>
            <a:off x="5413162" y="3347544"/>
            <a:ext cx="4043584" cy="2205591"/>
          </a:xfrm>
          <a:prstGeom prst="rect">
            <a:avLst/>
          </a:prstGeom>
        </p:spPr>
      </p:pic>
    </p:spTree>
    <p:extLst>
      <p:ext uri="{BB962C8B-B14F-4D97-AF65-F5344CB8AC3E}">
        <p14:creationId xmlns:p14="http://schemas.microsoft.com/office/powerpoint/2010/main" val="402716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fade">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fade">
                                      <p:cBhvr>
                                        <p:cTn id="22" dur="500"/>
                                        <p:tgtEl>
                                          <p:spTgt spid="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animEffect transition="in" filter="fade">
                                      <p:cBhvr>
                                        <p:cTn id="27" dur="500"/>
                                        <p:tgtEl>
                                          <p:spTgt spid="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1. Toast</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9" name="Rectangle 18">
            <a:extLst>
              <a:ext uri="{FF2B5EF4-FFF2-40B4-BE49-F238E27FC236}">
                <a16:creationId xmlns:a16="http://schemas.microsoft.com/office/drawing/2014/main" id="{E7DA47F5-D851-8C4A-A61E-111269556C52}"/>
              </a:ext>
            </a:extLst>
          </p:cNvPr>
          <p:cNvSpPr/>
          <p:nvPr/>
        </p:nvSpPr>
        <p:spPr>
          <a:xfrm>
            <a:off x="728132" y="1168162"/>
            <a:ext cx="10741282" cy="1569660"/>
          </a:xfrm>
          <a:prstGeom prst="rect">
            <a:avLst/>
          </a:prstGeom>
          <a:ln>
            <a:solidFill>
              <a:srgbClr val="009DD9">
                <a:lumMod val="50000"/>
              </a:srgbClr>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black"/>
                </a:solidFill>
                <a:effectLst/>
                <a:uLnTx/>
                <a:uFillTx/>
                <a:latin typeface="Georgia"/>
                <a:ea typeface="+mn-ea"/>
                <a:cs typeface="+mn-cs"/>
              </a:rPr>
              <a:t>Toast t = </a:t>
            </a:r>
            <a:r>
              <a:rPr kumimoji="0" lang="en-US" sz="2400" b="0" i="0" u="none" strike="noStrike" kern="1200" cap="none" spc="0" normalizeH="0" baseline="0" noProof="0" dirty="0" err="1" smtClean="0">
                <a:ln>
                  <a:noFill/>
                </a:ln>
                <a:solidFill>
                  <a:prstClr val="black"/>
                </a:solidFill>
                <a:effectLst/>
                <a:uLnTx/>
                <a:uFillTx/>
                <a:latin typeface="Georgia"/>
                <a:ea typeface="+mn-ea"/>
                <a:cs typeface="+mn-cs"/>
              </a:rPr>
              <a:t>Toast.</a:t>
            </a:r>
            <a:r>
              <a:rPr kumimoji="0" lang="en-US" sz="2400" b="0" i="1" u="none" strike="noStrike" kern="1200" cap="none" spc="0" normalizeH="0" baseline="0" noProof="0" dirty="0" err="1" smtClean="0">
                <a:ln>
                  <a:noFill/>
                </a:ln>
                <a:solidFill>
                  <a:prstClr val="black"/>
                </a:solidFill>
                <a:effectLst/>
                <a:uLnTx/>
                <a:uFillTx/>
                <a:latin typeface="Georgia"/>
                <a:ea typeface="+mn-ea"/>
                <a:cs typeface="+mn-cs"/>
              </a:rPr>
              <a:t>makeText</a:t>
            </a:r>
            <a:r>
              <a:rPr kumimoji="0" lang="en-US" sz="2400" b="0" i="0" u="none" strike="noStrike" kern="1200" cap="none" spc="0" normalizeH="0" baseline="0" noProof="0" dirty="0" smtClean="0">
                <a:ln>
                  <a:noFill/>
                </a:ln>
                <a:solidFill>
                  <a:prstClr val="black"/>
                </a:solidFill>
                <a:effectLst/>
                <a:uLnTx/>
                <a:uFillTx/>
                <a:latin typeface="Georgia"/>
                <a:ea typeface="+mn-ea"/>
                <a:cs typeface="+mn-cs"/>
              </a:rPr>
              <a:t>(</a:t>
            </a:r>
            <a:r>
              <a:rPr kumimoji="0" lang="en-US" sz="2400" b="0" i="0" u="none" strike="noStrike" kern="1200" cap="none" spc="0" normalizeH="0" baseline="0" noProof="0" dirty="0" err="1" smtClean="0">
                <a:ln>
                  <a:noFill/>
                </a:ln>
                <a:solidFill>
                  <a:prstClr val="black"/>
                </a:solidFill>
                <a:effectLst/>
                <a:uLnTx/>
                <a:uFillTx/>
                <a:latin typeface="Georgia"/>
                <a:ea typeface="+mn-ea"/>
                <a:cs typeface="+mn-cs"/>
              </a:rPr>
              <a:t>MainActivity.</a:t>
            </a:r>
            <a:r>
              <a:rPr kumimoji="0" lang="en-US" sz="2400" b="0" i="0" u="none" strike="noStrike" kern="1200" cap="none" spc="0" normalizeH="0" baseline="0" noProof="0" dirty="0" err="1" smtClean="0">
                <a:ln>
                  <a:noFill/>
                </a:ln>
                <a:solidFill>
                  <a:srgbClr val="CC7832"/>
                </a:solidFill>
                <a:effectLst/>
                <a:uLnTx/>
                <a:uFillTx/>
                <a:latin typeface="Georgia"/>
                <a:ea typeface="+mn-ea"/>
                <a:cs typeface="+mn-cs"/>
              </a:rPr>
              <a:t>this</a:t>
            </a: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6A8759"/>
                </a:solidFill>
                <a:effectLst/>
                <a:uLnTx/>
                <a:uFillTx/>
                <a:latin typeface="Georgia"/>
                <a:ea typeface="+mn-ea"/>
                <a:cs typeface="+mn-cs"/>
              </a:rPr>
              <a:t>                                                "Welcome to </a:t>
            </a:r>
            <a:r>
              <a:rPr kumimoji="0" lang="en-US" sz="2400" b="0" i="0" u="none" strike="noStrike" kern="1200" cap="none" spc="0" normalizeH="0" baseline="0" noProof="0" dirty="0" err="1" smtClean="0">
                <a:ln>
                  <a:noFill/>
                </a:ln>
                <a:solidFill>
                  <a:srgbClr val="6A8759"/>
                </a:solidFill>
                <a:effectLst/>
                <a:uLnTx/>
                <a:uFillTx/>
                <a:latin typeface="Georgia"/>
                <a:ea typeface="+mn-ea"/>
                <a:cs typeface="+mn-cs"/>
              </a:rPr>
              <a:t>VietNam</a:t>
            </a:r>
            <a:r>
              <a:rPr kumimoji="0" lang="en-US" sz="2400" b="0" i="0" u="none" strike="noStrike" kern="1200" cap="none" spc="0" normalizeH="0" baseline="0" noProof="0" dirty="0" smtClean="0">
                <a:ln>
                  <a:noFill/>
                </a:ln>
                <a:solidFill>
                  <a:srgbClr val="6A8759"/>
                </a:solidFill>
                <a:effectLst/>
                <a:uLnTx/>
                <a:uFillTx/>
                <a:latin typeface="Georgia"/>
                <a:ea typeface="+mn-ea"/>
                <a:cs typeface="+mn-cs"/>
              </a:rPr>
              <a:t>"</a:t>
            </a: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                                                </a:t>
            </a:r>
            <a:r>
              <a:rPr kumimoji="0" lang="en-US" sz="2400" b="0" i="0" u="none" strike="noStrike" kern="1200" cap="none" spc="0" normalizeH="0" baseline="0" noProof="0" dirty="0" err="1" smtClean="0">
                <a:ln>
                  <a:noFill/>
                </a:ln>
                <a:solidFill>
                  <a:prstClr val="black"/>
                </a:solidFill>
                <a:effectLst/>
                <a:uLnTx/>
                <a:uFillTx/>
                <a:latin typeface="Georgia"/>
                <a:ea typeface="+mn-ea"/>
                <a:cs typeface="+mn-cs"/>
              </a:rPr>
              <a:t>Toast.</a:t>
            </a:r>
            <a:r>
              <a:rPr kumimoji="0" lang="en-US" sz="2400" b="0" i="1" u="none" strike="noStrike" kern="1200" cap="none" spc="0" normalizeH="0" baseline="0" noProof="0" dirty="0" err="1" smtClean="0">
                <a:ln>
                  <a:noFill/>
                </a:ln>
                <a:solidFill>
                  <a:srgbClr val="9876AA"/>
                </a:solidFill>
                <a:effectLst/>
                <a:uLnTx/>
                <a:uFillTx/>
                <a:latin typeface="Georgia"/>
                <a:ea typeface="+mn-ea"/>
                <a:cs typeface="+mn-cs"/>
              </a:rPr>
              <a:t>LENGTH_SHORT</a:t>
            </a:r>
            <a:r>
              <a:rPr kumimoji="0" lang="en-US" sz="2400" b="0" i="0" u="none" strike="noStrike" kern="1200" cap="none" spc="0" normalizeH="0" baseline="0" noProof="0" dirty="0" smtClean="0">
                <a:ln>
                  <a:noFill/>
                </a:ln>
                <a:solidFill>
                  <a:prstClr val="black"/>
                </a:solidFill>
                <a:effectLst/>
                <a:uLnTx/>
                <a:uFillTx/>
                <a:latin typeface="Georgia"/>
                <a:ea typeface="+mn-ea"/>
                <a:cs typeface="+mn-cs"/>
              </a:rPr>
              <a:t>)</a:t>
            </a: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a:t>
            </a:r>
            <a:br>
              <a:rPr kumimoji="0" lang="en-US" sz="2400" b="0" i="0" u="none" strike="noStrike" kern="1200" cap="none" spc="0" normalizeH="0" baseline="0" noProof="0" dirty="0" smtClean="0">
                <a:ln>
                  <a:noFill/>
                </a:ln>
                <a:solidFill>
                  <a:srgbClr val="CC7832"/>
                </a:solidFill>
                <a:effectLst/>
                <a:uLnTx/>
                <a:uFillTx/>
                <a:latin typeface="Georgia"/>
                <a:ea typeface="+mn-ea"/>
                <a:cs typeface="+mn-cs"/>
              </a:rPr>
            </a:br>
            <a:r>
              <a:rPr kumimoji="0" lang="en-US" sz="2400" b="0" i="0" u="none" strike="noStrike" kern="1200" cap="none" spc="0" normalizeH="0" baseline="0" noProof="0" dirty="0" err="1" smtClean="0">
                <a:ln>
                  <a:noFill/>
                </a:ln>
                <a:solidFill>
                  <a:prstClr val="black"/>
                </a:solidFill>
                <a:effectLst/>
                <a:uLnTx/>
                <a:uFillTx/>
                <a:latin typeface="Georgia"/>
                <a:ea typeface="+mn-ea"/>
                <a:cs typeface="+mn-cs"/>
              </a:rPr>
              <a:t>t.show</a:t>
            </a:r>
            <a:r>
              <a:rPr kumimoji="0" lang="en-US" sz="2400" b="0" i="0" u="none" strike="noStrike" kern="1200" cap="none" spc="0" normalizeH="0" baseline="0" noProof="0" dirty="0" smtClean="0">
                <a:ln>
                  <a:noFill/>
                </a:ln>
                <a:solidFill>
                  <a:prstClr val="black"/>
                </a:solidFill>
                <a:effectLst/>
                <a:uLnTx/>
                <a:uFillTx/>
                <a:latin typeface="Georgia"/>
                <a:ea typeface="+mn-ea"/>
                <a:cs typeface="+mn-cs"/>
              </a:rPr>
              <a:t>()</a:t>
            </a: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a:t>
            </a:r>
            <a:endParaRPr kumimoji="0" lang="en-US" sz="2400" b="0" i="0" u="none" strike="noStrike" kern="1200" cap="none" spc="0" normalizeH="0" baseline="0" noProof="0" dirty="0" smtClean="0">
              <a:ln>
                <a:noFill/>
              </a:ln>
              <a:solidFill>
                <a:prstClr val="black"/>
              </a:solidFill>
              <a:effectLst/>
              <a:uLnTx/>
              <a:uFillTx/>
              <a:latin typeface="Georgia"/>
              <a:ea typeface="+mn-ea"/>
              <a:cs typeface="+mn-cs"/>
            </a:endParaRPr>
          </a:p>
        </p:txBody>
      </p:sp>
      <p:sp>
        <p:nvSpPr>
          <p:cNvPr id="20" name="Rectangle 19">
            <a:extLst>
              <a:ext uri="{FF2B5EF4-FFF2-40B4-BE49-F238E27FC236}">
                <a16:creationId xmlns:a16="http://schemas.microsoft.com/office/drawing/2014/main" id="{14E08863-EF52-CC49-9C3A-B154E23BC520}"/>
              </a:ext>
            </a:extLst>
          </p:cNvPr>
          <p:cNvSpPr/>
          <p:nvPr/>
        </p:nvSpPr>
        <p:spPr>
          <a:xfrm>
            <a:off x="728133" y="3477782"/>
            <a:ext cx="10741282" cy="1200329"/>
          </a:xfrm>
          <a:prstGeom prst="rect">
            <a:avLst/>
          </a:prstGeom>
          <a:ln>
            <a:solidFill>
              <a:srgbClr val="009DD9">
                <a:lumMod val="50000"/>
              </a:srgbClr>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smtClean="0">
                <a:ln>
                  <a:noFill/>
                </a:ln>
                <a:solidFill>
                  <a:prstClr val="black"/>
                </a:solidFill>
                <a:effectLst/>
                <a:uLnTx/>
                <a:uFillTx/>
                <a:latin typeface="Georgia"/>
                <a:ea typeface="+mn-ea"/>
                <a:cs typeface="+mn-cs"/>
              </a:rPr>
              <a:t>Toast.</a:t>
            </a:r>
            <a:r>
              <a:rPr kumimoji="0" lang="en-US" sz="2400" b="0" i="1" u="none" strike="noStrike" kern="1200" cap="none" spc="0" normalizeH="0" baseline="0" noProof="0" dirty="0" err="1" smtClean="0">
                <a:ln>
                  <a:noFill/>
                </a:ln>
                <a:solidFill>
                  <a:prstClr val="black"/>
                </a:solidFill>
                <a:effectLst/>
                <a:uLnTx/>
                <a:uFillTx/>
                <a:latin typeface="Georgia"/>
                <a:ea typeface="+mn-ea"/>
                <a:cs typeface="+mn-cs"/>
              </a:rPr>
              <a:t>makeText</a:t>
            </a:r>
            <a:r>
              <a:rPr kumimoji="0" lang="en-US" sz="2400" b="0" i="0" u="none" strike="noStrike" kern="1200" cap="none" spc="0" normalizeH="0" baseline="0" noProof="0" dirty="0" smtClean="0">
                <a:ln>
                  <a:noFill/>
                </a:ln>
                <a:solidFill>
                  <a:prstClr val="black"/>
                </a:solidFill>
                <a:effectLst/>
                <a:uLnTx/>
                <a:uFillTx/>
                <a:latin typeface="Georgia"/>
                <a:ea typeface="+mn-ea"/>
                <a:cs typeface="+mn-cs"/>
              </a:rPr>
              <a:t>(</a:t>
            </a:r>
            <a:r>
              <a:rPr kumimoji="0" lang="en-US" sz="2400" b="0" i="0" u="none" strike="noStrike" kern="1200" cap="none" spc="0" normalizeH="0" baseline="0" noProof="0" dirty="0" err="1" smtClean="0">
                <a:ln>
                  <a:noFill/>
                </a:ln>
                <a:solidFill>
                  <a:prstClr val="black"/>
                </a:solidFill>
                <a:effectLst/>
                <a:uLnTx/>
                <a:uFillTx/>
                <a:latin typeface="Georgia"/>
                <a:ea typeface="+mn-ea"/>
                <a:cs typeface="+mn-cs"/>
              </a:rPr>
              <a:t>MainActivity.</a:t>
            </a:r>
            <a:r>
              <a:rPr kumimoji="0" lang="en-US" sz="2400" b="0" i="0" u="none" strike="noStrike" kern="1200" cap="none" spc="0" normalizeH="0" baseline="0" noProof="0" dirty="0" err="1" smtClean="0">
                <a:ln>
                  <a:noFill/>
                </a:ln>
                <a:solidFill>
                  <a:srgbClr val="CC7832"/>
                </a:solidFill>
                <a:effectLst/>
                <a:uLnTx/>
                <a:uFillTx/>
                <a:latin typeface="Georgia"/>
                <a:ea typeface="+mn-ea"/>
                <a:cs typeface="+mn-cs"/>
              </a:rPr>
              <a:t>this</a:t>
            </a: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6A8759"/>
                </a:solidFill>
                <a:effectLst/>
                <a:uLnTx/>
                <a:uFillTx/>
                <a:latin typeface="Georgia"/>
                <a:ea typeface="+mn-ea"/>
                <a:cs typeface="+mn-cs"/>
              </a:rPr>
              <a:t>                               "Welcome to </a:t>
            </a:r>
            <a:r>
              <a:rPr kumimoji="0" lang="en-US" sz="2400" b="0" i="0" u="none" strike="noStrike" kern="1200" cap="none" spc="0" normalizeH="0" baseline="0" noProof="0" dirty="0" err="1" smtClean="0">
                <a:ln>
                  <a:noFill/>
                </a:ln>
                <a:solidFill>
                  <a:srgbClr val="6A8759"/>
                </a:solidFill>
                <a:effectLst/>
                <a:uLnTx/>
                <a:uFillTx/>
                <a:latin typeface="Georgia"/>
                <a:ea typeface="+mn-ea"/>
                <a:cs typeface="+mn-cs"/>
              </a:rPr>
              <a:t>VietNam</a:t>
            </a:r>
            <a:r>
              <a:rPr kumimoji="0" lang="en-US" sz="2400" b="0" i="0" u="none" strike="noStrike" kern="1200" cap="none" spc="0" normalizeH="0" baseline="0" noProof="0" dirty="0" smtClean="0">
                <a:ln>
                  <a:noFill/>
                </a:ln>
                <a:solidFill>
                  <a:srgbClr val="6A8759"/>
                </a:solidFill>
                <a:effectLst/>
                <a:uLnTx/>
                <a:uFillTx/>
                <a:latin typeface="Georgia"/>
                <a:ea typeface="+mn-ea"/>
                <a:cs typeface="+mn-cs"/>
              </a:rPr>
              <a:t>"</a:t>
            </a: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                                </a:t>
            </a:r>
            <a:r>
              <a:rPr kumimoji="0" lang="en-US" sz="2400" b="0" i="0" u="none" strike="noStrike" kern="1200" cap="none" spc="0" normalizeH="0" baseline="0" noProof="0" dirty="0" err="1" smtClean="0">
                <a:ln>
                  <a:noFill/>
                </a:ln>
                <a:solidFill>
                  <a:prstClr val="black"/>
                </a:solidFill>
                <a:effectLst/>
                <a:uLnTx/>
                <a:uFillTx/>
                <a:latin typeface="Georgia"/>
                <a:ea typeface="+mn-ea"/>
                <a:cs typeface="+mn-cs"/>
              </a:rPr>
              <a:t>Toast.</a:t>
            </a:r>
            <a:r>
              <a:rPr kumimoji="0" lang="en-US" sz="2400" b="0" i="1" u="none" strike="noStrike" kern="1200" cap="none" spc="0" normalizeH="0" baseline="0" noProof="0" dirty="0" err="1" smtClean="0">
                <a:ln>
                  <a:noFill/>
                </a:ln>
                <a:solidFill>
                  <a:srgbClr val="9876AA"/>
                </a:solidFill>
                <a:effectLst/>
                <a:uLnTx/>
                <a:uFillTx/>
                <a:latin typeface="Georgia"/>
                <a:ea typeface="+mn-ea"/>
                <a:cs typeface="+mn-cs"/>
              </a:rPr>
              <a:t>LENGTH_LONG</a:t>
            </a:r>
            <a:r>
              <a:rPr kumimoji="0" lang="en-US" sz="2400" b="0" i="0" u="none" strike="noStrike" kern="1200" cap="none" spc="0" normalizeH="0" baseline="0" noProof="0" dirty="0" smtClean="0">
                <a:ln>
                  <a:noFill/>
                </a:ln>
                <a:solidFill>
                  <a:prstClr val="black"/>
                </a:solidFill>
                <a:effectLst/>
                <a:uLnTx/>
                <a:uFillTx/>
                <a:latin typeface="Georgia"/>
                <a:ea typeface="+mn-ea"/>
                <a:cs typeface="+mn-cs"/>
              </a:rPr>
              <a:t>).show()</a:t>
            </a:r>
            <a:r>
              <a:rPr kumimoji="0" lang="en-US" sz="2400" b="0" i="0" u="none" strike="noStrike" kern="1200" cap="none" spc="0" normalizeH="0" baseline="0" noProof="0" dirty="0" smtClean="0">
                <a:ln>
                  <a:noFill/>
                </a:ln>
                <a:solidFill>
                  <a:srgbClr val="CC7832"/>
                </a:solidFill>
                <a:effectLst/>
                <a:uLnTx/>
                <a:uFillTx/>
                <a:latin typeface="Georgia"/>
                <a:ea typeface="+mn-ea"/>
                <a:cs typeface="+mn-cs"/>
              </a:rPr>
              <a:t>;</a:t>
            </a:r>
            <a:endParaRPr kumimoji="0" lang="en-US" sz="2400" b="0" i="0" u="none" strike="noStrike" kern="1200" cap="none" spc="0" normalizeH="0" baseline="0" noProof="0" dirty="0" smtClean="0">
              <a:ln>
                <a:noFill/>
              </a:ln>
              <a:solidFill>
                <a:prstClr val="black"/>
              </a:solidFill>
              <a:effectLst/>
              <a:uLnTx/>
              <a:uFillTx/>
              <a:latin typeface="Georgia"/>
              <a:ea typeface="+mn-ea"/>
              <a:cs typeface="+mn-cs"/>
            </a:endParaRPr>
          </a:p>
        </p:txBody>
      </p:sp>
    </p:spTree>
    <p:extLst>
      <p:ext uri="{BB962C8B-B14F-4D97-AF65-F5344CB8AC3E}">
        <p14:creationId xmlns:p14="http://schemas.microsoft.com/office/powerpoint/2010/main" val="135164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2. Alert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4" name="Picture 3"/>
          <p:cNvPicPr>
            <a:picLocks noChangeAspect="1"/>
          </p:cNvPicPr>
          <p:nvPr/>
        </p:nvPicPr>
        <p:blipFill>
          <a:blip r:embed="rId3"/>
          <a:stretch>
            <a:fillRect/>
          </a:stretch>
        </p:blipFill>
        <p:spPr>
          <a:xfrm>
            <a:off x="3982798" y="1796189"/>
            <a:ext cx="3080155" cy="1488048"/>
          </a:xfrm>
          <a:prstGeom prst="rect">
            <a:avLst/>
          </a:prstGeom>
        </p:spPr>
      </p:pic>
      <p:sp>
        <p:nvSpPr>
          <p:cNvPr id="17" name="Content Placeholder 2">
            <a:extLst>
              <a:ext uri="{FF2B5EF4-FFF2-40B4-BE49-F238E27FC236}">
                <a16:creationId xmlns:a16="http://schemas.microsoft.com/office/drawing/2014/main" id="{53677AF4-DCBA-B747-A32C-5DA7811828ED}"/>
              </a:ext>
            </a:extLst>
          </p:cNvPr>
          <p:cNvSpPr txBox="1">
            <a:spLocks/>
          </p:cNvSpPr>
          <p:nvPr/>
        </p:nvSpPr>
        <p:spPr>
          <a:xfrm>
            <a:off x="728132" y="1036207"/>
            <a:ext cx="8305800" cy="6428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
            </a:pPr>
            <a:r>
              <a:rPr lang="en-US" sz="2400" dirty="0">
                <a:latin typeface="Times New Roman" panose="02020603050405020304" pitchFamily="18" charset="0"/>
                <a:cs typeface="Times New Roman" panose="02020603050405020304" pitchFamily="18" charset="0"/>
              </a:rPr>
              <a:t>Displays a dialog box that allows user interaction</a:t>
            </a:r>
          </a:p>
        </p:txBody>
      </p:sp>
      <p:sp>
        <p:nvSpPr>
          <p:cNvPr id="5" name="Rectangle 4"/>
          <p:cNvSpPr/>
          <p:nvPr/>
        </p:nvSpPr>
        <p:spPr>
          <a:xfrm>
            <a:off x="785649" y="3799793"/>
            <a:ext cx="10738944" cy="369332"/>
          </a:xfrm>
          <a:prstGeom prst="rect">
            <a:avLst/>
          </a:prstGeom>
        </p:spPr>
        <p:txBody>
          <a:bodyPr wrap="square">
            <a:spAutoFit/>
          </a:bodyPr>
          <a:lstStyle/>
          <a:p>
            <a:r>
              <a:rPr lang="en-US" sz="1800" dirty="0" err="1">
                <a:latin typeface="JetBrains Mono" panose="02000009000000000000" pitchFamily="49" charset="0"/>
              </a:rPr>
              <a:t>AlertDialog</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Builder</a:t>
            </a:r>
            <a:r>
              <a:rPr lang="en-US" sz="1800" dirty="0">
                <a:latin typeface="JetBrains Mono" panose="02000009000000000000" pitchFamily="49" charset="0"/>
              </a:rPr>
              <a:t> builder </a:t>
            </a:r>
            <a:r>
              <a:rPr lang="en-US" sz="1800" dirty="0">
                <a:solidFill>
                  <a:srgbClr val="080808"/>
                </a:solidFill>
                <a:latin typeface="JetBrains Mono" panose="02000009000000000000" pitchFamily="49" charset="0"/>
              </a:rPr>
              <a:t>= </a:t>
            </a:r>
            <a:r>
              <a:rPr lang="en-US" sz="1800" dirty="0">
                <a:solidFill>
                  <a:srgbClr val="0033B3"/>
                </a:solidFill>
                <a:latin typeface="JetBrains Mono" panose="02000009000000000000" pitchFamily="49" charset="0"/>
              </a:rPr>
              <a:t>new </a:t>
            </a:r>
            <a:r>
              <a:rPr lang="en-US" sz="1800" dirty="0" err="1">
                <a:latin typeface="JetBrains Mono" panose="02000009000000000000" pitchFamily="49" charset="0"/>
              </a:rPr>
              <a:t>AlertDialog</a:t>
            </a:r>
            <a:r>
              <a:rPr lang="en-US" sz="1800" dirty="0" err="1">
                <a:solidFill>
                  <a:srgbClr val="080808"/>
                </a:solidFill>
                <a:latin typeface="JetBrains Mono" panose="02000009000000000000" pitchFamily="49" charset="0"/>
              </a:rPr>
              <a:t>.Builder</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MainActivity</a:t>
            </a:r>
            <a:r>
              <a:rPr lang="en-US" sz="1800" dirty="0" err="1">
                <a:solidFill>
                  <a:srgbClr val="080808"/>
                </a:solidFill>
                <a:latin typeface="JetBrains Mono" panose="02000009000000000000" pitchFamily="49" charset="0"/>
              </a:rPr>
              <a:t>.</a:t>
            </a:r>
            <a:r>
              <a:rPr lang="en-US" sz="1800" dirty="0" err="1">
                <a:solidFill>
                  <a:srgbClr val="0033B3"/>
                </a:solidFill>
                <a:latin typeface="JetBrains Mono" panose="02000009000000000000" pitchFamily="49" charset="0"/>
              </a:rPr>
              <a:t>this</a:t>
            </a:r>
            <a:r>
              <a:rPr lang="en-US" sz="1800" dirty="0">
                <a:solidFill>
                  <a:srgbClr val="080808"/>
                </a:solidFill>
                <a:latin typeface="JetBrains Mono" panose="02000009000000000000" pitchFamily="49" charset="0"/>
              </a:rPr>
              <a:t>);</a:t>
            </a:r>
          </a:p>
        </p:txBody>
      </p:sp>
    </p:spTree>
    <p:extLst>
      <p:ext uri="{BB962C8B-B14F-4D97-AF65-F5344CB8AC3E}">
        <p14:creationId xmlns:p14="http://schemas.microsoft.com/office/powerpoint/2010/main" val="7960746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2. Alert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8763000"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dirty="0">
                <a:solidFill>
                  <a:sysClr val="windowText" lastClr="000000"/>
                </a:solidFill>
                <a:latin typeface="Georgia"/>
              </a:rPr>
              <a:t>Some commonly used attributes</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sp>
        <p:nvSpPr>
          <p:cNvPr id="17" name="Content Placeholder 2">
            <a:extLst>
              <a:ext uri="{FF2B5EF4-FFF2-40B4-BE49-F238E27FC236}">
                <a16:creationId xmlns:a16="http://schemas.microsoft.com/office/drawing/2014/main" id="{AA658077-F411-B742-B90F-C02EA426D4A1}"/>
              </a:ext>
            </a:extLst>
          </p:cNvPr>
          <p:cNvSpPr txBox="1">
            <a:spLocks/>
          </p:cNvSpPr>
          <p:nvPr/>
        </p:nvSpPr>
        <p:spPr>
          <a:xfrm>
            <a:off x="943366" y="1685764"/>
            <a:ext cx="10029434" cy="3001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ClrTx/>
              <a:buFont typeface="Wingdings" pitchFamily="2" charset="2"/>
              <a:buChar char="§"/>
            </a:pPr>
            <a:r>
              <a:rPr lang="en-US" sz="2400" b="1" dirty="0" err="1">
                <a:solidFill>
                  <a:prstClr val="black"/>
                </a:solidFill>
                <a:latin typeface="Cambria" panose="02040503050406030204" pitchFamily="18" charset="0"/>
              </a:rPr>
              <a:t>setTitle</a:t>
            </a:r>
            <a:r>
              <a:rPr lang="en-US" sz="2400" b="1" dirty="0">
                <a:solidFill>
                  <a:prstClr val="black"/>
                </a:solidFill>
                <a:latin typeface="Cambria" panose="02040503050406030204" pitchFamily="18" charset="0"/>
              </a:rPr>
              <a:t>: </a:t>
            </a:r>
            <a:r>
              <a:rPr lang="en-US" sz="2400" dirty="0">
                <a:solidFill>
                  <a:prstClr val="black"/>
                </a:solidFill>
                <a:latin typeface="Cambria" panose="02040503050406030204" pitchFamily="18" charset="0"/>
              </a:rPr>
              <a:t>set the title for Dialog,</a:t>
            </a:r>
          </a:p>
          <a:p>
            <a:pPr algn="just">
              <a:buClrTx/>
              <a:buFont typeface="Wingdings" pitchFamily="2" charset="2"/>
              <a:buChar char="§"/>
            </a:pPr>
            <a:r>
              <a:rPr lang="en-US" sz="2400" b="1" dirty="0" err="1">
                <a:solidFill>
                  <a:prstClr val="black"/>
                </a:solidFill>
                <a:latin typeface="Cambria" panose="02040503050406030204" pitchFamily="18" charset="0"/>
              </a:rPr>
              <a:t>setMessage</a:t>
            </a:r>
            <a:r>
              <a:rPr lang="en-US" sz="2400" b="1" dirty="0">
                <a:solidFill>
                  <a:prstClr val="black"/>
                </a:solidFill>
                <a:latin typeface="Cambria" panose="02040503050406030204" pitchFamily="18" charset="0"/>
              </a:rPr>
              <a:t>: </a:t>
            </a:r>
            <a:r>
              <a:rPr lang="en-US" sz="2400" dirty="0">
                <a:solidFill>
                  <a:prstClr val="black"/>
                </a:solidFill>
                <a:latin typeface="Cambria" panose="02040503050406030204" pitchFamily="18" charset="0"/>
              </a:rPr>
              <a:t>set the content for Dialog,</a:t>
            </a:r>
          </a:p>
          <a:p>
            <a:pPr algn="just">
              <a:buClrTx/>
              <a:buFont typeface="Wingdings" pitchFamily="2" charset="2"/>
              <a:buChar char="§"/>
            </a:pPr>
            <a:r>
              <a:rPr lang="en-US" sz="2400" b="1" dirty="0" err="1">
                <a:solidFill>
                  <a:prstClr val="black"/>
                </a:solidFill>
                <a:latin typeface="Cambria" panose="02040503050406030204" pitchFamily="18" charset="0"/>
              </a:rPr>
              <a:t>setIcon</a:t>
            </a:r>
            <a:r>
              <a:rPr lang="en-US" sz="2400" b="1" dirty="0">
                <a:solidFill>
                  <a:prstClr val="black"/>
                </a:solidFill>
                <a:latin typeface="Cambria" panose="02040503050406030204" pitchFamily="18" charset="0"/>
              </a:rPr>
              <a:t>: </a:t>
            </a:r>
            <a:r>
              <a:rPr lang="en-US" sz="2400" dirty="0">
                <a:solidFill>
                  <a:prstClr val="black"/>
                </a:solidFill>
                <a:latin typeface="Cambria" panose="02040503050406030204" pitchFamily="18" charset="0"/>
              </a:rPr>
              <a:t>set Icon,</a:t>
            </a:r>
          </a:p>
          <a:p>
            <a:pPr algn="just">
              <a:buClrTx/>
              <a:buFont typeface="Wingdings" pitchFamily="2" charset="2"/>
              <a:buChar char="§"/>
            </a:pPr>
            <a:r>
              <a:rPr lang="en-US" sz="2400" b="1" dirty="0" err="1">
                <a:solidFill>
                  <a:prstClr val="black"/>
                </a:solidFill>
                <a:latin typeface="Cambria" panose="02040503050406030204" pitchFamily="18" charset="0"/>
              </a:rPr>
              <a:t>setPositiveButton</a:t>
            </a:r>
            <a:r>
              <a:rPr lang="en-US" sz="2400" b="1" dirty="0">
                <a:solidFill>
                  <a:prstClr val="black"/>
                </a:solidFill>
                <a:latin typeface="Cambria" panose="02040503050406030204" pitchFamily="18" charset="0"/>
              </a:rPr>
              <a:t>, </a:t>
            </a:r>
            <a:r>
              <a:rPr lang="en-US" sz="2400" b="1" dirty="0" err="1">
                <a:solidFill>
                  <a:prstClr val="black"/>
                </a:solidFill>
                <a:latin typeface="Cambria" panose="02040503050406030204" pitchFamily="18" charset="0"/>
              </a:rPr>
              <a:t>setNegativeButton</a:t>
            </a:r>
            <a:r>
              <a:rPr lang="en-US" sz="2400" b="1" dirty="0">
                <a:solidFill>
                  <a:prstClr val="black"/>
                </a:solidFill>
                <a:latin typeface="Cambria" panose="02040503050406030204" pitchFamily="18" charset="0"/>
              </a:rPr>
              <a:t>: </a:t>
            </a:r>
            <a:r>
              <a:rPr lang="en-US" sz="2400" dirty="0">
                <a:solidFill>
                  <a:prstClr val="black"/>
                </a:solidFill>
                <a:latin typeface="Cambria" panose="02040503050406030204" pitchFamily="18" charset="0"/>
              </a:rPr>
              <a:t>set Display Button for Dialog,</a:t>
            </a:r>
          </a:p>
          <a:p>
            <a:pPr algn="just">
              <a:buClrTx/>
              <a:buFont typeface="Wingdings" pitchFamily="2" charset="2"/>
              <a:buChar char="§"/>
            </a:pPr>
            <a:r>
              <a:rPr lang="en-US" sz="2400" b="1" dirty="0">
                <a:solidFill>
                  <a:prstClr val="black"/>
                </a:solidFill>
                <a:latin typeface="Cambria" panose="02040503050406030204" pitchFamily="18" charset="0"/>
              </a:rPr>
              <a:t>create(): </a:t>
            </a:r>
            <a:r>
              <a:rPr lang="en-US" sz="2400" dirty="0">
                <a:solidFill>
                  <a:prstClr val="black"/>
                </a:solidFill>
                <a:latin typeface="Cambria" panose="02040503050406030204" pitchFamily="18" charset="0"/>
              </a:rPr>
              <a:t>to create Dialog,</a:t>
            </a:r>
          </a:p>
          <a:p>
            <a:pPr algn="just">
              <a:buClrTx/>
              <a:buFont typeface="Wingdings" pitchFamily="2" charset="2"/>
              <a:buChar char="§"/>
            </a:pPr>
            <a:r>
              <a:rPr lang="en-US" sz="2400" b="1" dirty="0">
                <a:solidFill>
                  <a:prstClr val="black"/>
                </a:solidFill>
                <a:latin typeface="Cambria" panose="02040503050406030204" pitchFamily="18" charset="0"/>
              </a:rPr>
              <a:t>show(): </a:t>
            </a:r>
            <a:r>
              <a:rPr lang="en-US" sz="2400" dirty="0">
                <a:solidFill>
                  <a:prstClr val="black"/>
                </a:solidFill>
                <a:latin typeface="Cambria" panose="02040503050406030204" pitchFamily="18" charset="0"/>
              </a:rPr>
              <a:t>to display Dialog.</a:t>
            </a:r>
          </a:p>
        </p:txBody>
      </p:sp>
    </p:spTree>
    <p:extLst>
      <p:ext uri="{BB962C8B-B14F-4D97-AF65-F5344CB8AC3E}">
        <p14:creationId xmlns:p14="http://schemas.microsoft.com/office/powerpoint/2010/main" val="24005974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2. Alert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 name="Rectangle 1"/>
          <p:cNvSpPr/>
          <p:nvPr/>
        </p:nvSpPr>
        <p:spPr>
          <a:xfrm>
            <a:off x="911771" y="1035821"/>
            <a:ext cx="10604939" cy="5078313"/>
          </a:xfrm>
          <a:prstGeom prst="rect">
            <a:avLst/>
          </a:prstGeom>
        </p:spPr>
        <p:txBody>
          <a:bodyPr wrap="square">
            <a:spAutoFit/>
          </a:bodyPr>
          <a:lstStyle/>
          <a:p>
            <a:r>
              <a:rPr lang="en-US" sz="1800" dirty="0" err="1">
                <a:latin typeface="JetBrains Mono" panose="02000009000000000000" pitchFamily="49" charset="0"/>
              </a:rPr>
              <a:t>AlertDialog</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Builder</a:t>
            </a:r>
            <a:r>
              <a:rPr lang="en-US" sz="1800" dirty="0">
                <a:latin typeface="JetBrains Mono" panose="02000009000000000000" pitchFamily="49" charset="0"/>
              </a:rPr>
              <a:t> builder </a:t>
            </a:r>
            <a:r>
              <a:rPr lang="en-US" sz="1800" dirty="0">
                <a:solidFill>
                  <a:srgbClr val="080808"/>
                </a:solidFill>
                <a:latin typeface="JetBrains Mono" panose="02000009000000000000" pitchFamily="49" charset="0"/>
              </a:rPr>
              <a:t>= </a:t>
            </a:r>
            <a:r>
              <a:rPr lang="en-US" sz="1800" dirty="0">
                <a:solidFill>
                  <a:srgbClr val="0033B3"/>
                </a:solidFill>
                <a:latin typeface="JetBrains Mono" panose="02000009000000000000" pitchFamily="49" charset="0"/>
              </a:rPr>
              <a:t>new </a:t>
            </a:r>
            <a:r>
              <a:rPr lang="en-US" sz="1800" dirty="0" err="1">
                <a:latin typeface="JetBrains Mono" panose="02000009000000000000" pitchFamily="49" charset="0"/>
              </a:rPr>
              <a:t>AlertDialog</a:t>
            </a:r>
            <a:r>
              <a:rPr lang="en-US" sz="1800" dirty="0" err="1">
                <a:solidFill>
                  <a:srgbClr val="080808"/>
                </a:solidFill>
                <a:latin typeface="JetBrains Mono" panose="02000009000000000000" pitchFamily="49" charset="0"/>
              </a:rPr>
              <a:t>.Builder</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MainActivity</a:t>
            </a:r>
            <a:r>
              <a:rPr lang="en-US" sz="1800" dirty="0" err="1">
                <a:solidFill>
                  <a:srgbClr val="080808"/>
                </a:solidFill>
                <a:latin typeface="JetBrains Mono" panose="02000009000000000000" pitchFamily="49" charset="0"/>
              </a:rPr>
              <a:t>.</a:t>
            </a:r>
            <a:r>
              <a:rPr lang="en-US" sz="1800" dirty="0" err="1">
                <a:solidFill>
                  <a:srgbClr val="0033B3"/>
                </a:solidFill>
                <a:latin typeface="JetBrains Mono" panose="02000009000000000000" pitchFamily="49" charset="0"/>
              </a:rPr>
              <a:t>this</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builder</a:t>
            </a:r>
            <a:r>
              <a:rPr lang="en-US" sz="1800" dirty="0" err="1">
                <a:solidFill>
                  <a:srgbClr val="080808"/>
                </a:solidFill>
                <a:latin typeface="JetBrains Mono" panose="02000009000000000000" pitchFamily="49" charset="0"/>
              </a:rPr>
              <a:t>.setTitle</a:t>
            </a:r>
            <a:r>
              <a:rPr lang="en-US" sz="1800" dirty="0">
                <a:solidFill>
                  <a:srgbClr val="080808"/>
                </a:solidFill>
                <a:latin typeface="JetBrains Mono" panose="02000009000000000000" pitchFamily="49" charset="0"/>
              </a:rPr>
              <a:t>(</a:t>
            </a:r>
            <a:r>
              <a:rPr lang="en-US" sz="1800" dirty="0">
                <a:solidFill>
                  <a:srgbClr val="067D17"/>
                </a:solidFill>
                <a:latin typeface="JetBrains Mono" panose="02000009000000000000" pitchFamily="49" charset="0"/>
              </a:rPr>
              <a:t>"Exit Confirmation"</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builder</a:t>
            </a:r>
            <a:r>
              <a:rPr lang="en-US" sz="1800" dirty="0" err="1">
                <a:solidFill>
                  <a:srgbClr val="080808"/>
                </a:solidFill>
                <a:latin typeface="JetBrains Mono" panose="02000009000000000000" pitchFamily="49" charset="0"/>
              </a:rPr>
              <a:t>.setIcon</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android.R</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drawable</a:t>
            </a:r>
            <a:r>
              <a:rPr lang="en-US" sz="1800" dirty="0" err="1">
                <a:solidFill>
                  <a:srgbClr val="080808"/>
                </a:solidFill>
                <a:latin typeface="JetBrains Mono" panose="02000009000000000000" pitchFamily="49" charset="0"/>
              </a:rPr>
              <a:t>.</a:t>
            </a:r>
            <a:r>
              <a:rPr lang="en-US" sz="1800" i="1" dirty="0" err="1">
                <a:solidFill>
                  <a:srgbClr val="871094"/>
                </a:solidFill>
                <a:latin typeface="JetBrains Mono" panose="02000009000000000000" pitchFamily="49" charset="0"/>
              </a:rPr>
              <a:t>ic_dialog_info</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builder</a:t>
            </a:r>
            <a:r>
              <a:rPr lang="en-US" sz="1800" dirty="0" err="1">
                <a:solidFill>
                  <a:srgbClr val="080808"/>
                </a:solidFill>
                <a:latin typeface="JetBrains Mono" panose="02000009000000000000" pitchFamily="49" charset="0"/>
              </a:rPr>
              <a:t>.setMessage</a:t>
            </a:r>
            <a:r>
              <a:rPr lang="en-US" sz="1800" dirty="0">
                <a:solidFill>
                  <a:srgbClr val="080808"/>
                </a:solidFill>
                <a:latin typeface="JetBrains Mono" panose="02000009000000000000" pitchFamily="49" charset="0"/>
              </a:rPr>
              <a:t>(</a:t>
            </a:r>
            <a:r>
              <a:rPr lang="en-US" sz="1800" dirty="0">
                <a:solidFill>
                  <a:srgbClr val="067D17"/>
                </a:solidFill>
                <a:latin typeface="JetBrains Mono" panose="02000009000000000000" pitchFamily="49" charset="0"/>
              </a:rPr>
              <a:t>"Are you sure you want to Exit?"</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builder</a:t>
            </a:r>
            <a:r>
              <a:rPr lang="en-US" sz="1800" dirty="0" err="1">
                <a:solidFill>
                  <a:srgbClr val="080808"/>
                </a:solidFill>
                <a:latin typeface="JetBrains Mono" panose="02000009000000000000" pitchFamily="49" charset="0"/>
              </a:rPr>
              <a:t>.setPositiveButton</a:t>
            </a:r>
            <a:r>
              <a:rPr lang="en-US" sz="1800" dirty="0">
                <a:solidFill>
                  <a:srgbClr val="080808"/>
                </a:solidFill>
                <a:latin typeface="JetBrains Mono" panose="02000009000000000000" pitchFamily="49" charset="0"/>
              </a:rPr>
              <a:t>(</a:t>
            </a:r>
            <a:r>
              <a:rPr lang="en-US" sz="1800" dirty="0">
                <a:solidFill>
                  <a:srgbClr val="067D17"/>
                </a:solidFill>
                <a:latin typeface="JetBrains Mono" panose="02000009000000000000" pitchFamily="49" charset="0"/>
              </a:rPr>
              <a:t>"Yes"</a:t>
            </a:r>
            <a:r>
              <a:rPr lang="en-US" sz="1800" dirty="0">
                <a:solidFill>
                  <a:srgbClr val="080808"/>
                </a:solidFill>
                <a:latin typeface="JetBrains Mono" panose="02000009000000000000" pitchFamily="49" charset="0"/>
              </a:rPr>
              <a:t>, </a:t>
            </a:r>
            <a:r>
              <a:rPr lang="en-US" sz="1800" dirty="0">
                <a:solidFill>
                  <a:srgbClr val="0033B3"/>
                </a:solidFill>
                <a:latin typeface="JetBrains Mono" panose="02000009000000000000" pitchFamily="49" charset="0"/>
              </a:rPr>
              <a:t>new </a:t>
            </a:r>
            <a:r>
              <a:rPr lang="en-US" sz="1800" dirty="0" err="1">
                <a:latin typeface="JetBrains Mono" panose="02000009000000000000" pitchFamily="49" charset="0"/>
              </a:rPr>
              <a:t>DialogInterface</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OnClickListener</a:t>
            </a: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r>
              <a:rPr lang="en-US" sz="1800" dirty="0">
                <a:solidFill>
                  <a:srgbClr val="9E880D"/>
                </a:solidFill>
                <a:latin typeface="JetBrains Mono" panose="02000009000000000000" pitchFamily="49" charset="0"/>
              </a:rPr>
              <a:t>@Override</a:t>
            </a:r>
            <a:br>
              <a:rPr lang="en-US" sz="1800" dirty="0">
                <a:solidFill>
                  <a:srgbClr val="9E880D"/>
                </a:solidFill>
                <a:latin typeface="JetBrains Mono" panose="02000009000000000000" pitchFamily="49" charset="0"/>
              </a:rPr>
            </a:br>
            <a:r>
              <a:rPr lang="en-US" sz="1800" dirty="0">
                <a:solidFill>
                  <a:srgbClr val="9E880D"/>
                </a:solidFill>
                <a:latin typeface="JetBrains Mono" panose="02000009000000000000" pitchFamily="49" charset="0"/>
              </a:rPr>
              <a:t>    </a:t>
            </a:r>
            <a:r>
              <a:rPr lang="en-US" sz="1800" dirty="0">
                <a:solidFill>
                  <a:srgbClr val="0033B3"/>
                </a:solidFill>
                <a:latin typeface="JetBrains Mono" panose="02000009000000000000" pitchFamily="49" charset="0"/>
              </a:rPr>
              <a:t>public void </a:t>
            </a:r>
            <a:r>
              <a:rPr lang="en-US" sz="1800" dirty="0" err="1">
                <a:solidFill>
                  <a:srgbClr val="00627A"/>
                </a:solidFill>
                <a:latin typeface="JetBrains Mono" panose="02000009000000000000" pitchFamily="49" charset="0"/>
              </a:rPr>
              <a:t>onClick</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DialogInterface</a:t>
            </a:r>
            <a:r>
              <a:rPr lang="en-US" sz="1800" dirty="0">
                <a:latin typeface="JetBrains Mono" panose="02000009000000000000" pitchFamily="49" charset="0"/>
              </a:rPr>
              <a:t> </a:t>
            </a:r>
            <a:r>
              <a:rPr lang="en-US" sz="1800" dirty="0" err="1">
                <a:solidFill>
                  <a:srgbClr val="080808"/>
                </a:solidFill>
                <a:latin typeface="JetBrains Mono" panose="02000009000000000000" pitchFamily="49" charset="0"/>
              </a:rPr>
              <a:t>dialogInterface</a:t>
            </a:r>
            <a:r>
              <a:rPr lang="en-US" sz="1800" dirty="0">
                <a:solidFill>
                  <a:srgbClr val="080808"/>
                </a:solidFill>
                <a:latin typeface="JetBrains Mono" panose="02000009000000000000" pitchFamily="49" charset="0"/>
              </a:rPr>
              <a:t>, </a:t>
            </a:r>
            <a:r>
              <a:rPr lang="en-US" sz="1800" dirty="0" err="1">
                <a:solidFill>
                  <a:srgbClr val="0033B3"/>
                </a:solidFill>
                <a:latin typeface="JetBrains Mono" panose="02000009000000000000" pitchFamily="49" charset="0"/>
              </a:rPr>
              <a:t>int</a:t>
            </a:r>
            <a:r>
              <a:rPr lang="en-US" sz="1800" dirty="0">
                <a:solidFill>
                  <a:srgbClr val="0033B3"/>
                </a:solidFill>
                <a:latin typeface="JetBrains Mono" panose="02000009000000000000" pitchFamily="49" charset="0"/>
              </a:rPr>
              <a:t> </a:t>
            </a:r>
            <a:r>
              <a:rPr lang="en-US" sz="1800" dirty="0" err="1">
                <a:solidFill>
                  <a:srgbClr val="080808"/>
                </a:solidFill>
                <a:latin typeface="JetBrains Mono" panose="02000009000000000000" pitchFamily="49" charset="0"/>
              </a:rPr>
              <a:t>i</a:t>
            </a: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finish();</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builder</a:t>
            </a:r>
            <a:r>
              <a:rPr lang="en-US" sz="1800" dirty="0" err="1">
                <a:solidFill>
                  <a:srgbClr val="080808"/>
                </a:solidFill>
                <a:latin typeface="JetBrains Mono" panose="02000009000000000000" pitchFamily="49" charset="0"/>
              </a:rPr>
              <a:t>.setNegativeButton</a:t>
            </a:r>
            <a:r>
              <a:rPr lang="en-US" sz="1800" dirty="0">
                <a:solidFill>
                  <a:srgbClr val="080808"/>
                </a:solidFill>
                <a:latin typeface="JetBrains Mono" panose="02000009000000000000" pitchFamily="49" charset="0"/>
              </a:rPr>
              <a:t>(</a:t>
            </a:r>
            <a:r>
              <a:rPr lang="en-US" sz="1800" dirty="0">
                <a:solidFill>
                  <a:srgbClr val="067D17"/>
                </a:solidFill>
                <a:latin typeface="JetBrains Mono" panose="02000009000000000000" pitchFamily="49" charset="0"/>
              </a:rPr>
              <a:t>"No"</a:t>
            </a:r>
            <a:r>
              <a:rPr lang="en-US" sz="1800" dirty="0">
                <a:solidFill>
                  <a:srgbClr val="080808"/>
                </a:solidFill>
                <a:latin typeface="JetBrains Mono" panose="02000009000000000000" pitchFamily="49" charset="0"/>
              </a:rPr>
              <a:t>, </a:t>
            </a:r>
            <a:r>
              <a:rPr lang="en-US" sz="1800" dirty="0">
                <a:solidFill>
                  <a:srgbClr val="0033B3"/>
                </a:solidFill>
                <a:latin typeface="JetBrains Mono" panose="02000009000000000000" pitchFamily="49" charset="0"/>
              </a:rPr>
              <a:t>new </a:t>
            </a:r>
            <a:r>
              <a:rPr lang="en-US" sz="1800" dirty="0" err="1">
                <a:latin typeface="JetBrains Mono" panose="02000009000000000000" pitchFamily="49" charset="0"/>
              </a:rPr>
              <a:t>DialogInterface</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OnClickListener</a:t>
            </a: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r>
              <a:rPr lang="en-US" sz="1800" dirty="0">
                <a:solidFill>
                  <a:srgbClr val="9E880D"/>
                </a:solidFill>
                <a:latin typeface="JetBrains Mono" panose="02000009000000000000" pitchFamily="49" charset="0"/>
              </a:rPr>
              <a:t>@Override</a:t>
            </a:r>
            <a:br>
              <a:rPr lang="en-US" sz="1800" dirty="0">
                <a:solidFill>
                  <a:srgbClr val="9E880D"/>
                </a:solidFill>
                <a:latin typeface="JetBrains Mono" panose="02000009000000000000" pitchFamily="49" charset="0"/>
              </a:rPr>
            </a:br>
            <a:r>
              <a:rPr lang="en-US" sz="1800" dirty="0">
                <a:solidFill>
                  <a:srgbClr val="9E880D"/>
                </a:solidFill>
                <a:latin typeface="JetBrains Mono" panose="02000009000000000000" pitchFamily="49" charset="0"/>
              </a:rPr>
              <a:t>    </a:t>
            </a:r>
            <a:r>
              <a:rPr lang="en-US" sz="1800" dirty="0">
                <a:solidFill>
                  <a:srgbClr val="0033B3"/>
                </a:solidFill>
                <a:latin typeface="JetBrains Mono" panose="02000009000000000000" pitchFamily="49" charset="0"/>
              </a:rPr>
              <a:t>public void </a:t>
            </a:r>
            <a:r>
              <a:rPr lang="en-US" sz="1800" dirty="0" err="1">
                <a:solidFill>
                  <a:srgbClr val="00627A"/>
                </a:solidFill>
                <a:latin typeface="JetBrains Mono" panose="02000009000000000000" pitchFamily="49" charset="0"/>
              </a:rPr>
              <a:t>onClick</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DialogInterface</a:t>
            </a:r>
            <a:r>
              <a:rPr lang="en-US" sz="1800" dirty="0">
                <a:latin typeface="JetBrains Mono" panose="02000009000000000000" pitchFamily="49" charset="0"/>
              </a:rPr>
              <a:t> </a:t>
            </a:r>
            <a:r>
              <a:rPr lang="en-US" sz="1800" dirty="0" err="1">
                <a:solidFill>
                  <a:srgbClr val="080808"/>
                </a:solidFill>
                <a:latin typeface="JetBrains Mono" panose="02000009000000000000" pitchFamily="49" charset="0"/>
              </a:rPr>
              <a:t>dialogInterface</a:t>
            </a:r>
            <a:r>
              <a:rPr lang="en-US" sz="1800" dirty="0">
                <a:solidFill>
                  <a:srgbClr val="080808"/>
                </a:solidFill>
                <a:latin typeface="JetBrains Mono" panose="02000009000000000000" pitchFamily="49" charset="0"/>
              </a:rPr>
              <a:t>, </a:t>
            </a:r>
            <a:r>
              <a:rPr lang="en-US" sz="1800" dirty="0" err="1">
                <a:solidFill>
                  <a:srgbClr val="0033B3"/>
                </a:solidFill>
                <a:latin typeface="JetBrains Mono" panose="02000009000000000000" pitchFamily="49" charset="0"/>
              </a:rPr>
              <a:t>int</a:t>
            </a:r>
            <a:r>
              <a:rPr lang="en-US" sz="1800" dirty="0">
                <a:solidFill>
                  <a:srgbClr val="0033B3"/>
                </a:solidFill>
                <a:latin typeface="JetBrains Mono" panose="02000009000000000000" pitchFamily="49" charset="0"/>
              </a:rPr>
              <a:t> </a:t>
            </a:r>
            <a:r>
              <a:rPr lang="en-US" sz="1800" dirty="0" err="1">
                <a:solidFill>
                  <a:srgbClr val="080808"/>
                </a:solidFill>
                <a:latin typeface="JetBrains Mono" panose="02000009000000000000" pitchFamily="49" charset="0"/>
              </a:rPr>
              <a:t>i</a:t>
            </a: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r>
              <a:rPr lang="en-US" sz="1800" dirty="0" err="1">
                <a:solidFill>
                  <a:srgbClr val="080808"/>
                </a:solidFill>
                <a:latin typeface="JetBrains Mono" panose="02000009000000000000" pitchFamily="49" charset="0"/>
              </a:rPr>
              <a:t>dialogInterface.dismiss</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AlertDialog</a:t>
            </a:r>
            <a:r>
              <a:rPr lang="en-US" sz="1800" dirty="0">
                <a:latin typeface="JetBrains Mono" panose="02000009000000000000" pitchFamily="49" charset="0"/>
              </a:rPr>
              <a:t> dialog </a:t>
            </a:r>
            <a:r>
              <a:rPr lang="en-US" sz="1800" dirty="0">
                <a:solidFill>
                  <a:srgbClr val="080808"/>
                </a:solidFill>
                <a:latin typeface="JetBrains Mono" panose="02000009000000000000" pitchFamily="49" charset="0"/>
              </a:rPr>
              <a:t>= </a:t>
            </a:r>
            <a:r>
              <a:rPr lang="en-US" sz="1800" dirty="0" err="1">
                <a:latin typeface="JetBrains Mono" panose="02000009000000000000" pitchFamily="49" charset="0"/>
              </a:rPr>
              <a:t>builder</a:t>
            </a:r>
            <a:r>
              <a:rPr lang="en-US" sz="1800" dirty="0" err="1">
                <a:solidFill>
                  <a:srgbClr val="080808"/>
                </a:solidFill>
                <a:latin typeface="JetBrains Mono" panose="02000009000000000000" pitchFamily="49" charset="0"/>
              </a:rPr>
              <a:t>.create</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dialog</a:t>
            </a:r>
            <a:r>
              <a:rPr lang="en-US" sz="1800" dirty="0" err="1">
                <a:solidFill>
                  <a:srgbClr val="080808"/>
                </a:solidFill>
                <a:latin typeface="JetBrains Mono" panose="02000009000000000000" pitchFamily="49" charset="0"/>
              </a:rPr>
              <a:t>.show</a:t>
            </a:r>
            <a:r>
              <a:rPr lang="en-US" sz="1800" dirty="0">
                <a:solidFill>
                  <a:srgbClr val="080808"/>
                </a:solidFill>
                <a:latin typeface="JetBrains Mono" panose="02000009000000000000" pitchFamily="49" charset="0"/>
              </a:rPr>
              <a:t>();</a:t>
            </a:r>
          </a:p>
        </p:txBody>
      </p:sp>
    </p:spTree>
    <p:extLst>
      <p:ext uri="{BB962C8B-B14F-4D97-AF65-F5344CB8AC3E}">
        <p14:creationId xmlns:p14="http://schemas.microsoft.com/office/powerpoint/2010/main" val="22119232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1513542" y="1494643"/>
            <a:ext cx="7872142" cy="4404742"/>
          </a:xfrm>
          <a:prstGeom prst="rect">
            <a:avLst/>
          </a:prstGeom>
        </p:spPr>
      </p:pic>
      <p:sp>
        <p:nvSpPr>
          <p:cNvPr id="17" name="Content Placeholder 2">
            <a:extLst>
              <a:ext uri="{FF2B5EF4-FFF2-40B4-BE49-F238E27FC236}">
                <a16:creationId xmlns:a16="http://schemas.microsoft.com/office/drawing/2014/main" id="{E045A2E5-114E-F442-B6FE-B4925DE5F13F}"/>
              </a:ext>
            </a:extLst>
          </p:cNvPr>
          <p:cNvSpPr txBox="1">
            <a:spLocks/>
          </p:cNvSpPr>
          <p:nvPr/>
        </p:nvSpPr>
        <p:spPr>
          <a:xfrm>
            <a:off x="528207" y="861731"/>
            <a:ext cx="8763000" cy="515112"/>
          </a:xfrm>
          <a:prstGeom prst="rect">
            <a:avLst/>
          </a:prstGeom>
        </p:spPr>
        <p:txBody>
          <a:bodyPr vert="horz">
            <a:normAutofit fontScale="925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noProof="0" dirty="0" smtClean="0">
                <a:solidFill>
                  <a:sysClr val="windowText" lastClr="000000"/>
                </a:solidFill>
                <a:latin typeface="Georgia"/>
              </a:rPr>
              <a:t>Sometimes, we want to create a custom dialog for advanced target</a:t>
            </a:r>
            <a:endParaRPr kumimoji="0" lang="en-US" sz="2400" i="0" u="none" strike="noStrike" kern="1200" cap="none" spc="0" normalizeH="0" baseline="0" noProof="0" dirty="0">
              <a:ln>
                <a:noFill/>
              </a:ln>
              <a:solidFill>
                <a:sysClr val="windowText" lastClr="000000"/>
              </a:solidFill>
              <a:effectLst/>
              <a:uLnTx/>
              <a:uFillTx/>
              <a:latin typeface="Georgia"/>
            </a:endParaRPr>
          </a:p>
        </p:txBody>
      </p:sp>
    </p:spTree>
    <p:extLst>
      <p:ext uri="{BB962C8B-B14F-4D97-AF65-F5344CB8AC3E}">
        <p14:creationId xmlns:p14="http://schemas.microsoft.com/office/powerpoint/2010/main" val="6090625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3" name="Picture 2"/>
          <p:cNvPicPr>
            <a:picLocks noChangeAspect="1"/>
          </p:cNvPicPr>
          <p:nvPr/>
        </p:nvPicPr>
        <p:blipFill>
          <a:blip r:embed="rId3"/>
          <a:stretch>
            <a:fillRect/>
          </a:stretch>
        </p:blipFill>
        <p:spPr>
          <a:xfrm>
            <a:off x="1664741" y="1105439"/>
            <a:ext cx="7972830" cy="4908300"/>
          </a:xfrm>
          <a:prstGeom prst="rect">
            <a:avLst/>
          </a:prstGeom>
        </p:spPr>
      </p:pic>
    </p:spTree>
    <p:extLst>
      <p:ext uri="{BB962C8B-B14F-4D97-AF65-F5344CB8AC3E}">
        <p14:creationId xmlns:p14="http://schemas.microsoft.com/office/powerpoint/2010/main" val="38248511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1035479" y="974124"/>
            <a:ext cx="8959860" cy="5170930"/>
          </a:xfrm>
          <a:prstGeom prst="rect">
            <a:avLst/>
          </a:prstGeom>
        </p:spPr>
      </p:pic>
    </p:spTree>
    <p:extLst>
      <p:ext uri="{BB962C8B-B14F-4D97-AF65-F5344CB8AC3E}">
        <p14:creationId xmlns:p14="http://schemas.microsoft.com/office/powerpoint/2010/main" val="18562799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5249917" y="2085529"/>
            <a:ext cx="5654236" cy="1852543"/>
          </a:xfrm>
          <a:prstGeom prst="rect">
            <a:avLst/>
          </a:prstGeom>
        </p:spPr>
      </p:pic>
      <p:pic>
        <p:nvPicPr>
          <p:cNvPr id="4" name="Picture 3"/>
          <p:cNvPicPr>
            <a:picLocks noChangeAspect="1"/>
          </p:cNvPicPr>
          <p:nvPr/>
        </p:nvPicPr>
        <p:blipFill>
          <a:blip r:embed="rId4"/>
          <a:stretch>
            <a:fillRect/>
          </a:stretch>
        </p:blipFill>
        <p:spPr>
          <a:xfrm>
            <a:off x="944582" y="1037826"/>
            <a:ext cx="3642676" cy="4656223"/>
          </a:xfrm>
          <a:prstGeom prst="rect">
            <a:avLst/>
          </a:prstGeom>
        </p:spPr>
      </p:pic>
      <p:cxnSp>
        <p:nvCxnSpPr>
          <p:cNvPr id="6" name="Straight Arrow Connector 5"/>
          <p:cNvCxnSpPr>
            <a:endCxn id="4" idx="3"/>
          </p:cNvCxnSpPr>
          <p:nvPr/>
        </p:nvCxnSpPr>
        <p:spPr>
          <a:xfrm>
            <a:off x="2088931" y="3365937"/>
            <a:ext cx="2498327"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5510049" y="3784358"/>
            <a:ext cx="0" cy="4335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819697" y="3800124"/>
            <a:ext cx="0" cy="4335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2448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1641273" y="945787"/>
            <a:ext cx="7557907" cy="5431717"/>
          </a:xfrm>
          <a:prstGeom prst="rect">
            <a:avLst/>
          </a:prstGeom>
        </p:spPr>
      </p:pic>
      <p:cxnSp>
        <p:nvCxnSpPr>
          <p:cNvPr id="4" name="Straight Arrow Connector 3"/>
          <p:cNvCxnSpPr/>
          <p:nvPr/>
        </p:nvCxnSpPr>
        <p:spPr>
          <a:xfrm flipH="1">
            <a:off x="4611414" y="1734207"/>
            <a:ext cx="87498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211614" y="3531476"/>
            <a:ext cx="0" cy="4020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168548" y="5454869"/>
            <a:ext cx="503356" cy="788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420226" y="1734206"/>
            <a:ext cx="346841" cy="336474"/>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20" name="Oval 19"/>
          <p:cNvSpPr/>
          <p:nvPr/>
        </p:nvSpPr>
        <p:spPr>
          <a:xfrm>
            <a:off x="6211614" y="3493408"/>
            <a:ext cx="346841" cy="336474"/>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
        <p:nvSpPr>
          <p:cNvPr id="21" name="Oval 20"/>
          <p:cNvSpPr/>
          <p:nvPr/>
        </p:nvSpPr>
        <p:spPr>
          <a:xfrm>
            <a:off x="5168548" y="5042267"/>
            <a:ext cx="346841" cy="336474"/>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2436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2161540" y="980549"/>
            <a:ext cx="7049111" cy="4534293"/>
          </a:xfrm>
          <a:prstGeom prst="rect">
            <a:avLst/>
          </a:prstGeom>
        </p:spPr>
      </p:pic>
    </p:spTree>
    <p:extLst>
      <p:ext uri="{BB962C8B-B14F-4D97-AF65-F5344CB8AC3E}">
        <p14:creationId xmlns:p14="http://schemas.microsoft.com/office/powerpoint/2010/main" val="12961721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 name="Rectangle 1"/>
          <p:cNvSpPr/>
          <p:nvPr/>
        </p:nvSpPr>
        <p:spPr>
          <a:xfrm>
            <a:off x="291076" y="1365596"/>
            <a:ext cx="6411311" cy="3323987"/>
          </a:xfrm>
          <a:prstGeom prst="rect">
            <a:avLst/>
          </a:prstGeom>
        </p:spPr>
        <p:txBody>
          <a:bodyPr wrap="square">
            <a:spAutoFit/>
          </a:bodyPr>
          <a:lstStyle/>
          <a:p>
            <a:r>
              <a:rPr lang="en-US" i="1" dirty="0">
                <a:solidFill>
                  <a:srgbClr val="080808"/>
                </a:solidFill>
                <a:latin typeface="JetBrains Mono" panose="02000009000000000000" pitchFamily="49" charset="0"/>
              </a:rPr>
              <a:t>&lt;?</a:t>
            </a:r>
            <a:r>
              <a:rPr lang="en-US" dirty="0">
                <a:solidFill>
                  <a:srgbClr val="174AD4"/>
                </a:solidFill>
                <a:latin typeface="JetBrains Mono" panose="02000009000000000000" pitchFamily="49" charset="0"/>
              </a:rPr>
              <a:t>xml version</a:t>
            </a:r>
            <a:r>
              <a:rPr lang="en-US" dirty="0">
                <a:solidFill>
                  <a:srgbClr val="067D17"/>
                </a:solidFill>
                <a:latin typeface="JetBrains Mono" panose="02000009000000000000" pitchFamily="49" charset="0"/>
              </a:rPr>
              <a:t>="1.0" </a:t>
            </a:r>
            <a:r>
              <a:rPr lang="en-US" dirty="0">
                <a:solidFill>
                  <a:srgbClr val="174AD4"/>
                </a:solidFill>
                <a:latin typeface="JetBrains Mono" panose="02000009000000000000" pitchFamily="49" charset="0"/>
              </a:rPr>
              <a:t>encoding</a:t>
            </a:r>
            <a:r>
              <a:rPr lang="en-US" dirty="0">
                <a:solidFill>
                  <a:srgbClr val="067D17"/>
                </a:solidFill>
                <a:latin typeface="JetBrains Mono" panose="02000009000000000000" pitchFamily="49" charset="0"/>
              </a:rPr>
              <a:t>="utf-8"</a:t>
            </a:r>
            <a:r>
              <a:rPr lang="en-US" i="1" dirty="0">
                <a:solidFill>
                  <a:srgbClr val="080808"/>
                </a:solidFill>
                <a:latin typeface="JetBrains Mono" panose="02000009000000000000" pitchFamily="49" charset="0"/>
              </a:rPr>
              <a:t>?&gt;</a:t>
            </a:r>
            <a:br>
              <a:rPr lang="en-US" i="1"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&lt;</a:t>
            </a:r>
            <a:r>
              <a:rPr lang="en-US" dirty="0" err="1">
                <a:solidFill>
                  <a:srgbClr val="0033B3"/>
                </a:solidFill>
                <a:latin typeface="JetBrains Mono" panose="02000009000000000000" pitchFamily="49" charset="0"/>
              </a:rPr>
              <a:t>LinearLayout</a:t>
            </a:r>
            <a:r>
              <a:rPr lang="en-US" dirty="0">
                <a:solidFill>
                  <a:srgbClr val="0033B3"/>
                </a:solidFill>
                <a:latin typeface="JetBrains Mono" panose="02000009000000000000" pitchFamily="49" charset="0"/>
              </a:rPr>
              <a:t> </a:t>
            </a:r>
            <a:r>
              <a:rPr lang="en-US" dirty="0" err="1">
                <a:solidFill>
                  <a:srgbClr val="174AD4"/>
                </a:solidFill>
                <a:latin typeface="JetBrains Mono" panose="02000009000000000000" pitchFamily="49" charset="0"/>
              </a:rPr>
              <a:t>xmlns:</a:t>
            </a:r>
            <a:r>
              <a:rPr lang="en-US" dirty="0" err="1">
                <a:solidFill>
                  <a:srgbClr val="871094"/>
                </a:solidFill>
                <a:latin typeface="JetBrains Mono" panose="02000009000000000000" pitchFamily="49" charset="0"/>
              </a:rPr>
              <a:t>android</a:t>
            </a:r>
            <a:r>
              <a:rPr lang="en-US" dirty="0">
                <a:solidFill>
                  <a:srgbClr val="067D17"/>
                </a:solidFill>
                <a:latin typeface="JetBrains Mono" panose="02000009000000000000" pitchFamily="49" charset="0"/>
              </a:rPr>
              <a:t>="http://schemas.android.com/</a:t>
            </a:r>
            <a:r>
              <a:rPr lang="en-US" dirty="0" err="1">
                <a:solidFill>
                  <a:srgbClr val="067D17"/>
                </a:solidFill>
                <a:latin typeface="JetBrains Mono" panose="02000009000000000000" pitchFamily="49" charset="0"/>
              </a:rPr>
              <a:t>apk</a:t>
            </a:r>
            <a:r>
              <a:rPr lang="en-US" dirty="0">
                <a:solidFill>
                  <a:srgbClr val="067D17"/>
                </a:solidFill>
                <a:latin typeface="JetBrains Mono" panose="02000009000000000000" pitchFamily="49" charset="0"/>
              </a:rPr>
              <a:t>/res/android"</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174AD4"/>
                </a:solidFill>
                <a:latin typeface="JetBrains Mono" panose="02000009000000000000" pitchFamily="49" charset="0"/>
              </a:rPr>
              <a:t>xmlns:</a:t>
            </a:r>
            <a:r>
              <a:rPr lang="en-US" dirty="0" err="1">
                <a:solidFill>
                  <a:srgbClr val="871094"/>
                </a:solidFill>
                <a:latin typeface="JetBrains Mono" panose="02000009000000000000" pitchFamily="49" charset="0"/>
              </a:rPr>
              <a:t>app</a:t>
            </a:r>
            <a:r>
              <a:rPr lang="en-US" dirty="0">
                <a:solidFill>
                  <a:srgbClr val="067D17"/>
                </a:solidFill>
                <a:latin typeface="JetBrains Mono" panose="02000009000000000000" pitchFamily="49" charset="0"/>
              </a:rPr>
              <a:t>="http://schemas.android.com/</a:t>
            </a:r>
            <a:r>
              <a:rPr lang="en-US" dirty="0" err="1">
                <a:solidFill>
                  <a:srgbClr val="067D17"/>
                </a:solidFill>
                <a:latin typeface="JetBrains Mono" panose="02000009000000000000" pitchFamily="49" charset="0"/>
              </a:rPr>
              <a:t>apk</a:t>
            </a:r>
            <a:r>
              <a:rPr lang="en-US" dirty="0">
                <a:solidFill>
                  <a:srgbClr val="067D17"/>
                </a:solidFill>
                <a:latin typeface="JetBrains Mono" panose="02000009000000000000" pitchFamily="49" charset="0"/>
              </a:rPr>
              <a:t>/res-auto"</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:layout_width</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:layout_height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:orientation</a:t>
            </a:r>
            <a:r>
              <a:rPr lang="en-US" dirty="0">
                <a:solidFill>
                  <a:srgbClr val="067D17"/>
                </a:solidFill>
                <a:latin typeface="JetBrains Mono" panose="02000009000000000000" pitchFamily="49" charset="0"/>
              </a:rPr>
              <a:t>="vertical"</a:t>
            </a:r>
            <a:r>
              <a:rPr lang="en-US" dirty="0">
                <a:solidFill>
                  <a:srgbClr val="080808"/>
                </a:solidFill>
                <a:latin typeface="JetBrains Mono" panose="02000009000000000000" pitchFamily="49" charset="0"/>
              </a:rPr>
              <a:t>&gt;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&lt;</a:t>
            </a:r>
            <a:r>
              <a:rPr lang="en-US" dirty="0" err="1">
                <a:solidFill>
                  <a:srgbClr val="0033B3"/>
                </a:solidFill>
                <a:latin typeface="JetBrains Mono" panose="02000009000000000000" pitchFamily="49" charset="0"/>
              </a:rPr>
              <a:t>TextView</a:t>
            </a:r>
            <a:r>
              <a:rPr lang="en-US" dirty="0">
                <a:solidFill>
                  <a:srgbClr val="0033B3"/>
                </a:solidFill>
                <a:latin typeface="JetBrains Mono" panose="02000009000000000000" pitchFamily="49" charset="0"/>
              </a:rPr>
              <a:t/>
            </a:r>
            <a:br>
              <a:rPr lang="en-US" dirty="0">
                <a:solidFill>
                  <a:srgbClr val="0033B3"/>
                </a:solidFill>
                <a:latin typeface="JetBrains Mono" panose="02000009000000000000" pitchFamily="49" charset="0"/>
              </a:rPr>
            </a:br>
            <a:r>
              <a:rPr lang="en-US" dirty="0">
                <a:solidFill>
                  <a:srgbClr val="0033B3"/>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:id</a:t>
            </a:r>
            <a:r>
              <a:rPr lang="en-US" dirty="0">
                <a:solidFill>
                  <a:srgbClr val="067D17"/>
                </a:solidFill>
                <a:latin typeface="JetBrains Mono" panose="02000009000000000000" pitchFamily="49" charset="0"/>
              </a:rPr>
              <a:t>="@+id/</a:t>
            </a:r>
            <a:r>
              <a:rPr lang="en-US" dirty="0" err="1">
                <a:solidFill>
                  <a:srgbClr val="067D17"/>
                </a:solidFill>
                <a:latin typeface="JetBrains Mono" panose="02000009000000000000" pitchFamily="49" charset="0"/>
              </a:rPr>
              <a:t>textView</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:layout_width</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:layout_height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wrap_content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:text</a:t>
            </a:r>
            <a:r>
              <a:rPr lang="en-US" dirty="0">
                <a:solidFill>
                  <a:srgbClr val="067D17"/>
                </a:solidFill>
                <a:latin typeface="JetBrains Mono" panose="02000009000000000000" pitchFamily="49" charset="0"/>
              </a:rPr>
              <a:t>="Are you sure you want to Exit?"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:textColor</a:t>
            </a:r>
            <a:r>
              <a:rPr lang="en-US" dirty="0">
                <a:solidFill>
                  <a:srgbClr val="067D17"/>
                </a:solidFill>
                <a:latin typeface="JetBrains Mono" panose="02000009000000000000" pitchFamily="49" charset="0"/>
              </a:rPr>
              <a:t>="#E91E63"</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:textSize</a:t>
            </a:r>
            <a:r>
              <a:rPr lang="en-US" dirty="0">
                <a:solidFill>
                  <a:srgbClr val="067D17"/>
                </a:solidFill>
                <a:latin typeface="JetBrains Mono" panose="02000009000000000000" pitchFamily="49" charset="0"/>
              </a:rPr>
              <a:t>="34sp" </a:t>
            </a:r>
            <a:r>
              <a:rPr lang="en-US" dirty="0" smtClean="0">
                <a:solidFill>
                  <a:srgbClr val="080808"/>
                </a:solidFill>
                <a:latin typeface="JetBrains Mono" panose="02000009000000000000" pitchFamily="49" charset="0"/>
              </a:rPr>
              <a:t>/&gt;    </a:t>
            </a:r>
            <a:endParaRPr lang="en-US" dirty="0">
              <a:solidFill>
                <a:srgbClr val="080808"/>
              </a:solidFill>
              <a:effectLst/>
              <a:latin typeface="JetBrains Mono" panose="02000009000000000000" pitchFamily="49" charset="0"/>
            </a:endParaRPr>
          </a:p>
        </p:txBody>
      </p:sp>
      <p:sp>
        <p:nvSpPr>
          <p:cNvPr id="17" name="Rectangle 16"/>
          <p:cNvSpPr/>
          <p:nvPr/>
        </p:nvSpPr>
        <p:spPr>
          <a:xfrm>
            <a:off x="6424448" y="944764"/>
            <a:ext cx="5391807" cy="4616648"/>
          </a:xfrm>
          <a:prstGeom prst="rect">
            <a:avLst/>
          </a:prstGeom>
        </p:spPr>
        <p:txBody>
          <a:bodyPr wrap="square">
            <a:spAutoFit/>
          </a:bodyPr>
          <a:lstStyle/>
          <a:p>
            <a:r>
              <a:rPr lang="en-US" dirty="0" smtClean="0">
                <a:solidFill>
                  <a:srgbClr val="080808"/>
                </a:solidFill>
                <a:latin typeface="JetBrains Mono" panose="02000009000000000000" pitchFamily="49" charset="0"/>
              </a:rPr>
              <a:t>&lt;</a:t>
            </a:r>
            <a:r>
              <a:rPr lang="en-US" dirty="0" err="1">
                <a:solidFill>
                  <a:srgbClr val="0033B3"/>
                </a:solidFill>
                <a:latin typeface="JetBrains Mono" panose="02000009000000000000" pitchFamily="49" charset="0"/>
              </a:rPr>
              <a:t>LinearLayout</a:t>
            </a:r>
            <a:r>
              <a:rPr lang="en-US" dirty="0">
                <a:solidFill>
                  <a:srgbClr val="0033B3"/>
                </a:solidFill>
                <a:latin typeface="JetBrains Mono" panose="02000009000000000000" pitchFamily="49" charset="0"/>
              </a:rPr>
              <a:t/>
            </a:r>
            <a:br>
              <a:rPr lang="en-US" dirty="0">
                <a:solidFill>
                  <a:srgbClr val="0033B3"/>
                </a:solidFill>
                <a:latin typeface="JetBrains Mono" panose="02000009000000000000" pitchFamily="49" charset="0"/>
              </a:rPr>
            </a:br>
            <a:r>
              <a:rPr lang="en-US" dirty="0">
                <a:solidFill>
                  <a:srgbClr val="0033B3"/>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:layout_width</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:layout_height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:orientation</a:t>
            </a:r>
            <a:r>
              <a:rPr lang="en-US" dirty="0">
                <a:solidFill>
                  <a:srgbClr val="067D17"/>
                </a:solidFill>
                <a:latin typeface="JetBrains Mono" panose="02000009000000000000" pitchFamily="49" charset="0"/>
              </a:rPr>
              <a:t>="horizontal"</a:t>
            </a:r>
            <a:r>
              <a:rPr lang="en-US" dirty="0">
                <a:solidFill>
                  <a:srgbClr val="080808"/>
                </a:solidFill>
                <a:latin typeface="JetBrains Mono" panose="02000009000000000000" pitchFamily="49" charset="0"/>
              </a:rPr>
              <a:t>&gt;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&lt;</a:t>
            </a:r>
            <a:r>
              <a:rPr lang="en-US" dirty="0" err="1">
                <a:solidFill>
                  <a:srgbClr val="0033B3"/>
                </a:solidFill>
                <a:latin typeface="JetBrains Mono" panose="02000009000000000000" pitchFamily="49" charset="0"/>
              </a:rPr>
              <a:t>ImageView</a:t>
            </a:r>
            <a:r>
              <a:rPr lang="en-US" dirty="0">
                <a:solidFill>
                  <a:srgbClr val="0033B3"/>
                </a:solidFill>
                <a:latin typeface="JetBrains Mono" panose="02000009000000000000" pitchFamily="49" charset="0"/>
              </a:rPr>
              <a:t/>
            </a:r>
            <a:br>
              <a:rPr lang="en-US" dirty="0">
                <a:solidFill>
                  <a:srgbClr val="0033B3"/>
                </a:solidFill>
                <a:latin typeface="JetBrains Mono" panose="02000009000000000000" pitchFamily="49" charset="0"/>
              </a:rPr>
            </a:br>
            <a:r>
              <a:rPr lang="en-US" dirty="0">
                <a:solidFill>
                  <a:srgbClr val="0033B3"/>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:id</a:t>
            </a:r>
            <a:r>
              <a:rPr lang="en-US" dirty="0">
                <a:solidFill>
                  <a:srgbClr val="067D17"/>
                </a:solidFill>
                <a:latin typeface="JetBrains Mono" panose="02000009000000000000" pitchFamily="49" charset="0"/>
              </a:rPr>
              <a:t>="@+id/</a:t>
            </a:r>
            <a:r>
              <a:rPr lang="en-US" dirty="0" err="1">
                <a:solidFill>
                  <a:srgbClr val="067D17"/>
                </a:solidFill>
                <a:latin typeface="JetBrains Mono" panose="02000009000000000000" pitchFamily="49" charset="0"/>
              </a:rPr>
              <a:t>imgOK</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:layout_width</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wrap_content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:layout_height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wrap_content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:layout_weight</a:t>
            </a:r>
            <a:r>
              <a:rPr lang="en-US" dirty="0">
                <a:solidFill>
                  <a:srgbClr val="067D17"/>
                </a:solidFill>
                <a:latin typeface="JetBrains Mono" panose="02000009000000000000" pitchFamily="49" charset="0"/>
              </a:rPr>
              <a:t>="1"</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app</a:t>
            </a:r>
            <a:r>
              <a:rPr lang="en-US" dirty="0" err="1">
                <a:solidFill>
                  <a:srgbClr val="174AD4"/>
                </a:solidFill>
                <a:latin typeface="JetBrains Mono" panose="02000009000000000000" pitchFamily="49" charset="0"/>
              </a:rPr>
              <a:t>:srcCompat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mipmap</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ic_yes</a:t>
            </a:r>
            <a:r>
              <a:rPr lang="en-US" dirty="0">
                <a:solidFill>
                  <a:srgbClr val="067D17"/>
                </a:solidFill>
                <a:latin typeface="JetBrains Mono" panose="02000009000000000000" pitchFamily="49" charset="0"/>
              </a:rPr>
              <a:t>" </a:t>
            </a:r>
            <a:r>
              <a:rPr lang="en-US" dirty="0">
                <a:solidFill>
                  <a:srgbClr val="080808"/>
                </a:solidFill>
                <a:latin typeface="JetBrains Mono" panose="02000009000000000000" pitchFamily="49" charset="0"/>
              </a:rPr>
              <a:t>/&gt;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&lt;</a:t>
            </a:r>
            <a:r>
              <a:rPr lang="en-US" dirty="0" err="1">
                <a:solidFill>
                  <a:srgbClr val="0033B3"/>
                </a:solidFill>
                <a:latin typeface="JetBrains Mono" panose="02000009000000000000" pitchFamily="49" charset="0"/>
              </a:rPr>
              <a:t>ImageView</a:t>
            </a:r>
            <a:r>
              <a:rPr lang="en-US" dirty="0">
                <a:solidFill>
                  <a:srgbClr val="0033B3"/>
                </a:solidFill>
                <a:latin typeface="JetBrains Mono" panose="02000009000000000000" pitchFamily="49" charset="0"/>
              </a:rPr>
              <a:t/>
            </a:r>
            <a:br>
              <a:rPr lang="en-US" dirty="0">
                <a:solidFill>
                  <a:srgbClr val="0033B3"/>
                </a:solidFill>
                <a:latin typeface="JetBrains Mono" panose="02000009000000000000" pitchFamily="49" charset="0"/>
              </a:rPr>
            </a:br>
            <a:r>
              <a:rPr lang="en-US" dirty="0">
                <a:solidFill>
                  <a:srgbClr val="0033B3"/>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:id</a:t>
            </a:r>
            <a:r>
              <a:rPr lang="en-US" dirty="0">
                <a:solidFill>
                  <a:srgbClr val="067D17"/>
                </a:solidFill>
                <a:latin typeface="JetBrains Mono" panose="02000009000000000000" pitchFamily="49" charset="0"/>
              </a:rPr>
              <a:t>="@+id/</a:t>
            </a:r>
            <a:r>
              <a:rPr lang="en-US" dirty="0" err="1">
                <a:solidFill>
                  <a:srgbClr val="067D17"/>
                </a:solidFill>
                <a:latin typeface="JetBrains Mono" panose="02000009000000000000" pitchFamily="49" charset="0"/>
              </a:rPr>
              <a:t>imgCancel</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:layout_width</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wrap_content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:layout_height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wrap_content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:layout_weight</a:t>
            </a:r>
            <a:r>
              <a:rPr lang="en-US" dirty="0">
                <a:solidFill>
                  <a:srgbClr val="067D17"/>
                </a:solidFill>
                <a:latin typeface="JetBrains Mono" panose="02000009000000000000" pitchFamily="49" charset="0"/>
              </a:rPr>
              <a:t>="1"</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app</a:t>
            </a:r>
            <a:r>
              <a:rPr lang="en-US" dirty="0" err="1">
                <a:solidFill>
                  <a:srgbClr val="174AD4"/>
                </a:solidFill>
                <a:latin typeface="JetBrains Mono" panose="02000009000000000000" pitchFamily="49" charset="0"/>
              </a:rPr>
              <a:t>:srcCompat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mipmap</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ic_cancel</a:t>
            </a:r>
            <a:r>
              <a:rPr lang="en-US" dirty="0">
                <a:solidFill>
                  <a:srgbClr val="067D17"/>
                </a:solidFill>
                <a:latin typeface="JetBrains Mono" panose="02000009000000000000" pitchFamily="49" charset="0"/>
              </a:rPr>
              <a:t>" </a:t>
            </a:r>
            <a:r>
              <a:rPr lang="en-US" dirty="0">
                <a:solidFill>
                  <a:srgbClr val="080808"/>
                </a:solidFill>
                <a:latin typeface="JetBrains Mono" panose="02000009000000000000" pitchFamily="49" charset="0"/>
              </a:rPr>
              <a:t>/&gt;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&lt;/</a:t>
            </a:r>
            <a:r>
              <a:rPr lang="en-US" dirty="0" err="1">
                <a:solidFill>
                  <a:srgbClr val="0033B3"/>
                </a:solidFill>
                <a:latin typeface="JetBrains Mono" panose="02000009000000000000" pitchFamily="49" charset="0"/>
              </a:rPr>
              <a:t>LinearLayout</a:t>
            </a:r>
            <a:r>
              <a:rPr lang="en-US" dirty="0">
                <a:solidFill>
                  <a:srgbClr val="080808"/>
                </a:solidFill>
                <a:latin typeface="JetBrains Mono" panose="02000009000000000000" pitchFamily="49" charset="0"/>
              </a:rPr>
              <a:t>&gt;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&lt;/</a:t>
            </a:r>
            <a:r>
              <a:rPr lang="en-US" dirty="0" err="1">
                <a:solidFill>
                  <a:srgbClr val="0033B3"/>
                </a:solidFill>
                <a:latin typeface="JetBrains Mono" panose="02000009000000000000" pitchFamily="49" charset="0"/>
              </a:rPr>
              <a:t>LinearLayout</a:t>
            </a:r>
            <a:r>
              <a:rPr lang="en-US" dirty="0">
                <a:solidFill>
                  <a:srgbClr val="080808"/>
                </a:solidFill>
                <a:latin typeface="JetBrains Mono" panose="02000009000000000000" pitchFamily="49" charset="0"/>
              </a:rPr>
              <a:t>&gt;</a:t>
            </a:r>
            <a:endParaRPr lang="en-US" dirty="0">
              <a:solidFill>
                <a:srgbClr val="080808"/>
              </a:solidFill>
              <a:effectLst/>
              <a:latin typeface="JetBrains Mono" panose="02000009000000000000" pitchFamily="49" charset="0"/>
            </a:endParaRPr>
          </a:p>
        </p:txBody>
      </p:sp>
    </p:spTree>
    <p:extLst>
      <p:ext uri="{BB962C8B-B14F-4D97-AF65-F5344CB8AC3E}">
        <p14:creationId xmlns:p14="http://schemas.microsoft.com/office/powerpoint/2010/main" val="32404108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2065221"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Way 1:</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sp>
        <p:nvSpPr>
          <p:cNvPr id="4" name="Rectangle 3"/>
          <p:cNvSpPr/>
          <p:nvPr/>
        </p:nvSpPr>
        <p:spPr>
          <a:xfrm>
            <a:off x="2496206" y="1072290"/>
            <a:ext cx="9028387" cy="5078313"/>
          </a:xfrm>
          <a:prstGeom prst="rect">
            <a:avLst/>
          </a:prstGeom>
        </p:spPr>
        <p:txBody>
          <a:bodyPr wrap="square">
            <a:spAutoFit/>
          </a:bodyPr>
          <a:lstStyle/>
          <a:p>
            <a:r>
              <a:rPr lang="en-US" sz="1800" dirty="0">
                <a:latin typeface="JetBrains Mono" panose="02000009000000000000" pitchFamily="49" charset="0"/>
              </a:rPr>
              <a:t>Dialog </a:t>
            </a:r>
            <a:r>
              <a:rPr lang="en-US" sz="1800" dirty="0" err="1">
                <a:latin typeface="JetBrains Mono" panose="02000009000000000000" pitchFamily="49" charset="0"/>
              </a:rPr>
              <a:t>dialog</a:t>
            </a:r>
            <a:r>
              <a:rPr lang="en-US" sz="1800" dirty="0">
                <a:latin typeface="JetBrains Mono" panose="02000009000000000000" pitchFamily="49" charset="0"/>
              </a:rPr>
              <a:t> </a:t>
            </a:r>
            <a:r>
              <a:rPr lang="en-US" sz="1800" dirty="0">
                <a:solidFill>
                  <a:srgbClr val="080808"/>
                </a:solidFill>
                <a:latin typeface="JetBrains Mono" panose="02000009000000000000" pitchFamily="49" charset="0"/>
              </a:rPr>
              <a:t>= </a:t>
            </a:r>
            <a:r>
              <a:rPr lang="en-US" sz="1800" dirty="0">
                <a:solidFill>
                  <a:srgbClr val="0033B3"/>
                </a:solidFill>
                <a:latin typeface="JetBrains Mono" panose="02000009000000000000" pitchFamily="49" charset="0"/>
              </a:rPr>
              <a:t>new </a:t>
            </a:r>
            <a:r>
              <a:rPr lang="en-US" sz="1800" dirty="0">
                <a:solidFill>
                  <a:srgbClr val="080808"/>
                </a:solidFill>
                <a:latin typeface="JetBrains Mono" panose="02000009000000000000" pitchFamily="49" charset="0"/>
              </a:rPr>
              <a:t>Dialog(</a:t>
            </a:r>
            <a:r>
              <a:rPr lang="en-US" sz="1800" dirty="0" err="1">
                <a:latin typeface="JetBrains Mono" panose="02000009000000000000" pitchFamily="49" charset="0"/>
              </a:rPr>
              <a:t>MainActivity</a:t>
            </a:r>
            <a:r>
              <a:rPr lang="en-US" sz="1800" dirty="0" err="1">
                <a:solidFill>
                  <a:srgbClr val="080808"/>
                </a:solidFill>
                <a:latin typeface="JetBrains Mono" panose="02000009000000000000" pitchFamily="49" charset="0"/>
              </a:rPr>
              <a:t>.</a:t>
            </a:r>
            <a:r>
              <a:rPr lang="en-US" sz="1800" dirty="0" err="1">
                <a:solidFill>
                  <a:srgbClr val="0033B3"/>
                </a:solidFill>
                <a:latin typeface="JetBrains Mono" panose="02000009000000000000" pitchFamily="49" charset="0"/>
              </a:rPr>
              <a:t>this</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dialog</a:t>
            </a:r>
            <a:r>
              <a:rPr lang="en-US" sz="1800" dirty="0" err="1">
                <a:solidFill>
                  <a:srgbClr val="080808"/>
                </a:solidFill>
                <a:latin typeface="JetBrains Mono" panose="02000009000000000000" pitchFamily="49" charset="0"/>
              </a:rPr>
              <a:t>.setContentView</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R</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layout</a:t>
            </a:r>
            <a:r>
              <a:rPr lang="en-US" sz="1800" dirty="0" err="1">
                <a:solidFill>
                  <a:srgbClr val="080808"/>
                </a:solidFill>
                <a:latin typeface="JetBrains Mono" panose="02000009000000000000" pitchFamily="49" charset="0"/>
              </a:rPr>
              <a:t>.</a:t>
            </a:r>
            <a:r>
              <a:rPr lang="en-US" sz="1800" i="1" dirty="0" err="1">
                <a:solidFill>
                  <a:srgbClr val="871094"/>
                </a:solidFill>
                <a:latin typeface="JetBrains Mono" panose="02000009000000000000" pitchFamily="49" charset="0"/>
              </a:rPr>
              <a:t>custom_dialog</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dialog</a:t>
            </a:r>
            <a:r>
              <a:rPr lang="en-US" sz="1800" dirty="0" err="1">
                <a:solidFill>
                  <a:srgbClr val="080808"/>
                </a:solidFill>
                <a:latin typeface="JetBrains Mono" panose="02000009000000000000" pitchFamily="49" charset="0"/>
              </a:rPr>
              <a:t>.setCanceledOnTouchOutside</a:t>
            </a:r>
            <a:r>
              <a:rPr lang="en-US" sz="1800" dirty="0">
                <a:solidFill>
                  <a:srgbClr val="080808"/>
                </a:solidFill>
                <a:latin typeface="JetBrains Mono" panose="02000009000000000000" pitchFamily="49" charset="0"/>
              </a:rPr>
              <a:t>(</a:t>
            </a:r>
            <a:r>
              <a:rPr lang="en-US" sz="1800" dirty="0">
                <a:solidFill>
                  <a:srgbClr val="0033B3"/>
                </a:solidFill>
                <a:latin typeface="JetBrains Mono" panose="02000009000000000000" pitchFamily="49" charset="0"/>
              </a:rPr>
              <a:t>false</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ImageView</a:t>
            </a:r>
            <a:r>
              <a:rPr lang="en-US" sz="1800" dirty="0">
                <a:latin typeface="JetBrains Mono" panose="02000009000000000000" pitchFamily="49" charset="0"/>
              </a:rPr>
              <a:t> </a:t>
            </a:r>
            <a:r>
              <a:rPr lang="en-US" sz="1800" dirty="0" err="1">
                <a:latin typeface="JetBrains Mono" panose="02000009000000000000" pitchFamily="49" charset="0"/>
              </a:rPr>
              <a:t>imgOk</a:t>
            </a:r>
            <a:r>
              <a:rPr lang="en-US" sz="1800" dirty="0">
                <a:latin typeface="JetBrains Mono" panose="02000009000000000000" pitchFamily="49" charset="0"/>
              </a:rPr>
              <a:t> </a:t>
            </a:r>
            <a:r>
              <a:rPr lang="en-US" sz="1800" dirty="0">
                <a:solidFill>
                  <a:srgbClr val="080808"/>
                </a:solidFill>
                <a:latin typeface="JetBrains Mono" panose="02000009000000000000" pitchFamily="49" charset="0"/>
              </a:rPr>
              <a:t>= </a:t>
            </a:r>
            <a:r>
              <a:rPr lang="en-US" sz="1800" dirty="0" err="1">
                <a:latin typeface="JetBrains Mono" panose="02000009000000000000" pitchFamily="49" charset="0"/>
              </a:rPr>
              <a:t>dialog</a:t>
            </a:r>
            <a:r>
              <a:rPr lang="en-US" sz="1800" dirty="0" err="1">
                <a:solidFill>
                  <a:srgbClr val="080808"/>
                </a:solidFill>
                <a:latin typeface="JetBrains Mono" panose="02000009000000000000" pitchFamily="49" charset="0"/>
              </a:rPr>
              <a:t>.findViewById</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R</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id</a:t>
            </a:r>
            <a:r>
              <a:rPr lang="en-US" sz="1800" dirty="0" err="1">
                <a:solidFill>
                  <a:srgbClr val="080808"/>
                </a:solidFill>
                <a:latin typeface="JetBrains Mono" panose="02000009000000000000" pitchFamily="49" charset="0"/>
              </a:rPr>
              <a:t>.</a:t>
            </a:r>
            <a:r>
              <a:rPr lang="en-US" sz="1800" i="1" dirty="0" err="1">
                <a:solidFill>
                  <a:srgbClr val="871094"/>
                </a:solidFill>
                <a:latin typeface="JetBrains Mono" panose="02000009000000000000" pitchFamily="49" charset="0"/>
              </a:rPr>
              <a:t>imgOK</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imgOk</a:t>
            </a:r>
            <a:r>
              <a:rPr lang="en-US" sz="1800" dirty="0" err="1">
                <a:solidFill>
                  <a:srgbClr val="080808"/>
                </a:solidFill>
                <a:latin typeface="JetBrains Mono" panose="02000009000000000000" pitchFamily="49" charset="0"/>
              </a:rPr>
              <a:t>.setOnClickListener</a:t>
            </a:r>
            <a:r>
              <a:rPr lang="en-US" sz="1800" dirty="0">
                <a:solidFill>
                  <a:srgbClr val="080808"/>
                </a:solidFill>
                <a:latin typeface="JetBrains Mono" panose="02000009000000000000" pitchFamily="49" charset="0"/>
              </a:rPr>
              <a:t>(</a:t>
            </a:r>
            <a:r>
              <a:rPr lang="en-US" sz="1800" dirty="0">
                <a:solidFill>
                  <a:srgbClr val="0033B3"/>
                </a:solidFill>
                <a:latin typeface="JetBrains Mono" panose="02000009000000000000" pitchFamily="49" charset="0"/>
              </a:rPr>
              <a:t>new </a:t>
            </a:r>
            <a:r>
              <a:rPr lang="en-US" sz="1800" dirty="0" err="1">
                <a:latin typeface="JetBrains Mono" panose="02000009000000000000" pitchFamily="49" charset="0"/>
              </a:rPr>
              <a:t>View</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OnClickListener</a:t>
            </a: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r>
              <a:rPr lang="en-US" sz="1800" dirty="0">
                <a:solidFill>
                  <a:srgbClr val="9E880D"/>
                </a:solidFill>
                <a:latin typeface="JetBrains Mono" panose="02000009000000000000" pitchFamily="49" charset="0"/>
              </a:rPr>
              <a:t>@Override</a:t>
            </a:r>
            <a:br>
              <a:rPr lang="en-US" sz="1800" dirty="0">
                <a:solidFill>
                  <a:srgbClr val="9E880D"/>
                </a:solidFill>
                <a:latin typeface="JetBrains Mono" panose="02000009000000000000" pitchFamily="49" charset="0"/>
              </a:rPr>
            </a:br>
            <a:r>
              <a:rPr lang="en-US" sz="1800" dirty="0">
                <a:solidFill>
                  <a:srgbClr val="9E880D"/>
                </a:solidFill>
                <a:latin typeface="JetBrains Mono" panose="02000009000000000000" pitchFamily="49" charset="0"/>
              </a:rPr>
              <a:t>    </a:t>
            </a:r>
            <a:r>
              <a:rPr lang="en-US" sz="1800" dirty="0">
                <a:solidFill>
                  <a:srgbClr val="0033B3"/>
                </a:solidFill>
                <a:latin typeface="JetBrains Mono" panose="02000009000000000000" pitchFamily="49" charset="0"/>
              </a:rPr>
              <a:t>public void </a:t>
            </a:r>
            <a:r>
              <a:rPr lang="en-US" sz="1800" dirty="0" err="1">
                <a:solidFill>
                  <a:srgbClr val="00627A"/>
                </a:solidFill>
                <a:latin typeface="JetBrains Mono" panose="02000009000000000000" pitchFamily="49" charset="0"/>
              </a:rPr>
              <a:t>onClick</a:t>
            </a:r>
            <a:r>
              <a:rPr lang="en-US" sz="1800" dirty="0">
                <a:solidFill>
                  <a:srgbClr val="080808"/>
                </a:solidFill>
                <a:latin typeface="JetBrains Mono" panose="02000009000000000000" pitchFamily="49" charset="0"/>
              </a:rPr>
              <a:t>(</a:t>
            </a:r>
            <a:r>
              <a:rPr lang="en-US" sz="1800" dirty="0">
                <a:latin typeface="JetBrains Mono" panose="02000009000000000000" pitchFamily="49" charset="0"/>
              </a:rPr>
              <a:t>View </a:t>
            </a:r>
            <a:r>
              <a:rPr lang="en-US" sz="1800" dirty="0">
                <a:solidFill>
                  <a:srgbClr val="080808"/>
                </a:solidFill>
                <a:latin typeface="JetBrains Mono" panose="02000009000000000000" pitchFamily="49" charset="0"/>
              </a:rPr>
              <a:t>view)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finish();</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ImageView</a:t>
            </a:r>
            <a:r>
              <a:rPr lang="en-US" sz="1800" dirty="0">
                <a:latin typeface="JetBrains Mono" panose="02000009000000000000" pitchFamily="49" charset="0"/>
              </a:rPr>
              <a:t> </a:t>
            </a:r>
            <a:r>
              <a:rPr lang="en-US" sz="1800" dirty="0" err="1">
                <a:latin typeface="JetBrains Mono" panose="02000009000000000000" pitchFamily="49" charset="0"/>
              </a:rPr>
              <a:t>imgCancel</a:t>
            </a:r>
            <a:r>
              <a:rPr lang="en-US" sz="1800" dirty="0">
                <a:latin typeface="JetBrains Mono" panose="02000009000000000000" pitchFamily="49" charset="0"/>
              </a:rPr>
              <a:t> </a:t>
            </a:r>
            <a:r>
              <a:rPr lang="en-US" sz="1800" dirty="0">
                <a:solidFill>
                  <a:srgbClr val="080808"/>
                </a:solidFill>
                <a:latin typeface="JetBrains Mono" panose="02000009000000000000" pitchFamily="49" charset="0"/>
              </a:rPr>
              <a:t>= </a:t>
            </a:r>
            <a:r>
              <a:rPr lang="en-US" sz="1800" dirty="0" err="1">
                <a:latin typeface="JetBrains Mono" panose="02000009000000000000" pitchFamily="49" charset="0"/>
              </a:rPr>
              <a:t>dialog</a:t>
            </a:r>
            <a:r>
              <a:rPr lang="en-US" sz="1800" dirty="0" err="1">
                <a:solidFill>
                  <a:srgbClr val="080808"/>
                </a:solidFill>
                <a:latin typeface="JetBrains Mono" panose="02000009000000000000" pitchFamily="49" charset="0"/>
              </a:rPr>
              <a:t>.findViewById</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R</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id</a:t>
            </a:r>
            <a:r>
              <a:rPr lang="en-US" sz="1800" dirty="0" err="1">
                <a:solidFill>
                  <a:srgbClr val="080808"/>
                </a:solidFill>
                <a:latin typeface="JetBrains Mono" panose="02000009000000000000" pitchFamily="49" charset="0"/>
              </a:rPr>
              <a:t>.</a:t>
            </a:r>
            <a:r>
              <a:rPr lang="en-US" sz="1800" i="1" dirty="0" err="1">
                <a:solidFill>
                  <a:srgbClr val="871094"/>
                </a:solidFill>
                <a:latin typeface="JetBrains Mono" panose="02000009000000000000" pitchFamily="49" charset="0"/>
              </a:rPr>
              <a:t>imgCancel</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imgCancel</a:t>
            </a:r>
            <a:r>
              <a:rPr lang="en-US" sz="1800" dirty="0" err="1">
                <a:solidFill>
                  <a:srgbClr val="080808"/>
                </a:solidFill>
                <a:latin typeface="JetBrains Mono" panose="02000009000000000000" pitchFamily="49" charset="0"/>
              </a:rPr>
              <a:t>.setOnClickListener</a:t>
            </a:r>
            <a:r>
              <a:rPr lang="en-US" sz="1800" dirty="0">
                <a:solidFill>
                  <a:srgbClr val="080808"/>
                </a:solidFill>
                <a:latin typeface="JetBrains Mono" panose="02000009000000000000" pitchFamily="49" charset="0"/>
              </a:rPr>
              <a:t>(</a:t>
            </a:r>
            <a:r>
              <a:rPr lang="en-US" sz="1800" dirty="0">
                <a:solidFill>
                  <a:srgbClr val="0033B3"/>
                </a:solidFill>
                <a:latin typeface="JetBrains Mono" panose="02000009000000000000" pitchFamily="49" charset="0"/>
              </a:rPr>
              <a:t>new </a:t>
            </a:r>
            <a:r>
              <a:rPr lang="en-US" sz="1800" dirty="0" err="1">
                <a:latin typeface="JetBrains Mono" panose="02000009000000000000" pitchFamily="49" charset="0"/>
              </a:rPr>
              <a:t>View</a:t>
            </a:r>
            <a:r>
              <a:rPr lang="en-US" sz="1800" dirty="0" err="1">
                <a:solidFill>
                  <a:srgbClr val="080808"/>
                </a:solidFill>
                <a:latin typeface="JetBrains Mono" panose="02000009000000000000" pitchFamily="49" charset="0"/>
              </a:rPr>
              <a:t>.</a:t>
            </a:r>
            <a:r>
              <a:rPr lang="en-US" sz="1800" dirty="0" err="1">
                <a:latin typeface="JetBrains Mono" panose="02000009000000000000" pitchFamily="49" charset="0"/>
              </a:rPr>
              <a:t>OnClickListener</a:t>
            </a: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r>
              <a:rPr lang="en-US" sz="1800" dirty="0">
                <a:solidFill>
                  <a:srgbClr val="9E880D"/>
                </a:solidFill>
                <a:latin typeface="JetBrains Mono" panose="02000009000000000000" pitchFamily="49" charset="0"/>
              </a:rPr>
              <a:t>@Override</a:t>
            </a:r>
            <a:br>
              <a:rPr lang="en-US" sz="1800" dirty="0">
                <a:solidFill>
                  <a:srgbClr val="9E880D"/>
                </a:solidFill>
                <a:latin typeface="JetBrains Mono" panose="02000009000000000000" pitchFamily="49" charset="0"/>
              </a:rPr>
            </a:br>
            <a:r>
              <a:rPr lang="en-US" sz="1800" dirty="0">
                <a:solidFill>
                  <a:srgbClr val="9E880D"/>
                </a:solidFill>
                <a:latin typeface="JetBrains Mono" panose="02000009000000000000" pitchFamily="49" charset="0"/>
              </a:rPr>
              <a:t>    </a:t>
            </a:r>
            <a:r>
              <a:rPr lang="en-US" sz="1800" dirty="0">
                <a:solidFill>
                  <a:srgbClr val="0033B3"/>
                </a:solidFill>
                <a:latin typeface="JetBrains Mono" panose="02000009000000000000" pitchFamily="49" charset="0"/>
              </a:rPr>
              <a:t>public void </a:t>
            </a:r>
            <a:r>
              <a:rPr lang="en-US" sz="1800" dirty="0" err="1">
                <a:solidFill>
                  <a:srgbClr val="00627A"/>
                </a:solidFill>
                <a:latin typeface="JetBrains Mono" panose="02000009000000000000" pitchFamily="49" charset="0"/>
              </a:rPr>
              <a:t>onClick</a:t>
            </a:r>
            <a:r>
              <a:rPr lang="en-US" sz="1800" dirty="0">
                <a:solidFill>
                  <a:srgbClr val="080808"/>
                </a:solidFill>
                <a:latin typeface="JetBrains Mono" panose="02000009000000000000" pitchFamily="49" charset="0"/>
              </a:rPr>
              <a:t>(</a:t>
            </a:r>
            <a:r>
              <a:rPr lang="en-US" sz="1800" dirty="0">
                <a:latin typeface="JetBrains Mono" panose="02000009000000000000" pitchFamily="49" charset="0"/>
              </a:rPr>
              <a:t>View </a:t>
            </a:r>
            <a:r>
              <a:rPr lang="en-US" sz="1800" dirty="0">
                <a:solidFill>
                  <a:srgbClr val="080808"/>
                </a:solidFill>
                <a:latin typeface="JetBrains Mono" panose="02000009000000000000" pitchFamily="49" charset="0"/>
              </a:rPr>
              <a:t>view)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r>
              <a:rPr lang="en-US" sz="1800" dirty="0" err="1">
                <a:solidFill>
                  <a:srgbClr val="851691"/>
                </a:solidFill>
                <a:latin typeface="JetBrains Mono" panose="02000009000000000000" pitchFamily="49" charset="0"/>
              </a:rPr>
              <a:t>dialog</a:t>
            </a:r>
            <a:r>
              <a:rPr lang="en-US" sz="1800" dirty="0" err="1">
                <a:solidFill>
                  <a:srgbClr val="080808"/>
                </a:solidFill>
                <a:latin typeface="JetBrains Mono" panose="02000009000000000000" pitchFamily="49" charset="0"/>
              </a:rPr>
              <a:t>.dismiss</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    }</a:t>
            </a:r>
            <a:br>
              <a:rPr lang="en-US" sz="1800" dirty="0">
                <a:solidFill>
                  <a:srgbClr val="080808"/>
                </a:solidFill>
                <a:latin typeface="JetBrains Mono" panose="02000009000000000000" pitchFamily="49" charset="0"/>
              </a:rPr>
            </a:b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dialog</a:t>
            </a:r>
            <a:r>
              <a:rPr lang="en-US" sz="1800" dirty="0" err="1">
                <a:solidFill>
                  <a:srgbClr val="080808"/>
                </a:solidFill>
                <a:latin typeface="JetBrains Mono" panose="02000009000000000000" pitchFamily="49" charset="0"/>
              </a:rPr>
              <a:t>.show</a:t>
            </a:r>
            <a:r>
              <a:rPr lang="en-US" sz="1800" dirty="0">
                <a:solidFill>
                  <a:srgbClr val="080808"/>
                </a:solidFill>
                <a:latin typeface="JetBrains Mono" panose="02000009000000000000" pitchFamily="49" charset="0"/>
              </a:rPr>
              <a:t>();</a:t>
            </a:r>
          </a:p>
        </p:txBody>
      </p:sp>
    </p:spTree>
    <p:extLst>
      <p:ext uri="{BB962C8B-B14F-4D97-AF65-F5344CB8AC3E}">
        <p14:creationId xmlns:p14="http://schemas.microsoft.com/office/powerpoint/2010/main" val="30205198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2065221"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Way 2:</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pic>
        <p:nvPicPr>
          <p:cNvPr id="2" name="Picture 1"/>
          <p:cNvPicPr>
            <a:picLocks noChangeAspect="1"/>
          </p:cNvPicPr>
          <p:nvPr/>
        </p:nvPicPr>
        <p:blipFill>
          <a:blip r:embed="rId3"/>
          <a:stretch>
            <a:fillRect/>
          </a:stretch>
        </p:blipFill>
        <p:spPr>
          <a:xfrm>
            <a:off x="1009024" y="1591076"/>
            <a:ext cx="8596105" cy="2705334"/>
          </a:xfrm>
          <a:prstGeom prst="rect">
            <a:avLst/>
          </a:prstGeom>
        </p:spPr>
      </p:pic>
      <p:pic>
        <p:nvPicPr>
          <p:cNvPr id="3" name="Picture 2"/>
          <p:cNvPicPr>
            <a:picLocks noChangeAspect="1"/>
          </p:cNvPicPr>
          <p:nvPr/>
        </p:nvPicPr>
        <p:blipFill>
          <a:blip r:embed="rId4"/>
          <a:stretch>
            <a:fillRect/>
          </a:stretch>
        </p:blipFill>
        <p:spPr>
          <a:xfrm>
            <a:off x="6736198" y="4668990"/>
            <a:ext cx="3307367" cy="1760373"/>
          </a:xfrm>
          <a:prstGeom prst="rect">
            <a:avLst/>
          </a:prstGeom>
        </p:spPr>
      </p:pic>
      <p:cxnSp>
        <p:nvCxnSpPr>
          <p:cNvPr id="6" name="Straight Arrow Connector 5"/>
          <p:cNvCxnSpPr/>
          <p:nvPr/>
        </p:nvCxnSpPr>
        <p:spPr>
          <a:xfrm>
            <a:off x="8915400" y="3389586"/>
            <a:ext cx="0" cy="12060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5682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2065221"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Way 2:</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pic>
        <p:nvPicPr>
          <p:cNvPr id="2" name="Picture 1"/>
          <p:cNvPicPr>
            <a:picLocks noChangeAspect="1"/>
          </p:cNvPicPr>
          <p:nvPr/>
        </p:nvPicPr>
        <p:blipFill>
          <a:blip r:embed="rId3"/>
          <a:stretch>
            <a:fillRect/>
          </a:stretch>
        </p:blipFill>
        <p:spPr>
          <a:xfrm>
            <a:off x="1913465" y="1642934"/>
            <a:ext cx="7750212" cy="2781541"/>
          </a:xfrm>
          <a:prstGeom prst="rect">
            <a:avLst/>
          </a:prstGeom>
        </p:spPr>
      </p:pic>
    </p:spTree>
    <p:extLst>
      <p:ext uri="{BB962C8B-B14F-4D97-AF65-F5344CB8AC3E}">
        <p14:creationId xmlns:p14="http://schemas.microsoft.com/office/powerpoint/2010/main" val="2398198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2065221"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Way 2:</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sp>
        <p:nvSpPr>
          <p:cNvPr id="5" name="Rectangle 4"/>
          <p:cNvSpPr/>
          <p:nvPr/>
        </p:nvSpPr>
        <p:spPr>
          <a:xfrm>
            <a:off x="2593428" y="804645"/>
            <a:ext cx="8295290" cy="5755422"/>
          </a:xfrm>
          <a:prstGeom prst="rect">
            <a:avLst/>
          </a:prstGeom>
        </p:spPr>
        <p:txBody>
          <a:bodyPr wrap="square">
            <a:spAutoFit/>
          </a:bodyPr>
          <a:lstStyle/>
          <a:p>
            <a:r>
              <a:rPr lang="en-US" sz="1600" dirty="0">
                <a:solidFill>
                  <a:srgbClr val="0033B3"/>
                </a:solidFill>
                <a:latin typeface="JetBrains Mono" panose="02000009000000000000" pitchFamily="49" charset="0"/>
              </a:rPr>
              <a:t>package </a:t>
            </a:r>
            <a:r>
              <a:rPr lang="en-US" sz="1600" dirty="0" err="1">
                <a:latin typeface="JetBrains Mono" panose="02000009000000000000" pitchFamily="49" charset="0"/>
              </a:rPr>
              <a:t>com.tranduythanh.forteaching</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r>
            <a:br>
              <a:rPr lang="en-US" sz="1600" dirty="0">
                <a:solidFill>
                  <a:srgbClr val="080808"/>
                </a:solidFill>
                <a:latin typeface="JetBrains Mono" panose="02000009000000000000" pitchFamily="49" charset="0"/>
              </a:rPr>
            </a:br>
            <a:r>
              <a:rPr lang="en-US" sz="1600" dirty="0">
                <a:solidFill>
                  <a:srgbClr val="0033B3"/>
                </a:solidFill>
                <a:latin typeface="JetBrains Mono" panose="02000009000000000000" pitchFamily="49" charset="0"/>
              </a:rPr>
              <a:t>import </a:t>
            </a:r>
            <a:r>
              <a:rPr lang="en-US" sz="1600" dirty="0" err="1">
                <a:latin typeface="JetBrains Mono" panose="02000009000000000000" pitchFamily="49" charset="0"/>
              </a:rPr>
              <a:t>android.app.Activity</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033B3"/>
                </a:solidFill>
                <a:latin typeface="JetBrains Mono" panose="02000009000000000000" pitchFamily="49" charset="0"/>
              </a:rPr>
              <a:t>import </a:t>
            </a:r>
            <a:r>
              <a:rPr lang="en-US" sz="1600" dirty="0" err="1">
                <a:latin typeface="JetBrains Mono" panose="02000009000000000000" pitchFamily="49" charset="0"/>
              </a:rPr>
              <a:t>android.app.Dialog</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033B3"/>
                </a:solidFill>
                <a:latin typeface="JetBrains Mono" panose="02000009000000000000" pitchFamily="49" charset="0"/>
              </a:rPr>
              <a:t>import </a:t>
            </a:r>
            <a:r>
              <a:rPr lang="en-US" sz="1600" dirty="0" err="1">
                <a:latin typeface="JetBrains Mono" panose="02000009000000000000" pitchFamily="49" charset="0"/>
              </a:rPr>
              <a:t>android.content.Context</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033B3"/>
                </a:solidFill>
                <a:latin typeface="JetBrains Mono" panose="02000009000000000000" pitchFamily="49" charset="0"/>
              </a:rPr>
              <a:t>import </a:t>
            </a:r>
            <a:r>
              <a:rPr lang="en-US" sz="1600" dirty="0" err="1">
                <a:latin typeface="JetBrains Mono" panose="02000009000000000000" pitchFamily="49" charset="0"/>
              </a:rPr>
              <a:t>android.view.View</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033B3"/>
                </a:solidFill>
                <a:latin typeface="JetBrains Mono" panose="02000009000000000000" pitchFamily="49" charset="0"/>
              </a:rPr>
              <a:t>import </a:t>
            </a:r>
            <a:r>
              <a:rPr lang="en-US" sz="1600" dirty="0" err="1">
                <a:latin typeface="JetBrains Mono" panose="02000009000000000000" pitchFamily="49" charset="0"/>
              </a:rPr>
              <a:t>android.widget.ImageView</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r>
            <a:br>
              <a:rPr lang="en-US" sz="1600" dirty="0">
                <a:solidFill>
                  <a:srgbClr val="080808"/>
                </a:solidFill>
                <a:latin typeface="JetBrains Mono" panose="02000009000000000000" pitchFamily="49" charset="0"/>
              </a:rPr>
            </a:br>
            <a:r>
              <a:rPr lang="en-US" sz="1600" dirty="0">
                <a:solidFill>
                  <a:srgbClr val="0033B3"/>
                </a:solidFill>
                <a:latin typeface="JetBrains Mono" panose="02000009000000000000" pitchFamily="49" charset="0"/>
              </a:rPr>
              <a:t>import </a:t>
            </a:r>
            <a:r>
              <a:rPr lang="en-US" sz="1600" dirty="0" err="1">
                <a:latin typeface="JetBrains Mono" panose="02000009000000000000" pitchFamily="49" charset="0"/>
              </a:rPr>
              <a:t>androidx.annotation.</a:t>
            </a:r>
            <a:r>
              <a:rPr lang="en-US" sz="1600" dirty="0" err="1">
                <a:solidFill>
                  <a:srgbClr val="9E880D"/>
                </a:solidFill>
                <a:latin typeface="JetBrains Mono" panose="02000009000000000000" pitchFamily="49" charset="0"/>
              </a:rPr>
              <a:t>NonNull</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r>
            <a:br>
              <a:rPr lang="en-US" sz="1600" dirty="0">
                <a:solidFill>
                  <a:srgbClr val="080808"/>
                </a:solidFill>
                <a:latin typeface="JetBrains Mono" panose="02000009000000000000" pitchFamily="49" charset="0"/>
              </a:rPr>
            </a:br>
            <a:r>
              <a:rPr lang="en-US" sz="1600" dirty="0">
                <a:solidFill>
                  <a:srgbClr val="0033B3"/>
                </a:solidFill>
                <a:latin typeface="JetBrains Mono" panose="02000009000000000000" pitchFamily="49" charset="0"/>
              </a:rPr>
              <a:t>public class </a:t>
            </a:r>
            <a:r>
              <a:rPr lang="en-US" sz="1600" dirty="0" err="1">
                <a:latin typeface="JetBrains Mono" panose="02000009000000000000" pitchFamily="49" charset="0"/>
              </a:rPr>
              <a:t>MyCustomDialog</a:t>
            </a:r>
            <a:r>
              <a:rPr lang="en-US" sz="1600" dirty="0">
                <a:latin typeface="JetBrains Mono" panose="02000009000000000000" pitchFamily="49" charset="0"/>
              </a:rPr>
              <a:t> </a:t>
            </a:r>
            <a:r>
              <a:rPr lang="en-US" sz="1600" dirty="0">
                <a:solidFill>
                  <a:srgbClr val="0033B3"/>
                </a:solidFill>
                <a:latin typeface="JetBrains Mono" panose="02000009000000000000" pitchFamily="49" charset="0"/>
              </a:rPr>
              <a:t>extends </a:t>
            </a:r>
            <a:r>
              <a:rPr lang="en-US" sz="1600" dirty="0">
                <a:latin typeface="JetBrains Mono" panose="02000009000000000000" pitchFamily="49" charset="0"/>
              </a:rPr>
              <a:t>Dialog </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latin typeface="JetBrains Mono" panose="02000009000000000000" pitchFamily="49" charset="0"/>
              </a:rPr>
              <a:t>ImageView</a:t>
            </a:r>
            <a:r>
              <a:rPr lang="en-US" sz="1600" dirty="0">
                <a:latin typeface="JetBrains Mono" panose="02000009000000000000" pitchFamily="49" charset="0"/>
              </a:rPr>
              <a:t> </a:t>
            </a:r>
            <a:r>
              <a:rPr lang="en-US" sz="1600" dirty="0" err="1">
                <a:solidFill>
                  <a:srgbClr val="871094"/>
                </a:solidFill>
                <a:latin typeface="JetBrains Mono" panose="02000009000000000000" pitchFamily="49" charset="0"/>
              </a:rPr>
              <a:t>imgOk</a:t>
            </a:r>
            <a:r>
              <a:rPr lang="en-US" sz="1600" dirty="0">
                <a:solidFill>
                  <a:srgbClr val="080808"/>
                </a:solidFill>
                <a:latin typeface="JetBrains Mono" panose="02000009000000000000" pitchFamily="49" charset="0"/>
              </a:rPr>
              <a:t>, </a:t>
            </a:r>
            <a:r>
              <a:rPr lang="en-US" sz="1600" dirty="0" err="1">
                <a:solidFill>
                  <a:srgbClr val="871094"/>
                </a:solidFill>
                <a:latin typeface="JetBrains Mono" panose="02000009000000000000" pitchFamily="49" charset="0"/>
              </a:rPr>
              <a:t>imgCancel</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latin typeface="JetBrains Mono" panose="02000009000000000000" pitchFamily="49" charset="0"/>
              </a:rPr>
              <a:t>Activity </a:t>
            </a:r>
            <a:r>
              <a:rPr lang="en-US" sz="1600" dirty="0">
                <a:solidFill>
                  <a:srgbClr val="871094"/>
                </a:solidFill>
                <a:latin typeface="JetBrains Mono" panose="02000009000000000000" pitchFamily="49" charset="0"/>
              </a:rPr>
              <a:t>context</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solidFill>
                  <a:srgbClr val="0033B3"/>
                </a:solidFill>
                <a:latin typeface="JetBrains Mono" panose="02000009000000000000" pitchFamily="49" charset="0"/>
              </a:rPr>
              <a:t>public </a:t>
            </a:r>
            <a:r>
              <a:rPr lang="en-US" sz="1600" dirty="0" err="1">
                <a:solidFill>
                  <a:srgbClr val="00627A"/>
                </a:solidFill>
                <a:latin typeface="JetBrains Mono" panose="02000009000000000000" pitchFamily="49" charset="0"/>
              </a:rPr>
              <a:t>MyCustomDialog</a:t>
            </a:r>
            <a:r>
              <a:rPr lang="en-US" sz="1600" dirty="0">
                <a:solidFill>
                  <a:srgbClr val="080808"/>
                </a:solidFill>
                <a:latin typeface="JetBrains Mono" panose="02000009000000000000" pitchFamily="49" charset="0"/>
              </a:rPr>
              <a:t>(</a:t>
            </a:r>
            <a:r>
              <a:rPr lang="en-US" sz="1600" dirty="0">
                <a:solidFill>
                  <a:srgbClr val="9E880D"/>
                </a:solidFill>
                <a:latin typeface="JetBrains Mono" panose="02000009000000000000" pitchFamily="49" charset="0"/>
              </a:rPr>
              <a:t>@</a:t>
            </a:r>
            <a:r>
              <a:rPr lang="en-US" sz="1600" dirty="0" err="1">
                <a:solidFill>
                  <a:srgbClr val="9E880D"/>
                </a:solidFill>
                <a:latin typeface="JetBrains Mono" panose="02000009000000000000" pitchFamily="49" charset="0"/>
              </a:rPr>
              <a:t>NonNull</a:t>
            </a:r>
            <a:r>
              <a:rPr lang="en-US" sz="1600" dirty="0">
                <a:solidFill>
                  <a:srgbClr val="9E880D"/>
                </a:solidFill>
                <a:latin typeface="JetBrains Mono" panose="02000009000000000000" pitchFamily="49" charset="0"/>
              </a:rPr>
              <a:t> </a:t>
            </a:r>
            <a:r>
              <a:rPr lang="en-US" sz="1600" dirty="0">
                <a:latin typeface="JetBrains Mono" panose="02000009000000000000" pitchFamily="49" charset="0"/>
              </a:rPr>
              <a:t>Context </a:t>
            </a:r>
            <a:r>
              <a:rPr lang="en-US" sz="1600" dirty="0">
                <a:solidFill>
                  <a:srgbClr val="080808"/>
                </a:solidFill>
                <a:latin typeface="JetBrains Mono" panose="02000009000000000000" pitchFamily="49" charset="0"/>
              </a:rPr>
              <a:t>context)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solidFill>
                  <a:srgbClr val="0033B3"/>
                </a:solidFill>
                <a:latin typeface="JetBrains Mono" panose="02000009000000000000" pitchFamily="49" charset="0"/>
              </a:rPr>
              <a:t>super</a:t>
            </a:r>
            <a:r>
              <a:rPr lang="en-US" sz="1600" dirty="0">
                <a:solidFill>
                  <a:srgbClr val="080808"/>
                </a:solidFill>
                <a:latin typeface="JetBrains Mono" panose="02000009000000000000" pitchFamily="49" charset="0"/>
              </a:rPr>
              <a:t>(context);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033B3"/>
                </a:solidFill>
                <a:latin typeface="JetBrains Mono" panose="02000009000000000000" pitchFamily="49" charset="0"/>
              </a:rPr>
              <a:t>this</a:t>
            </a:r>
            <a:r>
              <a:rPr lang="en-US" sz="1600" dirty="0" err="1">
                <a:solidFill>
                  <a:srgbClr val="080808"/>
                </a:solidFill>
                <a:latin typeface="JetBrains Mono" panose="02000009000000000000" pitchFamily="49" charset="0"/>
              </a:rPr>
              <a:t>.</a:t>
            </a:r>
            <a:r>
              <a:rPr lang="en-US" sz="1600" dirty="0" err="1">
                <a:solidFill>
                  <a:srgbClr val="871094"/>
                </a:solidFill>
                <a:latin typeface="JetBrains Mono" panose="02000009000000000000" pitchFamily="49" charset="0"/>
              </a:rPr>
              <a:t>context</a:t>
            </a:r>
            <a:r>
              <a:rPr lang="en-US" sz="1600" dirty="0">
                <a:solidFill>
                  <a:srgbClr val="871094"/>
                </a:solidFill>
                <a:latin typeface="JetBrains Mono" panose="02000009000000000000" pitchFamily="49" charset="0"/>
              </a:rPr>
              <a:t> </a:t>
            </a:r>
            <a:r>
              <a:rPr lang="en-US" sz="1600" dirty="0">
                <a:solidFill>
                  <a:srgbClr val="080808"/>
                </a:solidFill>
                <a:latin typeface="JetBrains Mono" panose="02000009000000000000" pitchFamily="49" charset="0"/>
              </a:rPr>
              <a:t>= (</a:t>
            </a:r>
            <a:r>
              <a:rPr lang="en-US" sz="1600" dirty="0">
                <a:latin typeface="JetBrains Mono" panose="02000009000000000000" pitchFamily="49" charset="0"/>
              </a:rPr>
              <a:t>Activity</a:t>
            </a:r>
            <a:r>
              <a:rPr lang="en-US" sz="1600" dirty="0">
                <a:solidFill>
                  <a:srgbClr val="080808"/>
                </a:solidFill>
                <a:latin typeface="JetBrains Mono" panose="02000009000000000000" pitchFamily="49" charset="0"/>
              </a:rPr>
              <a:t>) context;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setContentView</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R</a:t>
            </a:r>
            <a:r>
              <a:rPr lang="en-US" sz="1600" dirty="0" err="1">
                <a:solidFill>
                  <a:srgbClr val="080808"/>
                </a:solidFill>
                <a:latin typeface="JetBrains Mono" panose="02000009000000000000" pitchFamily="49" charset="0"/>
              </a:rPr>
              <a:t>.</a:t>
            </a:r>
            <a:r>
              <a:rPr lang="en-US" sz="1600" dirty="0" err="1">
                <a:latin typeface="JetBrains Mono" panose="02000009000000000000" pitchFamily="49" charset="0"/>
              </a:rPr>
              <a:t>layout</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custom_dialog</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addViews</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setCanceledOnTouchOutside</a:t>
            </a:r>
            <a:r>
              <a:rPr lang="en-US" sz="1600" dirty="0">
                <a:solidFill>
                  <a:srgbClr val="080808"/>
                </a:solidFill>
                <a:latin typeface="JetBrains Mono" panose="02000009000000000000" pitchFamily="49" charset="0"/>
              </a:rPr>
              <a:t>(</a:t>
            </a:r>
            <a:r>
              <a:rPr lang="en-US" sz="1600" dirty="0">
                <a:solidFill>
                  <a:srgbClr val="0033B3"/>
                </a:solidFill>
                <a:latin typeface="JetBrains Mono" panose="02000009000000000000" pitchFamily="49" charset="0"/>
              </a:rPr>
              <a:t>false</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addEvents</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smtClean="0">
                <a:solidFill>
                  <a:srgbClr val="080808"/>
                </a:solidFill>
                <a:latin typeface="JetBrains Mono" panose="02000009000000000000" pitchFamily="49" charset="0"/>
              </a:rPr>
              <a:t>}    </a:t>
            </a:r>
            <a:endParaRPr lang="en-US" sz="1600" dirty="0">
              <a:solidFill>
                <a:srgbClr val="080808"/>
              </a:solidFill>
              <a:latin typeface="JetBrains Mono" panose="02000009000000000000" pitchFamily="49" charset="0"/>
            </a:endParaRPr>
          </a:p>
        </p:txBody>
      </p:sp>
    </p:spTree>
    <p:extLst>
      <p:ext uri="{BB962C8B-B14F-4D97-AF65-F5344CB8AC3E}">
        <p14:creationId xmlns:p14="http://schemas.microsoft.com/office/powerpoint/2010/main" val="6573974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2065221"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Way 2:</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sp>
        <p:nvSpPr>
          <p:cNvPr id="5" name="Rectangle 4"/>
          <p:cNvSpPr/>
          <p:nvPr/>
        </p:nvSpPr>
        <p:spPr>
          <a:xfrm>
            <a:off x="2402051" y="1075964"/>
            <a:ext cx="8917589" cy="4770537"/>
          </a:xfrm>
          <a:prstGeom prst="rect">
            <a:avLst/>
          </a:prstGeom>
        </p:spPr>
        <p:txBody>
          <a:bodyPr wrap="square">
            <a:spAutoFit/>
          </a:bodyPr>
          <a:lstStyle/>
          <a:p>
            <a:r>
              <a:rPr lang="en-US" sz="1600" dirty="0" smtClean="0">
                <a:solidFill>
                  <a:srgbClr val="0033B3"/>
                </a:solidFill>
                <a:latin typeface="JetBrains Mono" panose="02000009000000000000" pitchFamily="49" charset="0"/>
              </a:rPr>
              <a:t>private </a:t>
            </a:r>
            <a:r>
              <a:rPr lang="en-US" sz="1600" dirty="0">
                <a:solidFill>
                  <a:srgbClr val="0033B3"/>
                </a:solidFill>
                <a:latin typeface="JetBrains Mono" panose="02000009000000000000" pitchFamily="49" charset="0"/>
              </a:rPr>
              <a:t>void </a:t>
            </a:r>
            <a:r>
              <a:rPr lang="en-US" sz="1600" dirty="0" err="1">
                <a:solidFill>
                  <a:srgbClr val="00627A"/>
                </a:solidFill>
                <a:latin typeface="JetBrains Mono" panose="02000009000000000000" pitchFamily="49" charset="0"/>
              </a:rPr>
              <a:t>addEvents</a:t>
            </a: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871094"/>
                </a:solidFill>
                <a:latin typeface="JetBrains Mono" panose="02000009000000000000" pitchFamily="49" charset="0"/>
              </a:rPr>
              <a:t>imgOk</a:t>
            </a:r>
            <a:r>
              <a:rPr lang="en-US" sz="1600" dirty="0" err="1">
                <a:solidFill>
                  <a:srgbClr val="080808"/>
                </a:solidFill>
                <a:latin typeface="JetBrains Mono" panose="02000009000000000000" pitchFamily="49" charset="0"/>
              </a:rPr>
              <a:t>.setOnClickListener</a:t>
            </a:r>
            <a:r>
              <a:rPr lang="en-US" sz="1600" dirty="0">
                <a:solidFill>
                  <a:srgbClr val="080808"/>
                </a:solidFill>
                <a:latin typeface="JetBrains Mono" panose="02000009000000000000" pitchFamily="49" charset="0"/>
              </a:rPr>
              <a:t>(</a:t>
            </a:r>
            <a:r>
              <a:rPr lang="en-US" sz="1600" dirty="0">
                <a:solidFill>
                  <a:srgbClr val="0033B3"/>
                </a:solidFill>
                <a:latin typeface="JetBrains Mono" panose="02000009000000000000" pitchFamily="49" charset="0"/>
              </a:rPr>
              <a:t>new </a:t>
            </a:r>
            <a:r>
              <a:rPr lang="en-US" sz="1600" dirty="0" err="1">
                <a:latin typeface="JetBrains Mono" panose="02000009000000000000" pitchFamily="49" charset="0"/>
              </a:rPr>
              <a:t>View</a:t>
            </a:r>
            <a:r>
              <a:rPr lang="en-US" sz="1600" dirty="0" err="1">
                <a:solidFill>
                  <a:srgbClr val="080808"/>
                </a:solidFill>
                <a:latin typeface="JetBrains Mono" panose="02000009000000000000" pitchFamily="49" charset="0"/>
              </a:rPr>
              <a:t>.</a:t>
            </a:r>
            <a:r>
              <a:rPr lang="en-US" sz="1600" dirty="0" err="1">
                <a:latin typeface="JetBrains Mono" panose="02000009000000000000" pitchFamily="49" charset="0"/>
              </a:rPr>
              <a:t>OnClickListener</a:t>
            </a: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solidFill>
                  <a:srgbClr val="9E880D"/>
                </a:solidFill>
                <a:latin typeface="JetBrains Mono" panose="02000009000000000000" pitchFamily="49" charset="0"/>
              </a:rPr>
              <a:t>@Override</a:t>
            </a:r>
            <a:br>
              <a:rPr lang="en-US" sz="1600" dirty="0">
                <a:solidFill>
                  <a:srgbClr val="9E880D"/>
                </a:solidFill>
                <a:latin typeface="JetBrains Mono" panose="02000009000000000000" pitchFamily="49" charset="0"/>
              </a:rPr>
            </a:br>
            <a:r>
              <a:rPr lang="en-US" sz="1600" dirty="0">
                <a:solidFill>
                  <a:srgbClr val="9E880D"/>
                </a:solidFill>
                <a:latin typeface="JetBrains Mono" panose="02000009000000000000" pitchFamily="49" charset="0"/>
              </a:rPr>
              <a:t>            </a:t>
            </a:r>
            <a:r>
              <a:rPr lang="en-US" sz="1600" dirty="0">
                <a:solidFill>
                  <a:srgbClr val="0033B3"/>
                </a:solidFill>
                <a:latin typeface="JetBrains Mono" panose="02000009000000000000" pitchFamily="49" charset="0"/>
              </a:rPr>
              <a:t>public void </a:t>
            </a:r>
            <a:r>
              <a:rPr lang="en-US" sz="1600" dirty="0" err="1">
                <a:solidFill>
                  <a:srgbClr val="00627A"/>
                </a:solidFill>
                <a:latin typeface="JetBrains Mono" panose="02000009000000000000" pitchFamily="49" charset="0"/>
              </a:rPr>
              <a:t>onClick</a:t>
            </a:r>
            <a:r>
              <a:rPr lang="en-US" sz="1600" dirty="0">
                <a:solidFill>
                  <a:srgbClr val="080808"/>
                </a:solidFill>
                <a:latin typeface="JetBrains Mono" panose="02000009000000000000" pitchFamily="49" charset="0"/>
              </a:rPr>
              <a:t>(</a:t>
            </a:r>
            <a:r>
              <a:rPr lang="en-US" sz="1600" dirty="0">
                <a:latin typeface="JetBrains Mono" panose="02000009000000000000" pitchFamily="49" charset="0"/>
              </a:rPr>
              <a:t>View </a:t>
            </a:r>
            <a:r>
              <a:rPr lang="en-US" sz="1600" dirty="0">
                <a:solidFill>
                  <a:srgbClr val="080808"/>
                </a:solidFill>
                <a:latin typeface="JetBrains Mono" panose="02000009000000000000" pitchFamily="49" charset="0"/>
              </a:rPr>
              <a:t>view)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871094"/>
                </a:solidFill>
                <a:latin typeface="JetBrains Mono" panose="02000009000000000000" pitchFamily="49" charset="0"/>
              </a:rPr>
              <a:t>context</a:t>
            </a:r>
            <a:r>
              <a:rPr lang="en-US" sz="1600" dirty="0" err="1">
                <a:solidFill>
                  <a:srgbClr val="080808"/>
                </a:solidFill>
                <a:latin typeface="JetBrains Mono" panose="02000009000000000000" pitchFamily="49" charset="0"/>
              </a:rPr>
              <a:t>.finish</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871094"/>
                </a:solidFill>
                <a:latin typeface="JetBrains Mono" panose="02000009000000000000" pitchFamily="49" charset="0"/>
              </a:rPr>
              <a:t>imgCancel</a:t>
            </a:r>
            <a:r>
              <a:rPr lang="en-US" sz="1600" dirty="0" err="1">
                <a:solidFill>
                  <a:srgbClr val="080808"/>
                </a:solidFill>
                <a:latin typeface="JetBrains Mono" panose="02000009000000000000" pitchFamily="49" charset="0"/>
              </a:rPr>
              <a:t>.setOnClickListener</a:t>
            </a:r>
            <a:r>
              <a:rPr lang="en-US" sz="1600" dirty="0">
                <a:solidFill>
                  <a:srgbClr val="080808"/>
                </a:solidFill>
                <a:latin typeface="JetBrains Mono" panose="02000009000000000000" pitchFamily="49" charset="0"/>
              </a:rPr>
              <a:t>(</a:t>
            </a:r>
            <a:r>
              <a:rPr lang="en-US" sz="1600" dirty="0">
                <a:solidFill>
                  <a:srgbClr val="0033B3"/>
                </a:solidFill>
                <a:latin typeface="JetBrains Mono" panose="02000009000000000000" pitchFamily="49" charset="0"/>
              </a:rPr>
              <a:t>new </a:t>
            </a:r>
            <a:r>
              <a:rPr lang="en-US" sz="1600" dirty="0" err="1">
                <a:latin typeface="JetBrains Mono" panose="02000009000000000000" pitchFamily="49" charset="0"/>
              </a:rPr>
              <a:t>View</a:t>
            </a:r>
            <a:r>
              <a:rPr lang="en-US" sz="1600" dirty="0" err="1">
                <a:solidFill>
                  <a:srgbClr val="080808"/>
                </a:solidFill>
                <a:latin typeface="JetBrains Mono" panose="02000009000000000000" pitchFamily="49" charset="0"/>
              </a:rPr>
              <a:t>.</a:t>
            </a:r>
            <a:r>
              <a:rPr lang="en-US" sz="1600" dirty="0" err="1">
                <a:latin typeface="JetBrains Mono" panose="02000009000000000000" pitchFamily="49" charset="0"/>
              </a:rPr>
              <a:t>OnClickListener</a:t>
            </a: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solidFill>
                  <a:srgbClr val="9E880D"/>
                </a:solidFill>
                <a:latin typeface="JetBrains Mono" panose="02000009000000000000" pitchFamily="49" charset="0"/>
              </a:rPr>
              <a:t>@Override</a:t>
            </a:r>
            <a:br>
              <a:rPr lang="en-US" sz="1600" dirty="0">
                <a:solidFill>
                  <a:srgbClr val="9E880D"/>
                </a:solidFill>
                <a:latin typeface="JetBrains Mono" panose="02000009000000000000" pitchFamily="49" charset="0"/>
              </a:rPr>
            </a:br>
            <a:r>
              <a:rPr lang="en-US" sz="1600" dirty="0">
                <a:solidFill>
                  <a:srgbClr val="9E880D"/>
                </a:solidFill>
                <a:latin typeface="JetBrains Mono" panose="02000009000000000000" pitchFamily="49" charset="0"/>
              </a:rPr>
              <a:t>            </a:t>
            </a:r>
            <a:r>
              <a:rPr lang="en-US" sz="1600" dirty="0">
                <a:solidFill>
                  <a:srgbClr val="0033B3"/>
                </a:solidFill>
                <a:latin typeface="JetBrains Mono" panose="02000009000000000000" pitchFamily="49" charset="0"/>
              </a:rPr>
              <a:t>public void </a:t>
            </a:r>
            <a:r>
              <a:rPr lang="en-US" sz="1600" dirty="0" err="1">
                <a:solidFill>
                  <a:srgbClr val="00627A"/>
                </a:solidFill>
                <a:latin typeface="JetBrains Mono" panose="02000009000000000000" pitchFamily="49" charset="0"/>
              </a:rPr>
              <a:t>onClick</a:t>
            </a:r>
            <a:r>
              <a:rPr lang="en-US" sz="1600" dirty="0">
                <a:solidFill>
                  <a:srgbClr val="080808"/>
                </a:solidFill>
                <a:latin typeface="JetBrains Mono" panose="02000009000000000000" pitchFamily="49" charset="0"/>
              </a:rPr>
              <a:t>(</a:t>
            </a:r>
            <a:r>
              <a:rPr lang="en-US" sz="1600" dirty="0">
                <a:latin typeface="JetBrains Mono" panose="02000009000000000000" pitchFamily="49" charset="0"/>
              </a:rPr>
              <a:t>View </a:t>
            </a:r>
            <a:r>
              <a:rPr lang="en-US" sz="1600" dirty="0">
                <a:solidFill>
                  <a:srgbClr val="080808"/>
                </a:solidFill>
                <a:latin typeface="JetBrains Mono" panose="02000009000000000000" pitchFamily="49" charset="0"/>
              </a:rPr>
              <a:t>view)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dismiss();</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solidFill>
                  <a:srgbClr val="0033B3"/>
                </a:solidFill>
                <a:latin typeface="JetBrains Mono" panose="02000009000000000000" pitchFamily="49" charset="0"/>
              </a:rPr>
              <a:t>private void </a:t>
            </a:r>
            <a:r>
              <a:rPr lang="en-US" sz="1600" dirty="0" err="1">
                <a:solidFill>
                  <a:srgbClr val="00627A"/>
                </a:solidFill>
                <a:latin typeface="JetBrains Mono" panose="02000009000000000000" pitchFamily="49" charset="0"/>
              </a:rPr>
              <a:t>addViews</a:t>
            </a: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871094"/>
                </a:solidFill>
                <a:latin typeface="JetBrains Mono" panose="02000009000000000000" pitchFamily="49" charset="0"/>
              </a:rPr>
              <a:t>imgOk</a:t>
            </a:r>
            <a:r>
              <a:rPr lang="en-US" sz="1600" dirty="0">
                <a:solidFill>
                  <a:srgbClr val="871094"/>
                </a:solidFill>
                <a:latin typeface="JetBrains Mono" panose="02000009000000000000" pitchFamily="49" charset="0"/>
              </a:rPr>
              <a:t> </a:t>
            </a: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findViewById</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R</a:t>
            </a:r>
            <a:r>
              <a:rPr lang="en-US" sz="1600" dirty="0" err="1">
                <a:solidFill>
                  <a:srgbClr val="080808"/>
                </a:solidFill>
                <a:latin typeface="JetBrains Mono" panose="02000009000000000000" pitchFamily="49" charset="0"/>
              </a:rPr>
              <a:t>.</a:t>
            </a:r>
            <a:r>
              <a:rPr lang="en-US" sz="1600" dirty="0" err="1">
                <a:latin typeface="JetBrains Mono" panose="02000009000000000000" pitchFamily="49" charset="0"/>
              </a:rPr>
              <a:t>id</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imgOK</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871094"/>
                </a:solidFill>
                <a:latin typeface="JetBrains Mono" panose="02000009000000000000" pitchFamily="49" charset="0"/>
              </a:rPr>
              <a:t>imgCancel</a:t>
            </a:r>
            <a:r>
              <a:rPr lang="en-US" sz="1600" dirty="0">
                <a:solidFill>
                  <a:srgbClr val="871094"/>
                </a:solidFill>
                <a:latin typeface="JetBrains Mono" panose="02000009000000000000" pitchFamily="49" charset="0"/>
              </a:rPr>
              <a:t> </a:t>
            </a: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findViewById</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R</a:t>
            </a:r>
            <a:r>
              <a:rPr lang="en-US" sz="1600" dirty="0" err="1">
                <a:solidFill>
                  <a:srgbClr val="080808"/>
                </a:solidFill>
                <a:latin typeface="JetBrains Mono" panose="02000009000000000000" pitchFamily="49" charset="0"/>
              </a:rPr>
              <a:t>.</a:t>
            </a:r>
            <a:r>
              <a:rPr lang="en-US" sz="1600" dirty="0" err="1">
                <a:latin typeface="JetBrains Mono" panose="02000009000000000000" pitchFamily="49" charset="0"/>
              </a:rPr>
              <a:t>id</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imgCancel</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smtClean="0">
                <a:solidFill>
                  <a:srgbClr val="080808"/>
                </a:solidFill>
                <a:latin typeface="JetBrains Mono" panose="02000009000000000000" pitchFamily="49" charset="0"/>
              </a:rPr>
              <a:t>}</a:t>
            </a:r>
            <a:endParaRPr lang="en-US" sz="1600" dirty="0">
              <a:solidFill>
                <a:srgbClr val="080808"/>
              </a:solidFill>
              <a:latin typeface="JetBrains Mono" panose="02000009000000000000" pitchFamily="49" charset="0"/>
            </a:endParaRPr>
          </a:p>
        </p:txBody>
      </p:sp>
    </p:spTree>
    <p:extLst>
      <p:ext uri="{BB962C8B-B14F-4D97-AF65-F5344CB8AC3E}">
        <p14:creationId xmlns:p14="http://schemas.microsoft.com/office/powerpoint/2010/main" val="8778710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Custom </a:t>
              </a:r>
              <a:r>
                <a:rPr lang="en-US" sz="2800" b="1" dirty="0">
                  <a:latin typeface="Times New Roman" panose="02020603050405020304" pitchFamily="18" charset="0"/>
                  <a:cs typeface="Times New Roman" panose="02020603050405020304" pitchFamily="18" charset="0"/>
                </a:rPr>
                <a:t>Dialog</a:t>
              </a: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2065221"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Way 2:</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sp>
        <p:nvSpPr>
          <p:cNvPr id="2" name="Rectangle 1"/>
          <p:cNvSpPr/>
          <p:nvPr/>
        </p:nvSpPr>
        <p:spPr>
          <a:xfrm>
            <a:off x="528207" y="1642934"/>
            <a:ext cx="11351110" cy="646331"/>
          </a:xfrm>
          <a:prstGeom prst="rect">
            <a:avLst/>
          </a:prstGeom>
        </p:spPr>
        <p:txBody>
          <a:bodyPr wrap="square">
            <a:spAutoFit/>
          </a:bodyPr>
          <a:lstStyle/>
          <a:p>
            <a:r>
              <a:rPr lang="en-US" sz="1800" dirty="0" err="1">
                <a:latin typeface="JetBrains Mono" panose="02000009000000000000" pitchFamily="49" charset="0"/>
              </a:rPr>
              <a:t>MyCustomDialog</a:t>
            </a:r>
            <a:r>
              <a:rPr lang="en-US" sz="1800" dirty="0">
                <a:latin typeface="JetBrains Mono" panose="02000009000000000000" pitchFamily="49" charset="0"/>
              </a:rPr>
              <a:t> </a:t>
            </a:r>
            <a:r>
              <a:rPr lang="en-US" sz="1800" dirty="0" err="1">
                <a:latin typeface="JetBrains Mono" panose="02000009000000000000" pitchFamily="49" charset="0"/>
              </a:rPr>
              <a:t>myCustomDialog</a:t>
            </a:r>
            <a:r>
              <a:rPr lang="en-US" sz="1800" dirty="0">
                <a:latin typeface="JetBrains Mono" panose="02000009000000000000" pitchFamily="49" charset="0"/>
              </a:rPr>
              <a:t> </a:t>
            </a:r>
            <a:r>
              <a:rPr lang="en-US" sz="1800" dirty="0">
                <a:solidFill>
                  <a:srgbClr val="080808"/>
                </a:solidFill>
                <a:latin typeface="JetBrains Mono" panose="02000009000000000000" pitchFamily="49" charset="0"/>
              </a:rPr>
              <a:t>= </a:t>
            </a:r>
            <a:r>
              <a:rPr lang="en-US" sz="1800" dirty="0">
                <a:solidFill>
                  <a:srgbClr val="0033B3"/>
                </a:solidFill>
                <a:latin typeface="JetBrains Mono" panose="02000009000000000000" pitchFamily="49" charset="0"/>
              </a:rPr>
              <a:t>new </a:t>
            </a:r>
            <a:r>
              <a:rPr lang="en-US" sz="1800" dirty="0" err="1">
                <a:solidFill>
                  <a:srgbClr val="080808"/>
                </a:solidFill>
                <a:latin typeface="JetBrains Mono" panose="02000009000000000000" pitchFamily="49" charset="0"/>
              </a:rPr>
              <a:t>MyCustomDialog</a:t>
            </a:r>
            <a:r>
              <a:rPr lang="en-US" sz="1800" dirty="0">
                <a:solidFill>
                  <a:srgbClr val="080808"/>
                </a:solidFill>
                <a:latin typeface="JetBrains Mono" panose="02000009000000000000" pitchFamily="49" charset="0"/>
              </a:rPr>
              <a:t>(</a:t>
            </a:r>
            <a:r>
              <a:rPr lang="en-US" sz="1800" dirty="0" err="1">
                <a:latin typeface="JetBrains Mono" panose="02000009000000000000" pitchFamily="49" charset="0"/>
              </a:rPr>
              <a:t>MainActivity</a:t>
            </a:r>
            <a:r>
              <a:rPr lang="en-US" sz="1800" dirty="0" err="1">
                <a:solidFill>
                  <a:srgbClr val="080808"/>
                </a:solidFill>
                <a:latin typeface="JetBrains Mono" panose="02000009000000000000" pitchFamily="49" charset="0"/>
              </a:rPr>
              <a:t>.</a:t>
            </a:r>
            <a:r>
              <a:rPr lang="en-US" sz="1800" dirty="0" err="1">
                <a:solidFill>
                  <a:srgbClr val="0033B3"/>
                </a:solidFill>
                <a:latin typeface="JetBrains Mono" panose="02000009000000000000" pitchFamily="49" charset="0"/>
              </a:rPr>
              <a:t>this</a:t>
            </a:r>
            <a:r>
              <a:rPr lang="en-US" sz="1800" dirty="0">
                <a:solidFill>
                  <a:srgbClr val="080808"/>
                </a:solidFill>
                <a:latin typeface="JetBrains Mono" panose="02000009000000000000" pitchFamily="49" charset="0"/>
              </a:rPr>
              <a:t>);</a:t>
            </a:r>
            <a:br>
              <a:rPr lang="en-US" sz="1800" dirty="0">
                <a:solidFill>
                  <a:srgbClr val="080808"/>
                </a:solidFill>
                <a:latin typeface="JetBrains Mono" panose="02000009000000000000" pitchFamily="49" charset="0"/>
              </a:rPr>
            </a:br>
            <a:r>
              <a:rPr lang="en-US" sz="1800" dirty="0" err="1">
                <a:latin typeface="JetBrains Mono" panose="02000009000000000000" pitchFamily="49" charset="0"/>
              </a:rPr>
              <a:t>myCustomDialog</a:t>
            </a:r>
            <a:r>
              <a:rPr lang="en-US" sz="1800" dirty="0" err="1">
                <a:solidFill>
                  <a:srgbClr val="080808"/>
                </a:solidFill>
                <a:latin typeface="JetBrains Mono" panose="02000009000000000000" pitchFamily="49" charset="0"/>
              </a:rPr>
              <a:t>.show</a:t>
            </a:r>
            <a:r>
              <a:rPr lang="en-US" sz="1800" dirty="0">
                <a:solidFill>
                  <a:srgbClr val="080808"/>
                </a:solidFill>
                <a:latin typeface="JetBrains Mono" panose="02000009000000000000" pitchFamily="49" charset="0"/>
              </a:rPr>
              <a:t>();</a:t>
            </a:r>
          </a:p>
        </p:txBody>
      </p:sp>
      <p:pic>
        <p:nvPicPr>
          <p:cNvPr id="3" name="Picture 2"/>
          <p:cNvPicPr>
            <a:picLocks noChangeAspect="1"/>
          </p:cNvPicPr>
          <p:nvPr/>
        </p:nvPicPr>
        <p:blipFill>
          <a:blip r:embed="rId3"/>
          <a:stretch>
            <a:fillRect/>
          </a:stretch>
        </p:blipFill>
        <p:spPr>
          <a:xfrm>
            <a:off x="4417115" y="2341123"/>
            <a:ext cx="2758679" cy="1501270"/>
          </a:xfrm>
          <a:prstGeom prst="rect">
            <a:avLst/>
          </a:prstGeom>
        </p:spPr>
      </p:pic>
    </p:spTree>
    <p:extLst>
      <p:ext uri="{BB962C8B-B14F-4D97-AF65-F5344CB8AC3E}">
        <p14:creationId xmlns:p14="http://schemas.microsoft.com/office/powerpoint/2010/main" val="8137390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4. Notification</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pSp>
        <p:nvGrpSpPr>
          <p:cNvPr id="19" name="Group 18">
            <a:extLst>
              <a:ext uri="{FF2B5EF4-FFF2-40B4-BE49-F238E27FC236}">
                <a16:creationId xmlns:a16="http://schemas.microsoft.com/office/drawing/2014/main" id="{1FA1AE98-1453-5143-B72C-CBC8CECED27A}"/>
              </a:ext>
            </a:extLst>
          </p:cNvPr>
          <p:cNvGrpSpPr/>
          <p:nvPr/>
        </p:nvGrpSpPr>
        <p:grpSpPr>
          <a:xfrm>
            <a:off x="5906958" y="992848"/>
            <a:ext cx="5179091" cy="4882896"/>
            <a:chOff x="2973054" y="1673352"/>
            <a:chExt cx="5179091" cy="4882896"/>
          </a:xfrm>
        </p:grpSpPr>
        <p:grpSp>
          <p:nvGrpSpPr>
            <p:cNvPr id="20" name="Group 19">
              <a:extLst>
                <a:ext uri="{FF2B5EF4-FFF2-40B4-BE49-F238E27FC236}">
                  <a16:creationId xmlns:a16="http://schemas.microsoft.com/office/drawing/2014/main" id="{49FEF8CC-6F1E-844C-B0B4-AB29CC103993}"/>
                </a:ext>
              </a:extLst>
            </p:cNvPr>
            <p:cNvGrpSpPr/>
            <p:nvPr/>
          </p:nvGrpSpPr>
          <p:grpSpPr>
            <a:xfrm>
              <a:off x="2973054" y="1676400"/>
              <a:ext cx="2284746" cy="4879848"/>
              <a:chOff x="2708623" y="1731264"/>
              <a:chExt cx="2284746" cy="4879848"/>
            </a:xfrm>
          </p:grpSpPr>
          <p:pic>
            <p:nvPicPr>
              <p:cNvPr id="22" name="Picture 21">
                <a:extLst>
                  <a:ext uri="{FF2B5EF4-FFF2-40B4-BE49-F238E27FC236}">
                    <a16:creationId xmlns:a16="http://schemas.microsoft.com/office/drawing/2014/main" id="{5F78D72E-2D40-CD45-850B-F6CF808F10E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6674"/>
              <a:stretch/>
            </p:blipFill>
            <p:spPr>
              <a:xfrm>
                <a:off x="2708623" y="1731264"/>
                <a:ext cx="2284746" cy="4879848"/>
              </a:xfrm>
              <a:prstGeom prst="rect">
                <a:avLst/>
              </a:prstGeom>
            </p:spPr>
          </p:pic>
          <p:sp>
            <p:nvSpPr>
              <p:cNvPr id="23" name="Right Arrow 22">
                <a:extLst>
                  <a:ext uri="{FF2B5EF4-FFF2-40B4-BE49-F238E27FC236}">
                    <a16:creationId xmlns:a16="http://schemas.microsoft.com/office/drawing/2014/main" id="{EAC72A19-A8DA-F641-B58A-D80915A3014D}"/>
                  </a:ext>
                </a:extLst>
              </p:cNvPr>
              <p:cNvSpPr/>
              <p:nvPr/>
            </p:nvSpPr>
            <p:spPr>
              <a:xfrm rot="12851386">
                <a:off x="3204513" y="2303367"/>
                <a:ext cx="372775" cy="12928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a:extLst>
                <a:ext uri="{FF2B5EF4-FFF2-40B4-BE49-F238E27FC236}">
                  <a16:creationId xmlns:a16="http://schemas.microsoft.com/office/drawing/2014/main" id="{E3023C86-390F-5746-9D67-995446A59C6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16674"/>
            <a:stretch/>
          </p:blipFill>
          <p:spPr>
            <a:xfrm>
              <a:off x="5867400" y="1673352"/>
              <a:ext cx="2284745" cy="4879848"/>
            </a:xfrm>
            <a:prstGeom prst="rect">
              <a:avLst/>
            </a:prstGeom>
          </p:spPr>
        </p:pic>
      </p:grpSp>
      <p:sp>
        <p:nvSpPr>
          <p:cNvPr id="2" name="Rectangle 1"/>
          <p:cNvSpPr/>
          <p:nvPr/>
        </p:nvSpPr>
        <p:spPr>
          <a:xfrm>
            <a:off x="799348" y="1218172"/>
            <a:ext cx="4805293" cy="3416320"/>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A notification is a message that Android displays outside your app's UI to provide the user with reminders, communication from other people, or other timely information from your app. Users can tap the notification to open your app or take an action directly from the notification.</a:t>
            </a:r>
          </a:p>
        </p:txBody>
      </p:sp>
    </p:spTree>
    <p:extLst>
      <p:ext uri="{BB962C8B-B14F-4D97-AF65-F5344CB8AC3E}">
        <p14:creationId xmlns:p14="http://schemas.microsoft.com/office/powerpoint/2010/main" val="30306724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4. Notification</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 name="Rectangle 1"/>
          <p:cNvSpPr/>
          <p:nvPr/>
        </p:nvSpPr>
        <p:spPr>
          <a:xfrm>
            <a:off x="922284" y="4146321"/>
            <a:ext cx="10332498" cy="369332"/>
          </a:xfrm>
          <a:prstGeom prst="rect">
            <a:avLst/>
          </a:prstGeom>
        </p:spPr>
        <p:txBody>
          <a:bodyPr wrap="square">
            <a:spAutoFit/>
          </a:bodyPr>
          <a:lstStyle/>
          <a:p>
            <a:r>
              <a:rPr lang="en-US" sz="1800" dirty="0">
                <a:solidFill>
                  <a:srgbClr val="080808"/>
                </a:solidFill>
                <a:latin typeface="JetBrains Mono" panose="02000009000000000000" pitchFamily="49" charset="0"/>
              </a:rPr>
              <a:t>&lt;</a:t>
            </a:r>
            <a:r>
              <a:rPr lang="en-US" sz="1800" dirty="0">
                <a:solidFill>
                  <a:srgbClr val="0033B3"/>
                </a:solidFill>
                <a:latin typeface="JetBrains Mono" panose="02000009000000000000" pitchFamily="49" charset="0"/>
              </a:rPr>
              <a:t>uses-permission </a:t>
            </a:r>
            <a:r>
              <a:rPr lang="en-US" sz="1800" dirty="0" err="1">
                <a:solidFill>
                  <a:srgbClr val="871094"/>
                </a:solidFill>
                <a:latin typeface="JetBrains Mono" panose="02000009000000000000" pitchFamily="49" charset="0"/>
              </a:rPr>
              <a:t>android</a:t>
            </a:r>
            <a:r>
              <a:rPr lang="en-US" sz="1800" dirty="0" err="1">
                <a:solidFill>
                  <a:srgbClr val="174AD4"/>
                </a:solidFill>
                <a:latin typeface="JetBrains Mono" panose="02000009000000000000" pitchFamily="49" charset="0"/>
              </a:rPr>
              <a:t>:name</a:t>
            </a:r>
            <a:r>
              <a:rPr lang="en-US" sz="1800" dirty="0">
                <a:solidFill>
                  <a:srgbClr val="067D17"/>
                </a:solidFill>
                <a:latin typeface="JetBrains Mono" panose="02000009000000000000" pitchFamily="49" charset="0"/>
              </a:rPr>
              <a:t>="</a:t>
            </a:r>
            <a:r>
              <a:rPr lang="en-US" sz="1800" dirty="0" err="1">
                <a:solidFill>
                  <a:srgbClr val="067D17"/>
                </a:solidFill>
                <a:latin typeface="JetBrains Mono" panose="02000009000000000000" pitchFamily="49" charset="0"/>
              </a:rPr>
              <a:t>android.permission.POST_NOTIFICATIONS</a:t>
            </a:r>
            <a:r>
              <a:rPr lang="en-US" sz="1800" dirty="0">
                <a:solidFill>
                  <a:srgbClr val="067D17"/>
                </a:solidFill>
                <a:latin typeface="JetBrains Mono" panose="02000009000000000000" pitchFamily="49" charset="0"/>
              </a:rPr>
              <a:t>" </a:t>
            </a:r>
            <a:r>
              <a:rPr lang="en-US" sz="1800" dirty="0">
                <a:solidFill>
                  <a:srgbClr val="080808"/>
                </a:solidFill>
                <a:latin typeface="JetBrains Mono" panose="02000009000000000000" pitchFamily="49" charset="0"/>
              </a:rPr>
              <a:t>/&gt;</a:t>
            </a:r>
          </a:p>
        </p:txBody>
      </p:sp>
      <p:pic>
        <p:nvPicPr>
          <p:cNvPr id="17" name="Picture 16"/>
          <p:cNvPicPr>
            <a:picLocks noChangeAspect="1"/>
          </p:cNvPicPr>
          <p:nvPr/>
        </p:nvPicPr>
        <p:blipFill>
          <a:blip r:embed="rId3"/>
          <a:stretch>
            <a:fillRect/>
          </a:stretch>
        </p:blipFill>
        <p:spPr>
          <a:xfrm>
            <a:off x="3953686" y="1109638"/>
            <a:ext cx="4000847" cy="2720576"/>
          </a:xfrm>
          <a:prstGeom prst="rect">
            <a:avLst/>
          </a:prstGeom>
        </p:spPr>
      </p:pic>
    </p:spTree>
    <p:extLst>
      <p:ext uri="{BB962C8B-B14F-4D97-AF65-F5344CB8AC3E}">
        <p14:creationId xmlns:p14="http://schemas.microsoft.com/office/powerpoint/2010/main" val="36622458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4. Notification</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3" name="Rectangle 2"/>
          <p:cNvSpPr/>
          <p:nvPr/>
        </p:nvSpPr>
        <p:spPr>
          <a:xfrm>
            <a:off x="550107" y="897468"/>
            <a:ext cx="11376507" cy="5016758"/>
          </a:xfrm>
          <a:prstGeom prst="rect">
            <a:avLst/>
          </a:prstGeom>
        </p:spPr>
        <p:txBody>
          <a:bodyPr wrap="square">
            <a:spAutoFit/>
          </a:bodyPr>
          <a:lstStyle/>
          <a:p>
            <a:r>
              <a:rPr lang="en-US" sz="1600" dirty="0">
                <a:solidFill>
                  <a:srgbClr val="0033B3"/>
                </a:solidFill>
                <a:latin typeface="JetBrains Mono" panose="02000009000000000000" pitchFamily="49" charset="0"/>
              </a:rPr>
              <a:t>public void </a:t>
            </a:r>
            <a:r>
              <a:rPr lang="en-US" sz="1600" dirty="0" err="1">
                <a:solidFill>
                  <a:srgbClr val="00627A"/>
                </a:solidFill>
                <a:latin typeface="JetBrains Mono" panose="02000009000000000000" pitchFamily="49" charset="0"/>
              </a:rPr>
              <a:t>showNotification</a:t>
            </a:r>
            <a:r>
              <a:rPr lang="en-US" sz="1600" dirty="0">
                <a:solidFill>
                  <a:srgbClr val="080808"/>
                </a:solidFill>
                <a:latin typeface="JetBrains Mono" panose="02000009000000000000" pitchFamily="49" charset="0"/>
              </a:rPr>
              <a:t>(</a:t>
            </a:r>
            <a:r>
              <a:rPr lang="en-US" sz="1600" dirty="0">
                <a:latin typeface="JetBrains Mono" panose="02000009000000000000" pitchFamily="49" charset="0"/>
              </a:rPr>
              <a:t>View </a:t>
            </a:r>
            <a:r>
              <a:rPr lang="en-US" sz="1600" dirty="0">
                <a:solidFill>
                  <a:srgbClr val="080808"/>
                </a:solidFill>
                <a:latin typeface="JetBrains Mono" panose="02000009000000000000" pitchFamily="49" charset="0"/>
              </a:rPr>
              <a:t>view)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solidFill>
                  <a:srgbClr val="0033B3"/>
                </a:solidFill>
                <a:latin typeface="JetBrains Mono" panose="02000009000000000000" pitchFamily="49" charset="0"/>
              </a:rPr>
              <a:t>if </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ActivityCompat</a:t>
            </a:r>
            <a:r>
              <a:rPr lang="en-US" sz="1600" dirty="0" err="1">
                <a:solidFill>
                  <a:srgbClr val="080808"/>
                </a:solidFill>
                <a:latin typeface="JetBrains Mono" panose="02000009000000000000" pitchFamily="49" charset="0"/>
              </a:rPr>
              <a:t>.</a:t>
            </a:r>
            <a:r>
              <a:rPr lang="en-US" sz="1600" i="1" dirty="0" err="1">
                <a:solidFill>
                  <a:srgbClr val="080808"/>
                </a:solidFill>
                <a:latin typeface="JetBrains Mono" panose="02000009000000000000" pitchFamily="49" charset="0"/>
              </a:rPr>
              <a:t>checkSelfPermission</a:t>
            </a:r>
            <a:r>
              <a:rPr lang="en-US" sz="1600" dirty="0">
                <a:solidFill>
                  <a:srgbClr val="080808"/>
                </a:solidFill>
                <a:latin typeface="JetBrains Mono" panose="02000009000000000000" pitchFamily="49" charset="0"/>
              </a:rPr>
              <a:t>(</a:t>
            </a:r>
            <a:r>
              <a:rPr lang="en-US" sz="1600" dirty="0">
                <a:solidFill>
                  <a:srgbClr val="0033B3"/>
                </a:solidFill>
                <a:latin typeface="JetBrains Mono" panose="02000009000000000000" pitchFamily="49" charset="0"/>
              </a:rPr>
              <a:t>this</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latin typeface="JetBrains Mono" panose="02000009000000000000" pitchFamily="49" charset="0"/>
              </a:rPr>
              <a:t>android.Manifest</a:t>
            </a:r>
            <a:r>
              <a:rPr lang="en-US" sz="1600" dirty="0" err="1">
                <a:solidFill>
                  <a:srgbClr val="080808"/>
                </a:solidFill>
                <a:latin typeface="JetBrains Mono" panose="02000009000000000000" pitchFamily="49" charset="0"/>
              </a:rPr>
              <a:t>.</a:t>
            </a:r>
            <a:r>
              <a:rPr lang="en-US" sz="1600" dirty="0" err="1">
                <a:latin typeface="JetBrains Mono" panose="02000009000000000000" pitchFamily="49" charset="0"/>
              </a:rPr>
              <a:t>permission</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POST_NOTIFICATIONS</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 </a:t>
            </a:r>
            <a:r>
              <a:rPr lang="en-US" sz="1600" dirty="0" err="1">
                <a:latin typeface="JetBrains Mono" panose="02000009000000000000" pitchFamily="49" charset="0"/>
              </a:rPr>
              <a:t>PackageManager</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PERMISSION_GRANTED</a:t>
            </a: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solidFill>
                  <a:srgbClr val="0033B3"/>
                </a:solidFill>
                <a:latin typeface="JetBrains Mono" panose="02000009000000000000" pitchFamily="49" charset="0"/>
              </a:rPr>
              <a:t>return</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latin typeface="JetBrains Mono" panose="02000009000000000000" pitchFamily="49" charset="0"/>
              </a:rPr>
              <a:t>String CHANNEL_ID </a:t>
            </a:r>
            <a:r>
              <a:rPr lang="en-US" sz="1600" dirty="0">
                <a:solidFill>
                  <a:srgbClr val="080808"/>
                </a:solidFill>
                <a:latin typeface="JetBrains Mono" panose="02000009000000000000" pitchFamily="49" charset="0"/>
              </a:rPr>
              <a:t>= </a:t>
            </a:r>
            <a:r>
              <a:rPr lang="en-US" sz="1600" dirty="0">
                <a:solidFill>
                  <a:srgbClr val="067D17"/>
                </a:solidFill>
                <a:latin typeface="JetBrains Mono" panose="02000009000000000000" pitchFamily="49" charset="0"/>
              </a:rPr>
              <a:t>"</a:t>
            </a:r>
            <a:r>
              <a:rPr lang="en-US" sz="1600" dirty="0" err="1">
                <a:solidFill>
                  <a:srgbClr val="067D17"/>
                </a:solidFill>
                <a:latin typeface="JetBrains Mono" panose="02000009000000000000" pitchFamily="49" charset="0"/>
              </a:rPr>
              <a:t>MyChanel</a:t>
            </a:r>
            <a:r>
              <a:rPr lang="en-US" sz="1600" dirty="0">
                <a:solidFill>
                  <a:srgbClr val="067D17"/>
                </a:solidFill>
                <a:latin typeface="JetBrains Mono" panose="02000009000000000000" pitchFamily="49" charset="0"/>
              </a:rPr>
              <a:t>"</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latin typeface="JetBrains Mono" panose="02000009000000000000" pitchFamily="49" charset="0"/>
              </a:rPr>
              <a:t>Notification </a:t>
            </a:r>
            <a:r>
              <a:rPr lang="en-US" sz="1600" dirty="0" err="1">
                <a:latin typeface="JetBrains Mono" panose="02000009000000000000" pitchFamily="49" charset="0"/>
              </a:rPr>
              <a:t>notification</a:t>
            </a:r>
            <a:r>
              <a:rPr lang="en-US" sz="1600" dirty="0">
                <a:latin typeface="JetBrains Mono" panose="02000009000000000000" pitchFamily="49" charset="0"/>
              </a:rPr>
              <a:t> </a:t>
            </a:r>
            <a:r>
              <a:rPr lang="en-US" sz="1600" dirty="0">
                <a:solidFill>
                  <a:srgbClr val="080808"/>
                </a:solidFill>
                <a:latin typeface="JetBrains Mono" panose="02000009000000000000" pitchFamily="49" charset="0"/>
              </a:rPr>
              <a:t>= </a:t>
            </a:r>
            <a:r>
              <a:rPr lang="en-US" sz="1600" dirty="0">
                <a:solidFill>
                  <a:srgbClr val="0033B3"/>
                </a:solidFill>
                <a:latin typeface="JetBrains Mono" panose="02000009000000000000" pitchFamily="49" charset="0"/>
              </a:rPr>
              <a:t>new </a:t>
            </a:r>
            <a:r>
              <a:rPr lang="en-US" sz="1600" dirty="0" err="1">
                <a:latin typeface="JetBrains Mono" panose="02000009000000000000" pitchFamily="49" charset="0"/>
              </a:rPr>
              <a:t>NotificationCompat</a:t>
            </a:r>
            <a:r>
              <a:rPr lang="en-US" sz="1600" dirty="0" err="1">
                <a:solidFill>
                  <a:srgbClr val="080808"/>
                </a:solidFill>
                <a:latin typeface="JetBrains Mono" panose="02000009000000000000" pitchFamily="49" charset="0"/>
              </a:rPr>
              <a:t>.Builder</a:t>
            </a:r>
            <a:r>
              <a:rPr lang="en-US" sz="1600" dirty="0">
                <a:solidFill>
                  <a:srgbClr val="080808"/>
                </a:solidFill>
                <a:latin typeface="JetBrains Mono" panose="02000009000000000000" pitchFamily="49" charset="0"/>
              </a:rPr>
              <a:t>(</a:t>
            </a:r>
            <a:r>
              <a:rPr lang="en-US" sz="1600" dirty="0">
                <a:solidFill>
                  <a:srgbClr val="0033B3"/>
                </a:solidFill>
                <a:latin typeface="JetBrains Mono" panose="02000009000000000000" pitchFamily="49" charset="0"/>
              </a:rPr>
              <a:t>this</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a:latin typeface="JetBrains Mono" panose="02000009000000000000" pitchFamily="49" charset="0"/>
              </a:rPr>
              <a:t>CHANNEL_ID</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setSmallIcon</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android.R</a:t>
            </a:r>
            <a:r>
              <a:rPr lang="en-US" sz="1600" dirty="0" err="1">
                <a:solidFill>
                  <a:srgbClr val="080808"/>
                </a:solidFill>
                <a:latin typeface="JetBrains Mono" panose="02000009000000000000" pitchFamily="49" charset="0"/>
              </a:rPr>
              <a:t>.</a:t>
            </a:r>
            <a:r>
              <a:rPr lang="en-US" sz="1600" dirty="0" err="1">
                <a:latin typeface="JetBrains Mono" panose="02000009000000000000" pitchFamily="49" charset="0"/>
              </a:rPr>
              <a:t>drawable</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ic_dialog_info</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setContentTitle</a:t>
            </a:r>
            <a:r>
              <a:rPr lang="en-US" sz="1600" dirty="0">
                <a:solidFill>
                  <a:srgbClr val="080808"/>
                </a:solidFill>
                <a:latin typeface="JetBrains Mono" panose="02000009000000000000" pitchFamily="49" charset="0"/>
              </a:rPr>
              <a:t>(</a:t>
            </a:r>
            <a:r>
              <a:rPr lang="en-US" sz="1600" dirty="0">
                <a:solidFill>
                  <a:srgbClr val="067D17"/>
                </a:solidFill>
                <a:latin typeface="JetBrains Mono" panose="02000009000000000000" pitchFamily="49" charset="0"/>
              </a:rPr>
              <a:t>"Hello"</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setContentText</a:t>
            </a:r>
            <a:r>
              <a:rPr lang="en-US" sz="1600" dirty="0">
                <a:solidFill>
                  <a:srgbClr val="080808"/>
                </a:solidFill>
                <a:latin typeface="JetBrains Mono" panose="02000009000000000000" pitchFamily="49" charset="0"/>
              </a:rPr>
              <a:t>(</a:t>
            </a:r>
            <a:r>
              <a:rPr lang="en-US" sz="1600" dirty="0">
                <a:solidFill>
                  <a:srgbClr val="067D17"/>
                </a:solidFill>
                <a:latin typeface="JetBrains Mono" panose="02000009000000000000" pitchFamily="49" charset="0"/>
              </a:rPr>
              <a:t>"Hello, I am Notification"</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setSound</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RingtoneManager</a:t>
            </a:r>
            <a:r>
              <a:rPr lang="en-US" sz="1600" dirty="0" err="1">
                <a:solidFill>
                  <a:srgbClr val="080808"/>
                </a:solidFill>
                <a:latin typeface="JetBrains Mono" panose="02000009000000000000" pitchFamily="49" charset="0"/>
              </a:rPr>
              <a:t>.</a:t>
            </a:r>
            <a:r>
              <a:rPr lang="en-US" sz="1600" i="1" dirty="0" err="1">
                <a:solidFill>
                  <a:srgbClr val="080808"/>
                </a:solidFill>
                <a:latin typeface="JetBrains Mono" panose="02000009000000000000" pitchFamily="49" charset="0"/>
              </a:rPr>
              <a:t>getDefaultUri</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latin typeface="JetBrains Mono" panose="02000009000000000000" pitchFamily="49" charset="0"/>
              </a:rPr>
              <a:t>RingtoneManager</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TYPE_NOTIFICATION</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setPriority</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NotificationCompat</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PRIORITY_HIGH</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solidFill>
                  <a:srgbClr val="080808"/>
                </a:solidFill>
                <a:latin typeface="JetBrains Mono" panose="02000009000000000000" pitchFamily="49" charset="0"/>
              </a:rPr>
              <a:t>setCategory</a:t>
            </a:r>
            <a:r>
              <a:rPr lang="en-US" sz="1600" dirty="0">
                <a:solidFill>
                  <a:srgbClr val="080808"/>
                </a:solidFill>
                <a:latin typeface="JetBrains Mono" panose="02000009000000000000" pitchFamily="49" charset="0"/>
              </a:rPr>
              <a:t>(</a:t>
            </a:r>
            <a:r>
              <a:rPr lang="en-US" sz="1600" dirty="0" err="1">
                <a:latin typeface="JetBrains Mono" panose="02000009000000000000" pitchFamily="49" charset="0"/>
              </a:rPr>
              <a:t>NotificationCompat</a:t>
            </a:r>
            <a:r>
              <a:rPr lang="en-US" sz="1600" dirty="0" err="1">
                <a:solidFill>
                  <a:srgbClr val="080808"/>
                </a:solidFill>
                <a:latin typeface="JetBrains Mono" panose="02000009000000000000" pitchFamily="49" charset="0"/>
              </a:rPr>
              <a:t>.</a:t>
            </a:r>
            <a:r>
              <a:rPr lang="en-US" sz="1600" i="1" dirty="0" err="1">
                <a:solidFill>
                  <a:srgbClr val="871094"/>
                </a:solidFill>
                <a:latin typeface="JetBrains Mono" panose="02000009000000000000" pitchFamily="49" charset="0"/>
              </a:rPr>
              <a:t>CATEGORY_MESSAGE</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.build();</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latin typeface="JetBrains Mono" panose="02000009000000000000" pitchFamily="49" charset="0"/>
              </a:rPr>
              <a:t>NotificationManagerCompat</a:t>
            </a:r>
            <a:r>
              <a:rPr lang="en-US" sz="1600" dirty="0">
                <a:latin typeface="JetBrains Mono" panose="02000009000000000000" pitchFamily="49" charset="0"/>
              </a:rPr>
              <a:t> </a:t>
            </a:r>
            <a:r>
              <a:rPr lang="en-US" sz="1600" dirty="0" err="1">
                <a:latin typeface="JetBrains Mono" panose="02000009000000000000" pitchFamily="49" charset="0"/>
              </a:rPr>
              <a:t>notificationManager</a:t>
            </a:r>
            <a:r>
              <a:rPr lang="en-US" sz="1600" dirty="0">
                <a:latin typeface="JetBrains Mono" panose="02000009000000000000" pitchFamily="49" charset="0"/>
              </a:rPr>
              <a:t> </a:t>
            </a:r>
            <a:r>
              <a:rPr lang="en-US" sz="1600" dirty="0">
                <a:solidFill>
                  <a:srgbClr val="080808"/>
                </a:solidFill>
                <a:latin typeface="JetBrains Mono" panose="02000009000000000000" pitchFamily="49" charset="0"/>
              </a:rPr>
              <a:t>= </a:t>
            </a:r>
            <a:r>
              <a:rPr lang="en-US" sz="1600" dirty="0" err="1">
                <a:latin typeface="JetBrains Mono" panose="02000009000000000000" pitchFamily="49" charset="0"/>
              </a:rPr>
              <a:t>NotificationManagerCompat</a:t>
            </a:r>
            <a:r>
              <a:rPr lang="en-US" sz="1600" dirty="0" err="1">
                <a:solidFill>
                  <a:srgbClr val="080808"/>
                </a:solidFill>
                <a:latin typeface="JetBrains Mono" panose="02000009000000000000" pitchFamily="49" charset="0"/>
              </a:rPr>
              <a:t>.</a:t>
            </a:r>
            <a:r>
              <a:rPr lang="en-US" sz="1600" i="1" dirty="0" err="1">
                <a:solidFill>
                  <a:srgbClr val="080808"/>
                </a:solidFill>
                <a:latin typeface="JetBrains Mono" panose="02000009000000000000" pitchFamily="49" charset="0"/>
              </a:rPr>
              <a:t>from</a:t>
            </a:r>
            <a:r>
              <a:rPr lang="en-US" sz="1600" dirty="0">
                <a:solidFill>
                  <a:srgbClr val="080808"/>
                </a:solidFill>
                <a:latin typeface="JetBrains Mono" panose="02000009000000000000" pitchFamily="49" charset="0"/>
              </a:rPr>
              <a:t>(</a:t>
            </a:r>
            <a:r>
              <a:rPr lang="en-US" sz="1600" dirty="0">
                <a:solidFill>
                  <a:srgbClr val="0033B3"/>
                </a:solidFill>
                <a:latin typeface="JetBrains Mono" panose="02000009000000000000" pitchFamily="49" charset="0"/>
              </a:rPr>
              <a:t>this</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    </a:t>
            </a:r>
            <a:r>
              <a:rPr lang="en-US" sz="1600" dirty="0" err="1">
                <a:latin typeface="JetBrains Mono" panose="02000009000000000000" pitchFamily="49" charset="0"/>
              </a:rPr>
              <a:t>notificationManager</a:t>
            </a:r>
            <a:r>
              <a:rPr lang="en-US" sz="1600" dirty="0" err="1">
                <a:solidFill>
                  <a:srgbClr val="080808"/>
                </a:solidFill>
                <a:latin typeface="JetBrains Mono" panose="02000009000000000000" pitchFamily="49" charset="0"/>
              </a:rPr>
              <a:t>.notify</a:t>
            </a:r>
            <a:r>
              <a:rPr lang="en-US" sz="1600" dirty="0">
                <a:solidFill>
                  <a:srgbClr val="080808"/>
                </a:solidFill>
                <a:latin typeface="JetBrains Mono" panose="02000009000000000000" pitchFamily="49" charset="0"/>
              </a:rPr>
              <a:t>(</a:t>
            </a:r>
            <a:r>
              <a:rPr lang="en-US" sz="1600" dirty="0">
                <a:solidFill>
                  <a:srgbClr val="1750EB"/>
                </a:solidFill>
                <a:latin typeface="JetBrains Mono" panose="02000009000000000000" pitchFamily="49" charset="0"/>
              </a:rPr>
              <a:t>1</a:t>
            </a:r>
            <a:r>
              <a:rPr lang="en-US" sz="1600" dirty="0">
                <a:solidFill>
                  <a:srgbClr val="080808"/>
                </a:solidFill>
                <a:latin typeface="JetBrains Mono" panose="02000009000000000000" pitchFamily="49" charset="0"/>
              </a:rPr>
              <a:t>, </a:t>
            </a:r>
            <a:r>
              <a:rPr lang="en-US" sz="1600" dirty="0">
                <a:latin typeface="JetBrains Mono" panose="02000009000000000000" pitchFamily="49" charset="0"/>
              </a:rPr>
              <a:t>notification</a:t>
            </a:r>
            <a:r>
              <a:rPr lang="en-US" sz="1600" dirty="0">
                <a:solidFill>
                  <a:srgbClr val="080808"/>
                </a:solidFill>
                <a:latin typeface="JetBrains Mono" panose="02000009000000000000" pitchFamily="49" charset="0"/>
              </a:rPr>
              <a:t>);</a:t>
            </a:r>
            <a:br>
              <a:rPr lang="en-US" sz="1600" dirty="0">
                <a:solidFill>
                  <a:srgbClr val="080808"/>
                </a:solidFill>
                <a:latin typeface="JetBrains Mono" panose="02000009000000000000" pitchFamily="49" charset="0"/>
              </a:rPr>
            </a:br>
            <a:r>
              <a:rPr lang="en-US" sz="1600" dirty="0">
                <a:solidFill>
                  <a:srgbClr val="080808"/>
                </a:solidFill>
                <a:latin typeface="JetBrains Mono" panose="02000009000000000000" pitchFamily="49" charset="0"/>
              </a:rPr>
              <a:t>}</a:t>
            </a:r>
          </a:p>
        </p:txBody>
      </p:sp>
    </p:spTree>
    <p:extLst>
      <p:ext uri="{BB962C8B-B14F-4D97-AF65-F5344CB8AC3E}">
        <p14:creationId xmlns:p14="http://schemas.microsoft.com/office/powerpoint/2010/main" val="5052700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4. Notification</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p:cNvPicPr>
            <a:picLocks noChangeAspect="1"/>
          </p:cNvPicPr>
          <p:nvPr/>
        </p:nvPicPr>
        <p:blipFill>
          <a:blip r:embed="rId3"/>
          <a:stretch>
            <a:fillRect/>
          </a:stretch>
        </p:blipFill>
        <p:spPr>
          <a:xfrm>
            <a:off x="1457198" y="1540914"/>
            <a:ext cx="2230834" cy="4747008"/>
          </a:xfrm>
          <a:prstGeom prst="rect">
            <a:avLst/>
          </a:prstGeom>
        </p:spPr>
      </p:pic>
      <p:cxnSp>
        <p:nvCxnSpPr>
          <p:cNvPr id="17" name="Straight Arrow Connector 16"/>
          <p:cNvCxnSpPr/>
          <p:nvPr/>
        </p:nvCxnSpPr>
        <p:spPr>
          <a:xfrm>
            <a:off x="2766848" y="4104540"/>
            <a:ext cx="173420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4"/>
          <a:stretch>
            <a:fillRect/>
          </a:stretch>
        </p:blipFill>
        <p:spPr>
          <a:xfrm>
            <a:off x="4501055" y="1615523"/>
            <a:ext cx="2249662" cy="4813840"/>
          </a:xfrm>
          <a:prstGeom prst="rect">
            <a:avLst/>
          </a:prstGeom>
        </p:spPr>
      </p:pic>
      <p:cxnSp>
        <p:nvCxnSpPr>
          <p:cNvPr id="19" name="Straight Arrow Connector 18"/>
          <p:cNvCxnSpPr/>
          <p:nvPr/>
        </p:nvCxnSpPr>
        <p:spPr>
          <a:xfrm>
            <a:off x="6416565" y="3980308"/>
            <a:ext cx="173420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5"/>
          <a:stretch>
            <a:fillRect/>
          </a:stretch>
        </p:blipFill>
        <p:spPr>
          <a:xfrm>
            <a:off x="8150772" y="1637462"/>
            <a:ext cx="2256041" cy="4791901"/>
          </a:xfrm>
          <a:prstGeom prst="rect">
            <a:avLst/>
          </a:prstGeom>
        </p:spPr>
      </p:pic>
      <p:sp>
        <p:nvSpPr>
          <p:cNvPr id="21" name="Content Placeholder 2">
            <a:extLst>
              <a:ext uri="{FF2B5EF4-FFF2-40B4-BE49-F238E27FC236}">
                <a16:creationId xmlns:a16="http://schemas.microsoft.com/office/drawing/2014/main" id="{E045A2E5-114E-F442-B6FE-B4925DE5F13F}"/>
              </a:ext>
            </a:extLst>
          </p:cNvPr>
          <p:cNvSpPr txBox="1">
            <a:spLocks/>
          </p:cNvSpPr>
          <p:nvPr/>
        </p:nvSpPr>
        <p:spPr>
          <a:xfrm>
            <a:off x="528207" y="996639"/>
            <a:ext cx="9080876"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Grant notifications on device</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spTree>
    <p:extLst>
      <p:ext uri="{BB962C8B-B14F-4D97-AF65-F5344CB8AC3E}">
        <p14:creationId xmlns:p14="http://schemas.microsoft.com/office/powerpoint/2010/main" val="10196458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4. Notification</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9EE9788B-DF5B-7F4A-B124-DCDABB90844A}"/>
              </a:ext>
            </a:extLst>
          </p:cNvPr>
          <p:cNvPicPr>
            <a:picLocks noChangeAspect="1"/>
          </p:cNvPicPr>
          <p:nvPr/>
        </p:nvPicPr>
        <p:blipFill>
          <a:blip r:embed="rId3"/>
          <a:stretch>
            <a:fillRect/>
          </a:stretch>
        </p:blipFill>
        <p:spPr>
          <a:xfrm>
            <a:off x="1734208" y="1774715"/>
            <a:ext cx="4025900" cy="2933700"/>
          </a:xfrm>
          <a:prstGeom prst="rect">
            <a:avLst/>
          </a:prstGeom>
        </p:spPr>
      </p:pic>
      <p:pic>
        <p:nvPicPr>
          <p:cNvPr id="17" name="Picture 16">
            <a:extLst>
              <a:ext uri="{FF2B5EF4-FFF2-40B4-BE49-F238E27FC236}">
                <a16:creationId xmlns:a16="http://schemas.microsoft.com/office/drawing/2014/main" id="{051DA0FA-294E-8E47-839F-E3B0CC8CB6E3}"/>
              </a:ext>
            </a:extLst>
          </p:cNvPr>
          <p:cNvPicPr>
            <a:picLocks noChangeAspect="1"/>
          </p:cNvPicPr>
          <p:nvPr/>
        </p:nvPicPr>
        <p:blipFill>
          <a:blip r:embed="rId4"/>
          <a:stretch>
            <a:fillRect/>
          </a:stretch>
        </p:blipFill>
        <p:spPr>
          <a:xfrm>
            <a:off x="5950608" y="1768365"/>
            <a:ext cx="4013200" cy="2946400"/>
          </a:xfrm>
          <a:prstGeom prst="rect">
            <a:avLst/>
          </a:prstGeom>
        </p:spPr>
      </p:pic>
      <p:sp>
        <p:nvSpPr>
          <p:cNvPr id="18" name="Content Placeholder 2">
            <a:extLst>
              <a:ext uri="{FF2B5EF4-FFF2-40B4-BE49-F238E27FC236}">
                <a16:creationId xmlns:a16="http://schemas.microsoft.com/office/drawing/2014/main" id="{E045A2E5-114E-F442-B6FE-B4925DE5F13F}"/>
              </a:ext>
            </a:extLst>
          </p:cNvPr>
          <p:cNvSpPr txBox="1">
            <a:spLocks/>
          </p:cNvSpPr>
          <p:nvPr/>
        </p:nvSpPr>
        <p:spPr>
          <a:xfrm>
            <a:off x="528207" y="1075964"/>
            <a:ext cx="3200338" cy="515112"/>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463550" lvl="0" indent="-354013">
              <a:lnSpc>
                <a:spcPct val="110000"/>
              </a:lnSpc>
              <a:spcBef>
                <a:spcPts val="600"/>
              </a:spcBef>
              <a:spcAft>
                <a:spcPts val="600"/>
              </a:spcAft>
              <a:buClr>
                <a:sysClr val="windowText" lastClr="000000">
                  <a:lumMod val="95000"/>
                  <a:lumOff val="5000"/>
                </a:sysClr>
              </a:buClr>
              <a:buFont typeface="Wingdings" pitchFamily="2" charset="2"/>
              <a:buChar char="Ø"/>
            </a:pPr>
            <a:r>
              <a:rPr lang="en-US" sz="2400" b="1" noProof="0" dirty="0" smtClean="0">
                <a:solidFill>
                  <a:sysClr val="windowText" lastClr="000000"/>
                </a:solidFill>
                <a:latin typeface="Georgia"/>
              </a:rPr>
              <a:t>More Demo:</a:t>
            </a:r>
            <a:endParaRPr kumimoji="0" lang="en-US" sz="2400" b="1" i="0" u="none" strike="noStrike" kern="1200" cap="none" spc="0" normalizeH="0" baseline="0" noProof="0" dirty="0">
              <a:ln>
                <a:noFill/>
              </a:ln>
              <a:solidFill>
                <a:sysClr val="windowText" lastClr="000000"/>
              </a:solidFill>
              <a:effectLst/>
              <a:uLnTx/>
              <a:uFillTx/>
              <a:latin typeface="Georgia"/>
              <a:ea typeface="+mn-ea"/>
              <a:cs typeface="+mn-cs"/>
            </a:endParaRPr>
          </a:p>
        </p:txBody>
      </p:sp>
    </p:spTree>
    <p:extLst>
      <p:ext uri="{BB962C8B-B14F-4D97-AF65-F5344CB8AC3E}">
        <p14:creationId xmlns:p14="http://schemas.microsoft.com/office/powerpoint/2010/main" val="34298604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Discussions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dirty="0" smtClean="0">
                <a:latin typeface="Cambria" panose="02040503050406030204" pitchFamily="18" charset="0"/>
              </a:rPr>
              <a:t>Q1: Present the Toast</a:t>
            </a:r>
            <a:endParaRPr lang="en-US" sz="2800" dirty="0">
              <a:latin typeface="Cambria" panose="02040503050406030204" pitchFamily="18" charset="0"/>
            </a:endParaRPr>
          </a:p>
          <a:p>
            <a:pPr algn="just">
              <a:buFont typeface="Wingdings" panose="05000000000000000000" pitchFamily="2" charset="2"/>
              <a:buChar char="ü"/>
            </a:pPr>
            <a:r>
              <a:rPr lang="en-US" sz="2800" dirty="0" smtClean="0">
                <a:latin typeface="Cambria" panose="02040503050406030204" pitchFamily="18" charset="0"/>
              </a:rPr>
              <a:t>Q2: </a:t>
            </a:r>
            <a:r>
              <a:rPr lang="en-US" sz="2800" dirty="0">
                <a:latin typeface="Cambria" panose="02040503050406030204" pitchFamily="18" charset="0"/>
              </a:rPr>
              <a:t>Present the </a:t>
            </a:r>
            <a:r>
              <a:rPr lang="en-US" sz="2800" dirty="0" err="1">
                <a:latin typeface="Cambria" panose="02040503050406030204" pitchFamily="18" charset="0"/>
              </a:rPr>
              <a:t>AlertDialog</a:t>
            </a:r>
            <a:endParaRPr lang="en-US" sz="2800" dirty="0">
              <a:latin typeface="Cambria" panose="02040503050406030204" pitchFamily="18" charset="0"/>
            </a:endParaRPr>
          </a:p>
          <a:p>
            <a:pPr algn="just">
              <a:buFont typeface="Wingdings" panose="05000000000000000000" pitchFamily="2" charset="2"/>
              <a:buChar char="ü"/>
            </a:pPr>
            <a:r>
              <a:rPr lang="en-US" sz="2800" dirty="0" smtClean="0">
                <a:latin typeface="Cambria" panose="02040503050406030204" pitchFamily="18" charset="0"/>
              </a:rPr>
              <a:t>Q3: </a:t>
            </a:r>
            <a:r>
              <a:rPr lang="en-US" sz="2800" dirty="0">
                <a:latin typeface="Cambria" panose="02040503050406030204" pitchFamily="18" charset="0"/>
              </a:rPr>
              <a:t>Present the Custom </a:t>
            </a:r>
            <a:r>
              <a:rPr lang="en-US" sz="2800" dirty="0" smtClean="0">
                <a:latin typeface="Cambria" panose="02040503050406030204" pitchFamily="18" charset="0"/>
              </a:rPr>
              <a:t>Dialog with 2 ways</a:t>
            </a:r>
            <a:endParaRPr lang="en-US" sz="2800" dirty="0">
              <a:latin typeface="Cambria" panose="02040503050406030204" pitchFamily="18" charset="0"/>
            </a:endParaRPr>
          </a:p>
          <a:p>
            <a:pPr algn="just">
              <a:buFont typeface="Wingdings" panose="05000000000000000000" pitchFamily="2" charset="2"/>
              <a:buChar char="ü"/>
            </a:pPr>
            <a:r>
              <a:rPr lang="en-US" sz="2800" dirty="0" smtClean="0">
                <a:latin typeface="Cambria" panose="02040503050406030204" pitchFamily="18" charset="0"/>
              </a:rPr>
              <a:t>Q4: Present Notification and demo with 2 </a:t>
            </a:r>
            <a:r>
              <a:rPr lang="en-US" sz="2800" dirty="0" err="1" smtClean="0">
                <a:latin typeface="Cambria" panose="02040503050406030204" pitchFamily="18" charset="0"/>
              </a:rPr>
              <a:t>chanels</a:t>
            </a:r>
            <a:endParaRPr lang="en-US" sz="2800" dirty="0">
              <a:latin typeface="Cambria" panose="02040503050406030204" pitchFamily="18" charset="0"/>
            </a:endParaRPr>
          </a:p>
        </p:txBody>
      </p:sp>
    </p:spTree>
    <p:extLst>
      <p:ext uri="{BB962C8B-B14F-4D97-AF65-F5344CB8AC3E}">
        <p14:creationId xmlns:p14="http://schemas.microsoft.com/office/powerpoint/2010/main" val="125566671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83931" y="30539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Next Lesson</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Content Placeholder 2"/>
          <p:cNvSpPr txBox="1">
            <a:spLocks/>
          </p:cNvSpPr>
          <p:nvPr/>
        </p:nvSpPr>
        <p:spPr>
          <a:xfrm>
            <a:off x="512441" y="1062216"/>
            <a:ext cx="10988504" cy="2737274"/>
          </a:xfrm>
          <a:prstGeom prst="rect">
            <a:avLst/>
          </a:prstGeom>
        </p:spPr>
        <p:txBody>
          <a:bodyPr vert="horz" wrap="square" numCol="2">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623888" indent="-514350">
              <a:lnSpc>
                <a:spcPct val="110000"/>
              </a:lnSpc>
              <a:spcBef>
                <a:spcPts val="600"/>
              </a:spcBef>
              <a:spcAft>
                <a:spcPts val="600"/>
              </a:spcAft>
              <a:buClr>
                <a:prstClr val="black">
                  <a:lumMod val="85000"/>
                  <a:lumOff val="15000"/>
                </a:prstClr>
              </a:buClr>
              <a:buFont typeface="Wingdings" charset="2"/>
              <a:buChar char="§"/>
            </a:pPr>
            <a:r>
              <a:rPr lang="en-US" i="1" dirty="0" err="1">
                <a:solidFill>
                  <a:prstClr val="black"/>
                </a:solidFill>
                <a:latin typeface="Georgia"/>
              </a:rPr>
              <a:t>ListView</a:t>
            </a:r>
            <a:endParaRPr lang="en-US" i="1" dirty="0">
              <a:solidFill>
                <a:prstClr val="black"/>
              </a:solidFill>
              <a:latin typeface="Georgia"/>
            </a:endParaRPr>
          </a:p>
          <a:p>
            <a:pPr marL="623888" indent="-514350">
              <a:lnSpc>
                <a:spcPct val="110000"/>
              </a:lnSpc>
              <a:spcBef>
                <a:spcPts val="600"/>
              </a:spcBef>
              <a:spcAft>
                <a:spcPts val="600"/>
              </a:spcAft>
              <a:buClr>
                <a:prstClr val="black">
                  <a:lumMod val="85000"/>
                  <a:lumOff val="15000"/>
                </a:prstClr>
              </a:buClr>
              <a:buFont typeface="Wingdings" charset="2"/>
              <a:buChar char="§"/>
            </a:pPr>
            <a:r>
              <a:rPr lang="en-US" i="1" dirty="0" err="1">
                <a:solidFill>
                  <a:prstClr val="black"/>
                </a:solidFill>
                <a:latin typeface="Georgia"/>
              </a:rPr>
              <a:t>GridView</a:t>
            </a:r>
            <a:endParaRPr lang="en-US" i="1" dirty="0">
              <a:solidFill>
                <a:prstClr val="black"/>
              </a:solidFill>
              <a:latin typeface="Georgia"/>
            </a:endParaRPr>
          </a:p>
          <a:p>
            <a:pPr marL="623888" indent="-514350">
              <a:lnSpc>
                <a:spcPct val="110000"/>
              </a:lnSpc>
              <a:spcBef>
                <a:spcPts val="600"/>
              </a:spcBef>
              <a:spcAft>
                <a:spcPts val="600"/>
              </a:spcAft>
              <a:buClr>
                <a:prstClr val="black">
                  <a:lumMod val="85000"/>
                  <a:lumOff val="15000"/>
                </a:prstClr>
              </a:buClr>
              <a:buFont typeface="Wingdings" charset="2"/>
              <a:buChar char="§"/>
            </a:pPr>
            <a:r>
              <a:rPr lang="en-US" i="1" dirty="0" err="1">
                <a:solidFill>
                  <a:prstClr val="black"/>
                </a:solidFill>
                <a:latin typeface="Georgia"/>
              </a:rPr>
              <a:t>RecyclerView</a:t>
            </a:r>
            <a:endParaRPr lang="en-US" i="1" dirty="0">
              <a:solidFill>
                <a:prstClr val="black"/>
              </a:solidFill>
              <a:latin typeface="Georgia"/>
            </a:endParaRPr>
          </a:p>
          <a:p>
            <a:pPr marL="623888" indent="-514350">
              <a:lnSpc>
                <a:spcPct val="110000"/>
              </a:lnSpc>
              <a:spcBef>
                <a:spcPts val="600"/>
              </a:spcBef>
              <a:spcAft>
                <a:spcPts val="600"/>
              </a:spcAft>
              <a:buClr>
                <a:prstClr val="black">
                  <a:lumMod val="85000"/>
                  <a:lumOff val="15000"/>
                </a:prstClr>
              </a:buClr>
              <a:buFont typeface="Wingdings" charset="2"/>
              <a:buChar char="§"/>
            </a:pPr>
            <a:r>
              <a:rPr lang="en-US" i="1" dirty="0">
                <a:solidFill>
                  <a:prstClr val="black"/>
                </a:solidFill>
                <a:latin typeface="Georgia"/>
              </a:rPr>
              <a:t>Spinner</a:t>
            </a:r>
          </a:p>
          <a:p>
            <a:pPr marL="519113" indent="-519113">
              <a:lnSpc>
                <a:spcPct val="110000"/>
              </a:lnSpc>
              <a:spcBef>
                <a:spcPts val="600"/>
              </a:spcBef>
              <a:spcAft>
                <a:spcPts val="600"/>
              </a:spcAft>
              <a:buClr>
                <a:prstClr val="black">
                  <a:lumMod val="85000"/>
                  <a:lumOff val="15000"/>
                </a:prstClr>
              </a:buClr>
              <a:buFont typeface="Wingdings" charset="2"/>
              <a:buChar char="§"/>
            </a:pPr>
            <a:r>
              <a:rPr lang="en-US" i="1" dirty="0" err="1">
                <a:solidFill>
                  <a:prstClr val="black"/>
                </a:solidFill>
                <a:latin typeface="Georgia"/>
              </a:rPr>
              <a:t>AutocompleteTextView</a:t>
            </a:r>
            <a:endParaRPr lang="en-US" i="1" dirty="0">
              <a:solidFill>
                <a:prstClr val="black"/>
              </a:solidFill>
              <a:latin typeface="Georgia"/>
            </a:endParaRPr>
          </a:p>
          <a:p>
            <a:pPr marL="519113" indent="-519113">
              <a:lnSpc>
                <a:spcPct val="110000"/>
              </a:lnSpc>
              <a:spcBef>
                <a:spcPts val="600"/>
              </a:spcBef>
              <a:spcAft>
                <a:spcPts val="600"/>
              </a:spcAft>
              <a:buClr>
                <a:prstClr val="black">
                  <a:lumMod val="85000"/>
                  <a:lumOff val="15000"/>
                </a:prstClr>
              </a:buClr>
              <a:buFont typeface="Wingdings" charset="2"/>
              <a:buChar char="§"/>
            </a:pPr>
            <a:r>
              <a:rPr lang="en-US" i="1" dirty="0" err="1">
                <a:solidFill>
                  <a:prstClr val="black"/>
                </a:solidFill>
                <a:latin typeface="Georgia"/>
              </a:rPr>
              <a:t>DatePicker</a:t>
            </a:r>
            <a:r>
              <a:rPr lang="en-US" i="1" dirty="0">
                <a:solidFill>
                  <a:prstClr val="black"/>
                </a:solidFill>
                <a:latin typeface="Georgia"/>
              </a:rPr>
              <a:t>, </a:t>
            </a:r>
            <a:r>
              <a:rPr lang="en-US" i="1" dirty="0" err="1">
                <a:solidFill>
                  <a:prstClr val="black"/>
                </a:solidFill>
                <a:latin typeface="Georgia"/>
              </a:rPr>
              <a:t>TimePicker</a:t>
            </a:r>
            <a:endParaRPr lang="en-US" i="1" dirty="0">
              <a:solidFill>
                <a:prstClr val="black"/>
              </a:solidFill>
              <a:latin typeface="Georgia"/>
            </a:endParaRPr>
          </a:p>
          <a:p>
            <a:pPr marL="519113" indent="-519113">
              <a:lnSpc>
                <a:spcPct val="110000"/>
              </a:lnSpc>
              <a:spcBef>
                <a:spcPts val="600"/>
              </a:spcBef>
              <a:spcAft>
                <a:spcPts val="600"/>
              </a:spcAft>
              <a:buClr>
                <a:prstClr val="black">
                  <a:lumMod val="85000"/>
                  <a:lumOff val="15000"/>
                </a:prstClr>
              </a:buClr>
              <a:buFont typeface="Wingdings" charset="2"/>
              <a:buChar char="§"/>
            </a:pPr>
            <a:r>
              <a:rPr lang="en-US" i="1" dirty="0" err="1">
                <a:solidFill>
                  <a:prstClr val="black"/>
                </a:solidFill>
                <a:latin typeface="Georgia"/>
              </a:rPr>
              <a:t>TabHost</a:t>
            </a:r>
            <a:endParaRPr lang="en-US" i="1" dirty="0">
              <a:solidFill>
                <a:prstClr val="black"/>
              </a:solidFill>
              <a:latin typeface="Georgia"/>
            </a:endParaRPr>
          </a:p>
        </p:txBody>
      </p:sp>
    </p:spTree>
    <p:extLst>
      <p:ext uri="{BB962C8B-B14F-4D97-AF65-F5344CB8AC3E}">
        <p14:creationId xmlns:p14="http://schemas.microsoft.com/office/powerpoint/2010/main" val="213195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a:t>THANK YOU!</a:t>
            </a:r>
            <a:endParaRPr/>
          </a:p>
        </p:txBody>
      </p:sp>
    </p:spTree>
    <p:extLst>
      <p:ext uri="{BB962C8B-B14F-4D97-AF65-F5344CB8AC3E}">
        <p14:creationId xmlns:p14="http://schemas.microsoft.com/office/powerpoint/2010/main" val="9389686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TotalTime>
  <Words>578</Words>
  <Application>Microsoft Office PowerPoint</Application>
  <PresentationFormat>Widescreen</PresentationFormat>
  <Paragraphs>152</Paragraphs>
  <Slides>29</Slides>
  <Notes>29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Lato</vt:lpstr>
      <vt:lpstr>JetBrains Mono</vt:lpstr>
      <vt:lpstr>Times New Roman</vt:lpstr>
      <vt:lpstr>Arial</vt:lpstr>
      <vt:lpstr>Cambria</vt:lpstr>
      <vt:lpstr>Calibri</vt:lpstr>
      <vt:lpstr>Lato Black</vt:lpstr>
      <vt:lpstr>Wingdings</vt:lpstr>
      <vt:lpstr>Georgia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thanhtd</cp:lastModifiedBy>
  <cp:revision>277</cp:revision>
  <dcterms:created xsi:type="dcterms:W3CDTF">2022-12-02T04:21:00Z</dcterms:created>
  <dcterms:modified xsi:type="dcterms:W3CDTF">2024-01-25T16:50:39Z</dcterms:modified>
</cp:coreProperties>
</file>